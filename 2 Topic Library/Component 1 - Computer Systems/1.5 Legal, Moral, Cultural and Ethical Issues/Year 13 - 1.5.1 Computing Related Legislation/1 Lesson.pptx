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365D"/>
        </a:solidFill>
        <a:effectLst/>
      </p:bgPr>
    </p:bg>
    <p:spTree>
      <p:nvGrpSpPr>
        <p:cNvPr id="1" name=""/>
        <p:cNvGrpSpPr/>
        <p:nvPr/>
      </p:nvGrpSpPr>
      <p:grpSpPr/>
      <p:sp>
        <p:nvSpPr>
          <p:cNvPr id="2" name="TextBox 1"/>
          <p:cNvSpPr txBox="1"/>
          <p:nvPr/>
        </p:nvSpPr>
        <p:spPr>
          <a:xfrm>
            <a:off x="731520" y="2194560"/>
            <a:ext cx="10698480" cy="1828800"/>
          </a:xfrm>
          <a:prstGeom prst="rect">
            <a:avLst/>
          </a:prstGeom>
          <a:noFill/>
        </p:spPr>
        <p:txBody>
          <a:bodyPr wrap="square">
            <a:spAutoFit/>
          </a:bodyPr>
          <a:lstStyle/>
          <a:p>
            <a:r>
              <a:rPr sz="4000" b="1" i="0">
                <a:solidFill>
                  <a:srgbClr val="FFFFFF"/>
                </a:solidFill>
                <a:latin typeface="Calibri"/>
              </a:rPr>
              <a:t>1.5.1 Computing Related Legislation</a:t>
            </a:r>
          </a:p>
          <a:p>
            <a:r>
              <a:rPr sz="2000" b="0" i="0">
                <a:solidFill>
                  <a:srgbClr val="BED3EC"/>
                </a:solidFill>
                <a:latin typeface="Calibri"/>
              </a:rPr>
              <a:t>OCR H446 — Component 01</a:t>
            </a:r>
          </a:p>
        </p:txBody>
      </p:sp>
      <p:sp>
        <p:nvSpPr>
          <p:cNvPr id="3" name="TextBox 2"/>
          <p:cNvSpPr txBox="1"/>
          <p:nvPr/>
        </p:nvSpPr>
        <p:spPr>
          <a:xfrm>
            <a:off x="731520" y="6035040"/>
            <a:ext cx="10698480" cy="548640"/>
          </a:xfrm>
          <a:prstGeom prst="rect">
            <a:avLst/>
          </a:prstGeom>
          <a:noFill/>
        </p:spPr>
        <p:txBody>
          <a:bodyPr wrap="square">
            <a:spAutoFit/>
          </a:bodyPr>
          <a:lstStyle/>
          <a:p>
            <a:r>
              <a:rPr sz="1400" b="0" i="1">
                <a:solidFill>
                  <a:srgbClr val="9AB4D6"/>
                </a:solidFill>
                <a:latin typeface="Calibri"/>
              </a:rPr>
              <a:t>Year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Learning objectives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By the end of this lesson you can:</a:t>
            </a:r>
          </a:p>
          <a:p>
            <a:pPr lvl="1"/>
            <a:r>
              <a:rPr sz="2200" b="0">
                <a:solidFill>
                  <a:srgbClr val="222222"/>
                </a:solidFill>
                <a:latin typeface="Calibri"/>
              </a:rPr>
              <a:t>I can state what each of the four Acts covers: DPA 2018, CMA 1990, CDPA 1988 and RIPA 2000.</a:t>
            </a:r>
          </a:p>
          <a:p>
            <a:pPr lvl="1"/>
            <a:r>
              <a:rPr sz="2200" b="0">
                <a:solidFill>
                  <a:srgbClr val="222222"/>
                </a:solidFill>
                <a:latin typeface="Calibri"/>
              </a:rPr>
              <a:t>I can name the DPA principles and data subject rights, and distinguish controller, processor and subject.</a:t>
            </a:r>
          </a:p>
          <a:p>
            <a:pPr lvl="1"/>
            <a:r>
              <a:rPr sz="2200" b="0">
                <a:solidFill>
                  <a:srgbClr val="222222"/>
                </a:solidFill>
                <a:latin typeface="Calibri"/>
              </a:rPr>
              <a:t>I can classify a scenario against the three CMA offences and its later amendments.</a:t>
            </a:r>
          </a:p>
          <a:p>
            <a:pPr lvl="1"/>
            <a:r>
              <a:rPr sz="2200" b="0">
                <a:solidFill>
                  <a:srgbClr val="222222"/>
                </a:solidFill>
                <a:latin typeface="Calibri"/>
              </a:rPr>
              <a:t>I can apply the 'which Act, which section, why' method to unseen scenarios, including where two laws apply.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retrieval starter</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From 1.3.1: state the key difference between symmetric and asymmetric encryption.</a:t>
            </a:r>
          </a:p>
          <a:p>
            <a:r>
              <a:rPr sz="2200" b="1">
                <a:solidFill>
                  <a:srgbClr val="222222"/>
                </a:solidFill>
                <a:latin typeface="Calibri"/>
              </a:rPr>
              <a:t>2. From 1.3.1: why are passwords stored as hashes rather than encrypted?</a:t>
            </a:r>
          </a:p>
          <a:p>
            <a:r>
              <a:rPr sz="2200" b="1">
                <a:solidFill>
                  <a:srgbClr val="222222"/>
                </a:solidFill>
                <a:latin typeface="Calibri"/>
              </a:rPr>
              <a:t>3. From 1.3.2: what is a primary key?</a:t>
            </a:r>
          </a:p>
          <a:p>
            <a:r>
              <a:rPr sz="2200" b="1">
                <a:solidFill>
                  <a:srgbClr val="222222"/>
                </a:solidFill>
                <a:latin typeface="Calibri"/>
              </a:rPr>
              <a:t>4. From 1.3.2: what does referential integrity guarantee in a relational database?</a:t>
            </a:r>
          </a:p>
          <a:p>
            <a:r>
              <a:rPr sz="2200" b="1">
                <a:solidFill>
                  <a:srgbClr val="222222"/>
                </a:solidFill>
                <a:latin typeface="Calibri"/>
              </a:rPr>
              <a:t>5. From 1.3.2: give two reasons personal data is safer in a normalised relational database than in several spreadsheets.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From 1.3.1: state the key difference between symmetric and asymmetric encryption.</a:t>
            </a:r>
          </a:p>
          <a:p>
            <a:pPr lvl="1"/>
            <a:r>
              <a:rPr sz="1800" i="1">
                <a:solidFill>
                  <a:srgbClr val="B76E00"/>
                </a:solidFill>
                <a:latin typeface="Calibri"/>
              </a:rPr>
              <a:t>Answer: Symmetric uses one shared key to encrypt and decrypt; asymmetric uses a public/private key pair, so no key exchange problem.</a:t>
            </a:r>
          </a:p>
          <a:p>
            <a:r>
              <a:rPr sz="2200" b="1">
                <a:solidFill>
                  <a:srgbClr val="222222"/>
                </a:solidFill>
                <a:latin typeface="Calibri"/>
              </a:rPr>
              <a:t>2. From 1.3.1: why are passwords stored as hashes rather than encrypted?</a:t>
            </a:r>
          </a:p>
          <a:p>
            <a:pPr lvl="1"/>
            <a:r>
              <a:rPr sz="1800" i="1">
                <a:solidFill>
                  <a:srgbClr val="B76E00"/>
                </a:solidFill>
                <a:latin typeface="Calibri"/>
              </a:rPr>
              <a:t>Answer: Hashing is one-way and cannot be reversed; the entered password is hashed and compared, so the real password is never stored.</a:t>
            </a:r>
          </a:p>
          <a:p>
            <a:r>
              <a:rPr sz="2200" b="1">
                <a:solidFill>
                  <a:srgbClr val="222222"/>
                </a:solidFill>
                <a:latin typeface="Calibri"/>
              </a:rPr>
              <a:t>3. From 1.3.2: what is a primary key?</a:t>
            </a:r>
          </a:p>
          <a:p>
            <a:pPr lvl="1"/>
            <a:r>
              <a:rPr sz="1800" i="1">
                <a:solidFill>
                  <a:srgbClr val="B76E00"/>
                </a:solidFill>
                <a:latin typeface="Calibri"/>
              </a:rPr>
              <a:t>Answer: An attribute (or combination) that uniquely identifies each record in a table.</a:t>
            </a:r>
          </a:p>
          <a:p>
            <a:r>
              <a:rPr sz="2200" b="1">
                <a:solidFill>
                  <a:srgbClr val="222222"/>
                </a:solidFill>
                <a:latin typeface="Calibri"/>
              </a:rPr>
              <a:t>4. From 1.3.2: what does referential integrity guarantee in a relational database?</a:t>
            </a:r>
          </a:p>
          <a:p>
            <a:pPr lvl="1"/>
            <a:r>
              <a:rPr sz="1800" i="1">
                <a:solidFill>
                  <a:srgbClr val="B76E00"/>
                </a:solidFill>
                <a:latin typeface="Calibri"/>
              </a:rPr>
              <a:t>Answer: Every foreign key value must match an existing primary key, so no record references data that does not exist.</a:t>
            </a:r>
          </a:p>
          <a:p>
            <a:r>
              <a:rPr sz="2200" b="1">
                <a:solidFill>
                  <a:srgbClr val="222222"/>
                </a:solidFill>
                <a:latin typeface="Calibri"/>
              </a:rPr>
              <a:t>5. From 1.3.2: give two reasons personal data is safer in a normalised relational database than in several spreadsheets.</a:t>
            </a:r>
          </a:p>
          <a:p>
            <a:pPr lvl="1"/>
            <a:r>
              <a:rPr sz="1800" i="1">
                <a:solidFill>
                  <a:srgbClr val="B76E00"/>
                </a:solidFill>
                <a:latin typeface="Calibri"/>
              </a:rPr>
              <a:t>Answer: Data is stored once, so no inconsistent duplicate copies; access rights and updates can be controlled centrally.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Key terminology</a:t>
            </a:r>
          </a:p>
        </p:txBody>
      </p:sp>
      <p:sp>
        <p:nvSpPr>
          <p:cNvPr id="3" name="TextBox 2"/>
          <p:cNvSpPr txBox="1"/>
          <p:nvPr/>
        </p:nvSpPr>
        <p:spPr>
          <a:xfrm>
            <a:off x="640080" y="1280160"/>
            <a:ext cx="10881360" cy="5120640"/>
          </a:xfrm>
          <a:prstGeom prst="rect">
            <a:avLst/>
          </a:prstGeom>
          <a:noFill/>
        </p:spPr>
        <p:txBody>
          <a:bodyPr wrap="square">
            <a:spAutoFit/>
          </a:bodyPr>
          <a:lstStyle/>
          <a:p/>
          <a:p>
            <a:r>
              <a:rPr b="1" sz="2000">
                <a:solidFill>
                  <a:srgbClr val="1A365D"/>
                </a:solidFill>
                <a:latin typeface="Calibri"/>
              </a:rPr>
              <a:t>Personal data</a:t>
            </a:r>
            <a:r>
              <a:rPr sz="1800">
                <a:solidFill>
                  <a:srgbClr val="222222"/>
                </a:solidFill>
                <a:latin typeface="Calibri"/>
              </a:rPr>
              <a:t> — Data relating to an identified or identifiable living individual, such as a name linked to an address.</a:t>
            </a:r>
          </a:p>
          <a:p>
            <a:r>
              <a:rPr b="1" sz="2000">
                <a:solidFill>
                  <a:srgbClr val="1A365D"/>
                </a:solidFill>
                <a:latin typeface="Calibri"/>
              </a:rPr>
              <a:t>Data controller</a:t>
            </a:r>
            <a:r>
              <a:rPr sz="1800">
                <a:solidFill>
                  <a:srgbClr val="222222"/>
                </a:solidFill>
                <a:latin typeface="Calibri"/>
              </a:rPr>
              <a:t> — The organisation or person who decides why and how personal data is processed.</a:t>
            </a:r>
          </a:p>
          <a:p>
            <a:r>
              <a:rPr b="1" sz="2000">
                <a:solidFill>
                  <a:srgbClr val="1A365D"/>
                </a:solidFill>
                <a:latin typeface="Calibri"/>
              </a:rPr>
              <a:t>Data processor</a:t>
            </a:r>
            <a:r>
              <a:rPr sz="1800">
                <a:solidFill>
                  <a:srgbClr val="222222"/>
                </a:solidFill>
                <a:latin typeface="Calibri"/>
              </a:rPr>
              <a:t> — A party that processes personal data on the controller's instructions, such as a cloud payroll firm.</a:t>
            </a:r>
          </a:p>
          <a:p>
            <a:r>
              <a:rPr b="1" sz="2000">
                <a:solidFill>
                  <a:srgbClr val="1A365D"/>
                </a:solidFill>
                <a:latin typeface="Calibri"/>
              </a:rPr>
              <a:t>Data subject</a:t>
            </a:r>
            <a:r>
              <a:rPr sz="1800">
                <a:solidFill>
                  <a:srgbClr val="222222"/>
                </a:solidFill>
                <a:latin typeface="Calibri"/>
              </a:rPr>
              <a:t> — The living individual the personal data is about, holding rights over that data.</a:t>
            </a:r>
          </a:p>
          <a:p>
            <a:r>
              <a:rPr b="1" sz="2000">
                <a:solidFill>
                  <a:srgbClr val="1A365D"/>
                </a:solidFill>
                <a:latin typeface="Calibri"/>
              </a:rPr>
              <a:t>ICO</a:t>
            </a:r>
            <a:r>
              <a:rPr sz="1800">
                <a:solidFill>
                  <a:srgbClr val="222222"/>
                </a:solidFill>
                <a:latin typeface="Calibri"/>
              </a:rPr>
              <a:t> — Information Commissioner's Office: the UK regulator that enforces data protection law and issues fines.</a:t>
            </a:r>
          </a:p>
          <a:p>
            <a:r>
              <a:rPr b="1" sz="2000">
                <a:solidFill>
                  <a:srgbClr val="1A365D"/>
                </a:solidFill>
                <a:latin typeface="Calibri"/>
              </a:rPr>
              <a:t>Unauthorised access</a:t>
            </a:r>
            <a:r>
              <a:rPr sz="1800">
                <a:solidFill>
                  <a:srgbClr val="222222"/>
                </a:solidFill>
                <a:latin typeface="Calibri"/>
              </a:rPr>
              <a:t> — Causing a computer to perform a function to gain access you know you have no permission for.</a:t>
            </a:r>
          </a:p>
          <a:p>
            <a:r>
              <a:rPr b="1" sz="2000">
                <a:solidFill>
                  <a:srgbClr val="1A365D"/>
                </a:solidFill>
                <a:latin typeface="Calibri"/>
              </a:rPr>
              <a:t>Intellectual property</a:t>
            </a:r>
            <a:r>
              <a:rPr sz="1800">
                <a:solidFill>
                  <a:srgbClr val="222222"/>
                </a:solidFill>
                <a:latin typeface="Calibri"/>
              </a:rPr>
              <a:t> — Creations of the mind, such as code, music and designs, owned by their creator.</a:t>
            </a:r>
          </a:p>
          <a:p>
            <a:r>
              <a:rPr b="1" sz="2000">
                <a:solidFill>
                  <a:srgbClr val="1A365D"/>
                </a:solidFill>
                <a:latin typeface="Calibri"/>
              </a:rPr>
              <a:t>Software licence</a:t>
            </a:r>
            <a:r>
              <a:rPr sz="1800">
                <a:solidFill>
                  <a:srgbClr val="222222"/>
                </a:solidFill>
                <a:latin typeface="Calibri"/>
              </a:rPr>
              <a:t> — The legal agreement stating how software may be used, copied or distributed.</a:t>
            </a:r>
          </a:p>
          <a:p>
            <a:r>
              <a:rPr b="1" sz="2000">
                <a:solidFill>
                  <a:srgbClr val="1A365D"/>
                </a:solidFill>
                <a:latin typeface="Calibri"/>
              </a:rPr>
              <a:t>Lawful interception</a:t>
            </a:r>
            <a:r>
              <a:rPr sz="1800">
                <a:solidFill>
                  <a:srgbClr val="222222"/>
                </a:solidFill>
                <a:latin typeface="Calibri"/>
              </a:rPr>
              <a:t> — Monitoring of communications by public bodies carried out with proper legal authorisation under RIPA.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Why computing needs legislation</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Computers created new wrongs that older laws did not clearly cover.</a:t>
            </a:r>
          </a:p>
          <a:p>
            <a:pPr/>
            <a:r>
              <a:rPr sz="2000" b="0">
                <a:solidFill>
                  <a:srgbClr val="222222"/>
                </a:solidFill>
                <a:latin typeface="Calibri"/>
              </a:rPr>
              <a:t>Four Acts on the specification, each targeting a different wrong.</a:t>
            </a:r>
          </a:p>
          <a:p>
            <a:pPr/>
            <a:r>
              <a:rPr sz="2000" b="0">
                <a:solidFill>
                  <a:srgbClr val="222222"/>
                </a:solidFill>
                <a:latin typeface="Calibri"/>
              </a:rPr>
              <a:t>Misusing personal data: Data Protection Act 2018. Unauthorised access: Computer Misuse Act 1990.</a:t>
            </a:r>
          </a:p>
          <a:p>
            <a:pPr/>
            <a:r>
              <a:rPr sz="2000" b="0">
                <a:solidFill>
                  <a:srgbClr val="222222"/>
                </a:solidFill>
                <a:latin typeface="Calibri"/>
              </a:rPr>
              <a:t>Copying creative work: Copyright, Designs and Patents Act 1988. State surveillance powers: RIPA 2000.</a:t>
            </a:r>
          </a:p>
          <a:p>
            <a:pPr/>
            <a:r>
              <a:rPr sz="2000" b="0">
                <a:solidFill>
                  <a:srgbClr val="222222"/>
                </a:solidFill>
                <a:latin typeface="Calibri"/>
              </a:rPr>
              <a:t>Exams reward naming the specific Act and provision, never just saying something is illegal.</a:t>
            </a:r>
          </a:p>
          <a:p>
            <a:pPr/>
            <a:r>
              <a:rPr sz="1800" b="1">
                <a:solidFill>
                  <a:srgbClr val="B76E00"/>
                </a:solidFill>
                <a:latin typeface="Calibri"/>
              </a:rPr>
              <a:t>Learn one trigger word per Act: personal data, authorisation, expression, interception.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Data Protection Act 2018: scope and principles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Governs how organisations collect, store and process personal data about living individuals.</a:t>
            </a:r>
          </a:p>
          <a:p>
            <a:pPr/>
            <a:r>
              <a:rPr sz="2000" b="0">
                <a:solidFill>
                  <a:srgbClr val="222222"/>
                </a:solidFill>
                <a:latin typeface="Calibri"/>
              </a:rPr>
              <a:t>The UK law implementing GDPR; GDPR is the EU regulation, the DPA is the UK Act.</a:t>
            </a:r>
          </a:p>
          <a:p>
            <a:pPr/>
            <a:r>
              <a:rPr sz="2000" b="0">
                <a:solidFill>
                  <a:srgbClr val="222222"/>
                </a:solidFill>
                <a:latin typeface="Calibri"/>
              </a:rPr>
              <a:t>Principles: processed lawfully, fairly and transparently; collected for specified purposes only (purpose limitation).</a:t>
            </a:r>
          </a:p>
          <a:p>
            <a:pPr/>
            <a:r>
              <a:rPr sz="2000" b="0">
                <a:solidFill>
                  <a:srgbClr val="222222"/>
                </a:solidFill>
                <a:latin typeface="Calibri"/>
              </a:rPr>
              <a:t>Data minimisation, accuracy, storage limitation: adequate, correct and kept no longer than necessary.</a:t>
            </a:r>
          </a:p>
          <a:p>
            <a:pPr/>
            <a:r>
              <a:rPr sz="2000" b="0">
                <a:solidFill>
                  <a:srgbClr val="222222"/>
                </a:solidFill>
                <a:latin typeface="Calibri"/>
              </a:rPr>
              <a:t>Integrity and confidentiality: kept secure; accountability: the controller must demonstrate compliance.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DPA roles, rights and enforcement</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Controller decides why and how data is processed; processor acts only on the controller's instructions.</a:t>
            </a:r>
          </a:p>
          <a:p>
            <a:pPr/>
            <a:r>
              <a:rPr sz="2000" b="0">
                <a:solidFill>
                  <a:srgbClr val="222222"/>
                </a:solidFill>
                <a:latin typeface="Calibri"/>
              </a:rPr>
              <a:t>The data subject is the individual the data describes.</a:t>
            </a:r>
          </a:p>
          <a:p>
            <a:pPr/>
            <a:r>
              <a:rPr sz="2000" b="0">
                <a:solidFill>
                  <a:srgbClr val="222222"/>
                </a:solidFill>
                <a:latin typeface="Calibri"/>
              </a:rPr>
              <a:t>Subject rights include: access to their data, rectification of errors, erasure, and objecting to processing.</a:t>
            </a:r>
          </a:p>
          <a:p>
            <a:pPr/>
            <a:r>
              <a:rPr sz="2000" b="0">
                <a:solidFill>
                  <a:srgbClr val="222222"/>
                </a:solidFill>
                <a:latin typeface="Calibri"/>
              </a:rPr>
              <a:t>Subjects can object to purely automated decisions with significant effects (links to 1.5.2).</a:t>
            </a:r>
          </a:p>
          <a:p>
            <a:pPr/>
            <a:r>
              <a:rPr sz="2000" b="0">
                <a:solidFill>
                  <a:srgbClr val="222222"/>
                </a:solidFill>
                <a:latin typeface="Calibri"/>
              </a:rPr>
              <a:t>The ICO enforces the Act and can issue substantial fines for breaches.</a:t>
            </a:r>
          </a:p>
          <a:p>
            <a:pPr/>
            <a:r>
              <a:rPr sz="1800" b="1">
                <a:solidFill>
                  <a:srgbClr val="B76E00"/>
                </a:solidFill>
                <a:latin typeface="Calibri"/>
              </a:rPr>
              <a:t>The controller carries the legal responsibility, even when a processor does the work.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Computer Misuse Act 1990: three offence levels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Section 1: unauthorised access to computer material, such as guessing a password to look around.</a:t>
            </a:r>
          </a:p>
          <a:p>
            <a:pPr/>
            <a:r>
              <a:rPr sz="2000" b="0">
                <a:solidFill>
                  <a:srgbClr val="222222"/>
                </a:solidFill>
                <a:latin typeface="Calibri"/>
              </a:rPr>
              <a:t>Section 2: unauthorised access with intent to commit a further offence, such as fraud or blackmail.</a:t>
            </a:r>
          </a:p>
          <a:p>
            <a:pPr/>
            <a:r>
              <a:rPr sz="2000" b="0">
                <a:solidFill>
                  <a:srgbClr val="222222"/>
                </a:solidFill>
                <a:latin typeface="Calibri"/>
              </a:rPr>
              <a:t>Section 3: unauthorised modification or impairment, such as deleting files or planting malware.</a:t>
            </a:r>
          </a:p>
          <a:p>
            <a:pPr/>
            <a:r>
              <a:rPr sz="2000" b="0">
                <a:solidFill>
                  <a:srgbClr val="222222"/>
                </a:solidFill>
                <a:latin typeface="Calibri"/>
              </a:rPr>
              <a:t>The Act hinges on authorisation and intent, not on whether damage was caused.</a:t>
            </a:r>
          </a:p>
          <a:p>
            <a:pPr/>
            <a:r>
              <a:rPr sz="2000" b="0">
                <a:solidFill>
                  <a:srgbClr val="222222"/>
                </a:solidFill>
                <a:latin typeface="Calibri"/>
              </a:rPr>
              <a:t>Merely attempting access is enough for section 1; success is not required.</a:t>
            </a:r>
          </a:p>
          <a:p>
            <a:pPr/>
            <a:r>
              <a:rPr sz="1800" b="1">
                <a:solidFill>
                  <a:srgbClr val="B76E00"/>
                </a:solidFill>
                <a:latin typeface="Calibri"/>
              </a:rPr>
              <a:t>A password that still works is not authorisation: permission, not access, is the test.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CMA amendments: keeping a 1990 Act current</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Police and Justice Act 2006 widened section 3 to impairing operation, explicitly catching denial of service attacks.</a:t>
            </a:r>
          </a:p>
          <a:p>
            <a:pPr/>
            <a:r>
              <a:rPr sz="2000" b="0">
                <a:solidFill>
                  <a:srgbClr val="222222"/>
                </a:solidFill>
                <a:latin typeface="Calibri"/>
              </a:rPr>
              <a:t>It also added section 3A: making, supplying or obtaining tools for computer misuse offences.</a:t>
            </a:r>
          </a:p>
          <a:p>
            <a:pPr/>
            <a:r>
              <a:rPr sz="2000" b="0">
                <a:solidFill>
                  <a:srgbClr val="222222"/>
                </a:solidFill>
                <a:latin typeface="Calibri"/>
              </a:rPr>
              <a:t>Serious Crime Act 2015 added section 3ZA: unauthorised acts causing serious damage, such as attacking infrastructure.</a:t>
            </a:r>
          </a:p>
          <a:p>
            <a:pPr/>
            <a:r>
              <a:rPr sz="2000" b="0">
                <a:solidFill>
                  <a:srgbClr val="222222"/>
                </a:solidFill>
                <a:latin typeface="Calibri"/>
              </a:rPr>
              <a:t>Penalties rise with each level, from months for section 1 up to life for 3ZA.</a:t>
            </a:r>
          </a:p>
          <a:p>
            <a:pPr/>
            <a:r>
              <a:rPr sz="2000" b="0">
                <a:solidFill>
                  <a:srgbClr val="222222"/>
                </a:solidFill>
                <a:latin typeface="Calibri"/>
              </a:rPr>
              <a:t>Criticism: written before botnets and ransomware, so amendments were needed to keep pace.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Copyright, Designs and Patents Act 1988</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Protects intellectual property: original creative works including software, music, film and designs.</a:t>
            </a:r>
          </a:p>
          <a:p>
            <a:pPr/>
            <a:r>
              <a:rPr sz="2000" b="0">
                <a:solidFill>
                  <a:srgbClr val="222222"/>
                </a:solidFill>
                <a:latin typeface="Calibri"/>
              </a:rPr>
              <a:t>Protection is automatic on creation; nothing needs registering.</a:t>
            </a:r>
          </a:p>
          <a:p>
            <a:pPr/>
            <a:r>
              <a:rPr sz="2000" b="0">
                <a:solidFill>
                  <a:srgbClr val="222222"/>
                </a:solidFill>
                <a:latin typeface="Calibri"/>
              </a:rPr>
              <a:t>Copyright protects the expression of an idea, such as source code, never the idea itself.</a:t>
            </a:r>
          </a:p>
          <a:p>
            <a:pPr/>
            <a:r>
              <a:rPr sz="2000" b="0">
                <a:solidFill>
                  <a:srgbClr val="222222"/>
                </a:solidFill>
                <a:latin typeface="Calibri"/>
              </a:rPr>
              <a:t>Using, copying or distributing someone's work requires a licence from the rights holder.</a:t>
            </a:r>
          </a:p>
          <a:p>
            <a:pPr/>
            <a:r>
              <a:rPr sz="2000" b="0">
                <a:solidFill>
                  <a:srgbClr val="222222"/>
                </a:solidFill>
                <a:latin typeface="Calibri"/>
              </a:rPr>
              <a:t>Links to licensing in 1.2: open source licences permit copying under conditions; proprietary licences restrict it.</a:t>
            </a:r>
          </a:p>
          <a:p>
            <a:pPr/>
            <a:r>
              <a:rPr sz="1800" b="1">
                <a:solidFill>
                  <a:srgbClr val="B76E00"/>
                </a:solidFill>
                <a:latin typeface="Calibri"/>
              </a:rPr>
              <a:t>A patent is different: it protects an invention or idea and must be applied for and granted.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Regulation of Investigatory Powers Act 2000</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Governs how public bodies such as police and security services may lawfully monitor communications.</a:t>
            </a:r>
          </a:p>
          <a:p>
            <a:pPr/>
            <a:r>
              <a:rPr sz="2000" b="0">
                <a:solidFill>
                  <a:srgbClr val="222222"/>
                </a:solidFill>
                <a:latin typeface="Calibri"/>
              </a:rPr>
              <a:t>Permits interception of communications and collection of communications data with proper authorisation.</a:t>
            </a:r>
          </a:p>
          <a:p>
            <a:pPr/>
            <a:r>
              <a:rPr sz="2000" b="0">
                <a:solidFill>
                  <a:srgbClr val="222222"/>
                </a:solidFill>
                <a:latin typeface="Calibri"/>
              </a:rPr>
              <a:t>Can compel ISPs to provide access to customers' communications and install surveillance capability.</a:t>
            </a:r>
          </a:p>
          <a:p>
            <a:pPr/>
            <a:r>
              <a:rPr sz="2000" b="0">
                <a:solidFill>
                  <a:srgbClr val="222222"/>
                </a:solidFill>
                <a:latin typeface="Calibri"/>
              </a:rPr>
              <a:t>Can demand that protected (encrypted) data be disclosed or decryption keys handed over (links to 1.3.1).</a:t>
            </a:r>
          </a:p>
          <a:p>
            <a:pPr/>
            <a:r>
              <a:rPr sz="2000" b="0">
                <a:solidFill>
                  <a:srgbClr val="222222"/>
                </a:solidFill>
                <a:latin typeface="Calibri"/>
              </a:rPr>
              <a:t>Defines who may authorise each power, to prevent abuse; criticised as a privacy trade-off.</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The method: which Act, which section, why</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Step 1: identify each actor and the wrong they committed or allowed.</a:t>
            </a:r>
          </a:p>
          <a:p>
            <a:pPr/>
            <a:r>
              <a:rPr sz="2000" b="0">
                <a:solidFill>
                  <a:srgbClr val="222222"/>
                </a:solidFill>
                <a:latin typeface="Calibri"/>
              </a:rPr>
              <a:t>Step 2: match trigger words: personal data means DPA; authorisation means CMA; copying expression means CDPA; state monitoring means RIPA.</a:t>
            </a:r>
          </a:p>
          <a:p>
            <a:pPr/>
            <a:r>
              <a:rPr sz="2000" b="0">
                <a:solidFill>
                  <a:srgbClr val="222222"/>
                </a:solidFill>
                <a:latin typeface="Calibri"/>
              </a:rPr>
              <a:t>Step 3: name the precise provision: CMA section number, DPA principle, or the RIPA power.</a:t>
            </a:r>
          </a:p>
          <a:p>
            <a:pPr/>
            <a:r>
              <a:rPr sz="2000" b="0">
                <a:solidFill>
                  <a:srgbClr val="222222"/>
                </a:solidFill>
                <a:latin typeface="Calibri"/>
              </a:rPr>
              <a:t>Step 4: tie a fact from the scenario to each ingredient of that provision.</a:t>
            </a:r>
          </a:p>
          <a:p>
            <a:pPr/>
            <a:r>
              <a:rPr sz="2000" b="0">
                <a:solidFill>
                  <a:srgbClr val="222222"/>
                </a:solidFill>
                <a:latin typeface="Calibri"/>
              </a:rPr>
              <a:t>Vague answers like 'this breaks the hacking law' earn nothing at A Level.</a:t>
            </a:r>
          </a:p>
          <a:p>
            <a:pPr/>
            <a:r>
              <a:rPr sz="1800" b="1">
                <a:solidFill>
                  <a:srgbClr val="B76E00"/>
                </a:solidFill>
                <a:latin typeface="Calibri"/>
              </a:rPr>
              <a:t>Formula for written answers: Act plus section, then the scenario fact that satisfies 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When more than one Act applies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One incident can engage several laws against different parties.</a:t>
            </a:r>
          </a:p>
          <a:p>
            <a:pPr/>
            <a:r>
              <a:rPr sz="2000" b="0">
                <a:solidFill>
                  <a:srgbClr val="222222"/>
                </a:solidFill>
                <a:latin typeface="Calibri"/>
              </a:rPr>
              <a:t>Classic case: a hacker steals customer data from a firm that stored it unencrypted.</a:t>
            </a:r>
          </a:p>
          <a:p>
            <a:pPr/>
            <a:r>
              <a:rPr sz="2000" b="0">
                <a:solidFill>
                  <a:srgbClr val="222222"/>
                </a:solidFill>
                <a:latin typeface="Calibri"/>
              </a:rPr>
              <a:t>The hacker commits CMA sections 1 and 2; the firm breaches the DPA security principle.</a:t>
            </a:r>
          </a:p>
          <a:p>
            <a:pPr/>
            <a:r>
              <a:rPr sz="2000" b="0">
                <a:solidFill>
                  <a:srgbClr val="222222"/>
                </a:solidFill>
                <a:latin typeface="Calibri"/>
              </a:rPr>
              <a:t>Always assign each Act to the party responsible for that wrong.</a:t>
            </a:r>
          </a:p>
          <a:p>
            <a:pPr/>
            <a:r>
              <a:rPr sz="2000" b="0">
                <a:solidFill>
                  <a:srgbClr val="222222"/>
                </a:solidFill>
                <a:latin typeface="Calibri"/>
              </a:rPr>
              <a:t>Watch for the victim organisation also being a wrongdoer: leaver accounts left active, unpatched systems, excessive retention.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Scoring the 8 or 9 mark levels-of-response question</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Marked in levels, not points: AO1 knowledge, AO2 application to the scenario, AO3 evaluation.</a:t>
            </a:r>
          </a:p>
          <a:p>
            <a:pPr/>
            <a:r>
              <a:rPr sz="2000" b="0">
                <a:solidFill>
                  <a:srgbClr val="222222"/>
                </a:solidFill>
                <a:latin typeface="Calibri"/>
              </a:rPr>
              <a:t>Top level needs accurate law, every claim tied to scenario facts, and a weighed conclusion.</a:t>
            </a:r>
          </a:p>
          <a:p>
            <a:pPr/>
            <a:r>
              <a:rPr sz="2000" b="0">
                <a:solidFill>
                  <a:srgbClr val="222222"/>
                </a:solidFill>
                <a:latin typeface="Calibri"/>
              </a:rPr>
              <a:t>Plan for two minutes: list actors, Acts and sections, arguments each way.</a:t>
            </a:r>
          </a:p>
          <a:p>
            <a:pPr/>
            <a:r>
              <a:rPr sz="2000" b="0">
                <a:solidFill>
                  <a:srgbClr val="222222"/>
                </a:solidFill>
                <a:latin typeface="Calibri"/>
              </a:rPr>
              <a:t>Structure: apply each relevant Act in turn, consider counter-arguments, then conclude with justification.</a:t>
            </a:r>
          </a:p>
          <a:p>
            <a:pPr/>
            <a:r>
              <a:rPr sz="2000" b="0">
                <a:solidFill>
                  <a:srgbClr val="222222"/>
                </a:solidFill>
                <a:latin typeface="Calibri"/>
              </a:rPr>
              <a:t>Naming wrong sections or ignoring the scenario caps you at the lower levels.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1</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Classifying a multi-part scenario: the hospital breach (which Act, which section, why)</a:t>
            </a:r>
          </a:p>
          <a:p>
            <a:pPr lvl="1"/>
            <a:r>
              <a:rPr sz="1900" b="0">
                <a:solidFill>
                  <a:srgbClr val="222222"/>
                </a:solidFill>
                <a:latin typeface="Calibri"/>
              </a:rPr>
              <a:t>1. Scenario: an attacker phishes a nurse's login, downloads 40,000 patient records intending to sell them, then installs ransomware. The hospital had skipped security updates and still held records of patients discharged 30 years ago.</a:t>
            </a:r>
          </a:p>
          <a:p>
            <a:pPr lvl="1"/>
            <a:r>
              <a:rPr sz="1900" b="0">
                <a:solidFill>
                  <a:srgbClr val="222222"/>
                </a:solidFill>
                <a:latin typeface="Calibri"/>
              </a:rPr>
              <a:t>2. List the actors first: the attacker, and the hospital as data controller.</a:t>
            </a:r>
          </a:p>
          <a:p>
            <a:pPr lvl="1"/>
            <a:r>
              <a:rPr sz="1900" b="0">
                <a:solidFill>
                  <a:srgbClr val="222222"/>
                </a:solidFill>
                <a:latin typeface="Calibri"/>
              </a:rPr>
              <a:t>3. Fact: logging in with a phished password. Trigger: no authorisation. CMA section 1: unauthorised access.</a:t>
            </a:r>
          </a:p>
          <a:p>
            <a:pPr lvl="1"/>
            <a:r>
              <a:rPr sz="1900" b="0">
                <a:solidFill>
                  <a:srgbClr val="222222"/>
                </a:solidFill>
                <a:latin typeface="Calibri"/>
              </a:rPr>
              <a:t>4. Fact: downloading records intending to sell. CMA section 2: the access was with intent to commit a further offence (the sale).</a:t>
            </a:r>
          </a:p>
          <a:p>
            <a:pPr lvl="1"/>
            <a:r>
              <a:rPr sz="1900" b="0">
                <a:solidFill>
                  <a:srgbClr val="222222"/>
                </a:solidFill>
                <a:latin typeface="Calibri"/>
              </a:rPr>
              <a:t>5. Fact: installing ransomware that encrypts files. CMA section 3: unauthorised modification impairing the computer; on hospital infrastructure, section 3ZA (serious damage) is arguable.</a:t>
            </a:r>
          </a:p>
          <a:p>
            <a:pPr lvl="1"/>
            <a:r>
              <a:rPr sz="1900" b="0">
                <a:solidFill>
                  <a:srgbClr val="222222"/>
                </a:solidFill>
                <a:latin typeface="Calibri"/>
              </a:rPr>
              <a:t>6. Fact: the hospital skipped updates. DPA 2018 integrity and confidentiality principle: personal data was not kept secure.</a:t>
            </a:r>
          </a:p>
          <a:p>
            <a:pPr lvl="1"/>
            <a:r>
              <a:rPr sz="1900" b="0">
                <a:solidFill>
                  <a:srgbClr val="222222"/>
                </a:solidFill>
                <a:latin typeface="Calibri"/>
              </a:rPr>
              <a:t>7. Fact: 30-year-old records still held. DPA storage limitation principle: data kept longer than necessary.</a:t>
            </a:r>
          </a:p>
          <a:p>
            <a:pPr lvl="1"/>
            <a:r>
              <a:rPr sz="1900" b="0">
                <a:solidFill>
                  <a:srgbClr val="222222"/>
                </a:solidFill>
                <a:latin typeface="Calibri"/>
              </a:rPr>
              <a:t>8. Conclusion sentence: the attacker faces CMA sections 1, 2 and 3; the hospital, as controller, breaches two DPA principles and answers to the ICO.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2</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Planning a 9-mark levels question: 'Discuss whether RIPA powers to demand decryption keys are justified.'</a:t>
            </a:r>
          </a:p>
          <a:p>
            <a:pPr lvl="1"/>
            <a:r>
              <a:rPr sz="1900" b="0">
                <a:solidFill>
                  <a:srgbClr val="222222"/>
                </a:solidFill>
                <a:latin typeface="Calibri"/>
              </a:rPr>
              <a:t>1. Circle the command word: discuss means both sides plus a justified conclusion, or you are capped at the middle level.</a:t>
            </a:r>
          </a:p>
          <a:p>
            <a:pPr lvl="1"/>
            <a:r>
              <a:rPr sz="1900" b="0">
                <a:solidFill>
                  <a:srgbClr val="222222"/>
                </a:solidFill>
                <a:latin typeface="Calibri"/>
              </a:rPr>
              <a:t>2. Brainstorm stakeholders: security services, suspects, law-abiding citizens, ISPs and technology firms, wider society.</a:t>
            </a:r>
          </a:p>
          <a:p>
            <a:pPr lvl="1"/>
            <a:r>
              <a:rPr sz="1900" b="0">
                <a:solidFill>
                  <a:srgbClr val="222222"/>
                </a:solidFill>
                <a:latin typeface="Calibri"/>
              </a:rPr>
              <a:t>3. FOR column: strong encryption otherwise defeats lawful investigation; targeted, authorised access can prevent terrorism and serious crime; authorisation rules limit abuse.</a:t>
            </a:r>
          </a:p>
          <a:p>
            <a:pPr lvl="1"/>
            <a:r>
              <a:rPr sz="1900" b="0">
                <a:solidFill>
                  <a:srgbClr val="222222"/>
                </a:solidFill>
                <a:latin typeface="Calibri"/>
              </a:rPr>
              <a:t>4. AGAINST column: weakens the privacy of innocent users; a disclosed key may expose everyone's data, not just the suspect's; refusing to hand over a key is itself an offence, troubling if a password is genuinely forgotten.</a:t>
            </a:r>
          </a:p>
          <a:p>
            <a:pPr lvl="1"/>
            <a:r>
              <a:rPr sz="1900" b="0">
                <a:solidFill>
                  <a:srgbClr val="222222"/>
                </a:solidFill>
                <a:latin typeface="Calibri"/>
              </a:rPr>
              <a:t>5. Develop each point as point, consequence, stakeholder, counter: key disclosure helps convict criminals (society benefits) BUT a leaked key exposes millions of users (individuals harmed).</a:t>
            </a:r>
          </a:p>
          <a:p>
            <a:pPr lvl="1"/>
            <a:r>
              <a:rPr sz="1900" b="0">
                <a:solidFill>
                  <a:srgbClr val="222222"/>
                </a:solidFill>
                <a:latin typeface="Calibri"/>
              </a:rPr>
              <a:t>6. Apply the law accurately: name RIPA 2000, that it applies to public bodies, and that authorisation levels exist precisely because the power is intrusive.</a:t>
            </a:r>
          </a:p>
          <a:p>
            <a:pPr lvl="1"/>
            <a:r>
              <a:rPr sz="1900" b="0">
                <a:solidFill>
                  <a:srgbClr val="222222"/>
                </a:solidFill>
                <a:latin typeface="Calibri"/>
              </a:rPr>
              <a:t>7. Conclude with a condition: justified only where targeted at named suspects, properly authorised and time-limited; blanket demands are disproportionate.</a:t>
            </a:r>
          </a:p>
          <a:p>
            <a:pPr lvl="1"/>
            <a:r>
              <a:rPr sz="1900" b="0">
                <a:solidFill>
                  <a:srgbClr val="222222"/>
                </a:solidFill>
                <a:latin typeface="Calibri"/>
              </a:rPr>
              <a:t>8. Check against the levels: accurate AO1 (RIPA facts), AO2 (tied to the scenario), AO3 (weighed conclusion) reaches the top level.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3</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Rapid classification drill: four one-line scenarios</a:t>
            </a:r>
          </a:p>
          <a:p>
            <a:pPr lvl="1"/>
            <a:r>
              <a:rPr sz="1900" b="0">
                <a:solidFill>
                  <a:srgbClr val="222222"/>
                </a:solidFill>
                <a:latin typeface="Calibri"/>
              </a:rPr>
              <a:t>1. A student guesses a teacher's email password just to look: CMA section 1; access was unauthorised even though nothing was changed.</a:t>
            </a:r>
          </a:p>
          <a:p>
            <a:pPr lvl="1"/>
            <a:r>
              <a:rPr sz="1900" b="0">
                <a:solidFill>
                  <a:srgbClr val="222222"/>
                </a:solidFill>
                <a:latin typeface="Calibri"/>
              </a:rPr>
              <a:t>2. A start-up ships a product containing code copied from a licensed library it never paid for: CDPA 1988; expression copied without a licence.</a:t>
            </a:r>
          </a:p>
          <a:p>
            <a:pPr lvl="1"/>
            <a:r>
              <a:rPr sz="1900" b="0">
                <a:solidFill>
                  <a:srgbClr val="222222"/>
                </a:solidFill>
                <a:latin typeface="Calibri"/>
              </a:rPr>
              <a:t>3. A recruiter keeps unsuccessful applicants' CVs for ten years 'just in case': DPA 2018; storage limitation and purpose limitation principles.</a:t>
            </a:r>
          </a:p>
          <a:p>
            <a:pPr lvl="1"/>
            <a:r>
              <a:rPr sz="1900" b="0">
                <a:solidFill>
                  <a:srgbClr val="222222"/>
                </a:solidFill>
                <a:latin typeface="Calibri"/>
              </a:rPr>
              <a:t>4. Police, with proper authorisation, intercept a suspect's messages via the ISP: RIPA 2000; lawful interception by a public body, so no offence is committed.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1</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The Crown v. Kowalski (courtroom role-play)  (25 min)</a:t>
            </a:r>
          </a:p>
          <a:p>
            <a:pPr lvl="1"/>
            <a:r>
              <a:rPr sz="2000" b="0">
                <a:solidFill>
                  <a:srgbClr val="222222"/>
                </a:solidFill>
                <a:latin typeface="Calibri"/>
              </a:rPr>
              <a:t>Groups of five: two prosecution, two defence, one judge. Scenario: a former IT technician uses a colleague's still-active login a week after leaving, browses the student database, exports parents' contact details intending to sell them, and deletes the behaviour log mentioning her disciplinary hearing.</a:t>
            </a:r>
          </a:p>
          <a:p>
            <a:pPr lvl="1"/>
            <a:r>
              <a:rPr sz="2000" b="0">
                <a:solidFill>
                  <a:srgbClr val="222222"/>
                </a:solidFill>
                <a:latin typeface="Calibri"/>
              </a:rPr>
              <a:t>Prosecution argue the most serious CMA offences that fit; defence argue the least, or none: 'the login still worked, so was it really unauthorised?'</a:t>
            </a:r>
          </a:p>
          <a:p>
            <a:pPr lvl="1"/>
            <a:r>
              <a:rPr sz="2000" b="0">
                <a:solidFill>
                  <a:srgbClr val="222222"/>
                </a:solidFill>
                <a:latin typeface="Calibri"/>
              </a:rPr>
              <a:t>Eight minutes preparation: both sides must cite offence numbers and match each ingredient to a scenario fact.</a:t>
            </a:r>
          </a:p>
          <a:p>
            <a:pPr lvl="1"/>
            <a:r>
              <a:rPr sz="2000" b="0">
                <a:solidFill>
                  <a:srgbClr val="222222"/>
                </a:solidFill>
                <a:latin typeface="Calibri"/>
              </a:rPr>
              <a:t>Run the trial: two minutes per side, one minute rebuttal each; the judge asks one question of each side and delivers a verdict naming each offence proved and its deciding fact.</a:t>
            </a:r>
          </a:p>
          <a:p>
            <a:pPr lvl="1"/>
            <a:r>
              <a:rPr sz="2000" b="0">
                <a:solidFill>
                  <a:srgbClr val="222222"/>
                </a:solidFill>
                <a:latin typeface="Calibri"/>
              </a:rPr>
              <a:t>Expected verdict: login use is section 1 (authorisation ended with employment); the export with intent to sell is section 2; deleting the log is section 3.</a:t>
            </a:r>
          </a:p>
          <a:p>
            <a:pPr/>
            <a:r>
              <a:rPr sz="1800" b="0">
                <a:solidFill>
                  <a:srgbClr val="B76E00"/>
                </a:solidFill>
                <a:latin typeface="Calibri"/>
              </a:rPr>
              <a:t>Stretch: The judge must also rule whether the school breached the DPA by leaving a leaver's account active (integrity and confidentiality principle), showing two laws in one incident.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2</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Four Corners: which law applies?  (15 min)</a:t>
            </a:r>
          </a:p>
          <a:p>
            <a:pPr lvl="1"/>
            <a:r>
              <a:rPr sz="2000" b="0">
                <a:solidFill>
                  <a:srgbClr val="222222"/>
                </a:solidFill>
                <a:latin typeface="Calibri"/>
              </a:rPr>
              <a:t>Label the corners DPA 2018, CMA 1990, CDPA 1988, RIPA 2000. When a scenario is read, students silently walk to the Act most clearly engaged.</a:t>
            </a:r>
          </a:p>
          <a:p>
            <a:pPr lvl="1"/>
            <a:r>
              <a:rPr sz="2000" b="0">
                <a:solidFill>
                  <a:srgbClr val="222222"/>
                </a:solidFill>
                <a:latin typeface="Calibri"/>
              </a:rPr>
              <a:t>Scenarios: a fitness app sells heart-rate data to insurers without consent; a student guesses a password to have a look; a firm ships code copied from an unpaid library; police intercept a suspect's messages with authorisation; a hacker leaks a retailer's customer database; a company keeps job applicants' CVs for ten years.</a:t>
            </a:r>
          </a:p>
          <a:p>
            <a:pPr lvl="1"/>
            <a:r>
              <a:rPr sz="2000" b="0">
                <a:solidFill>
                  <a:srgbClr val="222222"/>
                </a:solidFill>
                <a:latin typeface="Calibri"/>
              </a:rPr>
              <a:t>After each move, one student per corner justifies in one sentence using the Act's trigger word.</a:t>
            </a:r>
          </a:p>
          <a:p>
            <a:pPr lvl="1"/>
            <a:r>
              <a:rPr sz="2000" b="0">
                <a:solidFill>
                  <a:srgbClr val="222222"/>
                </a:solidFill>
                <a:latin typeface="Calibri"/>
              </a:rPr>
              <a:t>For the hacker-leak scenario, expect a split between the CMA and DPA corners; let them debate before revealing both apply, to different parties.</a:t>
            </a:r>
          </a:p>
          <a:p>
            <a:pPr/>
            <a:r>
              <a:rPr sz="1800" b="0">
                <a:solidFill>
                  <a:srgbClr val="B76E00"/>
                </a:solidFill>
                <a:latin typeface="Calibri"/>
              </a:rPr>
              <a:t>Stretch: Add a fifth floor spot labelled 'two laws'; anyone standing there must name both Acts and the fact engaging each.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3</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Always, Sometimes, Never: is it legal?  (15 min)</a:t>
            </a:r>
          </a:p>
          <a:p>
            <a:pPr lvl="1"/>
            <a:r>
              <a:rPr sz="2000" b="0">
                <a:solidFill>
                  <a:srgbClr val="222222"/>
                </a:solidFill>
                <a:latin typeface="Calibri"/>
              </a:rPr>
              <a:t>Pairs sort statement cards under Always, Sometimes or Never, writing a one-line justification for every Sometimes.</a:t>
            </a:r>
          </a:p>
          <a:p>
            <a:pPr lvl="1"/>
            <a:r>
              <a:rPr sz="2000" b="0">
                <a:solidFill>
                  <a:srgbClr val="222222"/>
                </a:solidFill>
                <a:latin typeface="Calibri"/>
              </a:rPr>
              <a:t>Statements: copying software without paying breaks the CDPA; accessing an account that is not yours breaks the CMA; a company may keep personal data forever; intercepting someone's messages is illegal; copyright must be registered before it protects code; an idea for an app is protected by copyright; two laws can apply to one incident.</a:t>
            </a:r>
          </a:p>
          <a:p>
            <a:pPr lvl="1"/>
            <a:r>
              <a:rPr sz="2000" b="0">
                <a:solidFill>
                  <a:srgbClr val="222222"/>
                </a:solidFill>
                <a:latin typeface="Calibri"/>
              </a:rPr>
              <a:t>Answers: Sometimes (a licence, including open source, can permit copying); Sometimes (access may be authorised, e.g. admin duties); Never (storage limitation); Sometimes (lawful under RIPA with authorisation); Never (protection is automatic); Never (copyright protects expression; patents cover inventions); Always possible.</a:t>
            </a:r>
          </a:p>
          <a:p>
            <a:pPr lvl="1"/>
            <a:r>
              <a:rPr sz="2000" b="0">
                <a:solidFill>
                  <a:srgbClr val="222222"/>
                </a:solidFill>
                <a:latin typeface="Calibri"/>
              </a:rPr>
              <a:t>Pairs join into fours and resolve disagreements by pointing at the specific provision.</a:t>
            </a:r>
          </a:p>
          <a:p>
            <a:pPr/>
            <a:r>
              <a:rPr sz="1800" b="0">
                <a:solidFill>
                  <a:srgbClr val="B76E00"/>
                </a:solidFill>
                <a:latin typeface="Calibri"/>
              </a:rPr>
              <a:t>Stretch: Pairs write one new Sometimes card whose truth genuinely depends on authorisation or licensing, and swap with another pair.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(1-4)</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State what is meant by personal data under the Data Protection Act 2018. [1]</a:t>
            </a:r>
          </a:p>
          <a:p>
            <a:r>
              <a:rPr sz="2000" b="1">
                <a:solidFill>
                  <a:srgbClr val="222222"/>
                </a:solidFill>
                <a:latin typeface="Calibri"/>
              </a:rPr>
              <a:t>2. Describe the difference between a data controller and a data processor. [2]</a:t>
            </a:r>
          </a:p>
          <a:p>
            <a:r>
              <a:rPr sz="2000" b="1">
                <a:solidFill>
                  <a:srgbClr val="222222"/>
                </a:solidFill>
                <a:latin typeface="Calibri"/>
              </a:rPr>
              <a:t>3. A former employee logs into her old employer's system using an account that was never deactivated and reads confidential emails. Identify the Act and offence committed, justifying your answer. [3]</a:t>
            </a:r>
          </a:p>
          <a:p>
            <a:r>
              <a:rPr sz="2000" b="1">
                <a:solidFill>
                  <a:srgbClr val="222222"/>
                </a:solidFill>
                <a:latin typeface="Calibri"/>
              </a:rPr>
              <a:t>4. Explain why releasing ransomware is an offence under the Computer Misuse Act 1990 and state the relevant section. [3]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 answers (1-4)</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State what is meant by personal data under the Data Protection Act 2018. [1]</a:t>
            </a:r>
          </a:p>
          <a:p>
            <a:pPr lvl="1"/>
            <a:r>
              <a:rPr sz="1800" i="1">
                <a:solidFill>
                  <a:srgbClr val="B76E00"/>
                </a:solidFill>
                <a:latin typeface="Calibri"/>
              </a:rPr>
              <a:t>Answer: Data relating to an identified or identifiable living individual (1).</a:t>
            </a:r>
          </a:p>
          <a:p>
            <a:r>
              <a:rPr sz="2000" b="1">
                <a:solidFill>
                  <a:srgbClr val="222222"/>
                </a:solidFill>
                <a:latin typeface="Calibri"/>
              </a:rPr>
              <a:t>2. Describe the difference between a data controller and a data processor. [2]</a:t>
            </a:r>
          </a:p>
          <a:p>
            <a:pPr lvl="1"/>
            <a:r>
              <a:rPr sz="1800" i="1">
                <a:solidFill>
                  <a:srgbClr val="B76E00"/>
                </a:solidFill>
                <a:latin typeface="Calibri"/>
              </a:rPr>
              <a:t>Answer: The controller decides why and how personal data is processed (1); the processor processes the data only on the controller's instructions, e.g. an outsourced payroll company (1).</a:t>
            </a:r>
          </a:p>
          <a:p>
            <a:r>
              <a:rPr sz="2000" b="1">
                <a:solidFill>
                  <a:srgbClr val="222222"/>
                </a:solidFill>
                <a:latin typeface="Calibri"/>
              </a:rPr>
              <a:t>3. A former employee logs into her old employer's system using an account that was never deactivated and reads confidential emails. Identify the Act and offence committed, justifying your answer. [3]</a:t>
            </a:r>
          </a:p>
          <a:p>
            <a:pPr lvl="1"/>
            <a:r>
              <a:rPr sz="1800" i="1">
                <a:solidFill>
                  <a:srgbClr val="B76E00"/>
                </a:solidFill>
                <a:latin typeface="Calibri"/>
              </a:rPr>
              <a:t>Answer: Computer Misuse Act 1990 (1), section 1, unauthorised access (1); her authorisation ended with her employment, and a still-working account does not grant permission; as she only read material there is no evidence of intent for a further offence or of modification (1).</a:t>
            </a:r>
          </a:p>
          <a:p>
            <a:r>
              <a:rPr sz="2000" b="1">
                <a:solidFill>
                  <a:srgbClr val="222222"/>
                </a:solidFill>
                <a:latin typeface="Calibri"/>
              </a:rPr>
              <a:t>4. Explain why releasing ransomware is an offence under the Computer Misuse Act 1990 and state the relevant section. [3]</a:t>
            </a:r>
          </a:p>
          <a:p>
            <a:pPr lvl="1"/>
            <a:r>
              <a:rPr sz="1800" i="1">
                <a:solidFill>
                  <a:srgbClr val="B76E00"/>
                </a:solidFill>
                <a:latin typeface="Calibri"/>
              </a:rPr>
              <a:t>Answer: Ransomware encrypts the victim's files, which is an unauthorised modification of computer material (1) that impairs the operation of the computer and access to data (1); this is a section 3 offence, with section 3ZA possible where serious damage results (1).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(5-8)</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A software house discovers a rival has copied thousands of lines of its source code into a competing product. Identify the relevant Act and explain what protection it gives. [3]</a:t>
            </a:r>
          </a:p>
          <a:p>
            <a:r>
              <a:rPr sz="2000" b="1">
                <a:solidFill>
                  <a:srgbClr val="222222"/>
                </a:solidFill>
                <a:latin typeface="Calibri"/>
              </a:rPr>
              <a:t>2. Describe two powers that the Regulation of Investigatory Powers Act 2000 gives to public bodies. [2]</a:t>
            </a:r>
          </a:p>
          <a:p>
            <a:r>
              <a:rPr sz="2000" b="1">
                <a:solidFill>
                  <a:srgbClr val="222222"/>
                </a:solidFill>
                <a:latin typeface="Calibri"/>
              </a:rPr>
              <a:t>3. A fitness app shares users' location history with advertisers without telling them. Explain which Act is engaged and identify two principles that have been breached. [4]</a:t>
            </a:r>
          </a:p>
          <a:p>
            <a:r>
              <a:rPr sz="2000" b="1">
                <a:solidFill>
                  <a:srgbClr val="222222"/>
                </a:solidFill>
                <a:latin typeface="Calibri"/>
              </a:rPr>
              <a:t>4. Explain one criticism of the Computer Misuse Act 1990 and one criticism of RIPA 2000. [4]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 answers (5-8)</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A software house discovers a rival has copied thousands of lines of its source code into a competing product. Identify the relevant Act and explain what protection it gives. [3]</a:t>
            </a:r>
          </a:p>
          <a:p>
            <a:pPr lvl="1"/>
            <a:r>
              <a:rPr sz="1800" i="1">
                <a:solidFill>
                  <a:srgbClr val="B76E00"/>
                </a:solidFill>
                <a:latin typeface="Calibri"/>
              </a:rPr>
              <a:t>Answer: Copyright, Designs and Patents Act 1988 (1); source code is protected automatically on creation as the expression of an original work (1); copying or distributing it without a licence from the rights holder is infringement, so the rival can be sued (1).</a:t>
            </a:r>
          </a:p>
          <a:p>
            <a:r>
              <a:rPr sz="2000" b="1">
                <a:solidFill>
                  <a:srgbClr val="222222"/>
                </a:solidFill>
                <a:latin typeface="Calibri"/>
              </a:rPr>
              <a:t>2. Describe two powers that the Regulation of Investigatory Powers Act 2000 gives to public bodies. [2]</a:t>
            </a:r>
          </a:p>
          <a:p>
            <a:pPr lvl="1"/>
            <a:r>
              <a:rPr sz="1800" i="1">
                <a:solidFill>
                  <a:srgbClr val="B76E00"/>
                </a:solidFill>
                <a:latin typeface="Calibri"/>
              </a:rPr>
              <a:t>Answer: Any two of: interception of communications with proper authorisation (1); requiring ISPs to provide access to customer communications or fit surveillance capability (1); demanding disclosure of encrypted data or decryption keys (1).</a:t>
            </a:r>
          </a:p>
          <a:p>
            <a:r>
              <a:rPr sz="2000" b="1">
                <a:solidFill>
                  <a:srgbClr val="222222"/>
                </a:solidFill>
                <a:latin typeface="Calibri"/>
              </a:rPr>
              <a:t>3. A fitness app shares users' location history with advertisers without telling them. Explain which Act is engaged and identify two principles that have been breached. [4]</a:t>
            </a:r>
          </a:p>
          <a:p>
            <a:pPr lvl="1"/>
            <a:r>
              <a:rPr sz="1800" i="1">
                <a:solidFill>
                  <a:srgbClr val="B76E00"/>
                </a:solidFill>
                <a:latin typeface="Calibri"/>
              </a:rPr>
              <a:t>Answer: Data Protection Act 2018 (1), because location history linked to accounts is personal data and the app operator is the controller (1). Breaches: data was not processed lawfully, fairly and transparently, since users were not told (1); and purpose limitation, since data collected for fitness tracking was used for advertising (1).</a:t>
            </a:r>
          </a:p>
          <a:p>
            <a:r>
              <a:rPr sz="2000" b="1">
                <a:solidFill>
                  <a:srgbClr val="222222"/>
                </a:solidFill>
                <a:latin typeface="Calibri"/>
              </a:rPr>
              <a:t>4. Explain one criticism of the Computer Misuse Act 1990 and one criticism of RIPA 2000. [4]</a:t>
            </a:r>
          </a:p>
          <a:p>
            <a:pPr lvl="1"/>
            <a:r>
              <a:rPr sz="1800" i="1">
                <a:solidFill>
                  <a:srgbClr val="B76E00"/>
                </a:solidFill>
                <a:latin typeface="Calibri"/>
              </a:rPr>
              <a:t>Answer: CMA: written in 1990, it did not anticipate modern attacks such as denial of service or ransomware (1), so amendments in 2006 and 2015 were needed to keep it effective (1). RIPA: its surveillance and key-disclosure powers intrude on the privacy of innocent users (1), and critics argue authorisation is not always independent, risking disproportionate use (1).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Common misconceptions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 Students often think the CMA is about causing damage; it hinges on authorisation and intent, and section 1 needs no damage at all, only unauthorised access.</a:t>
            </a:r>
          </a:p>
          <a:p>
            <a:pPr/>
            <a:r>
              <a:rPr sz="2000" b="0">
                <a:solidFill>
                  <a:srgbClr val="222222"/>
                </a:solidFill>
                <a:latin typeface="Calibri"/>
              </a:rPr>
              <a:t>✗ Students often think a working password means access was authorised; permission is the test, so using a colleague's or a leaver's login is still unauthorised.</a:t>
            </a:r>
          </a:p>
          <a:p>
            <a:pPr/>
            <a:r>
              <a:rPr sz="2000" b="0">
                <a:solidFill>
                  <a:srgbClr val="222222"/>
                </a:solidFill>
                <a:latin typeface="Calibri"/>
              </a:rPr>
              <a:t>✗ Students often think copyright must be registered; CDPA protection is automatic on creation, and it is patents that must be applied for and granted.</a:t>
            </a:r>
          </a:p>
          <a:p>
            <a:pPr/>
            <a:r>
              <a:rPr sz="2000" b="0">
                <a:solidFill>
                  <a:srgbClr val="222222"/>
                </a:solidFill>
                <a:latin typeface="Calibri"/>
              </a:rPr>
              <a:t>✗ Students often think the DPA protects any data; it covers only personal data about living individuals, not company data or the deceased.</a:t>
            </a:r>
          </a:p>
          <a:p>
            <a:pPr/>
            <a:r>
              <a:rPr sz="2000" b="0">
                <a:solidFill>
                  <a:srgbClr val="222222"/>
                </a:solidFill>
                <a:latin typeface="Calibri"/>
              </a:rPr>
              <a:t>✗ Students often treat GDPR and the DPA 2018 as interchangeable; GDPR is the EU regulation and the DPA 2018 is the UK Act implementing it.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How the exam asks this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Command words: state and identify for definitions and naming Acts (1-2 marks); describe and explain for provisions applied to scenarios (2-4 marks); discuss and evaluate for 8-9 mark levels-of-response questions.</a:t>
            </a:r>
          </a:p>
          <a:p>
            <a:pPr/>
            <a:r>
              <a:rPr sz="2000" b="0">
                <a:solidFill>
                  <a:srgbClr val="222222"/>
                </a:solidFill>
                <a:latin typeface="Calibri"/>
              </a:rPr>
              <a:t>Mark schemes credit the specific Act plus section or principle plus a scenario fact; 'it is illegal' or 'the hacking law' earns nothing.</a:t>
            </a:r>
          </a:p>
          <a:p>
            <a:pPr/>
            <a:r>
              <a:rPr sz="2000" b="0">
                <a:solidFill>
                  <a:srgbClr val="222222"/>
                </a:solidFill>
                <a:latin typeface="Calibri"/>
              </a:rPr>
              <a:t>Multi-party scenarios are common: expect one incident engaging the CMA against an attacker and the DPA against a careless controller.</a:t>
            </a:r>
          </a:p>
          <a:p>
            <a:pPr/>
            <a:r>
              <a:rPr sz="2000" b="0">
                <a:solidFill>
                  <a:srgbClr val="222222"/>
                </a:solidFill>
                <a:latin typeface="Calibri"/>
              </a:rPr>
              <a:t>Example stem: 'An online retailer suffers a data breach after ignoring security warnings; the attacker sells the stolen customer records. Discuss the legal consequences for both parties.' [9]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Your turn</a:t>
            </a:r>
          </a:p>
        </p:txBody>
      </p:sp>
      <p:sp>
        <p:nvSpPr>
          <p:cNvPr id="3" name="TextBox 2"/>
          <p:cNvSpPr txBox="1"/>
          <p:nvPr/>
        </p:nvSpPr>
        <p:spPr>
          <a:xfrm>
            <a:off x="640080" y="1280160"/>
            <a:ext cx="10881360" cy="5120640"/>
          </a:xfrm>
          <a:prstGeom prst="rect">
            <a:avLst/>
          </a:prstGeom>
          <a:noFill/>
        </p:spPr>
        <p:txBody>
          <a:bodyPr wrap="square">
            <a:spAutoFit/>
          </a:bodyPr>
          <a:lstStyle/>
          <a:p>
            <a:pPr/>
            <a:r>
              <a:rPr sz="2400" b="1">
                <a:solidFill>
                  <a:srgbClr val="2B6CB0"/>
                </a:solidFill>
                <a:latin typeface="Calibri"/>
              </a:rPr>
              <a:t>Task</a:t>
            </a:r>
          </a:p>
          <a:p>
            <a:pPr lvl="1"/>
            <a:r>
              <a:rPr sz="2200" b="0">
                <a:solidFill>
                  <a:srgbClr val="222222"/>
                </a:solidFill>
                <a:latin typeface="Calibri"/>
              </a:rPr>
              <a:t>For six mini-scenarios (a phished bank login used to transfer money; a DDoS attack on a rival's website; a school selling alumni contact details to a tutoring firm; a YouTuber uploading a full film soundtrack; a properly authorised council investigator tracking a fly-tipping suspect's communications data; a firm keeping card details from closed accounts for eight years), complete a three-column table: Act and section or principle; the scenario fact that engages it; one sentence of justification. Expected: CMA sections 1 and 2; CMA section 3 (DoS via the 2006 amendment); DPA lawfulness and purpose limitation; CDPA infringement; RIPA lawful use so no offence; DPA storage limitation.</a:t>
            </a:r>
          </a:p>
          <a:p>
            <a:r>
              <a:rPr sz="2400" b="1">
                <a:solidFill>
                  <a:srgbClr val="B76E00"/>
                </a:solidFill>
                <a:latin typeface="Calibri"/>
              </a:rPr>
              <a:t>Challenge / stretch</a:t>
            </a:r>
          </a:p>
          <a:p>
            <a:pPr lvl="1"/>
            <a:r>
              <a:rPr sz="2200" b="0">
                <a:solidFill>
                  <a:srgbClr val="222222"/>
                </a:solidFill>
                <a:latin typeface="Calibri"/>
              </a:rPr>
              <a:t>A whistleblower who administered a company system exceeded his permitted access to copy documents proving the firm illegally sold patient data to a journalist; the security services then sought RIPA authorisation to identify the journalist's source. Write an analysis identifying every Act engaged, by whom, and whether each use of the law seems proportionate; finish with a justified one-paragraph conclusion on whether the law protects the right party here.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Name the three original Computer Misuse Act offences in ascending order of seriousness.</a:t>
            </a:r>
          </a:p>
          <a:p>
            <a:r>
              <a:rPr sz="2200" b="1">
                <a:solidFill>
                  <a:srgbClr val="222222"/>
                </a:solidFill>
                <a:latin typeface="Calibri"/>
              </a:rPr>
              <a:t>2. A firm collects delivery addresses, then starts using them for marketing. Which Act and which principle?</a:t>
            </a:r>
          </a:p>
          <a:p>
            <a:r>
              <a:rPr sz="2200" b="1">
                <a:solidFill>
                  <a:srgbClr val="222222"/>
                </a:solidFill>
                <a:latin typeface="Calibri"/>
              </a:rPr>
              <a:t>3. What must an answer include to earn the application marks on a legislation scenario question?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Name the three original Computer Misuse Act offences in ascending order of seriousness.</a:t>
            </a:r>
          </a:p>
          <a:p>
            <a:pPr lvl="1"/>
            <a:r>
              <a:rPr sz="1800" i="1">
                <a:solidFill>
                  <a:srgbClr val="B76E00"/>
                </a:solidFill>
                <a:latin typeface="Calibri"/>
              </a:rPr>
              <a:t>Answer: Section 1 unauthorised access; section 2 unauthorised access with intent to commit a further offence; section 3 unauthorised modification or impairment.</a:t>
            </a:r>
          </a:p>
          <a:p>
            <a:r>
              <a:rPr sz="2200" b="1">
                <a:solidFill>
                  <a:srgbClr val="222222"/>
                </a:solidFill>
                <a:latin typeface="Calibri"/>
              </a:rPr>
              <a:t>2. A firm collects delivery addresses, then starts using them for marketing. Which Act and which principle?</a:t>
            </a:r>
          </a:p>
          <a:p>
            <a:pPr lvl="1"/>
            <a:r>
              <a:rPr sz="1800" i="1">
                <a:solidFill>
                  <a:srgbClr val="B76E00"/>
                </a:solidFill>
                <a:latin typeface="Calibri"/>
              </a:rPr>
              <a:t>Answer: Data Protection Act 2018; purpose limitation (data used beyond the purpose it was collected for), and arguably fairness and transparency.</a:t>
            </a:r>
          </a:p>
          <a:p>
            <a:r>
              <a:rPr sz="2200" b="1">
                <a:solidFill>
                  <a:srgbClr val="222222"/>
                </a:solidFill>
                <a:latin typeface="Calibri"/>
              </a:rPr>
              <a:t>3. What must an answer include to earn the application marks on a legislation scenario question?</a:t>
            </a:r>
          </a:p>
          <a:p>
            <a:pPr lvl="1"/>
            <a:r>
              <a:rPr sz="1800" i="1">
                <a:solidFill>
                  <a:srgbClr val="B76E00"/>
                </a:solidFill>
                <a:latin typeface="Calibri"/>
              </a:rPr>
              <a:t>Answer: The specific Act and section or principle, plus the scenario fact that satisfies it, assigned to the responsible party.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