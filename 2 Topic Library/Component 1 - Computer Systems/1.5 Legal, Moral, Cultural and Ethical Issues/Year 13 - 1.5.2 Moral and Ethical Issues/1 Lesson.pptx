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1.5.2 Moral and Ethical Issues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Editable lesson deck —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the key moral, ethical, cultural and social issues raised by computing, identifying both a benefit and a drawback for each.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Identify the stakeholders affected by a computing decision and explain how the same fact can benefit one group while harming another.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Structure a balanced levels-of-response 'discuss' answer that weighs both sides and reaches a justified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issue is raised when a factory replaces assembly-line workers with robots?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can an AI loan-approval system produce biased outcomes?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the digital divide?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1.5.1: which Act would apply if a government body intercepted communications without proper authorisation?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1.5.1: a firm stores customers' personal data insecurely — which law have they breached?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issue is raised when a factory replaces assembly-line workers with robots?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Automation and its impact on the workforce.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can an AI loan-approval system produce biased outcomes?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learns patterns from training data; if that data reflects historical or societal bias, the model reproduces or amplifies it, and a 'black box' makes this hard to detect.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is the digital divide?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gap between people who have access to technology and the skills to use it, and those who do not.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1.5.1: which Act would apply if a government body intercepted communications without proper authorisation?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Regulation of Investigatory Powers Act 2000 (RIPA).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1.5.1: a firm stores customers' personal data insecurely — which law have they breached?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Data Protection Act 2018 / GDPR (the security / integrity &amp; confidentiality principle).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Automation</a:t>
            </a:r>
            <a:r>
              <a:rPr sz="1800">
                <a:solidFill>
                  <a:srgbClr val="222222"/>
                </a:solidFill>
                <a:latin typeface="Calibri"/>
              </a:rPr>
              <a:t> — Using machines or software to carry out tasks previously done by humans.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Algorithmic bias</a:t>
            </a:r>
            <a:r>
              <a:rPr sz="1800">
                <a:solidFill>
                  <a:srgbClr val="222222"/>
                </a:solidFill>
                <a:latin typeface="Calibri"/>
              </a:rPr>
              <a:t> — Unfair outcomes produced when an AI reproduces or amplifies bias present in its training data.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Stakeholder</a:t>
            </a:r>
            <a:r>
              <a:rPr sz="1800">
                <a:solidFill>
                  <a:srgbClr val="222222"/>
                </a:solidFill>
                <a:latin typeface="Calibri"/>
              </a:rPr>
              <a:t> — Any group or individual affected by a decision — e.g. employees, customers, businesses, society or the environment.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Digital divide</a:t>
            </a:r>
            <a:r>
              <a:rPr sz="1800">
                <a:solidFill>
                  <a:srgbClr val="222222"/>
                </a:solidFill>
                <a:latin typeface="Calibri"/>
              </a:rPr>
              <a:t> — The inequality between those with access to technology and digital skills and those without.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Offshoring</a:t>
            </a:r>
            <a:r>
              <a:rPr sz="1800">
                <a:solidFill>
                  <a:srgbClr val="222222"/>
                </a:solidFill>
                <a:latin typeface="Calibri"/>
              </a:rPr>
              <a:t> — Moving work or services abroad, usually to reduce labour costs.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Vendor lock-in</a:t>
            </a:r>
            <a:r>
              <a:rPr sz="1800">
                <a:solidFill>
                  <a:srgbClr val="222222"/>
                </a:solidFill>
                <a:latin typeface="Calibri"/>
              </a:rPr>
              <a:t> — Dependence on one supplier's product, making it costly or difficult to switch — often linked to monopolies.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Surveillance</a:t>
            </a:r>
            <a:r>
              <a:rPr sz="1800">
                <a:solidFill>
                  <a:srgbClr val="222222"/>
                </a:solidFill>
                <a:latin typeface="Calibri"/>
              </a:rPr>
              <a:t> — Large-scale monitoring or data collection by firms or governments, raising privacy concerns.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E-waste</a:t>
            </a:r>
            <a:r>
              <a:rPr sz="1800">
                <a:solidFill>
                  <a:srgbClr val="222222"/>
                </a:solidFill>
                <a:latin typeface="Calibri"/>
              </a:rPr>
              <a:t> — Discarded electronic equipment, an environmental drawback of computing due to toxins and disposal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Automation, decision making and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Automation lets machines do human tasks: boosting productivity and cutting cost, but displacing low-skilled workers and causing deskilling.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Automated decision making (loans, CV sifting, self-driving cars) is fast, consistent and tireless, but lacks empathy, is hard to appeal and raises liability questions (the trolley problem).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Offshoring and layoffs cut costs and use global talent, but cause local job losses and raise quality, time-zone and data-security concerns.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Stakeholders pull in different directions: businesses gain efficiency while employees and local communities bear the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AI ethics and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AI learns from data and can act autonomously, giving powerful pattern-finding, efficiency and aids such as medical diagnosis.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 can reproduce or amplify bias in its training data, producing unfair outcomes for certain groups.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Many models are a 'black box', making decisions hard to explain and accountability unclear.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Mitigations include representative data, transparency and human oversight of important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Environmental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Computing can reduce travel through remote working, support smart grids and enable paperless offices.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But it generates e-waste and toxins, and data centres and cryptocurrency mining consume huge amounts of energy.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Manufacturing relies on rare-earth mining with its own environmental and social costs.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same technology is therefore both part of the problem and part of the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Censorship, monopolies and the digital divide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Censorship can protect children and block illegal or extremist content, but restricts free speech and can be abused by states to silence dissent.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Monopolies bring standards, polish and support, but stifle competition and create high prices and vendor lock-in (open-source counters this).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digital divide excludes the poor, rural, elderly and disabled, widening inequality.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Privacy and surveillance offer personalised services and crime prevention, but risk profiling, breaches and a chilling effect (links to DPA and RIPA).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Model approach to a 12-mark levels-of-response 'discuss' question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Plan: identify the issue and list 3-4+ stakeholders (e.g. business/shareholders, employees, customers including the elderly/vulnerable, wider society) before writing.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FOR: make a benefit point, develop it (point -&gt; consequence -&gt; stakeholder), e.g. automation lowers wage costs and speeds throughput, benefiting the business and giving customers cheaper, faster service.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AGAINST: give the counter-point and develop it, e.g. checkout staff face job losses and deskilling, causing regional unemployment and harming employees and the local community.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FOR again: add a second benefit with a new stakeholder, e.g. some new technician roles are created and 24/7 service helps time-poor shoppers.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AGAINST again: add a second drawback, e.g. loss of human contact disadvantages elderly/vulnerable shoppers, and 'just walk out' tracking raises privacy and surveillance concerns.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Use accurate terminology throughout (digital divide, surveillance, deskilling) and keep the reasoning balanced and sustained to reach Level 3.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Conclusion: take a clear, justified position, ideally conditional — e.g. 'automation is justified provided staff are retrained or redeployed and some staffed tills remain for those who need assistance.'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Pick one issue (automation, AI bias, environmental impact, censorship or surveillance) and build a two-column FOR/AGAINST table with at least three developed points per side, naming the stakeholder affected by each point.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 a full justified conclusion (4-5 sentences) for the supermarket self-checkout 'discuss' question that takes a clear, conditional position and explicitly weighs the interests of at least three named stakeholders against one another.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Give one benefit and one drawback of automated decision making.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three things must a Level 3 'discuss' answer contain?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one benefit and one drawback of mass surveillance.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Give one benefit and one drawback of automated decision making.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Benefit: fast, consistent and handles huge data without fatigue. Drawback: lacks empathy/judgement, hard to appeal, and liability is unclear.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three things must a Level 3 'discuss' answer contain?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Both benefits and drawbacks, multiple named stakeholders with developed/sustained reasoning, and a justified conclusion that takes a position.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one benefit and one drawback of mass surveillance.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Benefit: helps prevent or detect crime and terrorism. Drawback: loss of privacy, profiling or a chilling effect on free expression.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