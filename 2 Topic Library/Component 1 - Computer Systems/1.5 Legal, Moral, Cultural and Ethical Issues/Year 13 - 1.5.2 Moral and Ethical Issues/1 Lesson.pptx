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1.5.2 Moral and Ethical Issues</a:t>
            </a:r>
          </a:p>
          <a:p>
            <a:r>
              <a:rPr sz="2000" b="0" i="0">
                <a:solidFill>
                  <a:srgbClr val="BED3EC"/>
                </a:solidFill>
                <a:latin typeface="Calibri"/>
              </a:rPr>
              <a:t>OCR H446 — Component 01</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Year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I can describe the benefits and harms of each named issue area, from workforce automation to character sets.</a:t>
            </a:r>
          </a:p>
          <a:p>
            <a:pPr lvl="1"/>
            <a:r>
              <a:rPr sz="2200" b="0">
                <a:solidFill>
                  <a:srgbClr val="222222"/>
                </a:solidFill>
                <a:latin typeface="Calibri"/>
              </a:rPr>
              <a:t>I can identify the stakeholders in a computing decision and explain how one fact helps one group while harming another.</a:t>
            </a:r>
          </a:p>
          <a:p>
            <a:pPr lvl="1"/>
            <a:r>
              <a:rPr sz="2200" b="0">
                <a:solidFill>
                  <a:srgbClr val="222222"/>
                </a:solidFill>
                <a:latin typeface="Calibri"/>
              </a:rPr>
              <a:t>I can plan a levels-of-response 'discuss' answer: stakeholders, developed points both ways, weighed conclusion.</a:t>
            </a:r>
          </a:p>
          <a:p>
            <a:pPr lvl="1"/>
            <a:r>
              <a:rPr sz="2200" b="0">
                <a:solidFill>
                  <a:srgbClr val="222222"/>
                </a:solidFill>
                <a:latin typeface="Calibri"/>
              </a:rPr>
              <a:t>I can link ethical issues to the legislation from 1.5.1 where relevant, such as monitoring to RIPA and profiling to the DPA.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From 1.5.1: a company sells its customer list with no lawful basis. Which Act applies and what role does the company hold?</a:t>
            </a:r>
          </a:p>
          <a:p>
            <a:r>
              <a:rPr sz="2200" b="1">
                <a:solidFill>
                  <a:srgbClr val="222222"/>
                </a:solidFill>
                <a:latin typeface="Calibri"/>
              </a:rPr>
              <a:t>2. From 1.5.1: name the three original Computer Misuse Act offences in order of seriousness.</a:t>
            </a:r>
          </a:p>
          <a:p>
            <a:r>
              <a:rPr sz="2200" b="1">
                <a:solidFill>
                  <a:srgbClr val="222222"/>
                </a:solidFill>
                <a:latin typeface="Calibri"/>
              </a:rPr>
              <a:t>3. From 1.5.1: which Act allows properly authorised police to intercept a suspect's messages, and why is authorisation required?</a:t>
            </a:r>
          </a:p>
          <a:p>
            <a:r>
              <a:rPr sz="2200" b="1">
                <a:solidFill>
                  <a:srgbClr val="222222"/>
                </a:solidFill>
                <a:latin typeface="Calibri"/>
              </a:rPr>
              <a:t>4. From 1.5.1: a student downloads a cracked copy of paid software. Which Act is broken and what does it protect?</a:t>
            </a:r>
          </a:p>
          <a:p>
            <a:r>
              <a:rPr sz="2200" b="1">
                <a:solidFill>
                  <a:srgbClr val="222222"/>
                </a:solidFill>
                <a:latin typeface="Calibri"/>
              </a:rPr>
              <a:t>5. From 2.3.1: a face-matching system compares one face against n stored faces with a linear search. State the time complexity and one better approach.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From 1.5.1: a company sells its customer list with no lawful basis. Which Act applies and what role does the company hold?</a:t>
            </a:r>
          </a:p>
          <a:p>
            <a:pPr lvl="1"/>
            <a:r>
              <a:rPr sz="1800" i="1">
                <a:solidFill>
                  <a:srgbClr val="B76E00"/>
                </a:solidFill>
                <a:latin typeface="Calibri"/>
              </a:rPr>
              <a:t>Answer: The Data Protection Act 2018; the company is the data controller, breaching the lawfulness, fairness and transparency principle.</a:t>
            </a:r>
          </a:p>
          <a:p>
            <a:r>
              <a:rPr sz="2200" b="1">
                <a:solidFill>
                  <a:srgbClr val="222222"/>
                </a:solidFill>
                <a:latin typeface="Calibri"/>
              </a:rPr>
              <a:t>2. From 1.5.1: name the three original Computer Misuse Act offences in order of seriousness.</a:t>
            </a:r>
          </a:p>
          <a:p>
            <a:pPr lvl="1"/>
            <a:r>
              <a:rPr sz="1800" i="1">
                <a:solidFill>
                  <a:srgbClr val="B76E00"/>
                </a:solidFill>
                <a:latin typeface="Calibri"/>
              </a:rPr>
              <a:t>Answer: Unauthorised access; unauthorised access with intent to commit a further offence; unauthorised modification of computer material.</a:t>
            </a:r>
          </a:p>
          <a:p>
            <a:r>
              <a:rPr sz="2200" b="1">
                <a:solidFill>
                  <a:srgbClr val="222222"/>
                </a:solidFill>
                <a:latin typeface="Calibri"/>
              </a:rPr>
              <a:t>3. From 1.5.1: which Act allows properly authorised police to intercept a suspect's messages, and why is authorisation required?</a:t>
            </a:r>
          </a:p>
          <a:p>
            <a:pPr lvl="1"/>
            <a:r>
              <a:rPr sz="1800" i="1">
                <a:solidFill>
                  <a:srgbClr val="B76E00"/>
                </a:solidFill>
                <a:latin typeface="Calibri"/>
              </a:rPr>
              <a:t>Answer: RIPA 2000; authorisation controls who can use intrusive powers, preventing abuse.</a:t>
            </a:r>
          </a:p>
          <a:p>
            <a:r>
              <a:rPr sz="2200" b="1">
                <a:solidFill>
                  <a:srgbClr val="222222"/>
                </a:solidFill>
                <a:latin typeface="Calibri"/>
              </a:rPr>
              <a:t>4. From 1.5.1: a student downloads a cracked copy of paid software. Which Act is broken and what does it protect?</a:t>
            </a:r>
          </a:p>
          <a:p>
            <a:pPr lvl="1"/>
            <a:r>
              <a:rPr sz="1800" i="1">
                <a:solidFill>
                  <a:srgbClr val="B76E00"/>
                </a:solidFill>
                <a:latin typeface="Calibri"/>
              </a:rPr>
              <a:t>Answer: Copyright, Designs and Patents Act 1988; it automatically protects the expression of original works, so copying needs a licence.</a:t>
            </a:r>
          </a:p>
          <a:p>
            <a:r>
              <a:rPr sz="2200" b="1">
                <a:solidFill>
                  <a:srgbClr val="222222"/>
                </a:solidFill>
                <a:latin typeface="Calibri"/>
              </a:rPr>
              <a:t>5. From 2.3.1: a face-matching system compares one face against n stored faces with a linear search. State the time complexity and one better approach.</a:t>
            </a:r>
          </a:p>
          <a:p>
            <a:pPr lvl="1"/>
            <a:r>
              <a:rPr sz="1800" i="1">
                <a:solidFill>
                  <a:srgbClr val="B76E00"/>
                </a:solidFill>
                <a:latin typeface="Calibri"/>
              </a:rPr>
              <a:t>Answer: O(n); use a sorted or hashed/indexed structure so the lookup does not grow linearly with the database.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Stakeholder</a:t>
            </a:r>
            <a:r>
              <a:rPr sz="1800">
                <a:solidFill>
                  <a:srgbClr val="222222"/>
                </a:solidFill>
                <a:latin typeface="Calibri"/>
              </a:rPr>
              <a:t> — Any party affected by a decision: individuals, employees, businesses, government, society or the environment.</a:t>
            </a:r>
          </a:p>
          <a:p>
            <a:r>
              <a:rPr b="1" sz="2000">
                <a:solidFill>
                  <a:srgbClr val="1A365D"/>
                </a:solidFill>
                <a:latin typeface="Calibri"/>
              </a:rPr>
              <a:t>Automation</a:t>
            </a:r>
            <a:r>
              <a:rPr sz="1800">
                <a:solidFill>
                  <a:srgbClr val="222222"/>
                </a:solidFill>
                <a:latin typeface="Calibri"/>
              </a:rPr>
              <a:t> — Machines or software performing tasks previously done by humans.</a:t>
            </a:r>
          </a:p>
          <a:p>
            <a:r>
              <a:rPr b="1" sz="2000">
                <a:solidFill>
                  <a:srgbClr val="1A365D"/>
                </a:solidFill>
                <a:latin typeface="Calibri"/>
              </a:rPr>
              <a:t>Algorithmic bias</a:t>
            </a:r>
            <a:r>
              <a:rPr sz="1800">
                <a:solidFill>
                  <a:srgbClr val="222222"/>
                </a:solidFill>
                <a:latin typeface="Calibri"/>
              </a:rPr>
              <a:t> — Unfair outcomes an automated system reproduces or amplifies from patterns in its training data.</a:t>
            </a:r>
          </a:p>
          <a:p>
            <a:r>
              <a:rPr b="1" sz="2000">
                <a:solidFill>
                  <a:srgbClr val="1A365D"/>
                </a:solidFill>
                <a:latin typeface="Calibri"/>
              </a:rPr>
              <a:t>Digital divide</a:t>
            </a:r>
            <a:r>
              <a:rPr sz="1800">
                <a:solidFill>
                  <a:srgbClr val="222222"/>
                </a:solidFill>
                <a:latin typeface="Calibri"/>
              </a:rPr>
              <a:t> — The gap between those with and without access to technology and the skills to use it.</a:t>
            </a:r>
          </a:p>
          <a:p>
            <a:r>
              <a:rPr b="1" sz="2000">
                <a:solidFill>
                  <a:srgbClr val="1A365D"/>
                </a:solidFill>
                <a:latin typeface="Calibri"/>
              </a:rPr>
              <a:t>Censorship</a:t>
            </a:r>
            <a:r>
              <a:rPr sz="1800">
                <a:solidFill>
                  <a:srgbClr val="222222"/>
                </a:solidFill>
                <a:latin typeface="Calibri"/>
              </a:rPr>
              <a:t> — Controlling which content may be published or accessed, by states, platforms or filters.</a:t>
            </a:r>
          </a:p>
          <a:p>
            <a:r>
              <a:rPr b="1" sz="2000">
                <a:solidFill>
                  <a:srgbClr val="1A365D"/>
                </a:solidFill>
                <a:latin typeface="Calibri"/>
              </a:rPr>
              <a:t>Surveillance</a:t>
            </a:r>
            <a:r>
              <a:rPr sz="1800">
                <a:solidFill>
                  <a:srgbClr val="222222"/>
                </a:solidFill>
                <a:latin typeface="Calibri"/>
              </a:rPr>
              <a:t> — Monitoring people's activity or communications, by employers, companies or the state.</a:t>
            </a:r>
          </a:p>
          <a:p>
            <a:r>
              <a:rPr b="1" sz="2000">
                <a:solidFill>
                  <a:srgbClr val="1A365D"/>
                </a:solidFill>
                <a:latin typeface="Calibri"/>
              </a:rPr>
              <a:t>Offshoring</a:t>
            </a:r>
            <a:r>
              <a:rPr sz="1800">
                <a:solidFill>
                  <a:srgbClr val="222222"/>
                </a:solidFill>
                <a:latin typeface="Calibri"/>
              </a:rPr>
              <a:t> — Moving work to another country, usually to reduce labour costs.</a:t>
            </a:r>
          </a:p>
          <a:p>
            <a:r>
              <a:rPr b="1" sz="2000">
                <a:solidFill>
                  <a:srgbClr val="1A365D"/>
                </a:solidFill>
                <a:latin typeface="Calibri"/>
              </a:rPr>
              <a:t>E-waste</a:t>
            </a:r>
            <a:r>
              <a:rPr sz="1800">
                <a:solidFill>
                  <a:srgbClr val="222222"/>
                </a:solidFill>
                <a:latin typeface="Calibri"/>
              </a:rPr>
              <a:t> — Discarded electronic devices, often containing toxic materials and hard-to-recover rare metals.</a:t>
            </a:r>
          </a:p>
          <a:p>
            <a:r>
              <a:rPr b="1" sz="2000">
                <a:solidFill>
                  <a:srgbClr val="1A365D"/>
                </a:solidFill>
                <a:latin typeface="Calibri"/>
              </a:rPr>
              <a:t>Unicode</a:t>
            </a:r>
            <a:r>
              <a:rPr sz="1800">
                <a:solidFill>
                  <a:srgbClr val="222222"/>
                </a:solidFill>
                <a:latin typeface="Calibri"/>
              </a:rPr>
              <a:t> — A character set giving a unique code point to characters of the world's writing systems, unlike Latin-only ASCII.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to argue about any issue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Every issue is a trade-off: the same fact benefits one stakeholder and harms another.</a:t>
            </a:r>
          </a:p>
          <a:p>
            <a:pPr/>
            <a:r>
              <a:rPr sz="2000" b="0">
                <a:solidFill>
                  <a:srgbClr val="222222"/>
                </a:solidFill>
                <a:latin typeface="Calibri"/>
              </a:rPr>
              <a:t>Name specific stakeholders: individuals, employees, businesses, government and society, the environment, future generations.</a:t>
            </a:r>
          </a:p>
          <a:p>
            <a:pPr/>
            <a:r>
              <a:rPr sz="2000" b="0">
                <a:solidFill>
                  <a:srgbClr val="222222"/>
                </a:solidFill>
                <a:latin typeface="Calibri"/>
              </a:rPr>
              <a:t>Develop points as chains: point, consequence, stakeholder affected, counter-point.</a:t>
            </a:r>
          </a:p>
          <a:p>
            <a:pPr/>
            <a:r>
              <a:rPr sz="2000" b="0">
                <a:solidFill>
                  <a:srgbClr val="222222"/>
                </a:solidFill>
                <a:latin typeface="Calibri"/>
              </a:rPr>
              <a:t>There is no 'right opinion'; credit comes from balanced, developed reasoning and a justified conclusion.</a:t>
            </a:r>
          </a:p>
          <a:p>
            <a:pPr/>
            <a:r>
              <a:rPr sz="2000" b="0">
                <a:solidFill>
                  <a:srgbClr val="222222"/>
                </a:solidFill>
                <a:latin typeface="Calibri"/>
              </a:rPr>
              <a:t>Link to 1.5.1 law where relevant: monitoring engages RIPA, profiling engages the DPA.</a:t>
            </a:r>
          </a:p>
          <a:p>
            <a:pPr/>
            <a:r>
              <a:rPr sz="1800" b="1">
                <a:solidFill>
                  <a:srgbClr val="B76E00"/>
                </a:solidFill>
                <a:latin typeface="Calibri"/>
              </a:rPr>
              <a:t>One-sided answers cannot reach the top level, however detailed they 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Computers in the workforce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Benefits: higher productivity, lower prices, machines take dangerous or repetitive jobs, new technical roles created.</a:t>
            </a:r>
          </a:p>
          <a:p>
            <a:pPr/>
            <a:r>
              <a:rPr sz="2000" b="0">
                <a:solidFill>
                  <a:srgbClr val="222222"/>
                </a:solidFill>
                <a:latin typeface="Calibri"/>
              </a:rPr>
              <a:t>Harms: displacement of low-skilled workers, deskilling of surviving roles, offshoring as work moves online.</a:t>
            </a:r>
          </a:p>
          <a:p>
            <a:pPr/>
            <a:r>
              <a:rPr sz="2000" b="0">
                <a:solidFill>
                  <a:srgbClr val="222222"/>
                </a:solidFill>
                <a:latin typeface="Calibri"/>
              </a:rPr>
              <a:t>Individuals lose income and identity; businesses gain competitiveness; society pays retraining and unemployment costs.</a:t>
            </a:r>
          </a:p>
          <a:p>
            <a:pPr/>
            <a:r>
              <a:rPr sz="2000" b="0">
                <a:solidFill>
                  <a:srgbClr val="222222"/>
                </a:solidFill>
                <a:latin typeface="Calibri"/>
              </a:rPr>
              <a:t>New jobs often need different skills in different places from the jobs destroyed.</a:t>
            </a:r>
          </a:p>
          <a:p>
            <a:pPr/>
            <a:r>
              <a:rPr sz="2000" b="0">
                <a:solidFill>
                  <a:srgbClr val="222222"/>
                </a:solidFill>
                <a:latin typeface="Calibri"/>
              </a:rPr>
              <a:t>Balanced view: transition support and retraining decide whether change is fair.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Automated decision making</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Software now decides loans, insurance prices, CV shortlists, even sentencing recommendations.</a:t>
            </a:r>
          </a:p>
          <a:p>
            <a:pPr/>
            <a:r>
              <a:rPr sz="2000" b="0">
                <a:solidFill>
                  <a:srgbClr val="222222"/>
                </a:solidFill>
                <a:latin typeface="Calibri"/>
              </a:rPr>
              <a:t>Benefits: fast, consistent, tireless, applies the same rules to everyone, handles huge volumes.</a:t>
            </a:r>
          </a:p>
          <a:p>
            <a:pPr/>
            <a:r>
              <a:rPr sz="2000" b="0">
                <a:solidFill>
                  <a:srgbClr val="222222"/>
                </a:solidFill>
                <a:latin typeface="Calibri"/>
              </a:rPr>
              <a:t>Harms: no empathy for edge cases, opaque reasoning, difficult to appeal, liability unclear when it errs.</a:t>
            </a:r>
          </a:p>
          <a:p>
            <a:pPr/>
            <a:r>
              <a:rPr sz="2000" b="0">
                <a:solidFill>
                  <a:srgbClr val="222222"/>
                </a:solidFill>
                <a:latin typeface="Calibri"/>
              </a:rPr>
              <a:t>Self-driving cars sharpen the liability question: who answers for a crash decided by code?</a:t>
            </a:r>
          </a:p>
          <a:p>
            <a:pPr/>
            <a:r>
              <a:rPr sz="2000" b="0">
                <a:solidFill>
                  <a:srgbClr val="222222"/>
                </a:solidFill>
                <a:latin typeface="Calibri"/>
              </a:rPr>
              <a:t>The DPA gives subjects rights around purely automated decisions with significant effects (links to 1.5.1).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Artificial intelligence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AI finds patterns at superhuman scale: medical diagnosis, translation, fraud detection.</a:t>
            </a:r>
          </a:p>
          <a:p>
            <a:pPr/>
            <a:r>
              <a:rPr sz="2000" b="0">
                <a:solidFill>
                  <a:srgbClr val="222222"/>
                </a:solidFill>
                <a:latin typeface="Calibri"/>
              </a:rPr>
              <a:t>It learns from historical data, so it reproduces and can amplify historical bias.</a:t>
            </a:r>
          </a:p>
          <a:p>
            <a:pPr/>
            <a:r>
              <a:rPr sz="2000" b="0">
                <a:solidFill>
                  <a:srgbClr val="222222"/>
                </a:solidFill>
                <a:latin typeface="Calibri"/>
              </a:rPr>
              <a:t>Many models are black boxes: even their builders cannot fully explain individual outputs.</a:t>
            </a:r>
          </a:p>
          <a:p>
            <a:pPr/>
            <a:r>
              <a:rPr sz="2000" b="0">
                <a:solidFill>
                  <a:srgbClr val="222222"/>
                </a:solidFill>
                <a:latin typeface="Calibri"/>
              </a:rPr>
              <a:t>Accountability is unclear: developer, trainer, deployer or user when harm occurs?</a:t>
            </a:r>
          </a:p>
          <a:p>
            <a:pPr/>
            <a:r>
              <a:rPr sz="2000" b="0">
                <a:solidFill>
                  <a:srgbClr val="222222"/>
                </a:solidFill>
                <a:latin typeface="Calibri"/>
              </a:rPr>
              <a:t>Training and running large models consumes significant energy (links to environmental effects).</a:t>
            </a:r>
          </a:p>
          <a:p>
            <a:pPr/>
            <a:r>
              <a:rPr sz="1800" b="1">
                <a:solidFill>
                  <a:srgbClr val="B76E00"/>
                </a:solidFill>
                <a:latin typeface="Calibri"/>
              </a:rPr>
              <a:t>Exam-safe phrasing: AI is only as fair as the data it was trained 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Environmental effects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Harms: e-waste from short device lifespans, data centre energy and water use, rare-earth mining damage.</a:t>
            </a:r>
          </a:p>
          <a:p>
            <a:pPr/>
            <a:r>
              <a:rPr sz="2000" b="0">
                <a:solidFill>
                  <a:srgbClr val="222222"/>
                </a:solidFill>
                <a:latin typeface="Calibri"/>
              </a:rPr>
              <a:t>Planned obsolescence and non-repairable designs shorten replacement cycles.</a:t>
            </a:r>
          </a:p>
          <a:p>
            <a:pPr/>
            <a:r>
              <a:rPr sz="2000" b="0">
                <a:solidFill>
                  <a:srgbClr val="222222"/>
                </a:solidFill>
                <a:latin typeface="Calibri"/>
              </a:rPr>
              <a:t>Benefits: video calls replace travel, smart grids and heating cut energy, paperless working saves resources.</a:t>
            </a:r>
          </a:p>
          <a:p>
            <a:pPr/>
            <a:r>
              <a:rPr sz="2000" b="0">
                <a:solidFill>
                  <a:srgbClr val="222222"/>
                </a:solidFill>
                <a:latin typeface="Calibri"/>
              </a:rPr>
              <a:t>Stakeholders differ sharply: consumers enjoy cheap upgrades; mining regions and future generations carry costs.</a:t>
            </a:r>
          </a:p>
          <a:p>
            <a:pPr/>
            <a:r>
              <a:rPr sz="2000" b="0">
                <a:solidFill>
                  <a:srgbClr val="222222"/>
                </a:solidFill>
                <a:latin typeface="Calibri"/>
              </a:rPr>
              <a:t>Balanced view: computing both causes emissions and is a key tool for reducing them.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Censorship and the internet</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For: protects children, removes illegal material, limits extremist and harmful content.</a:t>
            </a:r>
          </a:p>
          <a:p>
            <a:pPr/>
            <a:r>
              <a:rPr sz="2000" b="0">
                <a:solidFill>
                  <a:srgbClr val="222222"/>
                </a:solidFill>
                <a:latin typeface="Calibri"/>
              </a:rPr>
              <a:t>Against: restricts free speech, and filters overblock legitimate content such as health advice.</a:t>
            </a:r>
          </a:p>
          <a:p>
            <a:pPr/>
            <a:r>
              <a:rPr sz="2000" b="0">
                <a:solidFill>
                  <a:srgbClr val="222222"/>
                </a:solidFill>
                <a:latin typeface="Calibri"/>
              </a:rPr>
              <a:t>States can abuse censorship to silence dissent and control the news their citizens see.</a:t>
            </a:r>
          </a:p>
          <a:p>
            <a:pPr/>
            <a:r>
              <a:rPr sz="2000" b="0">
                <a:solidFill>
                  <a:srgbClr val="222222"/>
                </a:solidFill>
                <a:latin typeface="Calibri"/>
              </a:rPr>
              <a:t>Platforms moderating content are private companies making public-speech decisions with little accountability.</a:t>
            </a:r>
          </a:p>
          <a:p>
            <a:pPr/>
            <a:r>
              <a:rPr sz="2000" b="0">
                <a:solidFill>
                  <a:srgbClr val="222222"/>
                </a:solidFill>
                <a:latin typeface="Calibri"/>
              </a:rPr>
              <a:t>Key question for essays: who decides what is harmful, and who watches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Monitoring behaviour</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Employers monitor email and keystrokes; cities use CCTV and facial recognition; states intercept communications.</a:t>
            </a:r>
          </a:p>
          <a:p>
            <a:pPr/>
            <a:r>
              <a:rPr sz="2000" b="0">
                <a:solidFill>
                  <a:srgbClr val="222222"/>
                </a:solidFill>
                <a:latin typeface="Calibri"/>
              </a:rPr>
              <a:t>For: deters crime, protects staff and customers, catches misconduct, measures productivity fairly.</a:t>
            </a:r>
          </a:p>
          <a:p>
            <a:pPr/>
            <a:r>
              <a:rPr sz="2000" b="0">
                <a:solidFill>
                  <a:srgbClr val="222222"/>
                </a:solidFill>
                <a:latin typeface="Calibri"/>
              </a:rPr>
              <a:t>Against: erodes privacy, chills lawful behaviour, and facial recognition misidentifies some groups more often.</a:t>
            </a:r>
          </a:p>
          <a:p>
            <a:pPr/>
            <a:r>
              <a:rPr sz="2000" b="0">
                <a:solidFill>
                  <a:srgbClr val="222222"/>
                </a:solidFill>
                <a:latin typeface="Calibri"/>
              </a:rPr>
              <a:t>Workplace monitoring must be proportionate and declared (DPA); state interception needs RIPA authorisation.</a:t>
            </a:r>
          </a:p>
          <a:p>
            <a:pPr/>
            <a:r>
              <a:rPr sz="2000" b="0">
                <a:solidFill>
                  <a:srgbClr val="222222"/>
                </a:solidFill>
                <a:latin typeface="Calibri"/>
              </a:rPr>
              <a:t>Strong essays weigh security gains against privacy loss for named groups.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Analysing personal information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Companies mine purchase, browsing and location data to profile individuals.</a:t>
            </a:r>
          </a:p>
          <a:p>
            <a:pPr/>
            <a:r>
              <a:rPr sz="2000" b="0">
                <a:solidFill>
                  <a:srgbClr val="222222"/>
                </a:solidFill>
                <a:latin typeface="Calibri"/>
              </a:rPr>
              <a:t>Benefits: personalised services and recommendations, fraud detection, medical research from population data.</a:t>
            </a:r>
          </a:p>
          <a:p>
            <a:pPr/>
            <a:r>
              <a:rPr sz="2000" b="0">
                <a:solidFill>
                  <a:srgbClr val="222222"/>
                </a:solidFill>
                <a:latin typeface="Calibri"/>
              </a:rPr>
              <a:t>Harms: profiling enables manipulation and price discrimination; data is sold onward; anonymised data can be re-identified.</a:t>
            </a:r>
          </a:p>
          <a:p>
            <a:pPr/>
            <a:r>
              <a:rPr sz="2000" b="0">
                <a:solidFill>
                  <a:srgbClr val="222222"/>
                </a:solidFill>
                <a:latin typeface="Calibri"/>
              </a:rPr>
              <a:t>People rarely understand what they consented to; the DPA demands transparency and purpose limitation.</a:t>
            </a:r>
          </a:p>
          <a:p>
            <a:pPr/>
            <a:r>
              <a:rPr sz="2000" b="0">
                <a:solidFill>
                  <a:srgbClr val="222222"/>
                </a:solidFill>
                <a:latin typeface="Calibri"/>
              </a:rPr>
              <a:t>Stakeholder split: convenience for consumers, revenue for firms, lost control for data subjects.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Piracy and offensive communications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Digital copies are perfect and free to distribute, so piracy directly deprives creators of income (CDPA link).</a:t>
            </a:r>
          </a:p>
          <a:p>
            <a:pPr/>
            <a:r>
              <a:rPr sz="2000" b="0">
                <a:solidFill>
                  <a:srgbClr val="222222"/>
                </a:solidFill>
                <a:latin typeface="Calibri"/>
              </a:rPr>
              <a:t>Counter-pressures: high prices and regional unavailability push users to piracy; DRM also frustrates paying customers.</a:t>
            </a:r>
          </a:p>
          <a:p>
            <a:pPr/>
            <a:r>
              <a:rPr sz="2000" b="0">
                <a:solidFill>
                  <a:srgbClr val="222222"/>
                </a:solidFill>
                <a:latin typeface="Calibri"/>
              </a:rPr>
              <a:t>Offensive communications: anonymity and distance lower inhibitions, enabling trolling, abuse and harassment at scale.</a:t>
            </a:r>
          </a:p>
          <a:p>
            <a:pPr/>
            <a:r>
              <a:rPr sz="2000" b="0">
                <a:solidFill>
                  <a:srgbClr val="222222"/>
                </a:solidFill>
                <a:latin typeface="Calibri"/>
              </a:rPr>
              <a:t>Platforms must balance removing abuse against over-censoring robust debate.</a:t>
            </a:r>
          </a:p>
          <a:p>
            <a:pPr/>
            <a:r>
              <a:rPr sz="2000" b="0">
                <a:solidFill>
                  <a:srgbClr val="222222"/>
                </a:solidFill>
                <a:latin typeface="Calibri"/>
              </a:rPr>
              <a:t>Both areas show law lagging behaviour: enforcement across borders is genuinely hard.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Layout, colour paradigms and character sets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Colour carries different cultural meanings: red is danger in the West, luck in China.</a:t>
            </a:r>
          </a:p>
          <a:p>
            <a:pPr/>
            <a:r>
              <a:rPr sz="2000" b="0">
                <a:solidFill>
                  <a:srgbClr val="222222"/>
                </a:solidFill>
                <a:latin typeface="Calibri"/>
              </a:rPr>
              <a:t>Accessibility: never rely on colour alone; support contrast, screen readers and colour-blind users.</a:t>
            </a:r>
          </a:p>
          <a:p>
            <a:pPr/>
            <a:r>
              <a:rPr sz="2000" b="0">
                <a:solidFill>
                  <a:srgbClr val="222222"/>
                </a:solidFill>
                <a:latin typeface="Calibri"/>
              </a:rPr>
              <a:t>Layout assumptions break across cultures: some scripts read right to left, changing whole interfaces.</a:t>
            </a:r>
          </a:p>
          <a:p>
            <a:pPr/>
            <a:r>
              <a:rPr sz="2000" b="0">
                <a:solidFill>
                  <a:srgbClr val="222222"/>
                </a:solidFill>
                <a:latin typeface="Calibri"/>
              </a:rPr>
              <a:t>ASCII encoded only Latin characters, excluding most of the world's languages from early computing.</a:t>
            </a:r>
          </a:p>
          <a:p>
            <a:pPr/>
            <a:r>
              <a:rPr sz="2000" b="0">
                <a:solidFill>
                  <a:srgbClr val="222222"/>
                </a:solidFill>
                <a:latin typeface="Calibri"/>
              </a:rPr>
              <a:t>Unicode gives every major script code points, making software genuinely international.</a:t>
            </a:r>
          </a:p>
          <a:p>
            <a:pPr/>
            <a:r>
              <a:rPr sz="1800" b="1">
                <a:solidFill>
                  <a:srgbClr val="B76E00"/>
                </a:solidFill>
                <a:latin typeface="Calibri"/>
              </a:rPr>
              <a:t>This is the cultural corner of the spec: design choices silently include or exclude whole groups.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Planning a 9-mark 'discuss' answer: a supermarket chain replaces all staffed checkouts with self-checkout</a:t>
            </a:r>
          </a:p>
          <a:p>
            <a:pPr lvl="1"/>
            <a:r>
              <a:rPr sz="1900" b="0">
                <a:solidFill>
                  <a:srgbClr val="222222"/>
                </a:solidFill>
                <a:latin typeface="Calibri"/>
              </a:rPr>
              <a:t>1. Read the command word: discuss requires both sides and a justified conclusion; plan for two minutes before writing.</a:t>
            </a:r>
          </a:p>
          <a:p>
            <a:pPr lvl="1"/>
            <a:r>
              <a:rPr sz="1900" b="0">
                <a:solidFill>
                  <a:srgbClr val="222222"/>
                </a:solidFill>
                <a:latin typeface="Calibri"/>
              </a:rPr>
              <a:t>2. Brainstorm stakeholders: checkout staff, the supermarket, customers (including elderly and disabled), wider society.</a:t>
            </a:r>
          </a:p>
          <a:p>
            <a:pPr lvl="1"/>
            <a:r>
              <a:rPr sz="1900" b="0">
                <a:solidFill>
                  <a:srgbClr val="222222"/>
                </a:solidFill>
                <a:latin typeface="Calibri"/>
              </a:rPr>
              <a:t>3. FOR points, each developed: lower staffing costs mean lower prices (customers gain); shorter queues at peak times; staff freed for service roles.</a:t>
            </a:r>
          </a:p>
          <a:p>
            <a:pPr lvl="1"/>
            <a:r>
              <a:rPr sz="1900" b="0">
                <a:solidFill>
                  <a:srgbClr val="222222"/>
                </a:solidFill>
                <a:latin typeface="Calibri"/>
              </a:rPr>
              <a:t>4. AGAINST points, each developed: job losses hit low-skilled workers hardest, and local unemployment costs fall on society; elderly or visually impaired customers may be excluded (digital divide); theft and machine errors shift work to customers.</a:t>
            </a:r>
          </a:p>
          <a:p>
            <a:pPr lvl="1"/>
            <a:r>
              <a:rPr sz="1900" b="0">
                <a:solidFill>
                  <a:srgbClr val="222222"/>
                </a:solidFill>
                <a:latin typeface="Calibri"/>
              </a:rPr>
              <a:t>5. Use the chain for each point: point, consequence, stakeholder, counter. Example: costs fall (point), prices drop (consequence), customers benefit (stakeholder), BUT savings may go to shareholders instead (counter).</a:t>
            </a:r>
          </a:p>
          <a:p>
            <a:pPr lvl="1"/>
            <a:r>
              <a:rPr sz="1900" b="0">
                <a:solidFill>
                  <a:srgbClr val="222222"/>
                </a:solidFill>
                <a:latin typeface="Calibri"/>
              </a:rPr>
              <a:t>6. Weigh the sides explicitly: the harm concentrates on a vulnerable few, while the benefit spreads thinly across many.</a:t>
            </a:r>
          </a:p>
          <a:p>
            <a:pPr lvl="1"/>
            <a:r>
              <a:rPr sz="1900" b="0">
                <a:solidFill>
                  <a:srgbClr val="222222"/>
                </a:solidFill>
                <a:latin typeface="Calibri"/>
              </a:rPr>
              <a:t>7. Conclude with a condition: acceptable only if staff are retrained and redeployed and some staffed tills remain for those who need them.</a:t>
            </a:r>
          </a:p>
          <a:p>
            <a:pPr lvl="1"/>
            <a:r>
              <a:rPr sz="1900" b="0">
                <a:solidFill>
                  <a:srgbClr val="222222"/>
                </a:solidFill>
                <a:latin typeface="Calibri"/>
              </a:rPr>
              <a:t>8. Check the levels: named stakeholders, both sides developed, accurate terminology and a justified conditional conclusion is Level 3; a list of unexplained points either way stalls at Level 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Applying the framing: an AI system shortlists job applications automatically</a:t>
            </a:r>
          </a:p>
          <a:p>
            <a:pPr lvl="1"/>
            <a:r>
              <a:rPr sz="1900" b="0">
                <a:solidFill>
                  <a:srgbClr val="222222"/>
                </a:solidFill>
                <a:latin typeface="Calibri"/>
              </a:rPr>
              <a:t>1. Identify the issue areas engaged: automated decision making, AI bias, and analysing personal information.</a:t>
            </a:r>
          </a:p>
          <a:p>
            <a:pPr lvl="1"/>
            <a:r>
              <a:rPr sz="1900" b="0">
                <a:solidFill>
                  <a:srgbClr val="222222"/>
                </a:solidFill>
                <a:latin typeface="Calibri"/>
              </a:rPr>
              <a:t>2. Stakeholders: applicants, the employer, existing employees, the regulator and society.</a:t>
            </a:r>
          </a:p>
          <a:p>
            <a:pPr lvl="1"/>
            <a:r>
              <a:rPr sz="1900" b="0">
                <a:solidFill>
                  <a:srgbClr val="222222"/>
                </a:solidFill>
                <a:latin typeface="Calibri"/>
              </a:rPr>
              <a:t>3. FOR chain: the AI screens thousands of CVs in minutes (point), so hiring is faster and cheaper (consequence), benefiting the employer (stakeholder), and identical rules apply to every CV, removing interviewer mood (extension).</a:t>
            </a:r>
          </a:p>
          <a:p>
            <a:pPr lvl="1"/>
            <a:r>
              <a:rPr sz="1900" b="0">
                <a:solidFill>
                  <a:srgbClr val="222222"/>
                </a:solidFill>
                <a:latin typeface="Calibri"/>
              </a:rPr>
              <a:t>4. AGAINST chain 1: the AI trained on past hires (point), so it learns historical discrimination, for example downgrading CVs resembling previously rejected groups (consequence), harming qualified applicants (stakeholder), even though no one intended bias (development).</a:t>
            </a:r>
          </a:p>
          <a:p>
            <a:pPr lvl="1"/>
            <a:r>
              <a:rPr sz="1900" b="0">
                <a:solidFill>
                  <a:srgbClr val="222222"/>
                </a:solidFill>
                <a:latin typeface="Calibri"/>
              </a:rPr>
              <a:t>5. AGAINST chain 2: rejected applicants get no explanation (point), so they cannot appeal or improve (consequence); the DPA's provisions on automated decisions and the accountability principle are engaged (law link).</a:t>
            </a:r>
          </a:p>
          <a:p>
            <a:pPr lvl="1"/>
            <a:r>
              <a:rPr sz="1900" b="0">
                <a:solidFill>
                  <a:srgbClr val="222222"/>
                </a:solidFill>
                <a:latin typeface="Calibri"/>
              </a:rPr>
              <a:t>6. Counter the counter: a human panel is also biased, but a biased algorithm applies its bias to every applicant identically and at scale.</a:t>
            </a:r>
          </a:p>
          <a:p>
            <a:pPr lvl="1"/>
            <a:r>
              <a:rPr sz="1900" b="0">
                <a:solidFill>
                  <a:srgbClr val="222222"/>
                </a:solidFill>
                <a:latin typeface="Calibri"/>
              </a:rPr>
              <a:t>7. Weighed conclusion with a condition: use the AI to rank, not reject; require human review of rejections, regular bias audits against outcomes, and an explanation route for applicants.</a:t>
            </a:r>
          </a:p>
          <a:p>
            <a:pPr lvl="1"/>
            <a:r>
              <a:rPr sz="1900" b="0">
                <a:solidFill>
                  <a:srgbClr val="222222"/>
                </a:solidFill>
                <a:latin typeface="Calibri"/>
              </a:rPr>
              <a:t>8. Note the transferable skeleton: this exact structure answers any 'Company X automates decision Y, discuss' question.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Silent debate: should the algorithm decide?  (20 min)</a:t>
            </a:r>
          </a:p>
          <a:p>
            <a:pPr lvl="1"/>
            <a:r>
              <a:rPr sz="2000" b="0">
                <a:solidFill>
                  <a:srgbClr val="222222"/>
                </a:solidFill>
                <a:latin typeface="Calibri"/>
              </a:rPr>
              <a:t>Five A3 sheets, same prompt on each: a bank replaces human loan officers with an AI that approves or rejects mortgages. Each sheet has a different stakeholder lens: the rejected applicant, shareholders, the loan officers, a regulator, society.</a:t>
            </a:r>
          </a:p>
          <a:p>
            <a:pPr lvl="1"/>
            <a:r>
              <a:rPr sz="2000" b="0">
                <a:solidFill>
                  <a:srgbClr val="222222"/>
                </a:solidFill>
                <a:latin typeface="Calibri"/>
              </a:rPr>
              <a:t>Groups write arguments in role on their sheet, in silence; disagreement happens in ink.</a:t>
            </a:r>
          </a:p>
          <a:p>
            <a:pPr lvl="1"/>
            <a:r>
              <a:rPr sz="2000" b="0">
                <a:solidFill>
                  <a:srgbClr val="222222"/>
                </a:solidFill>
                <a:latin typeface="Calibri"/>
              </a:rPr>
              <a:t>Rotate sheets every three minutes: groups must extend, counter or connect what is already written.</a:t>
            </a:r>
          </a:p>
          <a:p>
            <a:pPr lvl="1"/>
            <a:r>
              <a:rPr sz="2000" b="0">
                <a:solidFill>
                  <a:srgbClr val="222222"/>
                </a:solidFill>
                <a:latin typeface="Calibri"/>
              </a:rPr>
              <a:t>Final rotation: each group returns to its original sheet and drafts a two-sentence justified conclusion with a condition ('Automate, but only if...').</a:t>
            </a:r>
          </a:p>
          <a:p>
            <a:pPr lvl="1"/>
            <a:r>
              <a:rPr sz="2000" b="0">
                <a:solidFill>
                  <a:srgbClr val="222222"/>
                </a:solidFill>
                <a:latin typeface="Calibri"/>
              </a:rPr>
              <a:t>Debrief aloud: class votes for the conclusion that best balances the stakeholders.</a:t>
            </a:r>
          </a:p>
          <a:p>
            <a:pPr/>
            <a:r>
              <a:rPr sz="1800" b="0">
                <a:solidFill>
                  <a:srgbClr val="B76E00"/>
                </a:solidFill>
                <a:latin typeface="Calibri"/>
              </a:rPr>
              <a:t>Stretch: Require every third contribution to be a counter to an existing point, or add a sixth sheet: who is liable when it gets one wrong?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The ethics line  (20 min)</a:t>
            </a:r>
          </a:p>
          <a:p>
            <a:pPr lvl="1"/>
            <a:r>
              <a:rPr sz="2000" b="0">
                <a:solidFill>
                  <a:srgbClr val="222222"/>
                </a:solidFill>
                <a:latin typeface="Calibri"/>
              </a:rPr>
              <a:t>Masking-tape line across the room, Strongly agree to Strongly disagree; students stand at the point matching their view as statements are read.</a:t>
            </a:r>
          </a:p>
          <a:p>
            <a:pPr lvl="1"/>
            <a:r>
              <a:rPr sz="2000" b="0">
                <a:solidFill>
                  <a:srgbClr val="222222"/>
                </a:solidFill>
                <a:latin typeface="Calibri"/>
              </a:rPr>
              <a:t>Statements: a supermarket should replace all staffed tills; governments should be able to read encrypted messages to fight terrorism; platforms should remove content they judge harmful; companies may offshore work if it keeps prices low; training an AI model is worth its energy cost.</a:t>
            </a:r>
          </a:p>
          <a:p>
            <a:pPr lvl="1"/>
            <a:r>
              <a:rPr sz="2000" b="0">
                <a:solidFill>
                  <a:srgbClr val="222222"/>
                </a:solidFill>
                <a:latin typeface="Calibri"/>
              </a:rPr>
              <a:t>Interview students at different points: justify your position naming one stakeholder who benefits and one who is harmed.</a:t>
            </a:r>
          </a:p>
          <a:p>
            <a:pPr lvl="1"/>
            <a:r>
              <a:rPr sz="2000" b="0">
                <a:solidFill>
                  <a:srgbClr val="222222"/>
                </a:solidFill>
                <a:latin typeface="Calibri"/>
              </a:rPr>
              <a:t>Add a complicating fact (the supermarket funds retraining; the interception power was misused last year, and ask which Act that engages); students may move but must explain what changed their mind.</a:t>
            </a:r>
          </a:p>
          <a:p>
            <a:pPr lvl="1"/>
            <a:r>
              <a:rPr sz="2000" b="0">
                <a:solidFill>
                  <a:srgbClr val="222222"/>
                </a:solidFill>
                <a:latin typeface="Calibri"/>
              </a:rPr>
              <a:t>One-minute write to finish: the strongest argument against my own position is...</a:t>
            </a:r>
          </a:p>
          <a:p>
            <a:pPr/>
            <a:r>
              <a:rPr sz="1800" b="0">
                <a:solidFill>
                  <a:srgbClr val="B76E00"/>
                </a:solidFill>
                <a:latin typeface="Calibri"/>
              </a:rPr>
              <a:t>Stretch: Appoint two continuum lawyers who may challenge any student with one question per round; the challenged student must respond or move.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Balloon debate: save the technology  (25 min)</a:t>
            </a:r>
          </a:p>
          <a:p>
            <a:pPr lvl="1"/>
            <a:r>
              <a:rPr sz="2000" b="0">
                <a:solidFill>
                  <a:srgbClr val="222222"/>
                </a:solidFill>
                <a:latin typeface="Calibri"/>
              </a:rPr>
              <a:t>Six technology cards: facial-recognition policing, recommendation algorithms, warehouse robots, cryptocurrency, targeted advertising, AI medical diagnosis. Society's balloon is sinking: only two survive.</a:t>
            </a:r>
          </a:p>
          <a:p>
            <a:pPr lvl="1"/>
            <a:r>
              <a:rPr sz="2000" b="0">
                <a:solidFill>
                  <a:srgbClr val="222222"/>
                </a:solidFill>
                <a:latin typeface="Calibri"/>
              </a:rPr>
              <a:t>Trios build the strongest honest case for their technology: benefits, who gains, plus a pre-emptive rebuttal of its best-known harm, which they must name themselves.</a:t>
            </a:r>
          </a:p>
          <a:p>
            <a:pPr lvl="1"/>
            <a:r>
              <a:rPr sz="2000" b="0">
                <a:solidFill>
                  <a:srgbClr val="222222"/>
                </a:solidFill>
                <a:latin typeface="Calibri"/>
              </a:rPr>
              <a:t>Each trio pleads for 90 seconds and takes one question from the floor.</a:t>
            </a:r>
          </a:p>
          <a:p>
            <a:pPr lvl="1"/>
            <a:r>
              <a:rPr sz="2000" b="0">
                <a:solidFill>
                  <a:srgbClr val="222222"/>
                </a:solidFill>
                <a:latin typeface="Calibri"/>
              </a:rPr>
              <a:t>Two elimination votes; no voting for your own. Eliminated teams may donate a dying argument to a survivor.</a:t>
            </a:r>
          </a:p>
          <a:p>
            <a:pPr lvl="1"/>
            <a:r>
              <a:rPr sz="2000" b="0">
                <a:solidFill>
                  <a:srgbClr val="222222"/>
                </a:solidFill>
                <a:latin typeface="Calibri"/>
              </a:rPr>
              <a:t>Debrief: which pleas moved votes, emotional appeals or stakeholder-plus-consequence reasoning?</a:t>
            </a:r>
          </a:p>
          <a:p>
            <a:pPr/>
            <a:r>
              <a:rPr sz="1800" b="0">
                <a:solidFill>
                  <a:srgbClr val="B76E00"/>
                </a:solidFill>
                <a:latin typeface="Calibri"/>
              </a:rPr>
              <a:t>Stretch: Require each plea to cite one law from 1.5.1 that constrains, or should constrain, their technology.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Describe two environmental harms caused by the increasing use of computing devices. [2]</a:t>
            </a:r>
          </a:p>
          <a:p>
            <a:r>
              <a:rPr sz="2000" b="1">
                <a:solidFill>
                  <a:srgbClr val="222222"/>
                </a:solidFill>
                <a:latin typeface="Calibri"/>
              </a:rPr>
              <a:t>2. Explain one benefit and one drawback of internet censorship. [4]</a:t>
            </a:r>
          </a:p>
          <a:p>
            <a:r>
              <a:rPr sz="2000" b="1">
                <a:solidFill>
                  <a:srgbClr val="222222"/>
                </a:solidFill>
                <a:latin typeface="Calibri"/>
              </a:rPr>
              <a:t>3. An AI recruitment system trained on a company's past hiring decisions rejects a disproportionate number of female applicants. Explain why this happens. [3]</a:t>
            </a:r>
          </a:p>
          <a:p>
            <a:r>
              <a:rPr sz="2000" b="1">
                <a:solidFill>
                  <a:srgbClr val="222222"/>
                </a:solidFill>
                <a:latin typeface="Calibri"/>
              </a:rPr>
              <a:t>4. State two reasons a website designer should not rely on colour alone to convey information.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Describe two environmental harms caused by the increasing use of computing devices. [2]</a:t>
            </a:r>
          </a:p>
          <a:p>
            <a:pPr lvl="1"/>
            <a:r>
              <a:rPr sz="1800" i="1">
                <a:solidFill>
                  <a:srgbClr val="B76E00"/>
                </a:solidFill>
                <a:latin typeface="Calibri"/>
              </a:rPr>
              <a:t>Answer: Any two: e-waste from discarded devices containing toxic and unrecycled materials (1); large energy or water consumption by data centres (1); environmental damage from mining rare-earth metals for components (1).</a:t>
            </a:r>
          </a:p>
          <a:p>
            <a:r>
              <a:rPr sz="2000" b="1">
                <a:solidFill>
                  <a:srgbClr val="222222"/>
                </a:solidFill>
                <a:latin typeface="Calibri"/>
              </a:rPr>
              <a:t>2. Explain one benefit and one drawback of internet censorship. [4]</a:t>
            </a:r>
          </a:p>
          <a:p>
            <a:pPr lvl="1"/>
            <a:r>
              <a:rPr sz="1800" i="1">
                <a:solidFill>
                  <a:srgbClr val="B76E00"/>
                </a:solidFill>
                <a:latin typeface="Calibri"/>
              </a:rPr>
              <a:t>Answer: Benefit: it can block illegal or harmful material (1), protecting vulnerable users such as children (1). Drawback: it restricts freedom of speech and can overblock legitimate content (1), and states can abuse it to silence criticism and control information (1).</a:t>
            </a:r>
          </a:p>
          <a:p>
            <a:r>
              <a:rPr sz="2000" b="1">
                <a:solidFill>
                  <a:srgbClr val="222222"/>
                </a:solidFill>
                <a:latin typeface="Calibri"/>
              </a:rPr>
              <a:t>3. An AI recruitment system trained on a company's past hiring decisions rejects a disproportionate number of female applicants. Explain why this happens. [3]</a:t>
            </a:r>
          </a:p>
          <a:p>
            <a:pPr lvl="1"/>
            <a:r>
              <a:rPr sz="1800" i="1">
                <a:solidFill>
                  <a:srgbClr val="B76E00"/>
                </a:solidFill>
                <a:latin typeface="Calibri"/>
              </a:rPr>
              <a:t>Answer: The AI learns patterns from its training data (1); past hiring decisions contained bias, for example fewer women hired (1); the system reproduces and applies that bias consistently to new applicants, amplifying it at scale (1).</a:t>
            </a:r>
          </a:p>
          <a:p>
            <a:r>
              <a:rPr sz="2000" b="1">
                <a:solidFill>
                  <a:srgbClr val="222222"/>
                </a:solidFill>
                <a:latin typeface="Calibri"/>
              </a:rPr>
              <a:t>4. State two reasons a website designer should not rely on colour alone to convey information. [2]</a:t>
            </a:r>
          </a:p>
          <a:p>
            <a:pPr lvl="1"/>
            <a:r>
              <a:rPr sz="1800" i="1">
                <a:solidFill>
                  <a:srgbClr val="B76E00"/>
                </a:solidFill>
                <a:latin typeface="Calibri"/>
              </a:rPr>
              <a:t>Answer: Colour-blind or visually impaired users may not perceive the difference (1); colours carry different cultural meanings, so the intended message may not translate internationally (1).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Explain why the adoption of Unicode was important for computer users outside the English-speaking world. [2]</a:t>
            </a:r>
          </a:p>
          <a:p>
            <a:r>
              <a:rPr sz="2000" b="1">
                <a:solidFill>
                  <a:srgbClr val="222222"/>
                </a:solidFill>
                <a:latin typeface="Calibri"/>
              </a:rPr>
              <a:t>2. Describe one way an employer might monitor employees and explain one ethical concern this raises. [3]</a:t>
            </a:r>
          </a:p>
          <a:p>
            <a:r>
              <a:rPr sz="2000" b="1">
                <a:solidFill>
                  <a:srgbClr val="222222"/>
                </a:solidFill>
                <a:latin typeface="Calibri"/>
              </a:rPr>
              <a:t>3. Explain the tension between using DRM to reduce software piracy and the interests of legitimate customers. [3]</a:t>
            </a:r>
          </a:p>
          <a:p>
            <a:r>
              <a:rPr sz="2000" b="1">
                <a:solidFill>
                  <a:srgbClr val="222222"/>
                </a:solidFill>
                <a:latin typeface="Calibri"/>
              </a:rPr>
              <a:t>4. Discuss the impact of increased automation on the workforce. [9]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Explain why the adoption of Unicode was important for computer users outside the English-speaking world. [2]</a:t>
            </a:r>
          </a:p>
          <a:p>
            <a:pPr lvl="1"/>
            <a:r>
              <a:rPr sz="1800" i="1">
                <a:solidFill>
                  <a:srgbClr val="B76E00"/>
                </a:solidFill>
                <a:latin typeface="Calibri"/>
              </a:rPr>
              <a:t>Answer: ASCII only encodes Latin characters, so other scripts could not be represented (1); Unicode assigns code points to the characters of the world's major writing systems, letting software display and process any language (1).</a:t>
            </a:r>
          </a:p>
          <a:p>
            <a:r>
              <a:rPr sz="2000" b="1">
                <a:solidFill>
                  <a:srgbClr val="222222"/>
                </a:solidFill>
                <a:latin typeface="Calibri"/>
              </a:rPr>
              <a:t>2. Describe one way an employer might monitor employees and explain one ethical concern this raises. [3]</a:t>
            </a:r>
          </a:p>
          <a:p>
            <a:pPr lvl="1"/>
            <a:r>
              <a:rPr sz="1800" i="1">
                <a:solidFill>
                  <a:srgbClr val="B76E00"/>
                </a:solidFill>
                <a:latin typeface="Calibri"/>
              </a:rPr>
              <a:t>Answer: Example: logging emails, web use or keystrokes on work machines (1). Concern: it invades employees' privacy and may capture personal matters (1), creating stress and distrust if it is disproportionate or undeclared (1).</a:t>
            </a:r>
          </a:p>
          <a:p>
            <a:r>
              <a:rPr sz="2000" b="1">
                <a:solidFill>
                  <a:srgbClr val="222222"/>
                </a:solidFill>
                <a:latin typeface="Calibri"/>
              </a:rPr>
              <a:t>3. Explain the tension between using DRM to reduce software piracy and the interests of legitimate customers. [3]</a:t>
            </a:r>
          </a:p>
          <a:p>
            <a:pPr lvl="1"/>
            <a:r>
              <a:rPr sz="1800" i="1">
                <a:solidFill>
                  <a:srgbClr val="B76E00"/>
                </a:solidFill>
                <a:latin typeface="Calibri"/>
              </a:rPr>
              <a:t>Answer: DRM restricts copying to protect the copyright holder's income (1), but it can also stop paying customers making backups, reselling, or using the product offline or on new devices (1); over-restrictive DRM can therefore push legitimate users towards pirated copies that work more freely (1).</a:t>
            </a:r>
          </a:p>
          <a:p>
            <a:r>
              <a:rPr sz="2000" b="1">
                <a:solidFill>
                  <a:srgbClr val="222222"/>
                </a:solidFill>
                <a:latin typeface="Calibri"/>
              </a:rPr>
              <a:t>4. Discuss the impact of increased automation on the workforce. [9]</a:t>
            </a:r>
          </a:p>
          <a:p>
            <a:pPr lvl="1"/>
            <a:r>
              <a:rPr sz="1800" i="1">
                <a:solidFill>
                  <a:srgbClr val="B76E00"/>
                </a:solidFill>
                <a:latin typeface="Calibri"/>
              </a:rPr>
              <a:t>Answer: Indicative content. For: higher productivity and lower prices; machines take dangerous, repetitive jobs; new roles created in development and maintenance; businesses stay competitive. Against: displacement of low-skilled workers; deskilling; benefits flow to owners while costs (unemployment, retraining) fall on individuals and society; regional impacts where one employer dominates. Stakeholders: workers, employers, consumers, government, society. Level 3 (7-9) requires both sides developed with named stakeholders and a justified conclusion, e.g. acceptable where retraining and transition support accompany automation; one-sided or undeveloped answers reach Level 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Common misconceptions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 Students often think a strong opinion scores well; discuss and evaluate questions reward balanced, developed argument and a justified conclusion, not passion.</a:t>
            </a:r>
          </a:p>
          <a:p>
            <a:pPr/>
            <a:r>
              <a:rPr sz="2000" b="0">
                <a:solidFill>
                  <a:srgbClr val="222222"/>
                </a:solidFill>
                <a:latin typeface="Calibri"/>
              </a:rPr>
              <a:t>✗ Students often think AI decisions are objective because a computer made them; models trained on biased data reproduce and amplify that bias.</a:t>
            </a:r>
          </a:p>
          <a:p>
            <a:pPr/>
            <a:r>
              <a:rPr sz="2000" b="0">
                <a:solidFill>
                  <a:srgbClr val="222222"/>
                </a:solidFill>
                <a:latin typeface="Calibri"/>
              </a:rPr>
              <a:t>✗ Students often list points without development; the mark comes from the chain of point, consequence, stakeholder, counter.</a:t>
            </a:r>
          </a:p>
          <a:p>
            <a:pPr/>
            <a:r>
              <a:rPr sz="2000" b="0">
                <a:solidFill>
                  <a:srgbClr val="222222"/>
                </a:solidFill>
                <a:latin typeface="Calibri"/>
              </a:rPr>
              <a:t>✗ Students often forget non-obvious stakeholders; the environment, future generations and excluded groups often unlock the strongest arguments.</a:t>
            </a:r>
          </a:p>
          <a:p>
            <a:pPr/>
            <a:r>
              <a:rPr sz="2000" b="0">
                <a:solidFill>
                  <a:srgbClr val="222222"/>
                </a:solidFill>
                <a:latin typeface="Calibri"/>
              </a:rPr>
              <a:t>✗ Students often treat character sets and colour as purely technical detail; ASCII's Latin bias and colour-blind-hostile design are ethical exclusion in practice.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the exam asks this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Command words: describe and explain for individual issues (2-4 marks); discuss and evaluate for 9 or 12 mark levels-of-response essays, marked on AO1 knowledge, AO2 application and AO3 evaluation.</a:t>
            </a:r>
          </a:p>
          <a:p>
            <a:pPr/>
            <a:r>
              <a:rPr sz="2000" b="0">
                <a:solidFill>
                  <a:srgbClr val="222222"/>
                </a:solidFill>
                <a:latin typeface="Calibri"/>
              </a:rPr>
              <a:t>Level 3 descriptors demand both sides, named stakeholders, accurate terminology and a justified conclusion; a one-sided answer is capped regardless of length.</a:t>
            </a:r>
          </a:p>
          <a:p>
            <a:pPr/>
            <a:r>
              <a:rPr sz="2000" b="0">
                <a:solidFill>
                  <a:srgbClr val="222222"/>
                </a:solidFill>
                <a:latin typeface="Calibri"/>
              </a:rPr>
              <a:t>The scenario matters: generic pre-learned essays that ignore the stem lose the application marks.</a:t>
            </a:r>
          </a:p>
          <a:p>
            <a:pPr/>
            <a:r>
              <a:rPr sz="2000" b="0">
                <a:solidFill>
                  <a:srgbClr val="222222"/>
                </a:solidFill>
                <a:latin typeface="Calibri"/>
              </a:rPr>
              <a:t>Example stem: 'A city council plans to install facial recognition cameras throughout the town centre. Discuss the ethical issues this raises.' [9]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Write a full Level 3 answer to: 'A hospital trust plans to use an AI system to prioritise patients on its waiting list. Discuss the ethical issues this raises.' [9] Requirements: at least four named stakeholders, at least two developed points on each side using the point-consequence-stakeholder-counter chain, one accurate link to legislation from 1.5.1, and a conclusion that takes a side with a condition.</a:t>
            </a:r>
          </a:p>
          <a:p>
            <a:r>
              <a:rPr sz="2400" b="1">
                <a:solidFill>
                  <a:srgbClr val="B76E00"/>
                </a:solidFill>
                <a:latin typeface="Calibri"/>
              </a:rPr>
              <a:t>Challenge / stretch</a:t>
            </a:r>
          </a:p>
          <a:p>
            <a:pPr lvl="1"/>
            <a:r>
              <a:rPr sz="2200" b="0">
                <a:solidFill>
                  <a:srgbClr val="222222"/>
                </a:solidFill>
                <a:latin typeface="Calibri"/>
              </a:rPr>
              <a:t>Take the same hospital scenario and write the two-paragraph case for the opposite conclusion to the one you reached, equally well argued. Then write three sentences on what this exercise shows about how levels-of-response mark schemes reward reasoning rather than opinion.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What three things must an answer show to reach Level 3 on a discuss question?</a:t>
            </a:r>
          </a:p>
          <a:p>
            <a:r>
              <a:rPr sz="2200" b="1">
                <a:solidFill>
                  <a:srgbClr val="222222"/>
                </a:solidFill>
                <a:latin typeface="Calibri"/>
              </a:rPr>
              <a:t>2. Give one benefit and one harm of companies analysing customers' personal data.</a:t>
            </a:r>
          </a:p>
          <a:p>
            <a:r>
              <a:rPr sz="2200" b="1">
                <a:solidFill>
                  <a:srgbClr val="222222"/>
                </a:solidFill>
                <a:latin typeface="Calibri"/>
              </a:rPr>
              <a:t>3. Why can automated decision making be unfair even when no human in the company is biased?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What three things must an answer show to reach Level 3 on a discuss question?</a:t>
            </a:r>
          </a:p>
          <a:p>
            <a:pPr lvl="1"/>
            <a:r>
              <a:rPr sz="1800" i="1">
                <a:solidFill>
                  <a:srgbClr val="B76E00"/>
                </a:solidFill>
                <a:latin typeface="Calibri"/>
              </a:rPr>
              <a:t>Answer: Both sides developed (benefits and drawbacks), named stakeholders with applied reasoning, and a justified conclusion that takes a supported position.</a:t>
            </a:r>
          </a:p>
          <a:p>
            <a:r>
              <a:rPr sz="2200" b="1">
                <a:solidFill>
                  <a:srgbClr val="222222"/>
                </a:solidFill>
                <a:latin typeface="Calibri"/>
              </a:rPr>
              <a:t>2. Give one benefit and one harm of companies analysing customers' personal data.</a:t>
            </a:r>
          </a:p>
          <a:p>
            <a:pPr lvl="1"/>
            <a:r>
              <a:rPr sz="1800" i="1">
                <a:solidFill>
                  <a:srgbClr val="B76E00"/>
                </a:solidFill>
                <a:latin typeface="Calibri"/>
              </a:rPr>
              <a:t>Answer: Benefit: personalised services or fraud detection; harm: profiling, price discrimination or loss of privacy as data is sold onward.</a:t>
            </a:r>
          </a:p>
          <a:p>
            <a:r>
              <a:rPr sz="2200" b="1">
                <a:solidFill>
                  <a:srgbClr val="222222"/>
                </a:solidFill>
                <a:latin typeface="Calibri"/>
              </a:rPr>
              <a:t>3. Why can automated decision making be unfair even when no human in the company is biased?</a:t>
            </a:r>
          </a:p>
          <a:p>
            <a:pPr lvl="1"/>
            <a:r>
              <a:rPr sz="1800" i="1">
                <a:solidFill>
                  <a:srgbClr val="B76E00"/>
                </a:solidFill>
                <a:latin typeface="Calibri"/>
              </a:rPr>
              <a:t>Answer: The system learns from historical data containing past bias and applies those patterns consistently at scale, with little transparency or route to appeal.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