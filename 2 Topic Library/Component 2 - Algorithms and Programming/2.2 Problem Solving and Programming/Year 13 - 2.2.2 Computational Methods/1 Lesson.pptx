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2.2.2 Computational Methods</a:t>
            </a:r>
          </a:p>
          <a:p>
            <a:r>
              <a:rPr sz="2000" b="0" i="0">
                <a:solidFill>
                  <a:srgbClr val="BED3EC"/>
                </a:solidFill>
                <a:latin typeface="Calibri"/>
              </a:rPr>
              <a:t>OCR H446 — Component 02</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Year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state the features that make a problem solvable computationally, and recognise non-computable and intractable problems.</a:t>
            </a:r>
          </a:p>
          <a:p>
            <a:pPr lvl="1"/>
            <a:r>
              <a:rPr sz="2200" b="0">
                <a:solidFill>
                  <a:srgbClr val="222222"/>
                </a:solidFill>
                <a:latin typeface="Calibri"/>
              </a:rPr>
              <a:t>I can distinguish decomposition from divide and conquer, and representational abstraction from abstraction by generalisation.</a:t>
            </a:r>
          </a:p>
          <a:p>
            <a:pPr lvl="1"/>
            <a:r>
              <a:rPr sz="2200" b="0">
                <a:solidFill>
                  <a:srgbClr val="222222"/>
                </a:solidFill>
                <a:latin typeface="Calibri"/>
              </a:rPr>
              <a:t>I can trace a backtracking solution to a maze or constraint problem, showing each dead end and retreat.</a:t>
            </a:r>
          </a:p>
          <a:p>
            <a:pPr lvl="1"/>
            <a:r>
              <a:rPr sz="2200" b="0">
                <a:solidFill>
                  <a:srgbClr val="222222"/>
                </a:solidFill>
                <a:latin typeface="Calibri"/>
              </a:rPr>
              <a:t>I can match backtracking, data mining, heuristics, performance modelling, pipelining and visualisation to suitable problems and justify why each fits.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2.1.1: define abstraction and give one everyday example.</a:t>
            </a:r>
          </a:p>
          <a:p>
            <a:r>
              <a:rPr sz="2200" b="1">
                <a:solidFill>
                  <a:srgbClr val="222222"/>
                </a:solidFill>
                <a:latin typeface="Calibri"/>
              </a:rPr>
              <a:t>2. From 2.1.2: what is caching, and state one drawback of it.</a:t>
            </a:r>
          </a:p>
          <a:p>
            <a:r>
              <a:rPr sz="2200" b="1">
                <a:solidFill>
                  <a:srgbClr val="222222"/>
                </a:solidFill>
                <a:latin typeface="Calibri"/>
              </a:rPr>
              <a:t>3. From 2.1.3: in thinking procedurally, why must the order of steps be considered as well as the steps themselves?</a:t>
            </a:r>
          </a:p>
          <a:p>
            <a:r>
              <a:rPr sz="2200" b="1">
                <a:solidFill>
                  <a:srgbClr val="222222"/>
                </a:solidFill>
                <a:latin typeface="Calibri"/>
              </a:rPr>
              <a:t>4. From 2.1.5: give one benefit and one drawback of concurrent processing.</a:t>
            </a:r>
          </a:p>
          <a:p>
            <a:r>
              <a:rPr sz="2200" b="1">
                <a:solidFill>
                  <a:srgbClr val="222222"/>
                </a:solidFill>
                <a:latin typeface="Calibri"/>
              </a:rPr>
              <a:t>5. From 2.2.1: what two parts must every correct recursive subroutine contain, and what happens without the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2.1.1: define abstraction and give one everyday example.</a:t>
            </a:r>
          </a:p>
          <a:p>
            <a:pPr lvl="1"/>
            <a:r>
              <a:rPr sz="1800" i="1">
                <a:solidFill>
                  <a:srgbClr val="B76E00"/>
                </a:solidFill>
                <a:latin typeface="Calibri"/>
              </a:rPr>
              <a:t>Answer: Removing or hiding unnecessary detail so only problem-relevant information remains, e.g. the London Underground map.</a:t>
            </a:r>
          </a:p>
          <a:p>
            <a:r>
              <a:rPr sz="2200" b="1">
                <a:solidFill>
                  <a:srgbClr val="222222"/>
                </a:solidFill>
                <a:latin typeface="Calibri"/>
              </a:rPr>
              <a:t>2. From 2.1.2: what is caching, and state one drawback of it.</a:t>
            </a:r>
          </a:p>
          <a:p>
            <a:pPr lvl="1"/>
            <a:r>
              <a:rPr sz="1800" i="1">
                <a:solidFill>
                  <a:srgbClr val="B76E00"/>
                </a:solidFill>
                <a:latin typeface="Calibri"/>
              </a:rPr>
              <a:t>Answer: Storing data or instructions likely to be needed again in fast storage; drawbacks include stale data and the complexity of managing it.</a:t>
            </a:r>
          </a:p>
          <a:p>
            <a:r>
              <a:rPr sz="2200" b="1">
                <a:solidFill>
                  <a:srgbClr val="222222"/>
                </a:solidFill>
                <a:latin typeface="Calibri"/>
              </a:rPr>
              <a:t>3. From 2.1.3: in thinking procedurally, why must the order of steps be considered as well as the steps themselves?</a:t>
            </a:r>
          </a:p>
          <a:p>
            <a:pPr lvl="1"/>
            <a:r>
              <a:rPr sz="1800" i="1">
                <a:solidFill>
                  <a:srgbClr val="B76E00"/>
                </a:solidFill>
                <a:latin typeface="Calibri"/>
              </a:rPr>
              <a:t>Answer: Some steps depend on the results of earlier ones, so a wrong order produces wrong results even with correct steps.</a:t>
            </a:r>
          </a:p>
          <a:p>
            <a:r>
              <a:rPr sz="2200" b="1">
                <a:solidFill>
                  <a:srgbClr val="222222"/>
                </a:solidFill>
                <a:latin typeface="Calibri"/>
              </a:rPr>
              <a:t>4. From 2.1.5: give one benefit and one drawback of concurrent processing.</a:t>
            </a:r>
          </a:p>
          <a:p>
            <a:pPr lvl="1"/>
            <a:r>
              <a:rPr sz="1800" i="1">
                <a:solidFill>
                  <a:srgbClr val="B76E00"/>
                </a:solidFill>
                <a:latin typeface="Calibri"/>
              </a:rPr>
              <a:t>Answer: Benefit: tasks progress simultaneously so total time falls; drawback: overhead of coordination and risk of conflicts such as deadlock.</a:t>
            </a:r>
          </a:p>
          <a:p>
            <a:r>
              <a:rPr sz="2200" b="1">
                <a:solidFill>
                  <a:srgbClr val="222222"/>
                </a:solidFill>
                <a:latin typeface="Calibri"/>
              </a:rPr>
              <a:t>5. From 2.2.1: what two parts must every correct recursive subroutine contain, and what happens without the first?</a:t>
            </a:r>
          </a:p>
          <a:p>
            <a:pPr lvl="1"/>
            <a:r>
              <a:rPr sz="1800" i="1">
                <a:solidFill>
                  <a:srgbClr val="B76E00"/>
                </a:solidFill>
                <a:latin typeface="Calibri"/>
              </a:rPr>
              <a:t>Answer: A base case that stops the recursion and a recursive call that moves towards it; without a base case, calls fill the call stack until stack overflow.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Computable problem</a:t>
            </a:r>
            <a:r>
              <a:rPr sz="1800">
                <a:solidFill>
                  <a:srgbClr val="222222"/>
                </a:solidFill>
                <a:latin typeface="Calibri"/>
              </a:rPr>
              <a:t> — A problem with a clear, finite, rule-based sequence of steps that a computer can carry out.</a:t>
            </a:r>
          </a:p>
          <a:p>
            <a:r>
              <a:rPr b="1" sz="2000">
                <a:solidFill>
                  <a:srgbClr val="1A365D"/>
                </a:solidFill>
                <a:latin typeface="Calibri"/>
              </a:rPr>
              <a:t>Intractable problem</a:t>
            </a:r>
            <a:r>
              <a:rPr sz="1800">
                <a:solidFill>
                  <a:srgbClr val="222222"/>
                </a:solidFill>
                <a:latin typeface="Calibri"/>
              </a:rPr>
              <a:t> — A computable problem whose exact solution takes impractically long, such as exponential time, as input grows.</a:t>
            </a:r>
          </a:p>
          <a:p>
            <a:r>
              <a:rPr b="1" sz="2000">
                <a:solidFill>
                  <a:srgbClr val="1A365D"/>
                </a:solidFill>
                <a:latin typeface="Calibri"/>
              </a:rPr>
              <a:t>Problem recognition</a:t>
            </a:r>
            <a:r>
              <a:rPr sz="1800">
                <a:solidFill>
                  <a:srgbClr val="222222"/>
                </a:solidFill>
                <a:latin typeface="Calibri"/>
              </a:rPr>
              <a:t> — Identifying the real problem, its inputs, outputs, constraints and success criteria, before solving it.</a:t>
            </a:r>
          </a:p>
          <a:p>
            <a:r>
              <a:rPr b="1" sz="2000">
                <a:solidFill>
                  <a:srgbClr val="1A365D"/>
                </a:solidFill>
                <a:latin typeface="Calibri"/>
              </a:rPr>
              <a:t>Decomposition</a:t>
            </a:r>
            <a:r>
              <a:rPr sz="1800">
                <a:solidFill>
                  <a:srgbClr val="222222"/>
                </a:solidFill>
                <a:latin typeface="Calibri"/>
              </a:rPr>
              <a:t> — Breaking a complex problem into smaller, manageable sub-problems, usually different sub-tasks.</a:t>
            </a:r>
          </a:p>
          <a:p>
            <a:r>
              <a:rPr b="1" sz="2000">
                <a:solidFill>
                  <a:srgbClr val="1A365D"/>
                </a:solidFill>
                <a:latin typeface="Calibri"/>
              </a:rPr>
              <a:t>Divide and conquer</a:t>
            </a:r>
            <a:r>
              <a:rPr sz="1800">
                <a:solidFill>
                  <a:srgbClr val="222222"/>
                </a:solidFill>
                <a:latin typeface="Calibri"/>
              </a:rPr>
              <a:t> — Repeatedly splitting a problem into smaller instances of the same problem, solving them and combining results.</a:t>
            </a:r>
          </a:p>
          <a:p>
            <a:r>
              <a:rPr b="1" sz="2000">
                <a:solidFill>
                  <a:srgbClr val="1A365D"/>
                </a:solidFill>
                <a:latin typeface="Calibri"/>
              </a:rPr>
              <a:t>Backtracking</a:t>
            </a:r>
            <a:r>
              <a:rPr sz="1800">
                <a:solidFill>
                  <a:srgbClr val="222222"/>
                </a:solidFill>
                <a:latin typeface="Calibri"/>
              </a:rPr>
              <a:t> — Building a solution step by step and, at a dead end, returning to the last decision to try another option.</a:t>
            </a:r>
          </a:p>
          <a:p>
            <a:r>
              <a:rPr b="1" sz="2000">
                <a:solidFill>
                  <a:srgbClr val="1A365D"/>
                </a:solidFill>
                <a:latin typeface="Calibri"/>
              </a:rPr>
              <a:t>Heuristic</a:t>
            </a:r>
            <a:r>
              <a:rPr sz="1800">
                <a:solidFill>
                  <a:srgbClr val="222222"/>
                </a:solidFill>
                <a:latin typeface="Calibri"/>
              </a:rPr>
              <a:t> — A rule of thumb giving a good-enough, but not guaranteed optimal, answer quickly.</a:t>
            </a:r>
          </a:p>
          <a:p>
            <a:r>
              <a:rPr b="1" sz="2000">
                <a:solidFill>
                  <a:srgbClr val="1A365D"/>
                </a:solidFill>
                <a:latin typeface="Calibri"/>
              </a:rPr>
              <a:t>Performance modelling</a:t>
            </a:r>
            <a:r>
              <a:rPr sz="1800">
                <a:solidFill>
                  <a:srgbClr val="222222"/>
                </a:solidFill>
                <a:latin typeface="Calibri"/>
              </a:rPr>
              <a:t> — Using a model to predict or test how a system behaves before, or instead of, building it.</a:t>
            </a:r>
          </a:p>
          <a:p>
            <a:r>
              <a:rPr b="1" sz="2000">
                <a:solidFill>
                  <a:srgbClr val="1A365D"/>
                </a:solidFill>
                <a:latin typeface="Calibri"/>
              </a:rPr>
              <a:t>Pipelining</a:t>
            </a:r>
            <a:r>
              <a:rPr sz="1800">
                <a:solidFill>
                  <a:srgbClr val="222222"/>
                </a:solidFill>
                <a:latin typeface="Calibri"/>
              </a:rPr>
              <a:t> — Splitting a process into stages so different stages work on different items at the same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What makes a problem computable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Clear inputs, processes and outputs, with a finite sequence of well-defined steps.</a:t>
            </a:r>
          </a:p>
          <a:p>
            <a:pPr/>
            <a:r>
              <a:rPr sz="2000" b="0">
                <a:solidFill>
                  <a:srgbClr val="222222"/>
                </a:solidFill>
                <a:latin typeface="Calibri"/>
              </a:rPr>
              <a:t>Rule-based and repeatable: the same inputs always allow the same method.</a:t>
            </a:r>
          </a:p>
          <a:p>
            <a:pPr/>
            <a:r>
              <a:rPr sz="2000" b="0">
                <a:solidFill>
                  <a:srgbClr val="222222"/>
                </a:solidFill>
                <a:latin typeface="Calibri"/>
              </a:rPr>
              <a:t>Can be decomposed, usefully abstracted, and its data structured or modelled.</a:t>
            </a:r>
          </a:p>
          <a:p>
            <a:pPr/>
            <a:r>
              <a:rPr sz="2000" b="0">
                <a:solidFill>
                  <a:srgbClr val="222222"/>
                </a:solidFill>
                <a:latin typeface="Calibri"/>
              </a:rPr>
              <a:t>Non-computable problems exist: no algorithm can ever solve the Halting Problem.</a:t>
            </a:r>
          </a:p>
          <a:p>
            <a:pPr/>
            <a:r>
              <a:rPr sz="2000" b="0">
                <a:solidFill>
                  <a:srgbClr val="222222"/>
                </a:solidFill>
                <a:latin typeface="Calibri"/>
              </a:rPr>
              <a:t>Intractable problems are computable in principle but take impractically long as input grows.</a:t>
            </a:r>
          </a:p>
          <a:p>
            <a:pPr/>
            <a:r>
              <a:rPr sz="1800" b="1">
                <a:solidFill>
                  <a:srgbClr val="B76E00"/>
                </a:solidFill>
                <a:latin typeface="Calibri"/>
              </a:rPr>
              <a:t>Intractable is not non-computable: an algorithm exists, it is just uselessly slow at scale.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Problem recognition and decomposition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Problem recognition comes first: state inputs, outputs, constraints and success criteria before designing anything.</a:t>
            </a:r>
          </a:p>
          <a:p>
            <a:pPr/>
            <a:r>
              <a:rPr sz="2000" b="0">
                <a:solidFill>
                  <a:srgbClr val="222222"/>
                </a:solidFill>
                <a:latin typeface="Calibri"/>
              </a:rPr>
              <a:t>Solving the wrong problem perfectly is still failure; recognition prevents it.</a:t>
            </a:r>
          </a:p>
          <a:p>
            <a:pPr/>
            <a:r>
              <a:rPr sz="2000" b="0">
                <a:solidFill>
                  <a:srgbClr val="222222"/>
                </a:solidFill>
                <a:latin typeface="Calibri"/>
              </a:rPr>
              <a:t>Decomposition breaks the problem into smaller sub-problems that are easier to write, test and share out.</a:t>
            </a:r>
          </a:p>
          <a:p>
            <a:pPr/>
            <a:r>
              <a:rPr sz="2000" b="0">
                <a:solidFill>
                  <a:srgbClr val="222222"/>
                </a:solidFill>
                <a:latin typeface="Calibri"/>
              </a:rPr>
              <a:t>Sub-problems are usually different sub-tasks: input handling, physics, rendering in a game.</a:t>
            </a:r>
          </a:p>
          <a:p>
            <a:pPr/>
            <a:r>
              <a:rPr sz="2000" b="0">
                <a:solidFill>
                  <a:srgbClr val="222222"/>
                </a:solidFill>
                <a:latin typeface="Calibri"/>
              </a:rPr>
              <a:t>Decomposed modules can be developed concurrently by different programmers (links to 2.1.5).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Divide and conquer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Repeatedly split the problem into smaller instances of the same problem, solve, then combine.</a:t>
            </a:r>
          </a:p>
          <a:p>
            <a:pPr/>
            <a:r>
              <a:rPr sz="2000" b="0">
                <a:solidFill>
                  <a:srgbClr val="222222"/>
                </a:solidFill>
                <a:latin typeface="Calibri"/>
              </a:rPr>
              <a:t>Binary search: each comparison halves the portion that could contain the target.</a:t>
            </a:r>
          </a:p>
          <a:p>
            <a:pPr/>
            <a:r>
              <a:rPr sz="2000" b="0">
                <a:solidFill>
                  <a:srgbClr val="222222"/>
                </a:solidFill>
                <a:latin typeface="Calibri"/>
              </a:rPr>
              <a:t>1024 items need at most about 10 halvings, because 2 to the power 10 is 1024.</a:t>
            </a:r>
          </a:p>
          <a:p>
            <a:pPr/>
            <a:r>
              <a:rPr sz="2000" b="0">
                <a:solidFill>
                  <a:srgbClr val="222222"/>
                </a:solidFill>
                <a:latin typeface="Calibri"/>
              </a:rPr>
              <a:t>Merge sort and quicksort divide, sort the parts, and combine.</a:t>
            </a:r>
          </a:p>
          <a:p>
            <a:pPr/>
            <a:r>
              <a:rPr sz="2000" b="0">
                <a:solidFill>
                  <a:srgbClr val="222222"/>
                </a:solidFill>
                <a:latin typeface="Calibri"/>
              </a:rPr>
              <a:t>Pairs naturally with recursion: each part is the same type of problem, so the subroutine calls itself.</a:t>
            </a:r>
          </a:p>
          <a:p>
            <a:pPr/>
            <a:r>
              <a:rPr sz="1800" b="1">
                <a:solidFill>
                  <a:srgbClr val="B76E00"/>
                </a:solidFill>
                <a:latin typeface="Calibri"/>
              </a:rPr>
              <a:t>Discriminator: decomposition gives different sub-tasks; divide and conquer gives smaller same-type instances.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Abstraction as a computational method</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Remove or hide detail that is not relevant to the problem being solved.</a:t>
            </a:r>
          </a:p>
          <a:p>
            <a:pPr/>
            <a:r>
              <a:rPr sz="2000" b="0">
                <a:solidFill>
                  <a:srgbClr val="222222"/>
                </a:solidFill>
                <a:latin typeface="Calibri"/>
              </a:rPr>
              <a:t>Representational abstraction drops irrelevant detail: the Tube map keeps connections, discards true distance and geography.</a:t>
            </a:r>
          </a:p>
          <a:p>
            <a:pPr/>
            <a:r>
              <a:rPr sz="2000" b="0">
                <a:solidFill>
                  <a:srgbClr val="222222"/>
                </a:solidFill>
                <a:latin typeface="Calibri"/>
              </a:rPr>
              <a:t>Abstraction by generalisation groups things by shared characteristics so one solution treats them all the same.</a:t>
            </a:r>
          </a:p>
          <a:p>
            <a:pPr/>
            <a:r>
              <a:rPr sz="2000" b="0">
                <a:solidFill>
                  <a:srgbClr val="222222"/>
                </a:solidFill>
                <a:latin typeface="Calibri"/>
              </a:rPr>
              <a:t>Layers of abstraction let you solve at one level ignoring the levels below (like the TCP/IP stack).</a:t>
            </a:r>
          </a:p>
          <a:p>
            <a:pPr/>
            <a:r>
              <a:rPr sz="2000" b="0">
                <a:solidFill>
                  <a:srgbClr val="222222"/>
                </a:solidFill>
                <a:latin typeface="Calibri"/>
              </a:rPr>
              <a:t>A good abstraction makes an unmanageable problem computable by shrinking its state.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Backtracking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Build a partial solution one decision at a time, following a fixed rule.</a:t>
            </a:r>
          </a:p>
          <a:p>
            <a:pPr/>
            <a:r>
              <a:rPr sz="2000" b="0">
                <a:solidFill>
                  <a:srgbClr val="222222"/>
                </a:solidFill>
                <a:latin typeface="Calibri"/>
              </a:rPr>
              <a:t>At a dead end, return to the most recent decision with untried options and take the next one.</a:t>
            </a:r>
          </a:p>
          <a:p>
            <a:pPr/>
            <a:r>
              <a:rPr sz="2000" b="0">
                <a:solidFill>
                  <a:srgbClr val="222222"/>
                </a:solidFill>
                <a:latin typeface="Calibri"/>
              </a:rPr>
              <a:t>Systematic and exhaustive: it finds a solution if one exists, unlike guessing.</a:t>
            </a:r>
          </a:p>
          <a:p>
            <a:pPr/>
            <a:r>
              <a:rPr sz="2000" b="0">
                <a:solidFill>
                  <a:srgbClr val="222222"/>
                </a:solidFill>
                <a:latin typeface="Calibri"/>
              </a:rPr>
              <a:t>Classic uses: maze solving, Sudoku, the N-Queens problem.</a:t>
            </a:r>
          </a:p>
          <a:p>
            <a:pPr/>
            <a:r>
              <a:rPr sz="2000" b="0">
                <a:solidFill>
                  <a:srgbClr val="222222"/>
                </a:solidFill>
                <a:latin typeface="Calibri"/>
              </a:rPr>
              <a:t>Often implemented recursively: the call stack remembers the decision points to retreat to (links to 2.2.1).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Data mining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Searching very large data sets for hidden patterns, correlations and trends.</a:t>
            </a:r>
          </a:p>
          <a:p>
            <a:pPr/>
            <a:r>
              <a:rPr sz="2000" b="0">
                <a:solidFill>
                  <a:srgbClr val="222222"/>
                </a:solidFill>
                <a:latin typeface="Calibri"/>
              </a:rPr>
              <a:t>Examples: loyalty-card basket analysis, fraud detection from unusual spending patterns.</a:t>
            </a:r>
          </a:p>
          <a:p>
            <a:pPr/>
            <a:r>
              <a:rPr sz="2000" b="0">
                <a:solidFill>
                  <a:srgbClr val="222222"/>
                </a:solidFill>
                <a:latin typeface="Calibri"/>
              </a:rPr>
              <a:t>Useful when data is too large and unstructured for a human or a simple query.</a:t>
            </a:r>
          </a:p>
          <a:p>
            <a:pPr/>
            <a:r>
              <a:rPr sz="2000" b="0">
                <a:solidFill>
                  <a:srgbClr val="222222"/>
                </a:solidFill>
                <a:latin typeface="Calibri"/>
              </a:rPr>
              <a:t>Found correlations are not causes; conclusions still need testing.</a:t>
            </a:r>
          </a:p>
          <a:p>
            <a:pPr/>
            <a:r>
              <a:rPr sz="2000" b="0">
                <a:solidFill>
                  <a:srgbClr val="222222"/>
                </a:solidFill>
                <a:latin typeface="Calibri"/>
              </a:rPr>
              <a:t>Mining personal data engages the DPA and the profiling concerns from 1.5 (links to Component 01).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Heuristics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rule of thumb that gives a good-enough answer quickly, not a guaranteed optimal one.</a:t>
            </a:r>
          </a:p>
          <a:p>
            <a:pPr/>
            <a:r>
              <a:rPr sz="2000" b="0">
                <a:solidFill>
                  <a:srgbClr val="222222"/>
                </a:solidFill>
                <a:latin typeface="Calibri"/>
              </a:rPr>
              <a:t>Used when the exact method is intractable: the Travelling Salesman Problem's routes grow factorially.</a:t>
            </a:r>
          </a:p>
          <a:p>
            <a:pPr/>
            <a:r>
              <a:rPr sz="2000" b="0">
                <a:solidFill>
                  <a:srgbClr val="222222"/>
                </a:solidFill>
                <a:latin typeface="Calibri"/>
              </a:rPr>
              <a:t>A satnav estimates with straight-line distance rather than checking every possible route.</a:t>
            </a:r>
          </a:p>
          <a:p>
            <a:pPr/>
            <a:r>
              <a:rPr sz="2000" b="0">
                <a:solidFill>
                  <a:srgbClr val="222222"/>
                </a:solidFill>
                <a:latin typeface="Calibri"/>
              </a:rPr>
              <a:t>Other uses: antivirus judging suspicious behaviour, spam filters scoring messages.</a:t>
            </a:r>
          </a:p>
          <a:p>
            <a:pPr/>
            <a:r>
              <a:rPr sz="2000" b="0">
                <a:solidFill>
                  <a:srgbClr val="222222"/>
                </a:solidFill>
                <a:latin typeface="Calibri"/>
              </a:rPr>
              <a:t>The trade is deliberate: sacrifice guaranteed optimality for feasible speed.</a:t>
            </a:r>
          </a:p>
          <a:p>
            <a:pPr/>
            <a:r>
              <a:rPr sz="1800" b="1">
                <a:solidFill>
                  <a:srgbClr val="B76E00"/>
                </a:solidFill>
                <a:latin typeface="Calibri"/>
              </a:rPr>
              <a:t>The exam phrase that earns the mark: good enough, not guaranteed optimal.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Performance modelling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Use a mathematical or simulated model to predict system behaviour before building or risking the real thing.</a:t>
            </a:r>
          </a:p>
          <a:p>
            <a:pPr/>
            <a:r>
              <a:rPr sz="2000" b="0">
                <a:solidFill>
                  <a:srgbClr val="222222"/>
                </a:solidFill>
                <a:latin typeface="Calibri"/>
              </a:rPr>
              <a:t>Examples: simulating Black Friday load on a web server, testing aircraft systems, predicting algorithm scaling.</a:t>
            </a:r>
          </a:p>
          <a:p>
            <a:pPr/>
            <a:r>
              <a:rPr sz="2000" b="0">
                <a:solidFill>
                  <a:srgbClr val="222222"/>
                </a:solidFill>
                <a:latin typeface="Calibri"/>
              </a:rPr>
              <a:t>Cheaper and safer than trial and error on the live system.</a:t>
            </a:r>
          </a:p>
          <a:p>
            <a:pPr/>
            <a:r>
              <a:rPr sz="2000" b="0">
                <a:solidFill>
                  <a:srgbClr val="222222"/>
                </a:solidFill>
                <a:latin typeface="Calibri"/>
              </a:rPr>
              <a:t>Lets designers compare options and find bottlenecks before committing.</a:t>
            </a:r>
          </a:p>
          <a:p>
            <a:pPr/>
            <a:r>
              <a:rPr sz="2000" b="0">
                <a:solidFill>
                  <a:srgbClr val="222222"/>
                </a:solidFill>
                <a:latin typeface="Calibri"/>
              </a:rPr>
              <a:t>Only as good as the model: unrealistic assumptions give confident wrong answers.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Pipelining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Split a process into stages so different stages work on different items simultaneously.</a:t>
            </a:r>
          </a:p>
          <a:p>
            <a:pPr/>
            <a:r>
              <a:rPr sz="2000" b="0">
                <a:solidFill>
                  <a:srgbClr val="222222"/>
                </a:solidFill>
                <a:latin typeface="Calibri"/>
              </a:rPr>
              <a:t>The classic example is the processor overlapping fetch, decode and execute of successive instructions.</a:t>
            </a:r>
          </a:p>
          <a:p>
            <a:pPr/>
            <a:r>
              <a:rPr sz="2000" b="0">
                <a:solidFill>
                  <a:srgbClr val="222222"/>
                </a:solidFill>
                <a:latin typeface="Calibri"/>
              </a:rPr>
              <a:t>For n items through k equal stages, time falls from n times k to n plus k minus 1 ticks.</a:t>
            </a:r>
          </a:p>
          <a:p>
            <a:pPr/>
            <a:r>
              <a:rPr sz="2000" b="0">
                <a:solidFill>
                  <a:srgbClr val="222222"/>
                </a:solidFill>
                <a:latin typeface="Calibri"/>
              </a:rPr>
              <a:t>Throughput rises, but each individual item still takes the same time (latency unchanged).</a:t>
            </a:r>
          </a:p>
          <a:p>
            <a:pPr/>
            <a:r>
              <a:rPr sz="2000" b="0">
                <a:solidFill>
                  <a:srgbClr val="222222"/>
                </a:solidFill>
                <a:latin typeface="Calibri"/>
              </a:rPr>
              <a:t>The slowest stage sets the pace, and a dependency between items can stall the pipeline.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Visualisation to solve problems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Represent data or problems graphically: charts, heat maps, graphs and trees.</a:t>
            </a:r>
          </a:p>
          <a:p>
            <a:pPr/>
            <a:r>
              <a:rPr sz="2000" b="0">
                <a:solidFill>
                  <a:srgbClr val="222222"/>
                </a:solidFill>
                <a:latin typeface="Calibri"/>
              </a:rPr>
              <a:t>Humans spot patterns, clusters, trends and outliers far faster in pictures than tables.</a:t>
            </a:r>
          </a:p>
          <a:p>
            <a:pPr/>
            <a:r>
              <a:rPr sz="2000" b="0">
                <a:solidFill>
                  <a:srgbClr val="222222"/>
                </a:solidFill>
                <a:latin typeface="Calibri"/>
              </a:rPr>
              <a:t>John Snow's map of cholera cases revealed the cluster around one water pump.</a:t>
            </a:r>
          </a:p>
          <a:p>
            <a:pPr/>
            <a:r>
              <a:rPr sz="2000" b="0">
                <a:solidFill>
                  <a:srgbClr val="222222"/>
                </a:solidFill>
                <a:latin typeface="Calibri"/>
              </a:rPr>
              <a:t>Trees and graphs make problem structure visible before any code is written.</a:t>
            </a:r>
          </a:p>
          <a:p>
            <a:pPr/>
            <a:r>
              <a:rPr sz="2000" b="0">
                <a:solidFill>
                  <a:srgbClr val="222222"/>
                </a:solidFill>
                <a:latin typeface="Calibri"/>
              </a:rPr>
              <a:t>Often paired with data mining: mining finds the pattern, visualisation makes it comprehensible.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Backtracking through a 4 by 4 maze (rule: try West, South, East, North; never revisit)</a:t>
            </a:r>
          </a:p>
          <a:p>
            <a:pPr lvl="1"/>
            <a:r>
              <a:rPr sz="1900" b="0">
                <a:solidFill>
                  <a:srgbClr val="222222"/>
                </a:solidFill>
                <a:latin typeface="Calibri"/>
              </a:rPr>
              <a:t>1. Maze rows 1-4, columns A-D. Blocked cells: (1,D), (2,A), (2,B), (2,D), (3,A), (4,A), (4,C). Start S at (1,A), goal G at (4,D).</a:t>
            </a:r>
          </a:p>
          <a:p>
            <a:pPr lvl="1"/>
            <a:r>
              <a:rPr sz="1900" b="0">
                <a:solidFill>
                  <a:srgbClr val="222222"/>
                </a:solidFill>
                <a:latin typeface="Calibri"/>
              </a:rPr>
              <a:t>2. At (1,A): West is off the grid, South (2,A) is blocked, East (1,B) is open, so move East.</a:t>
            </a:r>
          </a:p>
          <a:p>
            <a:pPr lvl="1"/>
            <a:r>
              <a:rPr sz="1900" b="0">
                <a:solidFill>
                  <a:srgbClr val="222222"/>
                </a:solidFill>
                <a:latin typeface="Calibri"/>
              </a:rPr>
              <a:t>3. At (1,B): West visited, South (2,B) blocked, so East to (1,C). At (1,C): South (2,C) open, so move South, then South again to (3,C).</a:t>
            </a:r>
          </a:p>
          <a:p>
            <a:pPr lvl="1"/>
            <a:r>
              <a:rPr sz="1900" b="0">
                <a:solidFill>
                  <a:srgbClr val="222222"/>
                </a:solidFill>
                <a:latin typeface="Calibri"/>
              </a:rPr>
              <a:t>4. At (3,C): West (3,B) is open and West is tried first, so move to (3,B), then South to (4,B).</a:t>
            </a:r>
          </a:p>
          <a:p>
            <a:pPr lvl="1"/>
            <a:r>
              <a:rPr sz="1900" b="0">
                <a:solidFill>
                  <a:srgbClr val="222222"/>
                </a:solidFill>
                <a:latin typeface="Calibri"/>
              </a:rPr>
              <a:t>5. At (4,B): West (4,A) blocked, South is off the grid, East (4,C) blocked, North visited. Dead end: backtrack to (3,B).</a:t>
            </a:r>
          </a:p>
          <a:p>
            <a:pPr lvl="1"/>
            <a:r>
              <a:rPr sz="1900" b="0">
                <a:solidFill>
                  <a:srgbClr val="222222"/>
                </a:solidFill>
                <a:latin typeface="Calibri"/>
              </a:rPr>
              <a:t>6. At (3,B): every remaining direction is blocked or visited, so backtrack again to (3,C).</a:t>
            </a:r>
          </a:p>
          <a:p>
            <a:pPr lvl="1"/>
            <a:r>
              <a:rPr sz="1900" b="0">
                <a:solidFill>
                  <a:srgbClr val="222222"/>
                </a:solidFill>
                <a:latin typeface="Calibri"/>
              </a:rPr>
              <a:t>7. At (3,C): the next untried direction is East, so move to (3,D), then South to (4,D). Goal reached.</a:t>
            </a:r>
          </a:p>
          <a:p>
            <a:pPr lvl="1"/>
            <a:r>
              <a:rPr sz="1900" b="0">
                <a:solidFill>
                  <a:srgbClr val="222222"/>
                </a:solidFill>
                <a:latin typeface="Calibri"/>
              </a:rPr>
              <a:t>8. Final path: (1,A), (1,B), (1,C), (2,C), (3,C), (3,D), (4,D): six moves, with exactly one backtracking episode out of (4,B).</a:t>
            </a:r>
          </a:p>
          <a:p>
            <a:pPr lvl="1"/>
            <a:r>
              <a:rPr sz="1900" b="0">
                <a:solidFill>
                  <a:srgbClr val="222222"/>
                </a:solidFill>
                <a:latin typeface="Calibri"/>
              </a:rPr>
              <a:t>9. The point: the fixed rule plus retreat-and-retry makes this an algorithm that must find a path if one exists; the wasted detour is the price of not knowing the maze in advance.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Binary search as divide and conquer: finding 23 in a 15-item sorted list</a:t>
            </a:r>
          </a:p>
          <a:p>
            <a:pPr lvl="1"/>
            <a:r>
              <a:rPr sz="1900" b="0">
                <a:solidFill>
                  <a:srgbClr val="222222"/>
                </a:solidFill>
                <a:latin typeface="Calibri"/>
              </a:rPr>
              <a:t>1. List (indices 0-14): 2, 5, 8, 12, 16, 23, 38, 41, 56, 72, 77, 81, 88, 91, 97.</a:t>
            </a:r>
          </a:p>
          <a:p>
            <a:pPr lvl="1"/>
            <a:r>
              <a:rPr sz="1900" b="0">
                <a:solidFill>
                  <a:srgbClr val="222222"/>
                </a:solidFill>
                <a:latin typeface="Calibri"/>
              </a:rPr>
              <a:t>2. Comparison 1: midpoint of 0-14 is index 7, value 41. Target 23 is smaller, so discard the upper half; search 0-6.</a:t>
            </a:r>
          </a:p>
          <a:p>
            <a:pPr lvl="1"/>
            <a:r>
              <a:rPr sz="1900" b="0">
                <a:solidFill>
                  <a:srgbClr val="222222"/>
                </a:solidFill>
                <a:latin typeface="Calibri"/>
              </a:rPr>
              <a:t>3. Comparison 2: midpoint of 0-6 is index 3, value 12. Target 23 is larger, so discard the lower half; search 4-6.</a:t>
            </a:r>
          </a:p>
          <a:p>
            <a:pPr lvl="1"/>
            <a:r>
              <a:rPr sz="1900" b="0">
                <a:solidFill>
                  <a:srgbClr val="222222"/>
                </a:solidFill>
                <a:latin typeface="Calibri"/>
              </a:rPr>
              <a:t>4. Comparison 3: midpoint of 4-6 is index 5, value 23. Found.</a:t>
            </a:r>
          </a:p>
          <a:p>
            <a:pPr lvl="1"/>
            <a:r>
              <a:rPr sz="1900" b="0">
                <a:solidFill>
                  <a:srgbClr val="222222"/>
                </a:solidFill>
                <a:latin typeface="Calibri"/>
              </a:rPr>
              <a:t>5. The problem shrank 15 to 7 to 3 to 1: each comparison solves a smaller instance of the same problem, the definition of divide and conquer.</a:t>
            </a:r>
          </a:p>
          <a:p>
            <a:pPr lvl="1"/>
            <a:r>
              <a:rPr sz="1900" b="0">
                <a:solidFill>
                  <a:srgbClr val="222222"/>
                </a:solidFill>
                <a:latin typeface="Calibri"/>
              </a:rPr>
              <a:t>6. Three comparisons instead of up to 15 with linear search; for 1024 items it is about 10 versus 1024, because 2 to the power 10 is 1024.</a:t>
            </a:r>
          </a:p>
          <a:p>
            <a:pPr lvl="1"/>
            <a:r>
              <a:rPr sz="1900" b="0">
                <a:solidFill>
                  <a:srgbClr val="222222"/>
                </a:solidFill>
                <a:latin typeface="Calibri"/>
              </a:rPr>
              <a:t>7. This same halving structure is why binary search is naturally written recursively (links to 2.2.1).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Pipelining the greetings-card production line: quantifying the gain</a:t>
            </a:r>
          </a:p>
          <a:p>
            <a:pPr lvl="1"/>
            <a:r>
              <a:rPr sz="1900" b="0">
                <a:solidFill>
                  <a:srgbClr val="222222"/>
                </a:solidFill>
                <a:latin typeface="Calibri"/>
              </a:rPr>
              <a:t>1. Making one card takes three equal stages: fold, stamp, envelope. There are 6 cards; each stage takes 1 tick.</a:t>
            </a:r>
          </a:p>
          <a:p>
            <a:pPr lvl="1"/>
            <a:r>
              <a:rPr sz="1900" b="0">
                <a:solidFill>
                  <a:srgbClr val="222222"/>
                </a:solidFill>
                <a:latin typeface="Calibri"/>
              </a:rPr>
              <a:t>2. Sequential (one worker does everything): 6 cards times 3 stages = 18 ticks.</a:t>
            </a:r>
          </a:p>
          <a:p>
            <a:pPr lvl="1"/>
            <a:r>
              <a:rPr sz="1900" b="0">
                <a:solidFill>
                  <a:srgbClr val="222222"/>
                </a:solidFill>
                <a:latin typeface="Calibri"/>
              </a:rPr>
              <a:t>3. Pipelined (three workers, one stage each, passing cards on every tick): card 1 finishes at tick 3, then one card finishes every tick after that.</a:t>
            </a:r>
          </a:p>
          <a:p>
            <a:pPr lvl="1"/>
            <a:r>
              <a:rPr sz="1900" b="0">
                <a:solidFill>
                  <a:srgbClr val="222222"/>
                </a:solidFill>
                <a:latin typeface="Calibri"/>
              </a:rPr>
              <a:t>4. Total pipelined time = n + k - 1 = 6 + 3 - 1 = 8 ticks.</a:t>
            </a:r>
          </a:p>
          <a:p>
            <a:pPr lvl="1"/>
            <a:r>
              <a:rPr sz="1900" b="0">
                <a:solidFill>
                  <a:srgbClr val="222222"/>
                </a:solidFill>
                <a:latin typeface="Calibri"/>
              </a:rPr>
              <a:t>5. Speed-up = 18 divided by 8 = 2.25 times.</a:t>
            </a:r>
          </a:p>
          <a:p>
            <a:pPr lvl="1"/>
            <a:r>
              <a:rPr sz="1900" b="0">
                <a:solidFill>
                  <a:srgbClr val="222222"/>
                </a:solidFill>
                <a:latin typeface="Calibri"/>
              </a:rPr>
              <a:t>6. Check the trap: each individual card still takes 3 ticks from start to finish. Pipelining improved throughput, not per-item latency.</a:t>
            </a:r>
          </a:p>
          <a:p>
            <a:pPr lvl="1"/>
            <a:r>
              <a:rPr sz="1900" b="0">
                <a:solidFill>
                  <a:srgbClr val="222222"/>
                </a:solidFill>
                <a:latin typeface="Calibri"/>
              </a:rPr>
              <a:t>7. As n grows, speed-up approaches k (here 3): with 100 cards, 300 ticks becomes 102.</a:t>
            </a:r>
          </a:p>
          <a:p>
            <a:pPr lvl="1"/>
            <a:r>
              <a:rPr sz="1900" b="0">
                <a:solidFill>
                  <a:srgbClr val="222222"/>
                </a:solidFill>
                <a:latin typeface="Calibri"/>
              </a:rPr>
              <a:t>8. Map to the CPU: fold, stamp, envelope correspond to fetch, decode, execute, and a stalled stage (or a branch flushing fetched instructions) is what limits real pipelines.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Which method would you hire? (card sort)  (12 min)</a:t>
            </a:r>
          </a:p>
          <a:p>
            <a:pPr lvl="1"/>
            <a:r>
              <a:rPr sz="2000" b="0">
                <a:solidFill>
                  <a:srgbClr val="222222"/>
                </a:solidFill>
                <a:latin typeface="Calibri"/>
              </a:rPr>
              <a:t>Pairs get 10 method cards (problem recognition, decomposition, divide and conquer, abstraction, backtracking, data mining, heuristics, performance modelling, pipelining, visualisation) and 10 scenario cards, and match them one to one.</a:t>
            </a:r>
          </a:p>
          <a:p>
            <a:pPr lvl="1"/>
            <a:r>
              <a:rPr sz="2000" b="0">
                <a:solidFill>
                  <a:srgbClr val="222222"/>
                </a:solidFill>
                <a:latin typeface="Calibri"/>
              </a:rPr>
              <a:t>Scenarios include: Sudoku solved by trying a digit and undoing it at dead ends; loyalty-card basket analysis; a satnav picking a good-enough route from distance estimates; simulating Black Friday server traffic before launch; a CPU fetching one instruction while decoding and executing others; plotting infections on a heat map; splitting a game into input, physics and rendering modules; halving a sorted phone book to find a name; the Tube map ignoring real distances; listing inputs, outputs and constraints before coding.</a:t>
            </a:r>
          </a:p>
          <a:p>
            <a:pPr lvl="1"/>
            <a:r>
              <a:rPr sz="2000" b="0">
                <a:solidFill>
                  <a:srgbClr val="222222"/>
                </a:solidFill>
                <a:latin typeface="Calibri"/>
              </a:rPr>
              <a:t>Two deliberate near-misses to argue: game modules versus phone book (different sub-tasks means decomposition; same-problem halving means divide and conquer) and Sudoku versus satnav (backtracking is systematic and exact; a heuristic trades optimality for speed).</a:t>
            </a:r>
          </a:p>
          <a:p>
            <a:pPr lvl="1"/>
            <a:r>
              <a:rPr sz="2000" b="0">
                <a:solidFill>
                  <a:srgbClr val="222222"/>
                </a:solidFill>
                <a:latin typeface="Calibri"/>
              </a:rPr>
              <a:t>Cold-call checks: pairs must justify why the method suits the scenario, not just name it; the why is where exam marks live.</a:t>
            </a:r>
          </a:p>
          <a:p>
            <a:pPr lvl="1"/>
            <a:r>
              <a:rPr sz="2000" b="0">
                <a:solidFill>
                  <a:srgbClr val="222222"/>
                </a:solidFill>
                <a:latin typeface="Calibri"/>
              </a:rPr>
              <a:t>Answers: backtracking, data mining, heuristics, performance modelling, pipelining, visualisation, decomposition, divide and conquer, abstraction, problem recognition.</a:t>
            </a:r>
          </a:p>
          <a:p>
            <a:pPr/>
            <a:r>
              <a:rPr sz="1800" b="0">
                <a:solidFill>
                  <a:srgbClr val="B76E00"/>
                </a:solidFill>
                <a:latin typeface="Calibri"/>
              </a:rPr>
              <a:t>Stretch: Pairs write one new scenario per method that is not a paraphrase; the heuristics scenario must include the phrase good enough, not guaranteed optimal.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greetings-card pipeline (unplugged demo)  (15 min)</a:t>
            </a:r>
          </a:p>
          <a:p>
            <a:pPr lvl="1"/>
            <a:r>
              <a:rPr sz="2000" b="0">
                <a:solidFill>
                  <a:srgbClr val="222222"/>
                </a:solidFill>
                <a:latin typeface="Calibri"/>
              </a:rPr>
              <a:t>Set up a three-station production line: fold, stamp, envelope, with 12 sheets of A5.</a:t>
            </a:r>
          </a:p>
          <a:p>
            <a:pPr lvl="1"/>
            <a:r>
              <a:rPr sz="2000" b="0">
                <a:solidFill>
                  <a:srgbClr val="222222"/>
                </a:solidFill>
                <a:latin typeface="Calibri"/>
              </a:rPr>
              <a:t>Run A: one student makes 6 cards alone, all three stages per card; the class counts ticks aloud (18).</a:t>
            </a:r>
          </a:p>
          <a:p>
            <a:pPr lvl="1"/>
            <a:r>
              <a:rPr sz="2000" b="0">
                <a:solidFill>
                  <a:srgbClr val="222222"/>
                </a:solidFill>
                <a:latin typeface="Calibri"/>
              </a:rPr>
              <a:t>Run B: three students, one stage each, passing cards every tick; count again (8 ticks: first card at tick 3, then one per tick).</a:t>
            </a:r>
          </a:p>
          <a:p>
            <a:pPr lvl="1"/>
            <a:r>
              <a:rPr sz="2000" b="0">
                <a:solidFill>
                  <a:srgbClr val="222222"/>
                </a:solidFill>
                <a:latin typeface="Calibri"/>
              </a:rPr>
              <a:t>Board the comparison and the formula n + k - 1; compute the 2.25 times speed-up.</a:t>
            </a:r>
          </a:p>
          <a:p>
            <a:pPr lvl="1"/>
            <a:r>
              <a:rPr sz="2000" b="0">
                <a:solidFill>
                  <a:srgbClr val="222222"/>
                </a:solidFill>
                <a:latin typeface="Calibri"/>
              </a:rPr>
              <a:t>Ask the two key questions: did any single card get made faster? So what exactly improved? (Throughput, not latency.) Then map stations to fetch, decode, execute.</a:t>
            </a:r>
          </a:p>
          <a:p>
            <a:pPr/>
            <a:r>
              <a:rPr sz="1800" b="0">
                <a:solidFill>
                  <a:srgbClr val="B76E00"/>
                </a:solidFill>
                <a:latin typeface="Calibri"/>
              </a:rPr>
              <a:t>Stretch: What is the maximum speed-up of a k-stage pipeline as n grows? (Approaches k.) What if stamping takes 2 ticks? (The slowest stage sets the pace.)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Always, Sometimes, Never: computational methods  (10 min)</a:t>
            </a:r>
          </a:p>
          <a:p>
            <a:pPr lvl="1"/>
            <a:r>
              <a:rPr sz="2000" b="0">
                <a:solidFill>
                  <a:srgbClr val="222222"/>
                </a:solidFill>
                <a:latin typeface="Calibri"/>
              </a:rPr>
              <a:t>Three corner posters: Always, Sometimes, Never. Reveal statements one at a time; students commit to a corner and one per corner defends the choice.</a:t>
            </a:r>
          </a:p>
          <a:p>
            <a:pPr lvl="1"/>
            <a:r>
              <a:rPr sz="2000" b="0">
                <a:solidFill>
                  <a:srgbClr val="222222"/>
                </a:solidFill>
                <a:latin typeface="Calibri"/>
              </a:rPr>
              <a:t>Statements: a heuristic gives the optimal answer; abstraction removes every detail; divide and conquer splits a problem into smaller instances of the same problem; decomposition produces smaller versions of the original problem; pipelining makes an individual item finish faster; performance modelling requires building the real system first; backtracking is implemented using recursion.</a:t>
            </a:r>
          </a:p>
          <a:p>
            <a:pPr lvl="1"/>
            <a:r>
              <a:rPr sz="2000" b="0">
                <a:solidFill>
                  <a:srgbClr val="222222"/>
                </a:solidFill>
                <a:latin typeface="Calibri"/>
              </a:rPr>
              <a:t>Answers: Sometimes (may land on the optimum but never guaranteed); Never (only unnecessary detail); Always (its definition); Sometimes (only when the split is same-type); Never (throughput up, latency unchanged); Never (the point is predicting without building); Sometimes (naturally recursive but rewritable with an explicit stack).</a:t>
            </a:r>
          </a:p>
          <a:p>
            <a:pPr lvl="1"/>
            <a:r>
              <a:rPr sz="2000" b="0">
                <a:solidFill>
                  <a:srgbClr val="222222"/>
                </a:solidFill>
                <a:latin typeface="Calibri"/>
              </a:rPr>
              <a:t>Pairs then rewrite each Never statement so it becomes Always.</a:t>
            </a:r>
          </a:p>
          <a:p>
            <a:pPr/>
            <a:r>
              <a:rPr sz="1800" b="0">
                <a:solidFill>
                  <a:srgbClr val="B76E00"/>
                </a:solidFill>
                <a:latin typeface="Calibri"/>
              </a:rPr>
              <a:t>Stretch: Students author one new genuinely arguable statement about 2.2.2 and trial it on a partner; the best become next lesson's starter.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two features of a problem that make it solvable by computational methods. [2]</a:t>
            </a:r>
          </a:p>
          <a:p>
            <a:r>
              <a:rPr sz="2000" b="1">
                <a:solidFill>
                  <a:srgbClr val="222222"/>
                </a:solidFill>
                <a:latin typeface="Calibri"/>
              </a:rPr>
              <a:t>2. Explain the difference between decomposition and divide and conquer. [3]</a:t>
            </a:r>
          </a:p>
          <a:p>
            <a:r>
              <a:rPr sz="2000" b="1">
                <a:solidFill>
                  <a:srgbClr val="222222"/>
                </a:solidFill>
                <a:latin typeface="Calibri"/>
              </a:rPr>
              <a:t>3. A sorted list contains 1000 names. Explain why binary search can find any name in no more than 10 comparisons. [3]</a:t>
            </a:r>
          </a:p>
          <a:p>
            <a:r>
              <a:rPr sz="2000" b="1">
                <a:solidFill>
                  <a:srgbClr val="222222"/>
                </a:solidFill>
                <a:latin typeface="Calibri"/>
              </a:rPr>
              <a:t>4. Describe how backtracking could be used to solve a Sudoku puzzle.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two features of a problem that make it solvable by computational methods. [2]</a:t>
            </a:r>
          </a:p>
          <a:p>
            <a:pPr lvl="1"/>
            <a:r>
              <a:rPr sz="1800" i="1">
                <a:solidFill>
                  <a:srgbClr val="B76E00"/>
                </a:solidFill>
                <a:latin typeface="Calibri"/>
              </a:rPr>
              <a:t>Answer: Any two: it can be decomposed into sub-problems (1); it has clear inputs, processes and outputs (1); it is rule-based with a finite sequence of steps (1); its data can be structured or modelled (1).</a:t>
            </a:r>
          </a:p>
          <a:p>
            <a:r>
              <a:rPr sz="2000" b="1">
                <a:solidFill>
                  <a:srgbClr val="222222"/>
                </a:solidFill>
                <a:latin typeface="Calibri"/>
              </a:rPr>
              <a:t>2. Explain the difference between decomposition and divide and conquer. [3]</a:t>
            </a:r>
          </a:p>
          <a:p>
            <a:pPr lvl="1"/>
            <a:r>
              <a:rPr sz="1800" i="1">
                <a:solidFill>
                  <a:srgbClr val="B76E00"/>
                </a:solidFill>
                <a:latin typeface="Calibri"/>
              </a:rPr>
              <a:t>Answer: Decomposition breaks a problem into smaller sub-problems that are usually different sub-tasks (1); divide and conquer repeatedly splits a problem into smaller instances of the same problem (1), solves them and combines the results, as in binary search or merge sort (1).</a:t>
            </a:r>
          </a:p>
          <a:p>
            <a:r>
              <a:rPr sz="2000" b="1">
                <a:solidFill>
                  <a:srgbClr val="222222"/>
                </a:solidFill>
                <a:latin typeface="Calibri"/>
              </a:rPr>
              <a:t>3. A sorted list contains 1000 names. Explain why binary search can find any name in no more than 10 comparisons. [3]</a:t>
            </a:r>
          </a:p>
          <a:p>
            <a:pPr lvl="1"/>
            <a:r>
              <a:rPr sz="1800" i="1">
                <a:solidFill>
                  <a:srgbClr val="B76E00"/>
                </a:solidFill>
                <a:latin typeface="Calibri"/>
              </a:rPr>
              <a:t>Answer: Each comparison halves the portion of the list that could contain the name (1); after 10 halvings at most one item remains, since 2 to the power 10 = 1024, which exceeds 1000 (1); so at most about 10 comparisons are ever needed, compared with up to 1000 for linear search (1).</a:t>
            </a:r>
          </a:p>
          <a:p>
            <a:r>
              <a:rPr sz="2000" b="1">
                <a:solidFill>
                  <a:srgbClr val="222222"/>
                </a:solidFill>
                <a:latin typeface="Calibri"/>
              </a:rPr>
              <a:t>4. Describe how backtracking could be used to solve a Sudoku puzzle. [4]</a:t>
            </a:r>
          </a:p>
          <a:p>
            <a:pPr lvl="1"/>
            <a:r>
              <a:rPr sz="1800" i="1">
                <a:solidFill>
                  <a:srgbClr val="B76E00"/>
                </a:solidFill>
                <a:latin typeface="Calibri"/>
              </a:rPr>
              <a:t>Answer: Place a valid digit in the first empty cell (1); move to the next empty cell and repeat, checking each placement against row, column and box constraints (1); when no valid digit exists for a cell, return to the previous cell and try its next possible digit (1); continue until the grid is complete or all options are exhausted, guaranteeing a solution is found if one exists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why a heuristic approach is used for problems such as the Travelling Salesman Problem. [3]</a:t>
            </a:r>
          </a:p>
          <a:p>
            <a:r>
              <a:rPr sz="2000" b="1">
                <a:solidFill>
                  <a:srgbClr val="222222"/>
                </a:solidFill>
                <a:latin typeface="Calibri"/>
              </a:rPr>
              <a:t>2. Describe what is meant by performance modelling and give one situation where it is preferable to testing the real system. [3]</a:t>
            </a:r>
          </a:p>
          <a:p>
            <a:r>
              <a:rPr sz="2000" b="1">
                <a:solidFill>
                  <a:srgbClr val="222222"/>
                </a:solidFill>
                <a:latin typeface="Calibri"/>
              </a:rPr>
              <a:t>3. A processor pipelines the fetch, decode and execute stages. Explain how this increases performance and state one limitation. [4]</a:t>
            </a:r>
          </a:p>
          <a:p>
            <a:r>
              <a:rPr sz="2000" b="1">
                <a:solidFill>
                  <a:srgbClr val="222222"/>
                </a:solidFill>
                <a:latin typeface="Calibri"/>
              </a:rPr>
              <a:t>4. Explain one way a supermarket could use data mining and visualisation together.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why a heuristic approach is used for problems such as the Travelling Salesman Problem. [3]</a:t>
            </a:r>
          </a:p>
          <a:p>
            <a:pPr lvl="1"/>
            <a:r>
              <a:rPr sz="1800" i="1">
                <a:solidFill>
                  <a:srgbClr val="B76E00"/>
                </a:solidFill>
                <a:latin typeface="Calibri"/>
              </a:rPr>
              <a:t>Answer: The number of possible routes grows factorially, so an exact search is intractable for large inputs (1); a heuristic uses a rule of thumb to produce an answer quickly (1); the answer is good enough but not guaranteed optimal, which is an acceptable trade for feasible running time (1).</a:t>
            </a:r>
          </a:p>
          <a:p>
            <a:r>
              <a:rPr sz="2000" b="1">
                <a:solidFill>
                  <a:srgbClr val="222222"/>
                </a:solidFill>
                <a:latin typeface="Calibri"/>
              </a:rPr>
              <a:t>2. Describe what is meant by performance modelling and give one situation where it is preferable to testing the real system. [3]</a:t>
            </a:r>
          </a:p>
          <a:p>
            <a:pPr lvl="1"/>
            <a:r>
              <a:rPr sz="1800" i="1">
                <a:solidFill>
                  <a:srgbClr val="B76E00"/>
                </a:solidFill>
                <a:latin typeface="Calibri"/>
              </a:rPr>
              <a:t>Answer: Using a mathematical or simulated model to predict how a system will behave (1) before or instead of building it (1). Example: simulating peak-day load on a web server, or testing aircraft control systems, where real failure would be costly or dangerous (1).</a:t>
            </a:r>
          </a:p>
          <a:p>
            <a:r>
              <a:rPr sz="2000" b="1">
                <a:solidFill>
                  <a:srgbClr val="222222"/>
                </a:solidFill>
                <a:latin typeface="Calibri"/>
              </a:rPr>
              <a:t>3. A processor pipelines the fetch, decode and execute stages. Explain how this increases performance and state one limitation. [4]</a:t>
            </a:r>
          </a:p>
          <a:p>
            <a:pPr lvl="1"/>
            <a:r>
              <a:rPr sz="1800" i="1">
                <a:solidFill>
                  <a:srgbClr val="B76E00"/>
                </a:solidFill>
                <a:latin typeface="Calibri"/>
              </a:rPr>
              <a:t>Answer: The three stages work on different instructions simultaneously (1), so an instruction can complete every cycle rather than every three, increasing throughput (1). Limitation: each individual instruction takes just as long (latency unchanged) (1); and a branch or dependency can stall or flush the pipeline, losing the benefit (1).</a:t>
            </a:r>
          </a:p>
          <a:p>
            <a:r>
              <a:rPr sz="2000" b="1">
                <a:solidFill>
                  <a:srgbClr val="222222"/>
                </a:solidFill>
                <a:latin typeface="Calibri"/>
              </a:rPr>
              <a:t>4. Explain one way a supermarket could use data mining and visualisation together. [3]</a:t>
            </a:r>
          </a:p>
          <a:p>
            <a:pPr lvl="1"/>
            <a:r>
              <a:rPr sz="1800" i="1">
                <a:solidFill>
                  <a:srgbClr val="B76E00"/>
                </a:solidFill>
                <a:latin typeface="Calibri"/>
              </a:rPr>
              <a:t>Answer: Mine millions of loyalty-card transactions to find hidden purchasing correlations, such as products often bought together (1); present the results visually, for example a heat map or chart of associations (1), so managers quickly spot the pattern and act on it, such as re-siting products or targeting offers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use decomposition and divide and conquer interchangeably; decomposition yields different sub-tasks while divide and conquer yields smaller instances of the same problem, solved and combined.</a:t>
            </a:r>
          </a:p>
          <a:p>
            <a:pPr/>
            <a:r>
              <a:rPr sz="2000" b="0">
                <a:solidFill>
                  <a:srgbClr val="222222"/>
                </a:solidFill>
                <a:latin typeface="Calibri"/>
              </a:rPr>
              <a:t>✗ Students often claim a heuristic finds the best answer; it finds a good-enough answer quickly and is never guaranteed optimal.</a:t>
            </a:r>
          </a:p>
          <a:p>
            <a:pPr/>
            <a:r>
              <a:rPr sz="2000" b="0">
                <a:solidFill>
                  <a:srgbClr val="222222"/>
                </a:solidFill>
                <a:latin typeface="Calibri"/>
              </a:rPr>
              <a:t>✗ Students often think pipelining makes each instruction faster; per-item latency is unchanged and only throughput improves.</a:t>
            </a:r>
          </a:p>
          <a:p>
            <a:pPr/>
            <a:r>
              <a:rPr sz="2000" b="0">
                <a:solidFill>
                  <a:srgbClr val="222222"/>
                </a:solidFill>
                <a:latin typeface="Calibri"/>
              </a:rPr>
              <a:t>✗ Students often think abstraction means removing detail until the problem is simple; it removes only unnecessary detail, keeping everything the problem needs.</a:t>
            </a:r>
          </a:p>
          <a:p>
            <a:pPr/>
            <a:r>
              <a:rPr sz="2000" b="0">
                <a:solidFill>
                  <a:srgbClr val="222222"/>
                </a:solidFill>
                <a:latin typeface="Calibri"/>
              </a:rPr>
              <a:t>✗ Students often conflate intractable with non-computable; intractable problems have algorithms that are too slow, non-computable problems have no algorithm at 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state and define for method definitions (1-2 marks); describe and explain for applying a method to a scenario (2-4 marks); occasional discuss questions weigh methods against each other.</a:t>
            </a:r>
          </a:p>
          <a:p>
            <a:pPr/>
            <a:r>
              <a:rPr sz="2000" b="0">
                <a:solidFill>
                  <a:srgbClr val="222222"/>
                </a:solidFill>
                <a:latin typeface="Calibri"/>
              </a:rPr>
              <a:t>The reliable mark pattern is name the method, apply it to the scenario, justify why it fits; a bare definition rarely scores full marks.</a:t>
            </a:r>
          </a:p>
          <a:p>
            <a:pPr/>
            <a:r>
              <a:rPr sz="2000" b="0">
                <a:solidFill>
                  <a:srgbClr val="222222"/>
                </a:solidFill>
                <a:latin typeface="Calibri"/>
              </a:rPr>
              <a:t>Heuristics questions almost always want the phrase good enough, not guaranteed optimal, linked to intractability; divide and conquer questions want split, solve, combine and the recursion link.</a:t>
            </a:r>
          </a:p>
          <a:p>
            <a:pPr/>
            <a:r>
              <a:rPr sz="2000" b="0">
                <a:solidFill>
                  <a:srgbClr val="222222"/>
                </a:solidFill>
                <a:latin typeface="Calibri"/>
              </a:rPr>
              <a:t>Example stem: 'A logistics company must plan daily routes for 200 delivery vans. Explain why the company uses a heuristic algorithm rather than one that finds the optimal routes.'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Methods consultancy report: for each of six briefs, name the single best computational method and justify the choice in two sentences, including why rival methods fit less well. Briefs: an exam timetabler that must retreat when two clashes block a slot (backtracking); a bank scanning millions of transactions for unusual patterns (data mining); a chess engine that cannot examine every future position (heuristics); a stadium designer predicting crowd flow before construction (performance modelling); a video encoder processing frames through decode, transform and compress stages simultaneously (pipelining); an epidemiologist plotting cases on a map to find the source (visualisation).</a:t>
            </a:r>
          </a:p>
          <a:p>
            <a:r>
              <a:rPr sz="2400" b="1">
                <a:solidFill>
                  <a:srgbClr val="B76E00"/>
                </a:solidFill>
                <a:latin typeface="Calibri"/>
              </a:rPr>
              <a:t>Challenge / stretch</a:t>
            </a:r>
          </a:p>
          <a:p>
            <a:pPr lvl="1"/>
            <a:r>
              <a:rPr sz="2200" b="0">
                <a:solidFill>
                  <a:srgbClr val="222222"/>
                </a:solidFill>
                <a:latin typeface="Calibri"/>
              </a:rPr>
              <a:t>Modify the worked-example maze by also blocking cell (3,D). Trace the West-South-East-North algorithm again and show how it proves no path exists (every branch is exhausted and the search retreats all the way to the start with no untried options). Then explain in three sentences why this exhaustive guarantee is exactly what a heuristic sacrifices, and name one problem where each behaviour is the right choice.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is the difference between a non-computable problem and an intractable one?</a:t>
            </a:r>
          </a:p>
          <a:p>
            <a:r>
              <a:rPr sz="2200" b="1">
                <a:solidFill>
                  <a:srgbClr val="222222"/>
                </a:solidFill>
                <a:latin typeface="Calibri"/>
              </a:rPr>
              <a:t>2. A satnav gives you a route in one second that is 2 percent longer than the true optimum. Name the method and state the trade it makes.</a:t>
            </a:r>
          </a:p>
          <a:p>
            <a:r>
              <a:rPr sz="2200" b="1">
                <a:solidFill>
                  <a:srgbClr val="222222"/>
                </a:solidFill>
                <a:latin typeface="Calibri"/>
              </a:rPr>
              <a:t>3. In one sentence each: what does pipelining improve, and what does it not improve?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is the difference between a non-computable problem and an intractable one?</a:t>
            </a:r>
          </a:p>
          <a:p>
            <a:pPr lvl="1"/>
            <a:r>
              <a:rPr sz="1800" i="1">
                <a:solidFill>
                  <a:srgbClr val="B76E00"/>
                </a:solidFill>
                <a:latin typeface="Calibri"/>
              </a:rPr>
              <a:t>Answer: Non-computable: no algorithm can solve it (e.g. the Halting Problem); intractable: an algorithm exists but takes impractically long, such as exponential time, as input grows.</a:t>
            </a:r>
          </a:p>
          <a:p>
            <a:r>
              <a:rPr sz="2200" b="1">
                <a:solidFill>
                  <a:srgbClr val="222222"/>
                </a:solidFill>
                <a:latin typeface="Calibri"/>
              </a:rPr>
              <a:t>2. A satnav gives you a route in one second that is 2 percent longer than the true optimum. Name the method and state the trade it makes.</a:t>
            </a:r>
          </a:p>
          <a:p>
            <a:pPr lvl="1"/>
            <a:r>
              <a:rPr sz="1800" i="1">
                <a:solidFill>
                  <a:srgbClr val="B76E00"/>
                </a:solidFill>
                <a:latin typeface="Calibri"/>
              </a:rPr>
              <a:t>Answer: A heuristic; it trades guaranteed optimality for speed, giving a good-enough answer quickly.</a:t>
            </a:r>
          </a:p>
          <a:p>
            <a:r>
              <a:rPr sz="2200" b="1">
                <a:solidFill>
                  <a:srgbClr val="222222"/>
                </a:solidFill>
                <a:latin typeface="Calibri"/>
              </a:rPr>
              <a:t>3. In one sentence each: what does pipelining improve, and what does it not improve?</a:t>
            </a:r>
          </a:p>
          <a:p>
            <a:pPr lvl="1"/>
            <a:r>
              <a:rPr sz="1800" i="1">
                <a:solidFill>
                  <a:srgbClr val="B76E00"/>
                </a:solidFill>
                <a:latin typeface="Calibri"/>
              </a:rPr>
              <a:t>Answer: It improves throughput because stages overlap on different items; it does not improve latency, since each individual item still takes the same total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