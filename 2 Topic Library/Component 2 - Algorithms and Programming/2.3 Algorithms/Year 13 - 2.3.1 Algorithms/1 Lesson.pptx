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365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194560"/>
            <a:ext cx="106984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 i="0">
                <a:solidFill>
                  <a:srgbClr val="FFFFFF"/>
                </a:solidFill>
                <a:latin typeface="Calibri"/>
              </a:rPr>
              <a:t>2.3.1 Algorithms</a:t>
            </a:r>
          </a:p>
          <a:p>
            <a:r>
              <a:rPr sz="2000" b="0" i="0">
                <a:solidFill>
                  <a:srgbClr val="BED3EC"/>
                </a:solidFill>
                <a:latin typeface="Calibri"/>
              </a:rPr>
              <a:t>OCR H446 — Component 02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035040"/>
            <a:ext cx="10698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1">
                <a:solidFill>
                  <a:srgbClr val="9AB4D6"/>
                </a:solidFill>
                <a:latin typeface="Calibri"/>
              </a:rPr>
              <a:t>Lesson deck — editable skeleton: adapt freely.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2B6CB0"/>
                </a:solidFill>
                <a:latin typeface="Calibri"/>
              </a:rPr>
              <a:t>Learning objectives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8813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2200" b="1">
                <a:solidFill>
                  <a:srgbClr val="2B6CB0"/>
                </a:solidFill>
                <a:latin typeface="Calibri"/>
              </a:rPr>
              <a:t>By the end of this lesson you can:</a:t>
            </a:r>
          </a:p>
          <a:p>
            <a:pPr lvl="1"/>
            <a:r>
              <a:rPr sz="2200" b="0">
                <a:solidFill>
                  <a:srgbClr val="222222"/>
                </a:solidFill>
                <a:latin typeface="Calibri"/>
              </a:rPr>
              <a:t>Use Big O notation to express and justify the time and space complexity of an algorithm, simplifying expressions to the dominant term.</a:t>
            </a:r>
          </a:p>
          <a:p>
            <a:pPr lvl="1"/>
            <a:r>
              <a:rPr sz="2200" b="0">
                <a:solidFill>
                  <a:srgbClr val="222222"/>
                </a:solidFill>
                <a:latin typeface="Calibri"/>
              </a:rPr>
              <a:t>Compare standard searching and sorting algorithms by how they work and their best, average and worst-case complexities.</a:t>
            </a:r>
          </a:p>
          <a:p>
            <a:pPr lvl="1"/>
            <a:r>
              <a:rPr sz="2200" b="0">
                <a:solidFill>
                  <a:srgbClr val="222222"/>
                </a:solidFill>
                <a:latin typeface="Calibri"/>
              </a:rPr>
              <a:t>Describe and trace algorithms on data structures, including tree traversals and the shortest-path algorithms Dijkstra and A*.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2B6CB0"/>
                </a:solidFill>
                <a:latin typeface="Calibri"/>
              </a:rPr>
              <a:t>Do Now — retrieval starter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8813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222222"/>
                </a:solidFill>
                <a:latin typeface="Calibri"/>
              </a:rPr>
              <a:t>1. Which traversal of a binary search tree outputs values in ascending order?</a:t>
            </a:r>
          </a:p>
          <a:p>
            <a:r>
              <a:rPr sz="2200" b="1">
                <a:solidFill>
                  <a:srgbClr val="222222"/>
                </a:solidFill>
                <a:latin typeface="Calibri"/>
              </a:rPr>
              <a:t>2. Which data structure does a breadth-first traversal use, and which does depth-first use?</a:t>
            </a:r>
          </a:p>
          <a:p>
            <a:r>
              <a:rPr sz="2200" b="1">
                <a:solidFill>
                  <a:srgbClr val="222222"/>
                </a:solidFill>
                <a:latin typeface="Calibri"/>
              </a:rPr>
              <a:t>3. What is the time complexity of pushing or popping on a stack, and why?</a:t>
            </a:r>
          </a:p>
          <a:p>
            <a:r>
              <a:rPr sz="2200" b="1">
                <a:solidFill>
                  <a:srgbClr val="222222"/>
                </a:solidFill>
                <a:latin typeface="Calibri"/>
              </a:rPr>
              <a:t>4. State one precondition that must hold before a binary search can be used.</a:t>
            </a:r>
          </a:p>
          <a:p>
            <a:r>
              <a:rPr sz="2200" b="1">
                <a:solidFill>
                  <a:srgbClr val="222222"/>
                </a:solidFill>
                <a:latin typeface="Calibri"/>
              </a:rPr>
              <a:t>5. Simplify 3n² + 5n + 17 to Big O notation.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2B6CB0"/>
                </a:solidFill>
                <a:latin typeface="Calibri"/>
              </a:rPr>
              <a:t>Do Now — answers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8813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222222"/>
                </a:solidFill>
                <a:latin typeface="Calibri"/>
              </a:rPr>
              <a:t>1. Which traversal of a binary search tree outputs values in ascending order?</a:t>
            </a:r>
          </a:p>
          <a:p>
            <a:pPr lvl="1"/>
            <a:r>
              <a:rPr sz="1800" i="1">
                <a:solidFill>
                  <a:srgbClr val="B76E00"/>
                </a:solidFill>
                <a:latin typeface="Calibri"/>
              </a:rPr>
              <a:t>Answer: In-order (Left → Node → Right).</a:t>
            </a:r>
          </a:p>
          <a:p>
            <a:r>
              <a:rPr sz="2200" b="1">
                <a:solidFill>
                  <a:srgbClr val="222222"/>
                </a:solidFill>
                <a:latin typeface="Calibri"/>
              </a:rPr>
              <a:t>2. Which data structure does a breadth-first traversal use, and which does depth-first use?</a:t>
            </a:r>
          </a:p>
          <a:p>
            <a:pPr lvl="1"/>
            <a:r>
              <a:rPr sz="1800" i="1">
                <a:solidFill>
                  <a:srgbClr val="B76E00"/>
                </a:solidFill>
                <a:latin typeface="Calibri"/>
              </a:rPr>
              <a:t>Answer: BFS uses a queue (FIFO); DFS uses a stack (or recursion).</a:t>
            </a:r>
          </a:p>
          <a:p>
            <a:r>
              <a:rPr sz="2200" b="1">
                <a:solidFill>
                  <a:srgbClr val="222222"/>
                </a:solidFill>
                <a:latin typeface="Calibri"/>
              </a:rPr>
              <a:t>3. What is the time complexity of pushing or popping on a stack, and why?</a:t>
            </a:r>
          </a:p>
          <a:p>
            <a:pPr lvl="1"/>
            <a:r>
              <a:rPr sz="1800" i="1">
                <a:solidFill>
                  <a:srgbClr val="B76E00"/>
                </a:solidFill>
                <a:latin typeface="Calibri"/>
              </a:rPr>
              <a:t>Answer: O(1) — it only acts on the top element, with no traversal.</a:t>
            </a:r>
          </a:p>
          <a:p>
            <a:r>
              <a:rPr sz="2200" b="1">
                <a:solidFill>
                  <a:srgbClr val="222222"/>
                </a:solidFill>
                <a:latin typeface="Calibri"/>
              </a:rPr>
              <a:t>4. State one precondition that must hold before a binary search can be used.</a:t>
            </a:r>
          </a:p>
          <a:p>
            <a:pPr lvl="1"/>
            <a:r>
              <a:rPr sz="1800" i="1">
                <a:solidFill>
                  <a:srgbClr val="B76E00"/>
                </a:solidFill>
                <a:latin typeface="Calibri"/>
              </a:rPr>
              <a:t>Answer: The list must be sorted.</a:t>
            </a:r>
          </a:p>
          <a:p>
            <a:r>
              <a:rPr sz="2200" b="1">
                <a:solidFill>
                  <a:srgbClr val="222222"/>
                </a:solidFill>
                <a:latin typeface="Calibri"/>
              </a:rPr>
              <a:t>5. Simplify 3n² + 5n + 17 to Big O notation.</a:t>
            </a:r>
          </a:p>
          <a:p>
            <a:pPr lvl="1"/>
            <a:r>
              <a:rPr sz="1800" i="1">
                <a:solidFill>
                  <a:srgbClr val="B76E00"/>
                </a:solidFill>
                <a:latin typeface="Calibri"/>
              </a:rPr>
              <a:t>Answer: O(n²) — drop constants and lower-order terms, keeping the dominant term.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2B6CB0"/>
                </a:solidFill>
                <a:latin typeface="Calibri"/>
              </a:rPr>
              <a:t>Key terminology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8813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r>
              <a:rPr b="1" sz="2000">
                <a:solidFill>
                  <a:srgbClr val="1A365D"/>
                </a:solidFill>
                <a:latin typeface="Calibri"/>
              </a:rPr>
              <a:t>Algorithm</a:t>
            </a:r>
            <a:r>
              <a:rPr sz="1800">
                <a:solidFill>
                  <a:srgbClr val="222222"/>
                </a:solidFill>
                <a:latin typeface="Calibri"/>
              </a:rPr>
              <a:t> — A precise, finite sequence of steps to solve a problem.</a:t>
            </a:r>
          </a:p>
          <a:p>
            <a:r>
              <a:rPr b="1" sz="2000">
                <a:solidFill>
                  <a:srgbClr val="1A365D"/>
                </a:solidFill>
                <a:latin typeface="Calibri"/>
              </a:rPr>
              <a:t>Big O notation</a:t>
            </a:r>
            <a:r>
              <a:rPr sz="1800">
                <a:solidFill>
                  <a:srgbClr val="222222"/>
                </a:solidFill>
                <a:latin typeface="Calibri"/>
              </a:rPr>
              <a:t> — How an algorithm's time or space requirement grows with input size n (worst case).</a:t>
            </a:r>
          </a:p>
          <a:p>
            <a:r>
              <a:rPr b="1" sz="2000">
                <a:solidFill>
                  <a:srgbClr val="1A365D"/>
                </a:solidFill>
                <a:latin typeface="Calibri"/>
              </a:rPr>
              <a:t>Time complexity</a:t>
            </a:r>
            <a:r>
              <a:rPr sz="1800">
                <a:solidFill>
                  <a:srgbClr val="222222"/>
                </a:solidFill>
                <a:latin typeface="Calibri"/>
              </a:rPr>
              <a:t> — The number of operations performed as a function of input size n.</a:t>
            </a:r>
          </a:p>
          <a:p>
            <a:r>
              <a:rPr b="1" sz="2000">
                <a:solidFill>
                  <a:srgbClr val="1A365D"/>
                </a:solidFill>
                <a:latin typeface="Calibri"/>
              </a:rPr>
              <a:t>Space complexity</a:t>
            </a:r>
            <a:r>
              <a:rPr sz="1800">
                <a:solidFill>
                  <a:srgbClr val="222222"/>
                </a:solidFill>
                <a:latin typeface="Calibri"/>
              </a:rPr>
              <a:t> — The amount of memory required as a function of input size n.</a:t>
            </a:r>
          </a:p>
          <a:p>
            <a:r>
              <a:rPr b="1" sz="2000">
                <a:solidFill>
                  <a:srgbClr val="1A365D"/>
                </a:solidFill>
                <a:latin typeface="Calibri"/>
              </a:rPr>
              <a:t>Tractable / Intractable</a:t>
            </a:r>
            <a:r>
              <a:rPr sz="1800">
                <a:solidFill>
                  <a:srgbClr val="222222"/>
                </a:solidFill>
                <a:latin typeface="Calibri"/>
              </a:rPr>
              <a:t> — Solvable in polynomial time or better / only solvable in exponential time or worse.</a:t>
            </a:r>
          </a:p>
          <a:p>
            <a:r>
              <a:rPr b="1" sz="2000">
                <a:solidFill>
                  <a:srgbClr val="1A365D"/>
                </a:solidFill>
                <a:latin typeface="Calibri"/>
              </a:rPr>
              <a:t>Divide and conquer</a:t>
            </a:r>
            <a:r>
              <a:rPr sz="1800">
                <a:solidFill>
                  <a:srgbClr val="222222"/>
                </a:solidFill>
                <a:latin typeface="Calibri"/>
              </a:rPr>
              <a:t> — Break a problem into subproblems, solve them, then combine (e.g. merge sort, quick sort, binary search).</a:t>
            </a:r>
          </a:p>
          <a:p>
            <a:r>
              <a:rPr b="1" sz="2000">
                <a:solidFill>
                  <a:srgbClr val="1A365D"/>
                </a:solidFill>
                <a:latin typeface="Calibri"/>
              </a:rPr>
              <a:t>Heuristic</a:t>
            </a:r>
            <a:r>
              <a:rPr sz="1800">
                <a:solidFill>
                  <a:srgbClr val="222222"/>
                </a:solidFill>
                <a:latin typeface="Calibri"/>
              </a:rPr>
              <a:t> — A rule-of-thumb estimate; in A* the estimate h(n) of the remaining cost from a node to the goal.</a:t>
            </a:r>
          </a:p>
          <a:p>
            <a:r>
              <a:rPr b="1" sz="2000">
                <a:solidFill>
                  <a:srgbClr val="1A365D"/>
                </a:solidFill>
                <a:latin typeface="Calibri"/>
              </a:rPr>
              <a:t>Admissible heuristic</a:t>
            </a:r>
            <a:r>
              <a:rPr sz="1800">
                <a:solidFill>
                  <a:srgbClr val="222222"/>
                </a:solidFill>
                <a:latin typeface="Calibri"/>
              </a:rPr>
              <a:t> — A heuristic that never overestimates the true remaining cost, guaranteeing A* finds the optimal path.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2B6CB0"/>
                </a:solidFill>
                <a:latin typeface="Calibri"/>
              </a:rPr>
              <a:t>Big O and complexity classes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8813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2200" b="0">
                <a:solidFill>
                  <a:srgbClr val="222222"/>
                </a:solidFill>
                <a:latin typeface="Calibri"/>
              </a:rPr>
              <a:t>Big O describes the worst-case growth of time (operations) or space (memory) against input size n.</a:t>
            </a:r>
          </a:p>
          <a:p>
            <a:pPr/>
            <a:r>
              <a:rPr sz="2200" b="0">
                <a:solidFill>
                  <a:srgbClr val="222222"/>
                </a:solidFill>
                <a:latin typeface="Calibri"/>
              </a:rPr>
              <a:t>Simplify by dropping constants and lower-order terms: 3n² + 5n + 17 → O(n²), the dominant term wins.</a:t>
            </a:r>
          </a:p>
          <a:p>
            <a:pPr/>
            <a:r>
              <a:rPr sz="2200" b="0">
                <a:solidFill>
                  <a:srgbClr val="222222"/>
                </a:solidFill>
                <a:latin typeface="Calibri"/>
              </a:rPr>
              <a:t>Order of growth: O(1) constant, O(log n) logarithmic, O(n) linear, O(n log n) linearithmic, O(n²) quadratic, O(2ⁿ) exponential.</a:t>
            </a:r>
          </a:p>
          <a:p>
            <a:pPr/>
            <a:r>
              <a:rPr sz="2200" b="0">
                <a:solidFill>
                  <a:srgbClr val="222222"/>
                </a:solidFill>
                <a:latin typeface="Calibri"/>
              </a:rPr>
              <a:t>Tractable = solvable in polynomial time or better; intractable = only exponential O(2ⁿ) or worse.</a:t>
            </a:r>
          </a:p>
          <a:p>
            <a:pPr/>
            <a:r>
              <a:rPr sz="2200" b="0">
                <a:solidFill>
                  <a:srgbClr val="222222"/>
                </a:solidFill>
                <a:latin typeface="Calibri"/>
              </a:rPr>
              <a:t>Always justify a Big O, e.g. 'O(n²) because of the nested loop — each of n passes makes up to n comparisons.'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2B6CB0"/>
                </a:solidFill>
                <a:latin typeface="Calibri"/>
              </a:rPr>
              <a:t>Searching algorithms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8813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2200" b="0">
                <a:solidFill>
                  <a:srgbClr val="222222"/>
                </a:solidFill>
                <a:latin typeface="Calibri"/>
              </a:rPr>
              <a:t>Linear search: check each element in turn from the start; works on unsorted data; O(n) average and worst, O(1) best.</a:t>
            </a:r>
          </a:p>
          <a:p>
            <a:pPr/>
            <a:r>
              <a:rPr sz="2200" b="0">
                <a:solidFill>
                  <a:srgbClr val="222222"/>
                </a:solidFill>
                <a:latin typeface="Calibri"/>
              </a:rPr>
              <a:t>Binary search: check the middle of a SORTED list, discard the half that cannot contain the target, repeat; O(log n) worst case.</a:t>
            </a:r>
          </a:p>
          <a:p>
            <a:pPr/>
            <a:r>
              <a:rPr sz="2200" b="0">
                <a:solidFill>
                  <a:srgbClr val="222222"/>
                </a:solidFill>
                <a:latin typeface="Calibri"/>
              </a:rPr>
              <a:t>Binary search precondition: the list MUST be sorted so a half can be safely discarded each pass — always state this.</a:t>
            </a:r>
          </a:p>
          <a:p>
            <a:pPr/>
            <a:r>
              <a:rPr sz="2200" b="0">
                <a:solidFill>
                  <a:srgbClr val="222222"/>
                </a:solidFill>
                <a:latin typeface="Calibri"/>
              </a:rPr>
              <a:t>Binary search is O(log n) because halving the search space means doubling n only adds one extra step.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2B6CB0"/>
                </a:solidFill>
                <a:latin typeface="Calibri"/>
              </a:rPr>
              <a:t>Sorting algorithms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8813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2200" b="0">
                <a:solidFill>
                  <a:srgbClr val="222222"/>
                </a:solidFill>
                <a:latin typeface="Calibri"/>
              </a:rPr>
              <a:t>Bubble sort: repeatedly compare adjacent pairs and swap if out of order; O(n²) average/worst, O(n) best only with a swap flag; stable, O(1) space.</a:t>
            </a:r>
          </a:p>
          <a:p>
            <a:pPr/>
            <a:r>
              <a:rPr sz="2200" b="0">
                <a:solidFill>
                  <a:srgbClr val="222222"/>
                </a:solidFill>
                <a:latin typeface="Calibri"/>
              </a:rPr>
              <a:t>Insertion sort: build a sorted front section, inserting each element by shifting larger ones right; O(n²) average/worst, O(n) best; stable, O(1) space.</a:t>
            </a:r>
          </a:p>
          <a:p>
            <a:pPr/>
            <a:r>
              <a:rPr sz="2200" b="0">
                <a:solidFill>
                  <a:srgbClr val="222222"/>
                </a:solidFill>
                <a:latin typeface="Calibri"/>
              </a:rPr>
              <a:t>Merge sort: divide and conquer, split until single items then merge; guaranteed O(n log n) in all cases but needs O(n) extra space.</a:t>
            </a:r>
          </a:p>
          <a:p>
            <a:pPr/>
            <a:r>
              <a:rPr sz="2200" b="0">
                <a:solidFill>
                  <a:srgbClr val="222222"/>
                </a:solidFill>
                <a:latin typeface="Calibri"/>
              </a:rPr>
              <a:t>Quick sort: pick a pivot, partition smaller-left / larger-right, recurse; O(n log n) average but O(n²) worst case (poor pivot); not stable.</a:t>
            </a:r>
          </a:p>
          <a:p>
            <a:pPr/>
            <a:r>
              <a:rPr sz="2200" b="0">
                <a:solidFill>
                  <a:srgbClr val="222222"/>
                </a:solidFill>
                <a:latin typeface="Calibri"/>
              </a:rPr>
              <a:t>Classic trade-off: merge sort guarantees O(n log n) time but uses O(n) space; quick sort uses O(log n) space but risks O(n²) time.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2B6CB0"/>
                </a:solidFill>
                <a:latin typeface="Calibri"/>
              </a:rPr>
              <a:t>Data-structure operation complexities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8813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2200" b="0">
                <a:solidFill>
                  <a:srgbClr val="222222"/>
                </a:solidFill>
                <a:latin typeface="Calibri"/>
              </a:rPr>
              <a:t>Stack (LIFO) and queue (FIFO): push, pop, enQueue, deQueue are all O(1) — they act only on the top/ends.</a:t>
            </a:r>
          </a:p>
          <a:p>
            <a:pPr/>
            <a:r>
              <a:rPr sz="2200" b="0">
                <a:solidFill>
                  <a:srgbClr val="222222"/>
                </a:solidFill>
                <a:latin typeface="Calibri"/>
              </a:rPr>
              <a:t>Array: access by index is O(1), but inserting or deleting shifts elements → O(n).</a:t>
            </a:r>
          </a:p>
          <a:p>
            <a:pPr/>
            <a:r>
              <a:rPr sz="2200" b="0">
                <a:solidFill>
                  <a:srgbClr val="222222"/>
                </a:solidFill>
                <a:latin typeface="Calibri"/>
              </a:rPr>
              <a:t>Linked list: traversal and search are O(n); inserting or deleting given the node is O(1) by re-pointing.</a:t>
            </a:r>
          </a:p>
          <a:p>
            <a:pPr/>
            <a:r>
              <a:rPr sz="2200" b="0">
                <a:solidFill>
                  <a:srgbClr val="222222"/>
                </a:solidFill>
                <a:latin typeface="Calibri"/>
              </a:rPr>
              <a:t>Binary search tree: search/insert is O(log n) average if balanced, O(n) worst if degenerate; full traversal is O(n).</a:t>
            </a:r>
          </a:p>
          <a:p>
            <a:pPr/>
            <a:r>
              <a:rPr sz="2200" b="0">
                <a:solidFill>
                  <a:srgbClr val="222222"/>
                </a:solidFill>
                <a:latin typeface="Calibri"/>
              </a:rPr>
              <a:t>A circular queue uses MOD to wrap its pointers and reuse freed space.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2B6CB0"/>
                </a:solidFill>
                <a:latin typeface="Calibri"/>
              </a:rPr>
              <a:t>Tree traversals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8813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2200" b="0">
                <a:solidFill>
                  <a:srgbClr val="222222"/>
                </a:solidFill>
                <a:latin typeface="Calibri"/>
              </a:rPr>
              <a:t>Pre-order (Node → Left → Right): used to copy a tree or output prefix expressions.</a:t>
            </a:r>
          </a:p>
          <a:p>
            <a:pPr/>
            <a:r>
              <a:rPr sz="2200" b="0">
                <a:solidFill>
                  <a:srgbClr val="222222"/>
                </a:solidFill>
                <a:latin typeface="Calibri"/>
              </a:rPr>
              <a:t>In-order (Left → Node → Right): outputs a BST's values in ascending sorted order.</a:t>
            </a:r>
          </a:p>
          <a:p>
            <a:pPr/>
            <a:r>
              <a:rPr sz="2200" b="0">
                <a:solidFill>
                  <a:srgbClr val="222222"/>
                </a:solidFill>
                <a:latin typeface="Calibri"/>
              </a:rPr>
              <a:t>Post-order (Left → Right → Node): used to delete a tree or evaluate RPN (postfix); it is the depth-first traversal the spec names.</a:t>
            </a:r>
          </a:p>
          <a:p>
            <a:pPr/>
            <a:r>
              <a:rPr sz="2200" b="0">
                <a:solidFill>
                  <a:srgbClr val="222222"/>
                </a:solidFill>
                <a:latin typeface="Calibri"/>
              </a:rPr>
              <a:t>Breadth-first (BFS): visit level by level, left to right, using a queue; finds shortest paths in unweighted graphs.</a:t>
            </a:r>
          </a:p>
          <a:p>
            <a:pPr/>
            <a:r>
              <a:rPr sz="2200" b="0">
                <a:solidFill>
                  <a:srgbClr val="222222"/>
                </a:solidFill>
                <a:latin typeface="Calibri"/>
              </a:rPr>
              <a:t>Mnemonic for the Node position: Pre = first, In = middle, Post = last.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2B6CB0"/>
                </a:solidFill>
                <a:latin typeface="Calibri"/>
              </a:rPr>
              <a:t>Shortest path: Dijkstra and A*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8813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2200" b="0">
                <a:solidFill>
                  <a:srgbClr val="222222"/>
                </a:solidFill>
                <a:latin typeface="Calibri"/>
              </a:rPr>
              <a:t>Dijkstra uses cost g(n) only, is uninformed, and searches outward in all directions to find shortest paths to ALL nodes.</a:t>
            </a:r>
          </a:p>
          <a:p>
            <a:pPr/>
            <a:r>
              <a:rPr sz="2200" b="0">
                <a:solidFill>
                  <a:srgbClr val="222222"/>
                </a:solidFill>
                <a:latin typeface="Calibri"/>
              </a:rPr>
              <a:t>Dijkstra: always settle the unvisited node with the smallest tentative distance, relax its neighbours, then never update a settled node.</a:t>
            </a:r>
          </a:p>
          <a:p>
            <a:pPr/>
            <a:r>
              <a:rPr sz="2200" b="0">
                <a:solidFill>
                  <a:srgbClr val="222222"/>
                </a:solidFill>
                <a:latin typeface="Calibri"/>
              </a:rPr>
              <a:t>A* uses f(n) = g(n) + h(n), where h(n) is a heuristic estimate of remaining cost to the goal — this is the key difference.</a:t>
            </a:r>
          </a:p>
          <a:p>
            <a:pPr/>
            <a:r>
              <a:rPr sz="2200" b="0">
                <a:solidFill>
                  <a:srgbClr val="222222"/>
                </a:solidFill>
                <a:latin typeface="Calibri"/>
              </a:rPr>
              <a:t>A* directs the search toward one goal, usually exploring fewer nodes and so running faster than Dijkstra.</a:t>
            </a:r>
          </a:p>
          <a:p>
            <a:pPr/>
            <a:r>
              <a:rPr sz="2200" b="0">
                <a:solidFill>
                  <a:srgbClr val="222222"/>
                </a:solidFill>
                <a:latin typeface="Calibri"/>
              </a:rPr>
              <a:t>A* is optimal only if its heuristic is admissible (never overestimates); if h(n) = 0, A* reduces exactly to Dijkstra.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2B6CB0"/>
                </a:solidFill>
                <a:latin typeface="Calibri"/>
              </a:rPr>
              <a:t>Worked example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8813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2200" b="1">
                <a:solidFill>
                  <a:srgbClr val="2B6CB0"/>
                </a:solidFill>
                <a:latin typeface="Calibri"/>
              </a:rPr>
              <a:t>Tracing Dijkstra's algorithm from node A (undirected weighted graph)</a:t>
            </a:r>
          </a:p>
          <a:p>
            <a:pPr lvl="1"/>
            <a:r>
              <a:rPr sz="2000" b="0">
                <a:solidFill>
                  <a:srgbClr val="222222"/>
                </a:solidFill>
                <a:latin typeface="Calibri"/>
              </a:rPr>
              <a:t>1. Edges: A–B=4, A–D=1, B–C=2, B–E=5, C–F=3, D–E=2, E–F=1. Set distance A=0 and all others to infinity.</a:t>
            </a:r>
          </a:p>
          <a:p>
            <a:pPr lvl="1"/>
            <a:r>
              <a:rPr sz="2000" b="0">
                <a:solidFill>
                  <a:srgbClr val="222222"/>
                </a:solidFill>
                <a:latin typeface="Calibri"/>
              </a:rPr>
              <a:t>2. From A, tentative distances are D=1 and B=4. The smallest unvisited is D=1, so settle D=1 (via A).</a:t>
            </a:r>
          </a:p>
          <a:p>
            <a:pPr lvl="1"/>
            <a:r>
              <a:rPr sz="2000" b="0">
                <a:solidFill>
                  <a:srgbClr val="222222"/>
                </a:solidFill>
                <a:latin typeface="Calibri"/>
              </a:rPr>
              <a:t>3. From D, relax E: 1 + 2 = 3. Smallest unvisited is now E=3, so settle E=3 (via D).</a:t>
            </a:r>
          </a:p>
          <a:p>
            <a:pPr lvl="1"/>
            <a:r>
              <a:rPr sz="2000" b="0">
                <a:solidFill>
                  <a:srgbClr val="222222"/>
                </a:solidFill>
                <a:latin typeface="Calibri"/>
              </a:rPr>
              <a:t>4. From E, relax F: 3 + 1 = 4, and B via E: 3 + 5 = 8 (worse than 4, keep B=4). Both B=4 and F=4 are smallest; settle B=4 (via A) and F=4 (via E).</a:t>
            </a:r>
          </a:p>
          <a:p>
            <a:pPr lvl="1"/>
            <a:r>
              <a:rPr sz="2000" b="0">
                <a:solidFill>
                  <a:srgbClr val="222222"/>
                </a:solidFill>
                <a:latin typeface="Calibri"/>
              </a:rPr>
              <a:t>5. From B, relax C: 4 + 2 = 6. From F, C via F: 4 + 3 = 7 (worse, keep 6). Settle C=6 (via B).</a:t>
            </a:r>
          </a:p>
          <a:p>
            <a:pPr lvl="1"/>
            <a:r>
              <a:rPr sz="2000" b="0">
                <a:solidFill>
                  <a:srgbClr val="222222"/>
                </a:solidFill>
                <a:latin typeface="Calibri"/>
              </a:rPr>
              <a:t>6. Final shortest distances from A: A=0, D=1 (via A), E=3 (via D), B=4 (via A), F=4 (via E), C=6 (via B).</a:t>
            </a:r>
          </a:p>
          <a:p>
            <a:pPr lvl="1"/>
            <a:r>
              <a:rPr sz="2000" b="0">
                <a:solidFill>
                  <a:srgbClr val="222222"/>
                </a:solidFill>
                <a:latin typeface="Calibri"/>
              </a:rPr>
              <a:t>7. Complexity: a simple-array Dijkstra is O(n²); with a priority queue it is O((V + E) log V). It explores more nodes than A* because it has no heuristic to steer toward a single goal.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2B6CB0"/>
                </a:solidFill>
                <a:latin typeface="Calibri"/>
              </a:rPr>
              <a:t>Your turn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8813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2400" b="1">
                <a:solidFill>
                  <a:srgbClr val="2B6CB0"/>
                </a:solidFill>
                <a:latin typeface="Calibri"/>
              </a:rPr>
              <a:t>Task</a:t>
            </a:r>
          </a:p>
          <a:p>
            <a:pPr lvl="1"/>
            <a:r>
              <a:rPr sz="2200" b="0">
                <a:solidFill>
                  <a:srgbClr val="222222"/>
                </a:solidFill>
                <a:latin typeface="Calibri"/>
              </a:rPr>
              <a:t>Trace a bubble sort on [5, 3, 8, 1, 4], writing the full list after each complete left-to-right pass. Then state and justify the worst-case Big O of bubble sort.</a:t>
            </a:r>
          </a:p>
          <a:p>
            <a:r>
              <a:rPr sz="2400" b="1">
                <a:solidFill>
                  <a:srgbClr val="B76E00"/>
                </a:solidFill>
                <a:latin typeface="Calibri"/>
              </a:rPr>
              <a:t>Challenge / stretch</a:t>
            </a:r>
          </a:p>
          <a:p>
            <a:pPr lvl="1"/>
            <a:r>
              <a:rPr sz="2200" b="0">
                <a:solidFill>
                  <a:srgbClr val="222222"/>
                </a:solidFill>
                <a:latin typeface="Calibri"/>
              </a:rPr>
              <a:t>On the same graph, explain how adding an admissible straight-line heuristic h(n) would change the search to A*, and identify which node Dijkstra wastefully settles that A* searching only for goal F might avoid. Justify why A* still returns the optimal path.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2B6CB0"/>
                </a:solidFill>
                <a:latin typeface="Calibri"/>
              </a:rPr>
              <a:t>Exit ticket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8813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222222"/>
                </a:solidFill>
                <a:latin typeface="Calibri"/>
              </a:rPr>
              <a:t>1. What is the worst-case time complexity of quick sort, and what causes it?</a:t>
            </a:r>
          </a:p>
          <a:p>
            <a:r>
              <a:rPr sz="2200" b="1">
                <a:solidFill>
                  <a:srgbClr val="222222"/>
                </a:solidFill>
                <a:latin typeface="Calibri"/>
              </a:rPr>
              <a:t>2. Why does merge sort guarantee O(n log n) but use O(n) extra space?</a:t>
            </a:r>
          </a:p>
          <a:p>
            <a:r>
              <a:rPr sz="2200" b="1">
                <a:solidFill>
                  <a:srgbClr val="222222"/>
                </a:solidFill>
                <a:latin typeface="Calibri"/>
              </a:rPr>
              <a:t>3. State the f(n) formula used by A* and what each term means.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2B6CB0"/>
                </a:solidFill>
                <a:latin typeface="Calibri"/>
              </a:rPr>
              <a:t>Exit ticket — answers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8813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222222"/>
                </a:solidFill>
                <a:latin typeface="Calibri"/>
              </a:rPr>
              <a:t>1. What is the worst-case time complexity of quick sort, and what causes it?</a:t>
            </a:r>
          </a:p>
          <a:p>
            <a:pPr lvl="1"/>
            <a:r>
              <a:rPr sz="1800" i="1">
                <a:solidFill>
                  <a:srgbClr val="B76E00"/>
                </a:solidFill>
                <a:latin typeface="Calibri"/>
              </a:rPr>
              <a:t>Answer: O(n²), caused by a poor pivot choice such as already-sorted data producing unbalanced partitions.</a:t>
            </a:r>
          </a:p>
          <a:p>
            <a:r>
              <a:rPr sz="2200" b="1">
                <a:solidFill>
                  <a:srgbClr val="222222"/>
                </a:solidFill>
                <a:latin typeface="Calibri"/>
              </a:rPr>
              <a:t>2. Why does merge sort guarantee O(n log n) but use O(n) extra space?</a:t>
            </a:r>
          </a:p>
          <a:p>
            <a:pPr lvl="1"/>
            <a:r>
              <a:rPr sz="1800" i="1">
                <a:solidFill>
                  <a:srgbClr val="B76E00"/>
                </a:solidFill>
                <a:latin typeface="Calibri"/>
              </a:rPr>
              <a:t>Answer: It always divides into log n levels each doing n work to merge (O(n log n)), but merging needs temporary arrays the size of the input (O(n)).</a:t>
            </a:r>
          </a:p>
          <a:p>
            <a:r>
              <a:rPr sz="2200" b="1">
                <a:solidFill>
                  <a:srgbClr val="222222"/>
                </a:solidFill>
                <a:latin typeface="Calibri"/>
              </a:rPr>
              <a:t>3. State the f(n) formula used by A* and what each term means.</a:t>
            </a:r>
          </a:p>
          <a:p>
            <a:pPr lvl="1"/>
            <a:r>
              <a:rPr sz="1800" i="1">
                <a:solidFill>
                  <a:srgbClr val="B76E00"/>
                </a:solidFill>
                <a:latin typeface="Calibri"/>
              </a:rPr>
              <a:t>Answer: f(n) = g(n) + h(n): g(n) is the actual cost from the start to n, h(n) is the heuristic estimate of remaining cost to the goal.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