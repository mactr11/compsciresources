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365D"/>
        </a:solidFill>
        <a:effectLst/>
      </p:bgPr>
    </p:bg>
    <p:spTree>
      <p:nvGrpSpPr>
        <p:cNvPr id="1" name=""/>
        <p:cNvGrpSpPr/>
        <p:nvPr/>
      </p:nvGrpSpPr>
      <p:grpSpPr/>
      <p:sp>
        <p:nvSpPr>
          <p:cNvPr id="2" name="TextBox 1"/>
          <p:cNvSpPr txBox="1"/>
          <p:nvPr/>
        </p:nvSpPr>
        <p:spPr>
          <a:xfrm>
            <a:off x="731520" y="2194560"/>
            <a:ext cx="10698480" cy="1828800"/>
          </a:xfrm>
          <a:prstGeom prst="rect">
            <a:avLst/>
          </a:prstGeom>
          <a:noFill/>
        </p:spPr>
        <p:txBody>
          <a:bodyPr wrap="square">
            <a:spAutoFit/>
          </a:bodyPr>
          <a:lstStyle/>
          <a:p>
            <a:r>
              <a:rPr sz="4000" b="1" i="0">
                <a:solidFill>
                  <a:srgbClr val="FFFFFF"/>
                </a:solidFill>
                <a:latin typeface="Calibri"/>
              </a:rPr>
              <a:t>2.3.1 Algorithms (part 1 — analysis, Big O and searching)</a:t>
            </a:r>
          </a:p>
          <a:p>
            <a:r>
              <a:rPr sz="2000" b="0" i="0">
                <a:solidFill>
                  <a:srgbClr val="BED3EC"/>
                </a:solidFill>
                <a:latin typeface="Calibri"/>
              </a:rPr>
              <a:t>OCR H446 — Component 02</a:t>
            </a:r>
          </a:p>
        </p:txBody>
      </p:sp>
      <p:sp>
        <p:nvSpPr>
          <p:cNvPr id="3" name="TextBox 2"/>
          <p:cNvSpPr txBox="1"/>
          <p:nvPr/>
        </p:nvSpPr>
        <p:spPr>
          <a:xfrm>
            <a:off x="731520" y="6035040"/>
            <a:ext cx="10698480" cy="548640"/>
          </a:xfrm>
          <a:prstGeom prst="rect">
            <a:avLst/>
          </a:prstGeom>
          <a:noFill/>
        </p:spPr>
        <p:txBody>
          <a:bodyPr wrap="square">
            <a:spAutoFit/>
          </a:bodyPr>
          <a:lstStyle/>
          <a:p>
            <a:r>
              <a:rPr sz="1400" b="0" i="1">
                <a:solidFill>
                  <a:srgbClr val="9AB4D6"/>
                </a:solidFill>
                <a:latin typeface="Calibri"/>
              </a:rPr>
              <a:t>Year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Learning objectives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By the end of this lesson you can:</a:t>
            </a:r>
          </a:p>
          <a:p>
            <a:pPr lvl="1"/>
            <a:r>
              <a:rPr sz="2200" b="0">
                <a:solidFill>
                  <a:srgbClr val="222222"/>
                </a:solidFill>
                <a:latin typeface="Calibri"/>
              </a:rPr>
              <a:t>I can analyse an algorithm and justify its suitability for a given task.</a:t>
            </a:r>
          </a:p>
          <a:p>
            <a:pPr lvl="1"/>
            <a:r>
              <a:rPr sz="2200" b="0">
                <a:solidFill>
                  <a:srgbClr val="222222"/>
                </a:solidFill>
                <a:latin typeface="Calibri"/>
              </a:rPr>
              <a:t>I can express the time and space complexity of an algorithm in Big O notation, simplifying to the dominant term.</a:t>
            </a:r>
          </a:p>
          <a:p>
            <a:pPr lvl="1"/>
            <a:r>
              <a:rPr sz="2200" b="0">
                <a:solidFill>
                  <a:srgbClr val="222222"/>
                </a:solidFill>
                <a:latin typeface="Calibri"/>
              </a:rPr>
              <a:t>I can distinguish best, average and worst case and state each for linear and binary search.</a:t>
            </a:r>
          </a:p>
          <a:p>
            <a:pPr lvl="1"/>
            <a:r>
              <a:rPr sz="2200" b="0">
                <a:solidFill>
                  <a:srgbClr val="222222"/>
                </a:solidFill>
                <a:latin typeface="Calibri"/>
              </a:rPr>
              <a:t>I can write and trace linear and binary search in OCR Exam Reference Language and justify O(n) versus O(log 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retrieval starter</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From 2.2.1: state the two features every valid recursive subroutine must have.</a:t>
            </a:r>
          </a:p>
          <a:p>
            <a:r>
              <a:rPr sz="2200" b="1">
                <a:solidFill>
                  <a:srgbClr val="222222"/>
                </a:solidFill>
                <a:latin typeface="Calibri"/>
              </a:rPr>
              <a:t>2. From 2.2.1: what happens at run time if a recursive function never reaches its base case?</a:t>
            </a:r>
          </a:p>
          <a:p>
            <a:r>
              <a:rPr sz="2200" b="1">
                <a:solidFill>
                  <a:srgbClr val="222222"/>
                </a:solidFill>
                <a:latin typeface="Calibri"/>
              </a:rPr>
              <a:t>3. From 1.4.2: why does reading arr[7] from an array take the same time as reading arr[0]?</a:t>
            </a:r>
          </a:p>
          <a:p>
            <a:r>
              <a:rPr sz="2200" b="1">
                <a:solidFill>
                  <a:srgbClr val="222222"/>
                </a:solidFill>
                <a:latin typeface="Calibri"/>
              </a:rPr>
              <a:t>4. From 1.4.2: in a binary search tree, where are values smaller than a node stored, and why is that ordering useful?</a:t>
            </a:r>
          </a:p>
          <a:p>
            <a:r>
              <a:rPr sz="2200" b="1">
                <a:solidFill>
                  <a:srgbClr val="222222"/>
                </a:solidFill>
                <a:latin typeface="Calibri"/>
              </a:rPr>
              <a:t>5. From 2.2.2: describe the divide and conquer strategy in one sentence.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From 2.2.1: state the two features every valid recursive subroutine must have.</a:t>
            </a:r>
          </a:p>
          <a:p>
            <a:pPr lvl="1"/>
            <a:r>
              <a:rPr sz="1800" i="1">
                <a:solidFill>
                  <a:srgbClr val="B76E00"/>
                </a:solidFill>
                <a:latin typeface="Calibri"/>
              </a:rPr>
              <a:t>Answer: A base case that stops the recursion, and a recursive call whose arguments move toward that base case.</a:t>
            </a:r>
          </a:p>
          <a:p>
            <a:r>
              <a:rPr sz="2200" b="1">
                <a:solidFill>
                  <a:srgbClr val="222222"/>
                </a:solidFill>
                <a:latin typeface="Calibri"/>
              </a:rPr>
              <a:t>2. From 2.2.1: what happens at run time if a recursive function never reaches its base case?</a:t>
            </a:r>
          </a:p>
          <a:p>
            <a:pPr lvl="1"/>
            <a:r>
              <a:rPr sz="1800" i="1">
                <a:solidFill>
                  <a:srgbClr val="B76E00"/>
                </a:solidFill>
                <a:latin typeface="Calibri"/>
              </a:rPr>
              <a:t>Answer: Every call pushes another frame onto the call stack until memory is exhausted — a stack overflow.</a:t>
            </a:r>
          </a:p>
          <a:p>
            <a:r>
              <a:rPr sz="2200" b="1">
                <a:solidFill>
                  <a:srgbClr val="222222"/>
                </a:solidFill>
                <a:latin typeface="Calibri"/>
              </a:rPr>
              <a:t>3. From 1.4.2: why does reading arr[7] from an array take the same time as reading arr[0]?</a:t>
            </a:r>
          </a:p>
          <a:p>
            <a:pPr lvl="1"/>
            <a:r>
              <a:rPr sz="1800" i="1">
                <a:solidFill>
                  <a:srgbClr val="B76E00"/>
                </a:solidFill>
                <a:latin typeface="Calibri"/>
              </a:rPr>
              <a:t>Answer: Array elements are contiguous, so the address is calculated directly as start plus 7 times the element size — no traversal is needed.</a:t>
            </a:r>
          </a:p>
          <a:p>
            <a:r>
              <a:rPr sz="2200" b="1">
                <a:solidFill>
                  <a:srgbClr val="222222"/>
                </a:solidFill>
                <a:latin typeface="Calibri"/>
              </a:rPr>
              <a:t>4. From 1.4.2: in a binary search tree, where are values smaller than a node stored, and why is that ordering useful?</a:t>
            </a:r>
          </a:p>
          <a:p>
            <a:pPr lvl="1"/>
            <a:r>
              <a:rPr sz="1800" i="1">
                <a:solidFill>
                  <a:srgbClr val="B76E00"/>
                </a:solidFill>
                <a:latin typeface="Calibri"/>
              </a:rPr>
              <a:t>Answer: In that node's left subtree; the ordering means a search can discard a whole subtree at every node.</a:t>
            </a:r>
          </a:p>
          <a:p>
            <a:r>
              <a:rPr sz="2200" b="1">
                <a:solidFill>
                  <a:srgbClr val="222222"/>
                </a:solidFill>
                <a:latin typeface="Calibri"/>
              </a:rPr>
              <a:t>5. From 2.2.2: describe the divide and conquer strategy in one sentence.</a:t>
            </a:r>
          </a:p>
          <a:p>
            <a:pPr lvl="1"/>
            <a:r>
              <a:rPr sz="1800" i="1">
                <a:solidFill>
                  <a:srgbClr val="B76E00"/>
                </a:solidFill>
                <a:latin typeface="Calibri"/>
              </a:rPr>
              <a:t>Answer: Repeatedly halve the problem into smaller subproblems, solve those, then combine the results.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Key terminology</a:t>
            </a:r>
          </a:p>
        </p:txBody>
      </p:sp>
      <p:sp>
        <p:nvSpPr>
          <p:cNvPr id="3" name="TextBox 2"/>
          <p:cNvSpPr txBox="1"/>
          <p:nvPr/>
        </p:nvSpPr>
        <p:spPr>
          <a:xfrm>
            <a:off x="640080" y="1280160"/>
            <a:ext cx="10881360" cy="5120640"/>
          </a:xfrm>
          <a:prstGeom prst="rect">
            <a:avLst/>
          </a:prstGeom>
          <a:noFill/>
        </p:spPr>
        <p:txBody>
          <a:bodyPr wrap="square">
            <a:spAutoFit/>
          </a:bodyPr>
          <a:lstStyle/>
          <a:p/>
          <a:p>
            <a:r>
              <a:rPr b="1" sz="2000">
                <a:solidFill>
                  <a:srgbClr val="1A365D"/>
                </a:solidFill>
                <a:latin typeface="Calibri"/>
              </a:rPr>
              <a:t>Algorithm</a:t>
            </a:r>
            <a:r>
              <a:rPr sz="1800">
                <a:solidFill>
                  <a:srgbClr val="222222"/>
                </a:solidFill>
                <a:latin typeface="Calibri"/>
              </a:rPr>
              <a:t> — A precise, finite sequence of steps that solves a problem for any valid input.</a:t>
            </a:r>
          </a:p>
          <a:p>
            <a:r>
              <a:rPr b="1" sz="2000">
                <a:solidFill>
                  <a:srgbClr val="1A365D"/>
                </a:solidFill>
                <a:latin typeface="Calibri"/>
              </a:rPr>
              <a:t>Time complexity</a:t>
            </a:r>
            <a:r>
              <a:rPr sz="1800">
                <a:solidFill>
                  <a:srgbClr val="222222"/>
                </a:solidFill>
                <a:latin typeface="Calibri"/>
              </a:rPr>
              <a:t> — How the number of operations an algorithm performs grows as the input size n grows.</a:t>
            </a:r>
          </a:p>
          <a:p>
            <a:r>
              <a:rPr b="1" sz="2000">
                <a:solidFill>
                  <a:srgbClr val="1A365D"/>
                </a:solidFill>
                <a:latin typeface="Calibri"/>
              </a:rPr>
              <a:t>Space complexity</a:t>
            </a:r>
            <a:r>
              <a:rPr sz="1800">
                <a:solidFill>
                  <a:srgbClr val="222222"/>
                </a:solidFill>
                <a:latin typeface="Calibri"/>
              </a:rPr>
              <a:t> — How the memory an algorithm requires grows as the input size n grows.</a:t>
            </a:r>
          </a:p>
          <a:p>
            <a:r>
              <a:rPr b="1" sz="2000">
                <a:solidFill>
                  <a:srgbClr val="1A365D"/>
                </a:solidFill>
                <a:latin typeface="Calibri"/>
              </a:rPr>
              <a:t>Big O notation</a:t>
            </a:r>
            <a:r>
              <a:rPr sz="1800">
                <a:solidFill>
                  <a:srgbClr val="222222"/>
                </a:solidFill>
                <a:latin typeface="Calibri"/>
              </a:rPr>
              <a:t> — Notation expressing the worst-case growth of time or space against n, keeping only the dominant term.</a:t>
            </a:r>
          </a:p>
          <a:p>
            <a:r>
              <a:rPr b="1" sz="2000">
                <a:solidFill>
                  <a:srgbClr val="1A365D"/>
                </a:solidFill>
                <a:latin typeface="Calibri"/>
              </a:rPr>
              <a:t>Logarithmic growth</a:t>
            </a:r>
            <a:r>
              <a:rPr sz="1800">
                <a:solidFill>
                  <a:srgbClr val="222222"/>
                </a:solidFill>
                <a:latin typeface="Calibri"/>
              </a:rPr>
              <a:t> — O(log n): work grows by one step each time n doubles, because each step halves the problem.</a:t>
            </a:r>
          </a:p>
          <a:p>
            <a:r>
              <a:rPr b="1" sz="2000">
                <a:solidFill>
                  <a:srgbClr val="1A365D"/>
                </a:solidFill>
                <a:latin typeface="Calibri"/>
              </a:rPr>
              <a:t>Exponential growth</a:t>
            </a:r>
            <a:r>
              <a:rPr sz="1800">
                <a:solidFill>
                  <a:srgbClr val="222222"/>
                </a:solidFill>
                <a:latin typeface="Calibri"/>
              </a:rPr>
              <a:t> — O(2 to the power n): work doubles every time n increases by one; intractable for realistic n.</a:t>
            </a:r>
          </a:p>
          <a:p>
            <a:r>
              <a:rPr b="1" sz="2000">
                <a:solidFill>
                  <a:srgbClr val="1A365D"/>
                </a:solidFill>
                <a:latin typeface="Calibri"/>
              </a:rPr>
              <a:t>Best, average and worst case</a:t>
            </a:r>
            <a:r>
              <a:rPr sz="1800">
                <a:solidFill>
                  <a:srgbClr val="222222"/>
                </a:solidFill>
                <a:latin typeface="Calibri"/>
              </a:rPr>
              <a:t> — The complexity for the most favourable input, a typical input, and the least favourable input.</a:t>
            </a:r>
          </a:p>
          <a:p>
            <a:r>
              <a:rPr b="1" sz="2000">
                <a:solidFill>
                  <a:srgbClr val="1A365D"/>
                </a:solidFill>
                <a:latin typeface="Calibri"/>
              </a:rPr>
              <a:t>Linear search</a:t>
            </a:r>
            <a:r>
              <a:rPr sz="1800">
                <a:solidFill>
                  <a:srgbClr val="222222"/>
                </a:solidFill>
                <a:latin typeface="Calibri"/>
              </a:rPr>
              <a:t> — Checking each element in turn from the start until the target is found or the list ends; O(n).</a:t>
            </a:r>
          </a:p>
          <a:p>
            <a:r>
              <a:rPr b="1" sz="2000">
                <a:solidFill>
                  <a:srgbClr val="1A365D"/>
                </a:solidFill>
                <a:latin typeface="Calibri"/>
              </a:rPr>
              <a:t>Binary search</a:t>
            </a:r>
            <a:r>
              <a:rPr sz="1800">
                <a:solidFill>
                  <a:srgbClr val="222222"/>
                </a:solidFill>
                <a:latin typeface="Calibri"/>
              </a:rPr>
              <a:t> — Repeatedly examining the middle of a sorted list and discarding the half that cannot contain the target; O(log 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Analysing and designing algorithms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An algorithm is a precise, finite sequence of steps that solves a problem.</a:t>
            </a:r>
          </a:p>
          <a:p>
            <a:pPr/>
            <a:r>
              <a:rPr sz="2000" b="0">
                <a:solidFill>
                  <a:srgbClr val="222222"/>
                </a:solidFill>
                <a:latin typeface="Calibri"/>
              </a:rPr>
              <a:t>Analysis asks: is it correct for every valid input, and how efficient is it?</a:t>
            </a:r>
          </a:p>
          <a:p>
            <a:pPr/>
            <a:r>
              <a:rPr sz="2000" b="0">
                <a:solidFill>
                  <a:srgbClr val="222222"/>
                </a:solidFill>
                <a:latin typeface="Calibri"/>
              </a:rPr>
              <a:t>Design decides inputs, outputs, the steps between them, and the data structures used.</a:t>
            </a:r>
          </a:p>
          <a:p>
            <a:pPr/>
            <a:r>
              <a:rPr sz="2000" b="0">
                <a:solidFill>
                  <a:srgbClr val="222222"/>
                </a:solidFill>
                <a:latin typeface="Calibri"/>
              </a:rPr>
              <a:t>Two correct algorithms can differ enormously in speed and memory: efficiency is the discriminator.</a:t>
            </a:r>
          </a:p>
          <a:p>
            <a:pPr/>
            <a:r>
              <a:rPr sz="2000" b="0">
                <a:solidFill>
                  <a:srgbClr val="222222"/>
                </a:solidFill>
                <a:latin typeface="Calibri"/>
              </a:rPr>
              <a:t>The same problem, like searching, has several standard algorithms; choosing between them is an exam skill.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Suitability: choosing the right algorithm for a task</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How big is the input now, and how big could it grow?</a:t>
            </a:r>
          </a:p>
          <a:p>
            <a:pPr/>
            <a:r>
              <a:rPr sz="2000" b="0">
                <a:solidFill>
                  <a:srgbClr val="222222"/>
                </a:solidFill>
                <a:latin typeface="Calibri"/>
              </a:rPr>
              <a:t>Is the data already sorted or structured, and can that be exploited?</a:t>
            </a:r>
          </a:p>
          <a:p>
            <a:pPr/>
            <a:r>
              <a:rPr sz="2000" b="0">
                <a:solidFill>
                  <a:srgbClr val="222222"/>
                </a:solidFill>
                <a:latin typeface="Calibri"/>
              </a:rPr>
              <a:t>Is memory limited, favouring in-place algorithms?</a:t>
            </a:r>
          </a:p>
          <a:p>
            <a:pPr/>
            <a:r>
              <a:rPr sz="2000" b="0">
                <a:solidFill>
                  <a:srgbClr val="222222"/>
                </a:solidFill>
                <a:latin typeface="Calibri"/>
              </a:rPr>
              <a:t>How often will it run — once, or millions of times per day?</a:t>
            </a:r>
          </a:p>
          <a:p>
            <a:pPr/>
            <a:r>
              <a:rPr sz="2000" b="0">
                <a:solidFill>
                  <a:srgbClr val="222222"/>
                </a:solidFill>
                <a:latin typeface="Calibri"/>
              </a:rPr>
              <a:t>Do we need guaranteed worst-case performance, or is a good average enough?</a:t>
            </a:r>
          </a:p>
          <a:p>
            <a:pPr/>
            <a:r>
              <a:rPr sz="1800" b="1">
                <a:solidFill>
                  <a:srgbClr val="B76E00"/>
                </a:solidFill>
                <a:latin typeface="Calibri"/>
              </a:rPr>
              <a:t>Exam answers must match the algorithm to the scenario, not just recite complexities.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Measuring efficiency: time and space</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We count operations, not seconds: hardware changes, growth rates do not.</a:t>
            </a:r>
          </a:p>
          <a:p>
            <a:pPr/>
            <a:r>
              <a:rPr sz="2000" b="0">
                <a:solidFill>
                  <a:srgbClr val="222222"/>
                </a:solidFill>
                <a:latin typeface="Calibri"/>
              </a:rPr>
              <a:t>Time complexity: how the operation count grows as input size n grows.</a:t>
            </a:r>
          </a:p>
          <a:p>
            <a:pPr/>
            <a:r>
              <a:rPr sz="2000" b="0">
                <a:solidFill>
                  <a:srgbClr val="222222"/>
                </a:solidFill>
                <a:latin typeface="Calibri"/>
              </a:rPr>
              <a:t>Space complexity: how the memory needed grows as n grows.</a:t>
            </a:r>
          </a:p>
          <a:p>
            <a:pPr/>
            <a:r>
              <a:rPr sz="2000" b="0">
                <a:solidFill>
                  <a:srgbClr val="222222"/>
                </a:solidFill>
                <a:latin typeface="Calibri"/>
              </a:rPr>
              <a:t>Doubling n is the key test: what happens to the work?</a:t>
            </a:r>
          </a:p>
          <a:p>
            <a:pPr/>
            <a:r>
              <a:rPr sz="2000" b="0">
                <a:solidFill>
                  <a:srgbClr val="222222"/>
                </a:solidFill>
                <a:latin typeface="Calibri"/>
              </a:rPr>
              <a:t>Often a trade-off: faster algorithms may buy speed with extra memory.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Big O: the simplification rules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Big O gives the worst-case growth rate of time or space against n.</a:t>
            </a:r>
          </a:p>
          <a:p>
            <a:pPr/>
            <a:r>
              <a:rPr sz="2000" b="0">
                <a:solidFill>
                  <a:srgbClr val="222222"/>
                </a:solidFill>
                <a:latin typeface="Calibri"/>
              </a:rPr>
              <a:t>Drop constants: 4n + 7 is O(n), and 500 on its own is O(1).</a:t>
            </a:r>
          </a:p>
          <a:p>
            <a:pPr/>
            <a:r>
              <a:rPr sz="2000" b="0">
                <a:solidFill>
                  <a:srgbClr val="222222"/>
                </a:solidFill>
                <a:latin typeface="Calibri"/>
              </a:rPr>
              <a:t>Keep only the dominant term: 3n squared + 5n + 17 is O(n squared).</a:t>
            </a:r>
          </a:p>
          <a:p>
            <a:pPr/>
            <a:r>
              <a:rPr sz="2000" b="0">
                <a:solidFill>
                  <a:srgbClr val="222222"/>
                </a:solidFill>
                <a:latin typeface="Calibri"/>
              </a:rPr>
              <a:t>n(n - 1)/2 expands to a dominant n squared term, so it is also O(n squared).</a:t>
            </a:r>
          </a:p>
          <a:p>
            <a:pPr/>
            <a:r>
              <a:rPr sz="2000" b="0">
                <a:solidFill>
                  <a:srgbClr val="222222"/>
                </a:solidFill>
                <a:latin typeface="Calibri"/>
              </a:rPr>
              <a:t>Always justify: O(n squared) because the nested loop does up to n comparisons on each of n passes.</a:t>
            </a:r>
          </a:p>
          <a:p>
            <a:pPr/>
            <a:r>
              <a:rPr sz="1800" b="1">
                <a:solidFill>
                  <a:srgbClr val="B76E00"/>
                </a:solidFill>
                <a:latin typeface="Calibri"/>
              </a:rPr>
              <a:t>OCR names five classes: constant, linear, polynomial, exponential and logarithmic.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The complexity classes and their intuition</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O(1) constant: same work however big n is, like reading arr[5].</a:t>
            </a:r>
          </a:p>
          <a:p>
            <a:pPr/>
            <a:r>
              <a:rPr sz="2000" b="0">
                <a:solidFill>
                  <a:srgbClr val="222222"/>
                </a:solidFill>
                <a:latin typeface="Calibri"/>
              </a:rPr>
              <a:t>O(log n) logarithmic: each step halves the problem, so doubling n adds only one step.</a:t>
            </a:r>
          </a:p>
          <a:p>
            <a:pPr/>
            <a:r>
              <a:rPr sz="2000" b="0">
                <a:solidFill>
                  <a:srgbClr val="222222"/>
                </a:solidFill>
                <a:latin typeface="Calibri"/>
              </a:rPr>
              <a:t>O(n) linear: double the data, double the work, like one full scan.</a:t>
            </a:r>
          </a:p>
          <a:p>
            <a:pPr/>
            <a:r>
              <a:rPr sz="2000" b="0">
                <a:solidFill>
                  <a:srgbClr val="222222"/>
                </a:solidFill>
                <a:latin typeface="Calibri"/>
              </a:rPr>
              <a:t>O(n squared) polynomial: double the data, four times the work — the signature of nested loops.</a:t>
            </a:r>
          </a:p>
          <a:p>
            <a:pPr/>
            <a:r>
              <a:rPr sz="2000" b="0">
                <a:solidFill>
                  <a:srgbClr val="222222"/>
                </a:solidFill>
                <a:latin typeface="Calibri"/>
              </a:rPr>
              <a:t>O(2 to the power n) exponential: each extra item doubles the work; intractable brute force.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Growth rates compared</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Read each row: the classes barely differ at tiny n, then separate catastrophically.</a:t>
            </a:r>
          </a:p>
          <a:p>
            <a:pPr/>
            <a:r>
              <a:rPr sz="2000" b="0">
                <a:solidFill>
                  <a:srgbClr val="222222"/>
                </a:solidFill>
                <a:latin typeface="Calibri"/>
              </a:rPr>
              <a:t>At n = 100, an O(log n) algorithm does about 7 steps; an exponential one could not finish before the sun dies.</a:t>
            </a:r>
          </a:p>
          <a:p>
            <a:pPr/>
            <a:r>
              <a:rPr sz="2000" b="0">
                <a:solidFill>
                  <a:srgbClr val="222222"/>
                </a:solidFill>
                <a:latin typeface="Calibri"/>
              </a:rPr>
              <a:t>Tractable problems have polynomial-time (or better) algorithms; exponential-only problems are intractable.</a:t>
            </a:r>
          </a:p>
          <a:p>
            <a:pPr/>
            <a:r>
              <a:rPr sz="2000" b="0">
                <a:solidFill>
                  <a:srgbClr val="222222"/>
                </a:solidFill>
                <a:latin typeface="Calibri"/>
              </a:rPr>
              <a:t>This table is why algorithm choice matters more than faster hardware.</a:t>
            </a:r>
          </a:p>
          <a:p>
            <a:pPr lvl="1"/>
            <a:r>
              <a:rPr sz="1600" b="0">
                <a:solidFill>
                  <a:srgbClr val="1A365D"/>
                </a:solidFill>
                <a:latin typeface="Consolas"/>
              </a:rPr>
              <a:t>n        O(1)   O(log n)   O(n)     O(n log n)     O(n squared)   O(2 to the n)</a:t>
            </a:r>
          </a:p>
          <a:p>
            <a:pPr lvl="1"/>
            <a:r>
              <a:rPr sz="1600" b="0">
                <a:solidFill>
                  <a:srgbClr val="1A365D"/>
                </a:solidFill>
                <a:latin typeface="Consolas"/>
              </a:rPr>
              <a:t>8        1      3          8        24             64             256</a:t>
            </a:r>
          </a:p>
          <a:p>
            <a:pPr lvl="1"/>
            <a:r>
              <a:rPr sz="1600" b="0">
                <a:solidFill>
                  <a:srgbClr val="1A365D"/>
                </a:solidFill>
                <a:latin typeface="Consolas"/>
              </a:rPr>
              <a:t>100      1      7          100      about 700      10,000         about 10 to the 30</a:t>
            </a:r>
          </a:p>
          <a:p>
            <a:pPr lvl="1"/>
            <a:r>
              <a:rPr sz="1600" b="0">
                <a:solidFill>
                  <a:srgbClr val="1A365D"/>
                </a:solidFill>
                <a:latin typeface="Consolas"/>
              </a:rPr>
              <a:t>1,000    1      10         1,000    about 10,000   1,000,000      beyond astronomical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Best, average and worst case</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Best case: the most favourable input, e.g. linear search finding the target at index 0 — O(1).</a:t>
            </a:r>
          </a:p>
          <a:p>
            <a:pPr/>
            <a:r>
              <a:rPr sz="2000" b="0">
                <a:solidFill>
                  <a:srgbClr val="222222"/>
                </a:solidFill>
                <a:latin typeface="Calibri"/>
              </a:rPr>
              <a:t>Average case: expected behaviour on typical input, e.g. linear search checking about half the list — still O(n).</a:t>
            </a:r>
          </a:p>
          <a:p>
            <a:pPr/>
            <a:r>
              <a:rPr sz="2000" b="0">
                <a:solidFill>
                  <a:srgbClr val="222222"/>
                </a:solidFill>
                <a:latin typeface="Calibri"/>
              </a:rPr>
              <a:t>Worst case: the least favourable input, e.g. target last or absent — all n checked, O(n).</a:t>
            </a:r>
          </a:p>
          <a:p>
            <a:pPr/>
            <a:r>
              <a:rPr sz="2000" b="0">
                <a:solidFill>
                  <a:srgbClr val="222222"/>
                </a:solidFill>
                <a:latin typeface="Calibri"/>
              </a:rPr>
              <a:t>Unqualified Big O in this course means the worst case.</a:t>
            </a:r>
          </a:p>
          <a:p>
            <a:pPr/>
            <a:r>
              <a:rPr sz="2000" b="0">
                <a:solidFill>
                  <a:srgbClr val="222222"/>
                </a:solidFill>
                <a:latin typeface="Calibri"/>
              </a:rPr>
              <a:t>Worst case matters most when a guarantee is needed, e.g. real-time systems.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Linear search</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Start at index 0 and compare each element with the target in turn.</a:t>
            </a:r>
          </a:p>
          <a:p>
            <a:pPr/>
            <a:r>
              <a:rPr sz="2000" b="0">
                <a:solidFill>
                  <a:srgbClr val="222222"/>
                </a:solidFill>
                <a:latin typeface="Calibri"/>
              </a:rPr>
              <a:t>Return the index when found; return -1 if the end is reached.</a:t>
            </a:r>
          </a:p>
          <a:p>
            <a:pPr/>
            <a:r>
              <a:rPr sz="2000" b="0">
                <a:solidFill>
                  <a:srgbClr val="222222"/>
                </a:solidFill>
                <a:latin typeface="Calibri"/>
              </a:rPr>
              <a:t>Needs no preconditions: works on completely unsorted data.</a:t>
            </a:r>
          </a:p>
          <a:p>
            <a:pPr/>
            <a:r>
              <a:rPr sz="2000" b="0">
                <a:solidFill>
                  <a:srgbClr val="222222"/>
                </a:solidFill>
                <a:latin typeface="Calibri"/>
              </a:rPr>
              <a:t>Best O(1), average O(n), worst O(n); space O(1).</a:t>
            </a:r>
          </a:p>
          <a:p>
            <a:pPr lvl="1"/>
            <a:r>
              <a:rPr sz="1600" b="0">
                <a:solidFill>
                  <a:srgbClr val="1A365D"/>
                </a:solidFill>
                <a:latin typeface="Consolas"/>
              </a:rPr>
              <a:t>function linearSearch(arr, target)</a:t>
            </a:r>
          </a:p>
          <a:p>
            <a:pPr lvl="1"/>
            <a:r>
              <a:rPr sz="1600" b="0">
                <a:solidFill>
                  <a:srgbClr val="1A365D"/>
                </a:solidFill>
                <a:latin typeface="Consolas"/>
              </a:rPr>
              <a:t>    for i = 0 to arr.length - 1</a:t>
            </a:r>
          </a:p>
          <a:p>
            <a:pPr lvl="1"/>
            <a:r>
              <a:rPr sz="1600" b="0">
                <a:solidFill>
                  <a:srgbClr val="1A365D"/>
                </a:solidFill>
                <a:latin typeface="Consolas"/>
              </a:rPr>
              <a:t>        if arr[i] == target then</a:t>
            </a:r>
          </a:p>
          <a:p>
            <a:pPr lvl="1"/>
            <a:r>
              <a:rPr sz="1600" b="0">
                <a:solidFill>
                  <a:srgbClr val="1A365D"/>
                </a:solidFill>
                <a:latin typeface="Consolas"/>
              </a:rPr>
              <a:t>            return i</a:t>
            </a:r>
          </a:p>
          <a:p>
            <a:pPr lvl="1"/>
            <a:r>
              <a:rPr sz="1600" b="0">
                <a:solidFill>
                  <a:srgbClr val="1A365D"/>
                </a:solidFill>
                <a:latin typeface="Consolas"/>
              </a:rPr>
              <a:t>        endif</a:t>
            </a:r>
          </a:p>
          <a:p>
            <a:pPr lvl="1"/>
            <a:r>
              <a:rPr sz="1600" b="0">
                <a:solidFill>
                  <a:srgbClr val="1A365D"/>
                </a:solidFill>
                <a:latin typeface="Consolas"/>
              </a:rPr>
              <a:t>    next i</a:t>
            </a:r>
          </a:p>
          <a:p>
            <a:pPr lvl="1"/>
            <a:r>
              <a:rPr sz="1600" b="0">
                <a:solidFill>
                  <a:srgbClr val="1A365D"/>
                </a:solidFill>
                <a:latin typeface="Consolas"/>
              </a:rPr>
              <a:t>    return -1</a:t>
            </a:r>
          </a:p>
          <a:p>
            <a:pPr lvl="1"/>
            <a:r>
              <a:rPr sz="1600" b="0">
                <a:solidFill>
                  <a:srgbClr val="1A365D"/>
                </a:solidFill>
                <a:latin typeface="Consolas"/>
              </a:rPr>
              <a:t>endfunction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Binary search</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Precondition: the list MUST be sorted — always state this.</a:t>
            </a:r>
          </a:p>
          <a:p>
            <a:pPr/>
            <a:r>
              <a:rPr sz="2000" b="0">
                <a:solidFill>
                  <a:srgbClr val="222222"/>
                </a:solidFill>
                <a:latin typeface="Calibri"/>
              </a:rPr>
              <a:t>Compare the middle element; if too small, discard the left half; if too big, discard the right half.</a:t>
            </a:r>
          </a:p>
          <a:p>
            <a:pPr/>
            <a:r>
              <a:rPr sz="2000" b="0">
                <a:solidFill>
                  <a:srgbClr val="222222"/>
                </a:solidFill>
                <a:latin typeface="Calibri"/>
              </a:rPr>
              <a:t>Repeat on the surviving half until found, or until low passes high (not present).</a:t>
            </a:r>
          </a:p>
          <a:p>
            <a:pPr/>
            <a:r>
              <a:rPr sz="2000" b="0">
                <a:solidFill>
                  <a:srgbClr val="222222"/>
                </a:solidFill>
                <a:latin typeface="Calibri"/>
              </a:rPr>
              <a:t>The condition is low &lt;= high so a final one-element range is still checked.</a:t>
            </a:r>
          </a:p>
          <a:p>
            <a:pPr/>
            <a:r>
              <a:rPr sz="2000" b="0">
                <a:solidFill>
                  <a:srgbClr val="222222"/>
                </a:solidFill>
                <a:latin typeface="Calibri"/>
              </a:rPr>
              <a:t>Best O(1), average and worst O(log n); iterative version is O(1) space.</a:t>
            </a:r>
          </a:p>
          <a:p>
            <a:pPr lvl="1"/>
            <a:r>
              <a:rPr sz="1600" b="0">
                <a:solidFill>
                  <a:srgbClr val="1A365D"/>
                </a:solidFill>
                <a:latin typeface="Consolas"/>
              </a:rPr>
              <a:t>function binarySearch(arr, target)</a:t>
            </a:r>
          </a:p>
          <a:p>
            <a:pPr lvl="1"/>
            <a:r>
              <a:rPr sz="1600" b="0">
                <a:solidFill>
                  <a:srgbClr val="1A365D"/>
                </a:solidFill>
                <a:latin typeface="Consolas"/>
              </a:rPr>
              <a:t>    low = 0</a:t>
            </a:r>
          </a:p>
          <a:p>
            <a:pPr lvl="1"/>
            <a:r>
              <a:rPr sz="1600" b="0">
                <a:solidFill>
                  <a:srgbClr val="1A365D"/>
                </a:solidFill>
                <a:latin typeface="Consolas"/>
              </a:rPr>
              <a:t>    high = arr.length - 1</a:t>
            </a:r>
          </a:p>
          <a:p>
            <a:pPr lvl="1"/>
            <a:r>
              <a:rPr sz="1600" b="0">
                <a:solidFill>
                  <a:srgbClr val="1A365D"/>
                </a:solidFill>
                <a:latin typeface="Consolas"/>
              </a:rPr>
              <a:t>    while low &lt;= high</a:t>
            </a:r>
          </a:p>
          <a:p>
            <a:pPr lvl="1"/>
            <a:r>
              <a:rPr sz="1600" b="0">
                <a:solidFill>
                  <a:srgbClr val="1A365D"/>
                </a:solidFill>
                <a:latin typeface="Consolas"/>
              </a:rPr>
              <a:t>        mid = (low + high) DIV 2</a:t>
            </a:r>
          </a:p>
          <a:p>
            <a:pPr lvl="1"/>
            <a:r>
              <a:rPr sz="1600" b="0">
                <a:solidFill>
                  <a:srgbClr val="1A365D"/>
                </a:solidFill>
                <a:latin typeface="Consolas"/>
              </a:rPr>
              <a:t>        if arr[mid] == target then</a:t>
            </a:r>
          </a:p>
          <a:p>
            <a:pPr lvl="1"/>
            <a:r>
              <a:rPr sz="1600" b="0">
                <a:solidFill>
                  <a:srgbClr val="1A365D"/>
                </a:solidFill>
                <a:latin typeface="Consolas"/>
              </a:rPr>
              <a:t>            return mid</a:t>
            </a:r>
          </a:p>
          <a:p>
            <a:pPr lvl="1"/>
            <a:r>
              <a:rPr sz="1600" b="0">
                <a:solidFill>
                  <a:srgbClr val="1A365D"/>
                </a:solidFill>
                <a:latin typeface="Consolas"/>
              </a:rPr>
              <a:t>        elseif arr[mid] &lt; target then</a:t>
            </a:r>
          </a:p>
          <a:p>
            <a:pPr lvl="1"/>
            <a:r>
              <a:rPr sz="1600" b="0">
                <a:solidFill>
                  <a:srgbClr val="1A365D"/>
                </a:solidFill>
                <a:latin typeface="Consolas"/>
              </a:rPr>
              <a:t>            low = mid + 1</a:t>
            </a:r>
          </a:p>
          <a:p>
            <a:pPr lvl="1"/>
            <a:r>
              <a:rPr sz="1600" b="0">
                <a:solidFill>
                  <a:srgbClr val="1A365D"/>
                </a:solidFill>
                <a:latin typeface="Consolas"/>
              </a:rPr>
              <a:t>        else</a:t>
            </a:r>
          </a:p>
          <a:p>
            <a:pPr lvl="1"/>
            <a:r>
              <a:rPr sz="1600" b="0">
                <a:solidFill>
                  <a:srgbClr val="1A365D"/>
                </a:solidFill>
                <a:latin typeface="Consolas"/>
              </a:rPr>
              <a:t>            high = mid - 1</a:t>
            </a:r>
          </a:p>
          <a:p>
            <a:pPr lvl="1"/>
            <a:r>
              <a:rPr sz="1600" b="0">
                <a:solidFill>
                  <a:srgbClr val="1A365D"/>
                </a:solidFill>
                <a:latin typeface="Consolas"/>
              </a:rPr>
              <a:t>        endif</a:t>
            </a:r>
          </a:p>
          <a:p>
            <a:pPr lvl="1"/>
            <a:r>
              <a:rPr sz="1600" b="0">
                <a:solidFill>
                  <a:srgbClr val="1A365D"/>
                </a:solidFill>
                <a:latin typeface="Consolas"/>
              </a:rPr>
              <a:t>    endwhile</a:t>
            </a:r>
          </a:p>
          <a:p>
            <a:pPr lvl="1"/>
            <a:r>
              <a:rPr sz="1600" b="0">
                <a:solidFill>
                  <a:srgbClr val="1A365D"/>
                </a:solidFill>
                <a:latin typeface="Consolas"/>
              </a:rPr>
              <a:t>    return -1</a:t>
            </a:r>
          </a:p>
          <a:p>
            <a:pPr lvl="1"/>
            <a:r>
              <a:rPr sz="1600" b="0">
                <a:solidFill>
                  <a:srgbClr val="1A365D"/>
                </a:solidFill>
                <a:latin typeface="Consolas"/>
              </a:rPr>
              <a:t>endfunction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O(n) versus O(log n): why halving wins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Binary search halves the range every comparison, so doubling n adds only one comparison.</a:t>
            </a:r>
          </a:p>
          <a:p>
            <a:pPr/>
            <a:r>
              <a:rPr sz="2000" b="0">
                <a:solidFill>
                  <a:srgbClr val="222222"/>
                </a:solidFill>
                <a:latin typeface="Calibri"/>
              </a:rPr>
              <a:t>A million sorted items: linear search up to 1,000,000 checks; binary search at most about 20, since 2 to the 20 exceeds a million.</a:t>
            </a:r>
          </a:p>
          <a:p>
            <a:pPr/>
            <a:r>
              <a:rPr sz="2000" b="0">
                <a:solidFill>
                  <a:srgbClr val="222222"/>
                </a:solidFill>
                <a:latin typeface="Calibri"/>
              </a:rPr>
              <a:t>The advantage grows with n — that is what a better complexity class means.</a:t>
            </a:r>
          </a:p>
          <a:p>
            <a:pPr/>
            <a:r>
              <a:rPr sz="2000" b="0">
                <a:solidFill>
                  <a:srgbClr val="222222"/>
                </a:solidFill>
                <a:latin typeface="Calibri"/>
              </a:rPr>
              <a:t>Linear search still wins when data is unsorted, tiny, or searched only once, because sorting first costs O(n log n).</a:t>
            </a:r>
          </a:p>
          <a:p>
            <a:pPr/>
            <a:r>
              <a:rPr sz="2000" b="0">
                <a:solidFill>
                  <a:srgbClr val="222222"/>
                </a:solidFill>
                <a:latin typeface="Calibri"/>
              </a:rPr>
              <a:t>Full justification for marks: name the halving, the sorted precondition, and the doubling-adds-one-step consequence.</a:t>
            </a:r>
          </a:p>
          <a:p>
            <a:pPr/>
            <a:r>
              <a:rPr sz="1800" b="1">
                <a:solidFill>
                  <a:srgbClr val="B76E00"/>
                </a:solidFill>
                <a:latin typeface="Calibri"/>
              </a:rPr>
              <a:t>Never claim binary search is simply better: it buys speed with the sorted-data precondition.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1</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Simplifying six expressions to Big O</a:t>
            </a:r>
          </a:p>
          <a:p>
            <a:pPr lvl="1"/>
            <a:r>
              <a:rPr sz="1900" b="0">
                <a:solidFill>
                  <a:srgbClr val="222222"/>
                </a:solidFill>
                <a:latin typeface="Calibri"/>
              </a:rPr>
              <a:t>1. 4n + 7: drop the constant 7 and the coefficient 4 — O(n).</a:t>
            </a:r>
          </a:p>
          <a:p>
            <a:pPr lvl="1"/>
            <a:r>
              <a:rPr sz="1900" b="0">
                <a:solidFill>
                  <a:srgbClr val="222222"/>
                </a:solidFill>
                <a:latin typeface="Calibri"/>
              </a:rPr>
              <a:t>2. 3n squared + 5n + 17: the n squared term dominates for large n — O(n squared).</a:t>
            </a:r>
          </a:p>
          <a:p>
            <a:pPr lvl="1"/>
            <a:r>
              <a:rPr sz="1900" b="0">
                <a:solidFill>
                  <a:srgbClr val="222222"/>
                </a:solidFill>
                <a:latin typeface="Calibri"/>
              </a:rPr>
              <a:t>3. n(n - 1)/2: expands to half of n squared minus n, and n squared dominates — O(n squared); this is exactly bubble sort's worst-case comparison count.</a:t>
            </a:r>
          </a:p>
          <a:p>
            <a:pPr lvl="1"/>
            <a:r>
              <a:rPr sz="1900" b="0">
                <a:solidFill>
                  <a:srgbClr val="222222"/>
                </a:solidFill>
                <a:latin typeface="Calibri"/>
              </a:rPr>
              <a:t>4. 500: no dependence on n at all — O(1).</a:t>
            </a:r>
          </a:p>
          <a:p>
            <a:pPr lvl="1"/>
            <a:r>
              <a:rPr sz="1900" b="0">
                <a:solidFill>
                  <a:srgbClr val="222222"/>
                </a:solidFill>
                <a:latin typeface="Calibri"/>
              </a:rPr>
              <a:t>5. 2n log n + 3n: n log n outgrows n, coefficients dropped — O(n log n).</a:t>
            </a:r>
          </a:p>
          <a:p>
            <a:pPr lvl="1"/>
            <a:r>
              <a:rPr sz="1900" b="0">
                <a:solidFill>
                  <a:srgbClr val="222222"/>
                </a:solidFill>
                <a:latin typeface="Calibri"/>
              </a:rPr>
              <a:t>6. 2 to the power n, plus n cubed: the exponential term eventually dwarfs any polynomial — O(2 to the power n).</a:t>
            </a:r>
          </a:p>
          <a:p>
            <a:pPr lvl="1"/>
            <a:r>
              <a:rPr sz="1900" b="0">
                <a:solidFill>
                  <a:srgbClr val="222222"/>
                </a:solidFill>
                <a:latin typeface="Calibri"/>
              </a:rPr>
              <a:t>7. Rule used every time: keep the dominant term, drop constants and lower-order terms.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2</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Tracing linear search on arr = [14, 3, 27, 9, 41, 8]</a:t>
            </a:r>
          </a:p>
          <a:p>
            <a:pPr lvl="1"/>
            <a:r>
              <a:rPr sz="1900" b="0">
                <a:solidFill>
                  <a:srgbClr val="222222"/>
                </a:solidFill>
                <a:latin typeface="Calibri"/>
              </a:rPr>
              <a:t>1. Target 9: i=0 compares 14 (no), i=1 compares 3 (no), i=2 compares 27 (no), i=3 compares 9 (yes) — return 3 after 4 comparisons.</a:t>
            </a:r>
          </a:p>
          <a:p>
            <a:pPr lvl="1"/>
            <a:r>
              <a:rPr sz="1900" b="0">
                <a:solidFill>
                  <a:srgbClr val="222222"/>
                </a:solidFill>
                <a:latin typeface="Calibri"/>
              </a:rPr>
              <a:t>2. Target 8 (worst case, found): i=0 to i=5 compare 14, 3, 27, 9, 41, 8 — return 5 after 6 comparisons, the full n.</a:t>
            </a:r>
          </a:p>
          <a:p>
            <a:pPr lvl="1"/>
            <a:r>
              <a:rPr sz="1900" b="0">
                <a:solidFill>
                  <a:srgbClr val="222222"/>
                </a:solidFill>
                <a:latin typeface="Calibri"/>
              </a:rPr>
              <a:t>3. Target 50 (worst case, absent): all 6 elements compared, loop ends, return -1.</a:t>
            </a:r>
          </a:p>
          <a:p>
            <a:pPr lvl="1"/>
            <a:r>
              <a:rPr sz="1900" b="0">
                <a:solidFill>
                  <a:srgbClr val="222222"/>
                </a:solidFill>
                <a:latin typeface="Calibri"/>
              </a:rPr>
              <a:t>4. Best case would be target 14: one comparison, O(1).</a:t>
            </a:r>
          </a:p>
          <a:p>
            <a:pPr lvl="1"/>
            <a:r>
              <a:rPr sz="1900" b="0">
                <a:solidFill>
                  <a:srgbClr val="222222"/>
                </a:solidFill>
                <a:latin typeface="Calibri"/>
              </a:rPr>
              <a:t>5. Conclusion: comparisons grow in direct proportion to n, so linear search is O(n) in the average and worst case.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3</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Tracing binary search on arr = [2, 6, 11, 15, 23, 31, 40, 52, 67] (indices 0 to 8)</a:t>
            </a:r>
          </a:p>
          <a:p>
            <a:pPr lvl="1"/>
            <a:r>
              <a:rPr sz="1900" b="0">
                <a:solidFill>
                  <a:srgbClr val="222222"/>
                </a:solidFill>
                <a:latin typeface="Calibri"/>
              </a:rPr>
              <a:t>1. Target 31. Iteration 1: low=0, high=8, mid=(0+8) DIV 2=4; arr[4]=23 &lt; 31, so low=5.</a:t>
            </a:r>
          </a:p>
          <a:p>
            <a:pPr lvl="1"/>
            <a:r>
              <a:rPr sz="1900" b="0">
                <a:solidFill>
                  <a:srgbClr val="222222"/>
                </a:solidFill>
                <a:latin typeface="Calibri"/>
              </a:rPr>
              <a:t>2. Iteration 2: low=5, high=8, mid=(5+8) DIV 2=6; arr[6]=40 &gt; 31, so high=5.</a:t>
            </a:r>
          </a:p>
          <a:p>
            <a:pPr lvl="1"/>
            <a:r>
              <a:rPr sz="1900" b="0">
                <a:solidFill>
                  <a:srgbClr val="222222"/>
                </a:solidFill>
                <a:latin typeface="Calibri"/>
              </a:rPr>
              <a:t>3. Iteration 3: low=5, high=5, mid=5; arr[5]=31 — return 5. Found in 3 comparisons; linear search would have needed 6.</a:t>
            </a:r>
          </a:p>
          <a:p>
            <a:pPr lvl="1"/>
            <a:r>
              <a:rPr sz="1900" b="0">
                <a:solidFill>
                  <a:srgbClr val="222222"/>
                </a:solidFill>
                <a:latin typeface="Calibri"/>
              </a:rPr>
              <a:t>4. Target 20 (absent). Iteration 1: low=0, high=8, mid=4; arr[4]=23 &gt; 20, so high=3.</a:t>
            </a:r>
          </a:p>
          <a:p>
            <a:pPr lvl="1"/>
            <a:r>
              <a:rPr sz="1900" b="0">
                <a:solidFill>
                  <a:srgbClr val="222222"/>
                </a:solidFill>
                <a:latin typeface="Calibri"/>
              </a:rPr>
              <a:t>5. Iteration 2: low=0, high=3, mid=1; arr[1]=6 &lt; 20, so low=2. Iteration 3: low=2, high=3, mid=2; arr[2]=11 &lt; 20, so low=3.</a:t>
            </a:r>
          </a:p>
          <a:p>
            <a:pPr lvl="1"/>
            <a:r>
              <a:rPr sz="1900" b="0">
                <a:solidFill>
                  <a:srgbClr val="222222"/>
                </a:solidFill>
                <a:latin typeface="Calibri"/>
              </a:rPr>
              <a:t>6. Iteration 4: low=3, high=3, mid=3; arr[3]=15 &lt; 20, so low=4. Now low(4) &gt; high(3): the range is empty, return -1.</a:t>
            </a:r>
          </a:p>
          <a:p>
            <a:pPr lvl="1"/>
            <a:r>
              <a:rPr sz="1900" b="0">
                <a:solidFill>
                  <a:srgbClr val="222222"/>
                </a:solidFill>
                <a:latin typeface="Calibri"/>
              </a:rPr>
              <a:t>7. Each iteration halved the surviving range: 9, then 4, then 2, then 1 elements — the halving is the O(log n) justification.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1</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Guess My Number in 7 (binary search unplugged)  (12 min)</a:t>
            </a:r>
          </a:p>
          <a:p>
            <a:pPr lvl="1"/>
            <a:r>
              <a:rPr sz="2000" b="0">
                <a:solidFill>
                  <a:srgbClr val="222222"/>
                </a:solidFill>
                <a:latin typeface="Calibri"/>
              </a:rPr>
              <a:t>Announce a hidden number from 1 to 100, answering only higher, lower or correct, and bet the class can always win in 7 guesses or fewer.</a:t>
            </a:r>
          </a:p>
          <a:p>
            <a:pPr lvl="1"/>
            <a:r>
              <a:rPr sz="2000" b="0">
                <a:solidFill>
                  <a:srgbClr val="222222"/>
                </a:solidFill>
                <a:latin typeface="Calibri"/>
              </a:rPr>
              <a:t>Round 1: free guessing (expect scatter-gun); tally the guesses taken.</a:t>
            </a:r>
          </a:p>
          <a:p>
            <a:pPr lvl="1"/>
            <a:r>
              <a:rPr sz="2000" b="0">
                <a:solidFill>
                  <a:srgbClr val="222222"/>
                </a:solidFill>
                <a:latin typeface="Calibri"/>
              </a:rPr>
              <a:t>Round 2: impose the algorithm — always guess mid = (low + high) DIV 2, tracking low, high and mid in three board columns. Hidden number 73: guesses run 50 (higher), 75 (lower), 62 (higher), 68 (higher), 71 (higher), 73 — found in 6 guesses.</a:t>
            </a:r>
          </a:p>
          <a:p>
            <a:pPr lvl="1"/>
            <a:r>
              <a:rPr sz="2000" b="0">
                <a:solidFill>
                  <a:srgbClr val="222222"/>
                </a:solidFill>
                <a:latin typeface="Calibri"/>
              </a:rPr>
              <a:t>Round 3, adversarial: secretly move the number into whichever half keeps the game alive (worst case, target 100): 50, 75, 88, 94, 97, 99, 100 — exactly 7 guesses, and the class still wins.</a:t>
            </a:r>
          </a:p>
          <a:p>
            <a:pPr lvl="1"/>
            <a:r>
              <a:rPr sz="2000" b="0">
                <a:solidFill>
                  <a:srgbClr val="222222"/>
                </a:solidFill>
                <a:latin typeface="Calibri"/>
              </a:rPr>
              <a:t>Reveal the maths: 100 halves as 100, 50, 25, 12, 6, 3, 1; 2 to the 6 is 64 which is under 100, but 2 to the 7 is 128, so 7 guesses always suffice.</a:t>
            </a:r>
          </a:p>
          <a:p>
            <a:pPr/>
            <a:r>
              <a:rPr sz="1800" b="0">
                <a:solidFill>
                  <a:srgbClr val="B76E00"/>
                </a:solidFill>
                <a:latin typeface="Calibri"/>
              </a:rPr>
              <a:t>Stretch: How many guesses for 1 to a billion? (30, since 2 to the 30 is about 1.07 billion.) Why does the trick fail on an unsorted pile of cards? (Discarding half is only safe when order tells you which half cannot hold the target.)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2</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Big O graph-sketch race  (12 min)</a:t>
            </a:r>
          </a:p>
          <a:p>
            <a:pPr lvl="1"/>
            <a:r>
              <a:rPr sz="2000" b="0">
                <a:solidFill>
                  <a:srgbClr val="222222"/>
                </a:solidFill>
                <a:latin typeface="Calibri"/>
              </a:rPr>
              <a:t>Heat 1 (4 min): pairs sketch all six growth curves on one set of axes, ordered and labelled: O(1), O(log n), O(n), O(n log n), O(n squared), O(2 to the n). Spot-check with values at n = 8: they should read 1, 3, 8, 24, 64, 256.</a:t>
            </a:r>
          </a:p>
          <a:p>
            <a:pPr lvl="1"/>
            <a:r>
              <a:rPr sz="2000" b="0">
                <a:solidFill>
                  <a:srgbClr val="222222"/>
                </a:solidFill>
                <a:latin typeface="Calibri"/>
              </a:rPr>
              <a:t>Heat 2 (3 min): hold up expression cards one at a time for pairs to classify: 4n + 7 is O(n); 3n squared + 5n + 17 is O(n squared); n(n - 1)/2 is O(n squared); 500 is O(1); 2n log n + 3n is O(n log n); 2 to the n plus n cubed is O(2 to the n).</a:t>
            </a:r>
          </a:p>
          <a:p>
            <a:pPr lvl="1"/>
            <a:r>
              <a:rPr sz="2000" b="0">
                <a:solidFill>
                  <a:srgbClr val="222222"/>
                </a:solidFill>
                <a:latin typeface="Calibri"/>
              </a:rPr>
              <a:t>Heat 3 (3 min): algorithm snap — call out linear search, binary search, bubble sort worst, merge sort, quick sort average, quick sort worst; pairs point at the matching curve (O(n), O(log n), O(n squared), O(n log n), O(n log n), O(n squared)).</a:t>
            </a:r>
          </a:p>
          <a:p>
            <a:pPr lvl="1"/>
            <a:r>
              <a:rPr sz="2000" b="0">
                <a:solidFill>
                  <a:srgbClr val="222222"/>
                </a:solidFill>
                <a:latin typeface="Calibri"/>
              </a:rPr>
              <a:t>Debrief the one rule that decided every heat: keep the dominant term, drop constants and lower-order terms.</a:t>
            </a:r>
          </a:p>
          <a:p>
            <a:pPr/>
            <a:r>
              <a:rPr sz="1800" b="0">
                <a:solidFill>
                  <a:srgbClr val="B76E00"/>
                </a:solidFill>
                <a:latin typeface="Calibri"/>
              </a:rPr>
              <a:t>Stretch: Where is the tractable/intractable border on the sketch? (Polynomial or better is tractable; exponential is intractable.) Does Big O care that we only ever run an algorithm on n = 10? (No — it describes growth, not one run.)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3</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Parson's problem: rebuild binary search  (12 min)</a:t>
            </a:r>
          </a:p>
          <a:p>
            <a:pPr lvl="1"/>
            <a:r>
              <a:rPr sz="2000" b="0">
                <a:solidFill>
                  <a:srgbClr val="222222"/>
                </a:solidFill>
                <a:latin typeface="Calibri"/>
              </a:rPr>
              <a:t>Give each pair an envelope of 12 shuffled code strips of the binary search function (declaration, low = 0, high = arr.length - 1, the while low &lt;= high loop, mid = (low + high) DIV 2, the three-way if, return -1, endfunction). Indentation is part of the answer.</a:t>
            </a:r>
          </a:p>
          <a:p>
            <a:pPr lvl="1"/>
            <a:r>
              <a:rPr sz="2000" b="0">
                <a:solidFill>
                  <a:srgbClr val="222222"/>
                </a:solidFill>
                <a:latin typeface="Calibri"/>
              </a:rPr>
              <a:t>Pairs assemble a working function that returns the index of target in sorted arr, or -1 if absent.</a:t>
            </a:r>
          </a:p>
          <a:p>
            <a:pPr lvl="1"/>
            <a:r>
              <a:rPr sz="2000" b="0">
                <a:solidFill>
                  <a:srgbClr val="222222"/>
                </a:solidFill>
                <a:latin typeface="Calibri"/>
              </a:rPr>
              <a:t>Gate to finish: pairs must trace their assembled code on arr = [3, 7, 11, 18, 25, 42, 59] with target 42, writing every low, high and mid: low=0, high=6, mid=3 gives arr[3]=18 which is less than 42 so low=4; then mid=(4+6) DIV 2=5 gives arr[5]=42 — return 5 in two iterations.</a:t>
            </a:r>
          </a:p>
          <a:p>
            <a:pPr lvl="1"/>
            <a:r>
              <a:rPr sz="2000" b="0">
                <a:solidFill>
                  <a:srgbClr val="222222"/>
                </a:solidFill>
                <a:latin typeface="Calibri"/>
              </a:rPr>
              <a:t>Debrief the traps: why while low &lt;= high and not just less than? (A one-element range must still be checked.) Why mid + 1 and mid - 1, not mid? (Otherwise the range never shrinks — infinite loop.)</a:t>
            </a:r>
          </a:p>
          <a:p>
            <a:pPr/>
            <a:r>
              <a:rPr sz="1800" b="0">
                <a:solidFill>
                  <a:srgbClr val="B76E00"/>
                </a:solidFill>
                <a:latin typeface="Calibri"/>
              </a:rPr>
              <a:t>Stretch: Convert it to a recursive version with low and high as parameters and base case low &gt; high. Which uses more memory? (Recursive: O(log n) stack frames versus O(1) iterative.)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(1-4)</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Define what is meant by the time complexity of an algorithm. [2]</a:t>
            </a:r>
          </a:p>
          <a:p>
            <a:r>
              <a:rPr sz="2000" b="1">
                <a:solidFill>
                  <a:srgbClr val="222222"/>
                </a:solidFill>
                <a:latin typeface="Calibri"/>
              </a:rPr>
              <a:t>2. Simplify 6n squared + 20n + 3 to Big O notation and justify your answer. [2]</a:t>
            </a:r>
          </a:p>
          <a:p>
            <a:r>
              <a:rPr sz="2000" b="1">
                <a:solidFill>
                  <a:srgbClr val="222222"/>
                </a:solidFill>
                <a:latin typeface="Calibri"/>
              </a:rPr>
              <a:t>3. A program must search a list of 10,000 unsorted customer IDs once. State which standard search algorithm is more suitable and justify your choice. [3]</a:t>
            </a:r>
          </a:p>
          <a:p>
            <a:r>
              <a:rPr sz="2000" b="1">
                <a:solidFill>
                  <a:srgbClr val="222222"/>
                </a:solidFill>
                <a:latin typeface="Calibri"/>
              </a:rPr>
              <a:t>4. Explain why binary search has time complexity O(log n). [2]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 answers (1-4)</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Define what is meant by the time complexity of an algorithm. [2]</a:t>
            </a:r>
          </a:p>
          <a:p>
            <a:pPr lvl="1"/>
            <a:r>
              <a:rPr sz="1800" i="1">
                <a:solidFill>
                  <a:srgbClr val="B76E00"/>
                </a:solidFill>
                <a:latin typeface="Calibri"/>
              </a:rPr>
              <a:t>Answer: A measure of how the number of operations performed grows as the input size n grows (1), normally expressed for the worst case using Big O notation (1).</a:t>
            </a:r>
          </a:p>
          <a:p>
            <a:r>
              <a:rPr sz="2000" b="1">
                <a:solidFill>
                  <a:srgbClr val="222222"/>
                </a:solidFill>
                <a:latin typeface="Calibri"/>
              </a:rPr>
              <a:t>2. Simplify 6n squared + 20n + 3 to Big O notation and justify your answer. [2]</a:t>
            </a:r>
          </a:p>
          <a:p>
            <a:pPr lvl="1"/>
            <a:r>
              <a:rPr sz="1800" i="1">
                <a:solidFill>
                  <a:srgbClr val="B76E00"/>
                </a:solidFill>
                <a:latin typeface="Calibri"/>
              </a:rPr>
              <a:t>Answer: O(n squared) (1); constants and lower-order terms are dropped because for large n the n squared term dominates the growth (1).</a:t>
            </a:r>
          </a:p>
          <a:p>
            <a:r>
              <a:rPr sz="2000" b="1">
                <a:solidFill>
                  <a:srgbClr val="222222"/>
                </a:solidFill>
                <a:latin typeface="Calibri"/>
              </a:rPr>
              <a:t>3. A program must search a list of 10,000 unsorted customer IDs once. State which standard search algorithm is more suitable and justify your choice. [3]</a:t>
            </a:r>
          </a:p>
          <a:p>
            <a:pPr lvl="1"/>
            <a:r>
              <a:rPr sz="1800" i="1">
                <a:solidFill>
                  <a:srgbClr val="B76E00"/>
                </a:solidFill>
                <a:latin typeface="Calibri"/>
              </a:rPr>
              <a:t>Answer: Linear search (1); binary search requires sorted data, and sorting first (O(n log n)) costs more than a single O(n) scan (1); linear search works directly on unsorted data (1).</a:t>
            </a:r>
          </a:p>
          <a:p>
            <a:r>
              <a:rPr sz="2000" b="1">
                <a:solidFill>
                  <a:srgbClr val="222222"/>
                </a:solidFill>
                <a:latin typeface="Calibri"/>
              </a:rPr>
              <a:t>4. Explain why binary search has time complexity O(log n). [2]</a:t>
            </a:r>
          </a:p>
          <a:p>
            <a:pPr lvl="1"/>
            <a:r>
              <a:rPr sz="1800" i="1">
                <a:solidFill>
                  <a:srgbClr val="B76E00"/>
                </a:solidFill>
                <a:latin typeface="Calibri"/>
              </a:rPr>
              <a:t>Answer: Each comparison halves the remaining search space (1), so doubling the list length adds only one extra comparison — at most about log base 2 of n steps are needed (1).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(5-8)</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A sorted list doubles in size from 1,024 to 2,048 items. Explain the effect on the worst-case number of comparisons for linear search and for binary search. [3]</a:t>
            </a:r>
          </a:p>
          <a:p>
            <a:r>
              <a:rPr sz="2000" b="1">
                <a:solidFill>
                  <a:srgbClr val="222222"/>
                </a:solidFill>
                <a:latin typeface="Calibri"/>
              </a:rPr>
              <a:t>2. State the best-case and worst-case time complexity of linear search and describe the input that causes each. [4]</a:t>
            </a:r>
          </a:p>
          <a:p>
            <a:r>
              <a:rPr sz="2000" b="1">
                <a:solidFill>
                  <a:srgbClr val="222222"/>
                </a:solidFill>
                <a:latin typeface="Calibri"/>
              </a:rPr>
              <a:t>3. Give one reason a programmer might reasonably choose an O(n squared) algorithm over an available O(n log n) alternative. [1]</a:t>
            </a:r>
          </a:p>
          <a:p>
            <a:r>
              <a:rPr sz="2000" b="1">
                <a:solidFill>
                  <a:srgbClr val="222222"/>
                </a:solidFill>
                <a:latin typeface="Calibri"/>
              </a:rPr>
              <a:t>4. Explain the difference between time complexity and space complexity, and state the space complexity of an iterative binary search. [3]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 answers (5-8)</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A sorted list doubles in size from 1,024 to 2,048 items. Explain the effect on the worst-case number of comparisons for linear search and for binary search. [3]</a:t>
            </a:r>
          </a:p>
          <a:p>
            <a:pPr lvl="1"/>
            <a:r>
              <a:rPr sz="1800" i="1">
                <a:solidFill>
                  <a:srgbClr val="B76E00"/>
                </a:solidFill>
                <a:latin typeface="Calibri"/>
              </a:rPr>
              <a:t>Answer: Linear search's worst case doubles from 1,024 to 2,048 comparisons because every element may be checked (1); binary search needs only one extra comparison (1) because each comparison halves the range, so one additional halving deals with the doubled list (1).</a:t>
            </a:r>
          </a:p>
          <a:p>
            <a:r>
              <a:rPr sz="2000" b="1">
                <a:solidFill>
                  <a:srgbClr val="222222"/>
                </a:solidFill>
                <a:latin typeface="Calibri"/>
              </a:rPr>
              <a:t>2. State the best-case and worst-case time complexity of linear search and describe the input that causes each. [4]</a:t>
            </a:r>
          </a:p>
          <a:p>
            <a:pPr lvl="1"/>
            <a:r>
              <a:rPr sz="1800" i="1">
                <a:solidFill>
                  <a:srgbClr val="B76E00"/>
                </a:solidFill>
                <a:latin typeface="Calibri"/>
              </a:rPr>
              <a:t>Answer: Best case O(1) (1) when the target is the first element (1); worst case O(n) (1) when the target is the last element or not present, so all n elements are checked (1).</a:t>
            </a:r>
          </a:p>
          <a:p>
            <a:r>
              <a:rPr sz="2000" b="1">
                <a:solidFill>
                  <a:srgbClr val="222222"/>
                </a:solidFill>
                <a:latin typeface="Calibri"/>
              </a:rPr>
              <a:t>3. Give one reason a programmer might reasonably choose an O(n squared) algorithm over an available O(n log n) alternative. [1]</a:t>
            </a:r>
          </a:p>
          <a:p>
            <a:pPr lvl="1"/>
            <a:r>
              <a:rPr sz="1800" i="1">
                <a:solidFill>
                  <a:srgbClr val="B76E00"/>
                </a:solidFill>
                <a:latin typeface="Calibri"/>
              </a:rPr>
              <a:t>Answer: Any one of: the data set is tiny so the difference is negligible; the simpler algorithm is easier to write, test and maintain; it needs no extra memory (1).</a:t>
            </a:r>
          </a:p>
          <a:p>
            <a:r>
              <a:rPr sz="2000" b="1">
                <a:solidFill>
                  <a:srgbClr val="222222"/>
                </a:solidFill>
                <a:latin typeface="Calibri"/>
              </a:rPr>
              <a:t>4. Explain the difference between time complexity and space complexity, and state the space complexity of an iterative binary search. [3]</a:t>
            </a:r>
          </a:p>
          <a:p>
            <a:pPr lvl="1"/>
            <a:r>
              <a:rPr sz="1800" i="1">
                <a:solidFill>
                  <a:srgbClr val="B76E00"/>
                </a:solidFill>
                <a:latin typeface="Calibri"/>
              </a:rPr>
              <a:t>Answer: Time complexity describes how the number of operations grows with n (1); space complexity describes how the memory required grows with n (1); iterative binary search is O(1) space because it only ever stores low, high and mid regardless of n (1).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Common misconceptions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 Students often think Big O measures time in seconds; it measures how the operation count grows with n, independent of hardware.</a:t>
            </a:r>
          </a:p>
          <a:p>
            <a:pPr/>
            <a:r>
              <a:rPr sz="2000" b="0">
                <a:solidFill>
                  <a:srgbClr val="222222"/>
                </a:solidFill>
                <a:latin typeface="Calibri"/>
              </a:rPr>
              <a:t>✗ Students often think O(1) means one operation or means fast; it means the work does not grow with n — it could be a slow fixed amount.</a:t>
            </a:r>
          </a:p>
          <a:p>
            <a:pPr/>
            <a:r>
              <a:rPr sz="2000" b="0">
                <a:solidFill>
                  <a:srgbClr val="222222"/>
                </a:solidFill>
                <a:latin typeface="Calibri"/>
              </a:rPr>
              <a:t>✗ Students often think binary search is always better than linear search; it needs sorted data, and sorting first can cost more than one linear scan.</a:t>
            </a:r>
          </a:p>
          <a:p>
            <a:pPr/>
            <a:r>
              <a:rPr sz="2000" b="0">
                <a:solidFill>
                  <a:srgbClr val="222222"/>
                </a:solidFill>
                <a:latin typeface="Calibri"/>
              </a:rPr>
              <a:t>✗ Students often think large coefficients change the class, writing O(3n squared); coefficients are dropped — growth rate is all Big O keeps.</a:t>
            </a:r>
          </a:p>
          <a:p>
            <a:pPr/>
            <a:r>
              <a:rPr sz="2000" b="0">
                <a:solidFill>
                  <a:srgbClr val="222222"/>
                </a:solidFill>
                <a:latin typeface="Calibri"/>
              </a:rPr>
              <a:t>✗ Students often fear log n as hard maths; it is simply the number of times n can be halved before reaching 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How the exam asks this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Command words here: state a Big O (1 mark), explain or justify a complexity (2-3 marks), compare algorithms for a scenario (4-6 marks), and complete or write a trace table (3-4 marks).</a:t>
            </a:r>
          </a:p>
          <a:p>
            <a:pPr/>
            <a:r>
              <a:rPr sz="2000" b="0">
                <a:solidFill>
                  <a:srgbClr val="222222"/>
                </a:solidFill>
                <a:latin typeface="Calibri"/>
              </a:rPr>
              <a:t>Trace questions demand every value of low, high and mid; a correct final answer with missing intermediate values loses marks.</a:t>
            </a:r>
          </a:p>
          <a:p>
            <a:pPr/>
            <a:r>
              <a:rPr sz="2000" b="0">
                <a:solidFill>
                  <a:srgbClr val="222222"/>
                </a:solidFill>
                <a:latin typeface="Calibri"/>
              </a:rPr>
              <a:t>The classic 1-mark giveaway lost every year: forgetting to state that binary search requires sorted data.</a:t>
            </a:r>
          </a:p>
          <a:p>
            <a:pPr/>
            <a:r>
              <a:rPr sz="2000" b="0">
                <a:solidFill>
                  <a:srgbClr val="222222"/>
                </a:solidFill>
                <a:latin typeface="Calibri"/>
              </a:rPr>
              <a:t>Example stem: 'A phone book app stores 50,000 contacts in alphabetical order. Explain why binary search is more suitable than linear search for this app.' [4]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Your turn</a:t>
            </a:r>
          </a:p>
        </p:txBody>
      </p:sp>
      <p:sp>
        <p:nvSpPr>
          <p:cNvPr id="3" name="TextBox 2"/>
          <p:cNvSpPr txBox="1"/>
          <p:nvPr/>
        </p:nvSpPr>
        <p:spPr>
          <a:xfrm>
            <a:off x="640080" y="1280160"/>
            <a:ext cx="10881360" cy="5120640"/>
          </a:xfrm>
          <a:prstGeom prst="rect">
            <a:avLst/>
          </a:prstGeom>
          <a:noFill/>
        </p:spPr>
        <p:txBody>
          <a:bodyPr wrap="square">
            <a:spAutoFit/>
          </a:bodyPr>
          <a:lstStyle/>
          <a:p>
            <a:pPr/>
            <a:r>
              <a:rPr sz="2400" b="1">
                <a:solidFill>
                  <a:srgbClr val="2B6CB0"/>
                </a:solidFill>
                <a:latin typeface="Calibri"/>
              </a:rPr>
              <a:t>Task</a:t>
            </a:r>
          </a:p>
          <a:p>
            <a:pPr lvl="1"/>
            <a:r>
              <a:rPr sz="2200" b="0">
                <a:solidFill>
                  <a:srgbClr val="222222"/>
                </a:solidFill>
                <a:latin typeface="Calibri"/>
              </a:rPr>
              <a:t>Write the ERL binary search function from memory, then trace it on arr = [2, 6, 11, 15, 23, 31, 40, 52, 67] for target 52, recording low, high and mid at every iteration. (Answer: low=0, high=8, mid=4, arr[4]=23 too small so low=5; low=5, high=8, mid=6, arr[6]=40 too small so low=7; low=7, high=8, mid=7, arr[7]=52 — return 7 after 3 comparisons.) Finish with a two-sentence justification of why the algorithm is O(log n).</a:t>
            </a:r>
          </a:p>
          <a:p>
            <a:r>
              <a:rPr sz="2400" b="1">
                <a:solidFill>
                  <a:srgbClr val="B76E00"/>
                </a:solidFill>
                <a:latin typeface="Calibri"/>
              </a:rPr>
              <a:t>Challenge / stretch</a:t>
            </a:r>
          </a:p>
          <a:p>
            <a:pPr lvl="1"/>
            <a:r>
              <a:rPr sz="2200" b="0">
                <a:solidFill>
                  <a:srgbClr val="222222"/>
                </a:solidFill>
                <a:latin typeface="Calibri"/>
              </a:rPr>
              <a:t>A server must search one billion sorted records. Show that binary search needs at most about 30 comparisons (2 to the 30 is about 1.07 billion) while linear search may need a billion. Then argue the harder question: the records arrive unsorted at 9am and are searched k times during the day — roughly how large must k be before paying the O(n log n) sort makes binary search the right choice, and what would you do if k = 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Simplify 5n squared + 90n + 2000 to Big O notation.</a:t>
            </a:r>
          </a:p>
          <a:p>
            <a:r>
              <a:rPr sz="2200" b="1">
                <a:solidFill>
                  <a:srgbClr val="222222"/>
                </a:solidFill>
                <a:latin typeface="Calibri"/>
              </a:rPr>
              <a:t>2. State the one precondition of binary search and what happens to the worst-case comparisons when the list doubles in length.</a:t>
            </a:r>
          </a:p>
          <a:p>
            <a:r>
              <a:rPr sz="2200" b="1">
                <a:solidFill>
                  <a:srgbClr val="222222"/>
                </a:solidFill>
                <a:latin typeface="Calibri"/>
              </a:rPr>
              <a:t>3. Give the best and worst case of linear search with the input that causes each.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Simplify 5n squared + 90n + 2000 to Big O notation.</a:t>
            </a:r>
          </a:p>
          <a:p>
            <a:pPr lvl="1"/>
            <a:r>
              <a:rPr sz="1800" i="1">
                <a:solidFill>
                  <a:srgbClr val="B76E00"/>
                </a:solidFill>
                <a:latin typeface="Calibri"/>
              </a:rPr>
              <a:t>Answer: O(n squared) — drop constants and lower-order terms, keeping the dominant term.</a:t>
            </a:r>
          </a:p>
          <a:p>
            <a:r>
              <a:rPr sz="2200" b="1">
                <a:solidFill>
                  <a:srgbClr val="222222"/>
                </a:solidFill>
                <a:latin typeface="Calibri"/>
              </a:rPr>
              <a:t>2. State the one precondition of binary search and what happens to the worst-case comparisons when the list doubles in length.</a:t>
            </a:r>
          </a:p>
          <a:p>
            <a:pPr lvl="1"/>
            <a:r>
              <a:rPr sz="1800" i="1">
                <a:solidFill>
                  <a:srgbClr val="B76E00"/>
                </a:solidFill>
                <a:latin typeface="Calibri"/>
              </a:rPr>
              <a:t>Answer: The list must be sorted; doubling the list adds just one comparison, because each comparison halves the range.</a:t>
            </a:r>
          </a:p>
          <a:p>
            <a:r>
              <a:rPr sz="2200" b="1">
                <a:solidFill>
                  <a:srgbClr val="222222"/>
                </a:solidFill>
                <a:latin typeface="Calibri"/>
              </a:rPr>
              <a:t>3. Give the best and worst case of linear search with the input that causes each.</a:t>
            </a:r>
          </a:p>
          <a:p>
            <a:pPr lvl="1"/>
            <a:r>
              <a:rPr sz="1800" i="1">
                <a:solidFill>
                  <a:srgbClr val="B76E00"/>
                </a:solidFill>
                <a:latin typeface="Calibri"/>
              </a:rPr>
              <a:t>Answer: Best O(1) when the target is first; worst O(n) when the target is last or absent, so every element is checked.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