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2.3.1 Algorithms (part 2 — sorting)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Year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describe and write bubble sort (with an early-exit flag) and insertion sort in OCR Exam Reference Language.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describe merge sort's divide and merge phases and quick sort's pivot and partition, and trace all four sorts on concrete lists.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state and justify the best and worst-case Big O of each sorting algorithm.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I can choose and justify the most suitable sort for a given scenario.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part 1: simplify 5n squared + 3n + 20 to Big O notation.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part 1: state the precondition of binary search and its worst-case time complexity.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part 1: why does doubling the length of a sorted list add only one comparison to binary search's worst case?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part 1: a list has 9 items at indices 0 to 8. What is the first mid calculated by binary search?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part 1: state the best case of linear search and the input that causes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From part 1: simplify 5n squared + 3n + 20 to Big O notation.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O(n squared) — keep the dominant term, drop constants and lower-order terms.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From part 1: state the precondition of binary search and its worst-case time complexity.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list must be sorted; worst case O(log n).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From part 1: why does doubling the length of a sorted list add only one comparison to binary search's worst case?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Each comparison halves the remaining range, so one extra halving handles the doubled list.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From part 1: a list has 9 items at indices 0 to 8. What is the first mid calculated by binary search?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mid = (0 + 8) DIV 2 = 4.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From part 1: state the best case of linear search and the input that causes it.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O(1), when the target is the first element checked.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Bubble sort</a:t>
            </a:r>
            <a:r>
              <a:rPr sz="1800">
                <a:solidFill>
                  <a:srgbClr val="222222"/>
                </a:solidFill>
                <a:latin typeface="Calibri"/>
              </a:rPr>
              <a:t> — Repeatedly compares adjacent pairs and swaps them if out of order; the largest value bubbles to the end each pass.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Early-exit flag</a:t>
            </a:r>
            <a:r>
              <a:rPr sz="1800">
                <a:solidFill>
                  <a:srgbClr val="222222"/>
                </a:solidFill>
                <a:latin typeface="Calibri"/>
              </a:rPr>
              <a:t> — A boolean recording whether a bubble sort pass made any swap; a clean pass proves the list is sorted, so stop.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Insertion sort</a:t>
            </a:r>
            <a:r>
              <a:rPr sz="1800">
                <a:solidFill>
                  <a:srgbClr val="222222"/>
                </a:solidFill>
                <a:latin typeface="Calibri"/>
              </a:rPr>
              <a:t> — Grows a sorted section at the front, inserting each next element by shifting larger sorted elements right.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Merge sort</a:t>
            </a:r>
            <a:r>
              <a:rPr sz="1800">
                <a:solidFill>
                  <a:srgbClr val="222222"/>
                </a:solidFill>
                <a:latin typeface="Calibri"/>
              </a:rPr>
              <a:t> — Divide and conquer sort: halve the list until single elements remain, then repeatedly merge sorted sublists.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Merge</a:t>
            </a:r>
            <a:r>
              <a:rPr sz="1800">
                <a:solidFill>
                  <a:srgbClr val="222222"/>
                </a:solidFill>
                <a:latin typeface="Calibri"/>
              </a:rPr>
              <a:t> — Combining two sorted lists by repeatedly taking the smaller front element; linear in the total length.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Quick sort</a:t>
            </a:r>
            <a:r>
              <a:rPr sz="1800">
                <a:solidFill>
                  <a:srgbClr val="222222"/>
                </a:solidFill>
                <a:latin typeface="Calibri"/>
              </a:rPr>
              <a:t> — Divide and conquer sort: choose a pivot, partition into smaller-than and larger-than sides, recurse on each side.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Pivot</a:t>
            </a:r>
            <a:r>
              <a:rPr sz="1800">
                <a:solidFill>
                  <a:srgbClr val="222222"/>
                </a:solidFill>
                <a:latin typeface="Calibri"/>
              </a:rPr>
              <a:t> — The element quick sort compares everything against; after partitioning it sits in its final sorted position.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Stable sort</a:t>
            </a:r>
            <a:r>
              <a:rPr sz="1800">
                <a:solidFill>
                  <a:srgbClr val="222222"/>
                </a:solidFill>
                <a:latin typeface="Calibri"/>
              </a:rPr>
              <a:t> — A sort that keeps items with equal keys in their original relative order (bubble, insertion, merge are stable).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In-place sort</a:t>
            </a:r>
            <a:r>
              <a:rPr sz="1800">
                <a:solidFill>
                  <a:srgbClr val="222222"/>
                </a:solidFill>
                <a:latin typeface="Calibri"/>
              </a:rPr>
              <a:t> — A sort needing only O(1) extra memory, rearranging within the original array (bubble, insertion).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sorting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Sorting arranges a list into order; it is what makes binary search possible.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We measure sorts by comparisons and swaps or copies as n grows.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four H446 sorts split into two families: simple O(n squared) passes, and divide and conquer O(n log n).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Also compare stability (equal items keep their order) and space (in-place or not).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No single best sort exists — every choice is a trade-off, which is why exams ask you to justify.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Bubble sort: mechanism and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Compare adjacent pairs left to right, swapping when the left is bigger.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After pass one, the largest value has bubbled to the end — its final position.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pass can therefore ignore one more element at the end (n = n - 1).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swapped flag gives the early exit: a pass with zero swaps proves the list is sorted.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procedure bubbleSort(arr)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n = arr.length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swapped = true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while swapped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swapped = false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for i = 0 to n - 2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if arr[i] &gt; arr[i + 1] then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    temp = arr[i]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    arr[i] = arr[i + 1]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    arr[i + 1] = temp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    swapped = true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endif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next i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n = n - 1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endwhile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endprocedure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Bubble sort: verified trace of [6, 2, 9, 1, 5] and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Pass 1 (4 comparisons, 3 swaps): swap 6,2 then 9,1 then 9,5 — [2, 6, 1, 5, 9]; 9 is fixed.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Pass 2 (3 comparisons, 2 swaps): [2, 1, 5, 6, 9]. Pass 3 (2 comparisons, 1 swap): [1, 2, 5, 6, 9].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Pass 4 (1 comparison): zero swaps, so the flag stops it. Totals: 10 comparisons, 6 swaps.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Worst case O(n squared): up to n - 1 passes of up to n - 1 comparisons each — nested loops, (n - 1) + (n - 2) + ... + 1 = n(n - 1)/2.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Best case O(n): sorted data gives one clean pass and the flag stops it — without the flag, every case is O(n squared).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After pass k the k largest values are in final position; trace questions award every intermediate list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Insertion sort: mechanism and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Treat arr[0] as a sorted section of one; take each next element as current.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Shift sorted elements bigger than current one place right, then drop current into the gap.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while loop exits immediately when no shifting is needed — the source of the O(n) best case.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After the loop, j sits one place left of the insertion point, hence arr[j + 1] = current.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procedure insertionSort(arr)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for i = 1 to arr.length - 1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current = arr[i]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j = i - 1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while j &gt;= 0 AND arr[j] &gt; current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arr[j + 1] = arr[j]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    j = j - 1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endwhile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arr[j + 1] = current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next i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endprocedure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Insertion sort: verified trace of [8, 4, 6, 2, 7] and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i=1, current 4: shift 8 right, insert at 0 — [4, 8, 6, 2, 7].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i=2, current 6: shift 8, insert at 1 — [4, 6, 8, 2, 7].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i=3, current 2: shift 8, 6, 4, insert at 0 — [2, 4, 6, 8, 7].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i=4, current 7: shift 8, insert at 3 — [2, 4, 6, 7, 8]. Total 6 shifts.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Worst case O(n squared) on reverse-sorted data (every element shifts past all before it); best case O(n) on sorted data (no shifts). Stable, in-place.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Insertion sort is the H446 pick for small or nearly-sorted lists.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Merge sort: the divide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Divide and conquer: halve the list recursively until every sublist is one element.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one-element list is trivially sorted — that is the base case.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Halving a list of n takes about log base 2 of n levels: 8 elements need 3 levels.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Odd lengths split unevenly (6 into 3 and 3, then 3 into 1 and 2) — the algorithm is unchanged.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function mergeSort(arr)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if arr.length &lt;= 1 then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return arr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endif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mid = arr.length DIV 2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left = mergeSort(elements 0 to mid - 1)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right = mergeSort(elements mid to arr.length - 1)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return merge(left, right)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endfunction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Merge sort: the merge phase and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Merging two sorted lists: repeatedly compare the two front elements and take the smaller.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When one list empties, append the remainder of the other.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invariant: because both lists are sorted, the smallest unplaced value is always at one of the two fronts.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Every level of the recursion merges all n elements, and there are log n levels: O(n log n) in ALL cases.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Cost: the merge builds new lists — O(n) extra space, merge sort's one drawback. Stable.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Merge sort's complexity does not depend on the input order — the guarantee is its selling point.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Quick sort: pivot and partition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Choose a pivot (we use the first element); partition the rest into smaller-than-pivot and larger-than-pivot sides.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After one partition the pivot is in its final sorted position — the only value guaranteed placed.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Recurse on the left side and the right side; sides of length 0 or 1 are the base case.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One partition of k elements makes k - 1 comparisons (everything against the pivot).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procedure quickSort(arr, low, high)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if low &lt; high then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pivotIndex = partition(arr, low, high)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quickSort(arr, low, pivotIndex - 1)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  quickSort(arr, pivotIndex + 1, high)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endif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endprocedure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Quick sort: complexity and the pivot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Average and best case O(n log n): good pivots halve the list, giving log n levels of about n comparisons.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Worst case O(n squared): a poor pivot (e.g. first element of already-sorted data) puts everything on one side.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That degenerate case gives n levels of partitions sized n-1, n-2, ..., 1 — the bubble-sort sum again.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Fixes: random pivot or median-of-three make the worst case very unlikely.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 practice very fast and in-place (O(log n) stack space), but not stable and not guaranteed.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Choosing a sort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Tiny list, simplest possible code: bubble sort.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Small or nearly-sorted data, or data arriving item by item: insertion sort (O(n) best case).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Guaranteed performance or stability required, memory available: merge sort.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Large in-memory data, average speed matters most: quick sort.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 answers must name the property that fits the scenario, not just the algorithm.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Sort        Best        Average     Worst       Space     Stable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Bubble      O(n)*       O(n sq)     O(n sq)     O(1)      yes    *flag needed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Insertion   O(n)        O(n sq)     O(n sq)     O(1)      yes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Merge       O(n log n)  O(n log n)  O(n log n)  O(n)      yes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Quick       O(n log n)  O(n log n)  O(n sq)     O(log n)  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Full merge sort of [9, 3, 7, 1, 8, 2]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Divide: [9, 3, 7, 1, 8, 2] splits into [9, 3, 7] and [1, 8, 2].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Divide again: [9, 3, 7] splits into [9] and [3, 7]; [3, 7] splits into [3] and [7]. Likewise [1, 8, 2] splits into [1] and [8, 2]; [8, 2] splits into [8] and [2]. All sublists are now single elements — base case.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Merge level 1: [3] and [7] merge to [3, 7]; [8] and [2] merge to [2, 8].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Merge level 2: [9] with [3, 7] — compare 9 and 3, take 3; compare 9 and 7, take 7; append 9 — gives [3, 7, 9]. [1] with [2, 8] — compare 1 and 2, take 1; left list empty, append 2, 8 — gives [1, 2, 8].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Final merge of [3, 7, 9] and [1, 2, 8]: 3 v 1 take 1; 3 v 2 take 2; 3 v 8 take 3; 7 v 8 take 7; 9 v 8 take 8; append 9 — [1, 2, 3, 7, 8, 9] in 5 comparisons.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Complexity check on the trace: 3 levels of merging (log base 2 of 6 rounded up), each handling all 6 elements — O(n log n), and it would be the same for any starting order.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Full quick sort of [4, 9, 1, 6, 3, 8] (first-element pivot)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Partition around pivot 4: 9 goes right, 1 left, 6 right, 3 left, 8 right (5 comparisons). LEFT = [1, 3], pivot 4 placed at final index 2, RIGHT = [9, 6, 8].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Recurse LEFT [1, 3]: pivot 1; 3 goes right (1 comparison). LEFT empty, RIGHT = [3]. Both sides length &lt;= 1 — done: [1, 3].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Recurse RIGHT [9, 6, 8]: pivot 9; 6 and 8 both go left (2 comparisons). LEFT = [6, 8], RIGHT empty.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Recurse [6, 8]: pivot 6; 8 goes right (1 comparison) — done: [6, 8]. So the right side resolves to [6, 8, 9].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Assemble: [1, 3] + [4] + [6, 8, 9] = [1, 3, 4, 6, 8, 9]. Total 9 comparisons.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Note the pivot pathology: sorting already-sorted [1, 3, 4, 6, 8, 9] with first-element pivots would put everything on one side every time — partitions of 5, 4, 3, 2, 1 elements, which is O(n squared).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The early-exit flag earning its keep on nearly-sorted [1, 2, 4, 3, 5]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Pass 1: compare 1,2 (no swap); 2,4 (no); 4,3 (swap — list becomes [1, 2, 3, 4, 5]); 4,5 (no). swapped = true, so another pass is required.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Pass 2: compare 1,2; 2,3; 3,4 — no swaps at all. swapped stays false.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The while loop ends: 2 passes, 7 comparisons, 1 swap.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Without the flag, bubble sort would blindly run all 4 passes (10 comparisons) on a list that was sorted after one swap.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On fully sorted data the flag version does exactly one pass of n - 1 comparisons and stops: that is the O(n) best case.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One-line exam justification: the flag detects a pass with zero swaps, which proves the list is sorted, so no further passes run.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Human bubble sort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Five students hold cards 5, 1, 4, 2, 8 (left to right = index 0 to 4); a judge walks along adjacent pairs and orders a physical swap when the left card is bigger; the class calls SWAP or NO SWAP first.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Pass 1 (4 comparisons, 3 swaps): 5,1 swap; 5,4 swap; 5,2 swap; 5,8 no — line reads 1 4 2 5 8 and the 8 sits down in the sorted zone.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Pass 2 (3 comparisons, 1 swap): gives 1 2 4 5 8, and 5 sits down. Pass 3 (2 comparisons, 0 swaps): the swap-flag card stays clean, so STOP.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Tally the totals: 3 passes, 9 comparisons, 4 swaps.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Ask: why O(n squared)? (Up to n - 1 passes of up to n - 1 comparisons — nested loops.) When is it O(n)? (Sorted input, one clean pass — only because we kept the flag.)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Re-run on 1 2 4 5 8 to show the flag giving a single O(n) pass, then predict the swap count for the reverse list 8 5 4 2 1 before running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Bug hunt: insertion sort  (12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Give pairs a printed insertion sort containing exactly three bugs: the while condition reads arr[j] &lt; current, the loop never decrements j, and the final write is arr[j] = current.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No fix accepted without evidence: pairs must name the line, say what goes wrong at run time, and give the corrected line.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Expected findings: arr[j] &lt; current sorts descending (fix: arr[j] &gt; current); the missing j = j - 1 hangs forever whenever a shift happens; arr[j] = current writes one slot too far left (fix: arr[j + 1] = current).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Once fixed, pairs hand-trace [5, 3, 8, 1]: i=1 gives [3, 5, 8, 1]; i=2 gives [3, 5, 8, 1] (no shifts); i=3 gives [1, 3, 5, 8].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Debrief: why does insertion sort suit nearly-sorted data? (The while loop exits immediately when no shifting is needed — best case O(n).)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Which input makes the fixed code shift the most? (Reverse-sorted.) If records are sorted by one field then another, why does insertion sort's stability matter? (Equal keys keep their order, so the earlier sort survives.)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Pivot! The human quick sort partition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Seven students line up holding 7 2 9 4 8 5 1; crown the first (7) as pivot in a taped PIVOT zone; the others walk one at a time to LEFT (smaller) or RIGHT (larger), keeping arrival order.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First partition result: LEFT = 2, 4, 5, 1; PIVOT = 7; RIGHT = 9, 8 — six comparisons, and only the pivot is guaranteed in its final position (position 5 of 7).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Recurse: crown 2 in the LEFT zone (LEFT = 1, RIGHT = 4, 5; then pivot 4 sends 5 right), and 9 in the RIGHT zone (8 goes left). Read the final line: 1 2 4 5 7 8 9.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Debrief: about n comparisons per level and roughly log n levels when partitions halve — O(n log n) on average.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Then re-run on the sorted line 1 2 4 5 7 8 9 with first-person pivots: every partition dumps everyone on one side — partitions of 6, 5, 4, 3, 2, 1 (21 comparisons), n levels, O(n squared).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Re-run the sorted case choosing the middle person as pivot — near-perfect halving returns. Is human quick sort stable? (No — walking to zones can reorder equal values; quick sort is not stable.)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Show the list [4, 8, 2, 6, 1] after one complete pass of bubble sort, and state which value is now guaranteed in its final position.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bubble sort's best case is O(n) only when an early-exit flag is used.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Insertion sort is applied to [9, 5, 7, 3]. Show the list after each of the first two iterations of the outer loop. [2]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merge sort has time complexity O(n log n) in the best, average and worst case. [3]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Show the list [4, 8, 2, 6, 1] after one complete pass of bubble sort, and state which value is now guaranteed in its final position.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Compare 4,8 (no swap); 8,2 (swap); 8,6 (swap); 8,1 (swap) (1). After the pass the list is [4, 2, 6, 1, 8] (1). The 8 — the largest value — is guaranteed in its final position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why bubble sort's best case is O(n) only when an early-exit flag is used.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On already-sorted data the first pass makes zero swaps (1); the flag records this, proving the list is sorted, so the algorithm stops after one pass of n - 1 comparisons (1); without the flag every pass still runs, so even sorted data costs O(n squared)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Insertion sort is applied to [9, 5, 7, 3]. Show the list after each of the first two iterations of the outer loop.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i=1 (current 5): 9 shifts right, giving [5, 9, 7, 3] (1). i=2 (current 7): 9 shifts right, giving [5, 7, 9, 3]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merge sort has time complexity O(n log n) in the best, average and worst case.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list is repeatedly halved, giving about log base 2 of n levels of recursion (1); at every level the merges process all n elements (1); this happens regardless of the initial order of the data, so all cases are n times log n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main disadvantage of merge sort compared with quick sort. [1]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Identify an input and pivot choice that cause quick sort to run in O(n squared) time, and explain why.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hospital re-sorts an almost-sorted list of 300 patient records every hour on a low-memory device. State the most suitable sorting algorithm and justify your choice. [3]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Give two reasons quick sort is often preferred in practice despite its O(n squared) worst case. [2]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State the main disadvantage of merge sort compared with quick sort. [1]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 needs O(n) additional memory for the merged lists, whereas quick sort works in place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Identify an input and pivot choice that cause quick sort to run in O(n squared) time, and explain why.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Already-sorted (or reverse-sorted) data with the first element as pivot (1); every partition places all remaining elements on one side of the pivot (1); this gives n levels of partitions doing n-1, n-2, ... comparisons, a total proportional to n squared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hospital re-sorts an almost-sorted list of 300 patient records every hour on a low-memory device. State the most suitable sorting algorithm and justify your choice. [3]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Insertion sort (1); on nearly-sorted data it approaches its O(n) best case because little or no shifting is needed (1); it is in-place, using O(1) extra memory, unlike merge sort's O(n)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Give two reasons quick sort is often preferred in practice despite its O(n squared) worst case. [2]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Its average case is O(n log n) with small constant factors, so it is very fast on typical data (1); it sorts in place needing only O(log n) stack space, unlike merge sort's O(n) extra memory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bubble sort's best case is O(n) automatically; it is O(n) only with the early-exit flag — without it, every pass runs regardless.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say quick sort is O(n log n); its average case is, but the worst case is O(n squared) with a poor pivot, and exams target exactly that distinction.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merge sort's guarantee is free; it costs O(n) extra memory for the merge lists — the classic time-versus-space trade-off.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trace insertion sort as if it swaps adjacent pairs like bubble sort; it shifts a block of larger elements right and inserts, which is why nearly-sorted input is so cheap.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believe a faster Big O always wins; on a five-element list insertion sort beats merge sort — constants and input size matter in scenario questions.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words: show or complete a trace pass by pass (3-4 marks), explain a complexity with justification (2-3 marks), compare and justify a choice of sort for a scenario (4-6 marks, and a favourite 9-mark extended response).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Trace questions award the intermediate list states — a correct final list with no working scores little.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three discriminators examiners test: the flag behind bubble's O(n) best case, quick sort's O(n squared) worst case and its cause, merge sort's O(n) space cost.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'An online store must sort 10 million orders where consistent response time is essential. Discuss the suitability of quick sort and merge sort for this task.' [9]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Trace insertion sort on [7, 2, 5, 10, 3], writing the full array after each value of i and counting shifts. (Answer: i=1 gives [2, 7, 5, 10, 3] with 1 shift; i=2 gives [2, 5, 7, 10, 3] with 1 shift; i=3 gives [2, 5, 7, 10, 3] with 0 shifts; i=4 gives [2, 3, 5, 7, 10] with 3 shifts — 5 shifts in total.) Then state which input pattern would maximise the shifts and give the resulting Big O with a one-sentence justification.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A logging system appends about 50 new readings each minute to a list of one million already-sorted readings, and the full list must be sorted again every minute on a memory-constrained device. Rule each of the four sorts in or out with justification, then defend the strongest choice in a paragraph. (Key ideas: the list is always nearly sorted, so insertion sort approaches O(n); merge sort's O(n) extra space breaks the memory constraint; quick sort's first-element pivot hits its O(n squared) pathology on sorted data unless the pivot strategy is changed.)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After one pass of bubble sort, what is guaranteed, and what does a pass with zero swaps prove?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State the worst-case complexity of quick sort and the situation that causes it.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Which sort guarantees O(n log n) in all cases, and what does that guarantee cost?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After one pass of bubble sort, what is guaranteed, and what does a pass with zero swaps prove?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The largest remaining value is in its final position; a zero-swap pass proves the whole list is sorted, so the flag stops the algorithm.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State the worst-case complexity of quick sort and the situation that causes it.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O(n squared), caused by a poor pivot such as the first element of already-sorted data, making every partition one-sided.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Which sort guarantees O(n log n) in all cases, and what does that guarantee cost?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Merge sort; it costs O(n) extra memory for the merge 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