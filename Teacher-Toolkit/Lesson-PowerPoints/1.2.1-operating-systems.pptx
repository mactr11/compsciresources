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1.2.1 Operating Systems</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Lesson deck — editable skeleton: adapt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Describe how an operating system manages memory (paging, segmentation and virtual memory) and handles interrupts using the stack.</a:t>
            </a:r>
          </a:p>
          <a:p>
            <a:pPr lvl="1"/>
            <a:r>
              <a:rPr sz="2200" b="0">
                <a:solidFill>
                  <a:srgbClr val="222222"/>
                </a:solidFill>
                <a:latin typeface="Calibri"/>
              </a:rPr>
              <a:t>Compare CPU scheduling algorithms and explain the purpose of different types of operating system.</a:t>
            </a:r>
          </a:p>
          <a:p>
            <a:pPr lvl="1"/>
            <a:r>
              <a:rPr sz="2200" b="0">
                <a:solidFill>
                  <a:srgbClr val="222222"/>
                </a:solidFill>
                <a:latin typeface="Calibri"/>
              </a:rPr>
              <a:t>Explain the roles of the BIOS, device drivers and virtual machines in a computer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is the purpose of a CPU register, and which register holds the address of the next instruction?</a:t>
            </a:r>
          </a:p>
          <a:p>
            <a:r>
              <a:rPr sz="2200" b="1">
                <a:solidFill>
                  <a:srgbClr val="222222"/>
                </a:solidFill>
                <a:latin typeface="Calibri"/>
              </a:rPr>
              <a:t>2. State the three steps of the fetch-decode-execute cycle in order.</a:t>
            </a:r>
          </a:p>
          <a:p>
            <a:r>
              <a:rPr sz="2200" b="1">
                <a:solidFill>
                  <a:srgbClr val="222222"/>
                </a:solidFill>
                <a:latin typeface="Calibri"/>
              </a:rPr>
              <a:t>3. Define an operating system.</a:t>
            </a:r>
          </a:p>
          <a:p>
            <a:r>
              <a:rPr sz="2200" b="1">
                <a:solidFill>
                  <a:srgbClr val="222222"/>
                </a:solidFill>
                <a:latin typeface="Calibri"/>
              </a:rPr>
              <a:t>4. What is the difference between paging and segmentation?</a:t>
            </a:r>
          </a:p>
          <a:p>
            <a:r>
              <a:rPr sz="2200" b="1">
                <a:solidFill>
                  <a:srgbClr val="222222"/>
                </a:solidFill>
                <a:latin typeface="Calibri"/>
              </a:rPr>
              <a:t>5. Why does virtual memory not actually add RAM, and what risk does heavy use cause?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What is the purpose of a CPU register, and which register holds the address of the next instruction?</a:t>
            </a:r>
          </a:p>
          <a:p>
            <a:pPr lvl="1"/>
            <a:r>
              <a:rPr sz="1800" i="1">
                <a:solidFill>
                  <a:srgbClr val="B76E00"/>
                </a:solidFill>
                <a:latin typeface="Calibri"/>
              </a:rPr>
              <a:t>Answer: A register is a small, fast on-chip store; the Program Counter (PC) holds the address of the next instruction (interleaving 1.1.1).</a:t>
            </a:r>
          </a:p>
          <a:p>
            <a:r>
              <a:rPr sz="2200" b="1">
                <a:solidFill>
                  <a:srgbClr val="222222"/>
                </a:solidFill>
                <a:latin typeface="Calibri"/>
              </a:rPr>
              <a:t>2. State the three steps of the fetch-decode-execute cycle in order.</a:t>
            </a:r>
          </a:p>
          <a:p>
            <a:pPr lvl="1"/>
            <a:r>
              <a:rPr sz="1800" i="1">
                <a:solidFill>
                  <a:srgbClr val="B76E00"/>
                </a:solidFill>
                <a:latin typeface="Calibri"/>
              </a:rPr>
              <a:t>Answer: Fetch the instruction from memory, decode it in the CU, then execute it (interleaving 1.1.1).</a:t>
            </a:r>
          </a:p>
          <a:p>
            <a:r>
              <a:rPr sz="2200" b="1">
                <a:solidFill>
                  <a:srgbClr val="222222"/>
                </a:solidFill>
                <a:latin typeface="Calibri"/>
              </a:rPr>
              <a:t>3. Define an operating system.</a:t>
            </a:r>
          </a:p>
          <a:p>
            <a:pPr lvl="1"/>
            <a:r>
              <a:rPr sz="1800" i="1">
                <a:solidFill>
                  <a:srgbClr val="B76E00"/>
                </a:solidFill>
                <a:latin typeface="Calibri"/>
              </a:rPr>
              <a:t>Answer: Software that manages the hardware and provides a platform on which applications can run, using abstraction to hide complexity.</a:t>
            </a:r>
          </a:p>
          <a:p>
            <a:r>
              <a:rPr sz="2200" b="1">
                <a:solidFill>
                  <a:srgbClr val="222222"/>
                </a:solidFill>
                <a:latin typeface="Calibri"/>
              </a:rPr>
              <a:t>4. What is the difference between paging and segmentation?</a:t>
            </a:r>
          </a:p>
          <a:p>
            <a:pPr lvl="1"/>
            <a:r>
              <a:rPr sz="1800" i="1">
                <a:solidFill>
                  <a:srgbClr val="B76E00"/>
                </a:solidFill>
                <a:latin typeface="Calibri"/>
              </a:rPr>
              <a:t>Answer: Paging splits memory into fixed-size blocks; segmentation splits it into variable-size logical blocks.</a:t>
            </a:r>
          </a:p>
          <a:p>
            <a:r>
              <a:rPr sz="2200" b="1">
                <a:solidFill>
                  <a:srgbClr val="222222"/>
                </a:solidFill>
                <a:latin typeface="Calibri"/>
              </a:rPr>
              <a:t>5. Why does virtual memory not actually add RAM, and what risk does heavy use cause?</a:t>
            </a:r>
          </a:p>
          <a:p>
            <a:pPr lvl="1"/>
            <a:r>
              <a:rPr sz="1800" i="1">
                <a:solidFill>
                  <a:srgbClr val="B76E00"/>
                </a:solidFill>
                <a:latin typeface="Calibri"/>
              </a:rPr>
              <a:t>Answer: It uses secondary storage as if it were RAM (so it is slower); excessive swapping causes disk thrashing.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Operating system</a:t>
            </a:r>
            <a:r>
              <a:rPr sz="1800">
                <a:solidFill>
                  <a:srgbClr val="222222"/>
                </a:solidFill>
                <a:latin typeface="Calibri"/>
              </a:rPr>
              <a:t> — Software that manages hardware and provides a platform for applications, hiding complexity through abstraction.</a:t>
            </a:r>
          </a:p>
          <a:p>
            <a:r>
              <a:rPr b="1" sz="2000">
                <a:solidFill>
                  <a:srgbClr val="1A365D"/>
                </a:solidFill>
                <a:latin typeface="Calibri"/>
              </a:rPr>
              <a:t>Paging</a:t>
            </a:r>
            <a:r>
              <a:rPr sz="1800">
                <a:solidFill>
                  <a:srgbClr val="222222"/>
                </a:solidFill>
                <a:latin typeface="Calibri"/>
              </a:rPr>
              <a:t> — Dividing memory into fixed-size blocks (pages mapped to frames) using a page table.</a:t>
            </a:r>
          </a:p>
          <a:p>
            <a:r>
              <a:rPr b="1" sz="2000">
                <a:solidFill>
                  <a:srgbClr val="1A365D"/>
                </a:solidFill>
                <a:latin typeface="Calibri"/>
              </a:rPr>
              <a:t>Segmentation</a:t>
            </a:r>
            <a:r>
              <a:rPr sz="1800">
                <a:solidFill>
                  <a:srgbClr val="222222"/>
                </a:solidFill>
                <a:latin typeface="Calibri"/>
              </a:rPr>
              <a:t> — Dividing memory into variable-size logical blocks based on the program's structure.</a:t>
            </a:r>
          </a:p>
          <a:p>
            <a:r>
              <a:rPr b="1" sz="2000">
                <a:solidFill>
                  <a:srgbClr val="1A365D"/>
                </a:solidFill>
                <a:latin typeface="Calibri"/>
              </a:rPr>
              <a:t>Virtual memory</a:t>
            </a:r>
            <a:r>
              <a:rPr sz="1800">
                <a:solidFill>
                  <a:srgbClr val="222222"/>
                </a:solidFill>
                <a:latin typeface="Calibri"/>
              </a:rPr>
              <a:t> — Using secondary storage (swap/page file) as if it were RAM to run more or larger programs.</a:t>
            </a:r>
          </a:p>
          <a:p>
            <a:r>
              <a:rPr b="1" sz="2000">
                <a:solidFill>
                  <a:srgbClr val="1A365D"/>
                </a:solidFill>
                <a:latin typeface="Calibri"/>
              </a:rPr>
              <a:t>Disk thrashing</a:t>
            </a:r>
            <a:r>
              <a:rPr sz="1800">
                <a:solidFill>
                  <a:srgbClr val="222222"/>
                </a:solidFill>
                <a:latin typeface="Calibri"/>
              </a:rPr>
              <a:t> — Excessive paging between RAM and disk that wastes time and slows the system to a crawl.</a:t>
            </a:r>
          </a:p>
          <a:p>
            <a:r>
              <a:rPr b="1" sz="2000">
                <a:solidFill>
                  <a:srgbClr val="1A365D"/>
                </a:solidFill>
                <a:latin typeface="Calibri"/>
              </a:rPr>
              <a:t>Interrupt</a:t>
            </a:r>
            <a:r>
              <a:rPr sz="1800">
                <a:solidFill>
                  <a:srgbClr val="222222"/>
                </a:solidFill>
                <a:latin typeface="Calibri"/>
              </a:rPr>
              <a:t> — A hardware or software signal that a device or process needs the processor's attention.</a:t>
            </a:r>
          </a:p>
          <a:p>
            <a:r>
              <a:rPr b="1" sz="2000">
                <a:solidFill>
                  <a:srgbClr val="1A365D"/>
                </a:solidFill>
                <a:latin typeface="Calibri"/>
              </a:rPr>
              <a:t>ISR</a:t>
            </a:r>
            <a:r>
              <a:rPr sz="1800">
                <a:solidFill>
                  <a:srgbClr val="222222"/>
                </a:solidFill>
                <a:latin typeface="Calibri"/>
              </a:rPr>
              <a:t> — Interrupt service routine: OS code that deals with a specific interrupt.</a:t>
            </a:r>
          </a:p>
          <a:p>
            <a:r>
              <a:rPr b="1" sz="2000">
                <a:solidFill>
                  <a:srgbClr val="1A365D"/>
                </a:solidFill>
                <a:latin typeface="Calibri"/>
              </a:rPr>
              <a:t>Real-time OS</a:t>
            </a:r>
            <a:r>
              <a:rPr sz="1800">
                <a:solidFill>
                  <a:srgbClr val="222222"/>
                </a:solidFill>
                <a:latin typeface="Calibri"/>
              </a:rPr>
              <a:t> — An operating system that guarantees a response within a set time limit or deadline.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Memory management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Paging uses fixed-size blocks (pages and frames) and suffers internal fragmentation; segmentation uses variable-size logical blocks and suffers external fragmentation.</a:t>
            </a:r>
          </a:p>
          <a:p>
            <a:pPr/>
            <a:r>
              <a:rPr sz="2200" b="0">
                <a:solidFill>
                  <a:srgbClr val="222222"/>
                </a:solidFill>
                <a:latin typeface="Calibri"/>
              </a:rPr>
              <a:t>A page table maps each logical page to a physical frame.</a:t>
            </a:r>
          </a:p>
          <a:p>
            <a:pPr/>
            <a:r>
              <a:rPr sz="2200" b="0">
                <a:solidFill>
                  <a:srgbClr val="222222"/>
                </a:solidFill>
                <a:latin typeface="Calibri"/>
              </a:rPr>
              <a:t>Virtual memory uses secondary storage as if it were RAM so programs larger than RAM can run, but it is slower than real RAM.</a:t>
            </a:r>
          </a:p>
          <a:p>
            <a:pPr/>
            <a:r>
              <a:rPr sz="2200" b="0">
                <a:solidFill>
                  <a:srgbClr val="222222"/>
                </a:solidFill>
                <a:latin typeface="Calibri"/>
              </a:rPr>
              <a:t>A page fault means the needed page is on disk and must be swapped back in; too much swapping causes disk thrashing.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Interrupts and the ISR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An interrupt is a signal that a device or process needs CPU attention, avoiding wasteful polling.</a:t>
            </a:r>
          </a:p>
          <a:p>
            <a:pPr/>
            <a:r>
              <a:rPr sz="2200" b="0">
                <a:solidFill>
                  <a:srgbClr val="222222"/>
                </a:solidFill>
                <a:latin typeface="Calibri"/>
              </a:rPr>
              <a:t>Interrupts carry priorities held in an interrupt register or priority queue.</a:t>
            </a:r>
          </a:p>
          <a:p>
            <a:pPr/>
            <a:r>
              <a:rPr sz="2200" b="0">
                <a:solidFill>
                  <a:srgbClr val="222222"/>
                </a:solidFill>
                <a:latin typeface="Calibri"/>
              </a:rPr>
              <a:t>Handling order: CPU checks the interrupt register at the end of each FDE cycle, finishes the current instruction, pushes registers (PC, ACC) onto the stack, loads and runs the correct ISR, then pops registers off to resume.</a:t>
            </a:r>
          </a:p>
          <a:p>
            <a:pPr/>
            <a:r>
              <a:rPr sz="2200" b="0">
                <a:solidFill>
                  <a:srgbClr val="222222"/>
                </a:solidFill>
                <a:latin typeface="Calibri"/>
              </a:rPr>
              <a:t>The stack is LIFO so nested interrupts resume in the correct order.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CPU scheduling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Scheduling creates the illusion of simultaneous processes while maximising CPU use, fairness and response time.</a:t>
            </a:r>
          </a:p>
          <a:p>
            <a:pPr/>
            <a:r>
              <a:rPr sz="2200" b="0">
                <a:solidFill>
                  <a:srgbClr val="222222"/>
                </a:solidFill>
                <a:latin typeface="Calibri"/>
              </a:rPr>
              <a:t>Round robin gives each process a fixed time slice (quantum) in turn and is pre-emptive, fair and avoids starvation.</a:t>
            </a:r>
          </a:p>
          <a:p>
            <a:pPr/>
            <a:r>
              <a:rPr sz="2200" b="0">
                <a:solidFill>
                  <a:srgbClr val="222222"/>
                </a:solidFill>
                <a:latin typeface="Calibri"/>
              </a:rPr>
              <a:t>FCFS runs jobs in arrival order (non-pre-emptive) but long jobs delay short ones (convoy effect); SJF and SRT favour short jobs but can starve long ones.</a:t>
            </a:r>
          </a:p>
          <a:p>
            <a:pPr/>
            <a:r>
              <a:rPr sz="2200" b="0">
                <a:solidFill>
                  <a:srgbClr val="222222"/>
                </a:solidFill>
                <a:latin typeface="Calibri"/>
              </a:rPr>
              <a:t>Multi-level feedback queues move jobs between priority queues based on behaviour, approximating SJF.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Types of operating system</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Distributed OS runs across many networked machines as one system; embedded OS is built for one device with limited resources, stored in ROM.</a:t>
            </a:r>
          </a:p>
          <a:p>
            <a:pPr/>
            <a:r>
              <a:rPr sz="2200" b="0">
                <a:solidFill>
                  <a:srgbClr val="222222"/>
                </a:solidFill>
                <a:latin typeface="Calibri"/>
              </a:rPr>
              <a:t>Multitasking OS runs several programs at once via time-slicing; multi-user OS shares resources between users via a scheduler and permissions.</a:t>
            </a:r>
          </a:p>
          <a:p>
            <a:pPr/>
            <a:r>
              <a:rPr sz="2200" b="0">
                <a:solidFill>
                  <a:srgbClr val="222222"/>
                </a:solidFill>
                <a:latin typeface="Calibri"/>
              </a:rPr>
              <a:t>A real-time OS (RTOS) guarantees a response within a set deadline, used in aircraft, pacemakers and ABS.</a:t>
            </a:r>
          </a:p>
          <a:p>
            <a:pPr/>
            <a:r>
              <a:rPr sz="2200" b="0">
                <a:solidFill>
                  <a:srgbClr val="222222"/>
                </a:solidFill>
                <a:latin typeface="Calibri"/>
              </a:rPr>
              <a:t>Match the OS type to the device: a washing machine needs embedded; a mainframe needs multi-user.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BIOS, drivers and virtual machines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The BIOS is firmware on ROM, the first program to run; it performs POST, initialises hardware and loads (bootstraps) the OS into RAM, but is not the OS itself.</a:t>
            </a:r>
          </a:p>
          <a:p>
            <a:pPr/>
            <a:r>
              <a:rPr sz="2200" b="0">
                <a:solidFill>
                  <a:srgbClr val="222222"/>
                </a:solidFill>
                <a:latin typeface="Calibri"/>
              </a:rPr>
              <a:t>A device driver is software that lets the OS control a specific hardware device, translating OS commands into device instructions; it is hardware- and OS-specific.</a:t>
            </a:r>
          </a:p>
          <a:p>
            <a:pPr/>
            <a:r>
              <a:rPr sz="2200" b="0">
                <a:solidFill>
                  <a:srgbClr val="222222"/>
                </a:solidFill>
                <a:latin typeface="Calibri"/>
              </a:rPr>
              <a:t>A system virtual machine runs a whole guest OS inside a host for testing, sandboxing or legacy software.</a:t>
            </a:r>
          </a:p>
          <a:p>
            <a:pPr/>
            <a:r>
              <a:rPr sz="2200" b="0">
                <a:solidFill>
                  <a:srgbClr val="222222"/>
                </a:solidFill>
                <a:latin typeface="Calibri"/>
              </a:rPr>
              <a:t>A process virtual machine runs platform-independent intermediate code (e.g. Java bytecode on the JVM): portable but slower than native and resource-heavy.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how the OS handles an interrupt while running a program</a:t>
            </a:r>
          </a:p>
          <a:p>
            <a:pPr lvl="1"/>
            <a:r>
              <a:rPr sz="2000" b="0">
                <a:solidFill>
                  <a:srgbClr val="222222"/>
                </a:solidFill>
                <a:latin typeface="Calibri"/>
              </a:rPr>
              <a:t>1. A program is mid-execution when a higher-priority interrupt (e.g. printer ready) is raised.</a:t>
            </a:r>
          </a:p>
          <a:p>
            <a:pPr lvl="1"/>
            <a:r>
              <a:rPr sz="2000" b="0">
                <a:solidFill>
                  <a:srgbClr val="222222"/>
                </a:solidFill>
                <a:latin typeface="Calibri"/>
              </a:rPr>
              <a:t>2. At the end of the current FDE cycle the CPU checks the interrupt register and finds the request.</a:t>
            </a:r>
          </a:p>
          <a:p>
            <a:pPr lvl="1"/>
            <a:r>
              <a:rPr sz="2000" b="0">
                <a:solidFill>
                  <a:srgbClr val="222222"/>
                </a:solidFill>
                <a:latin typeface="Calibri"/>
              </a:rPr>
              <a:t>3. It finishes the current instruction, then compares the interrupt's priority against the current task.</a:t>
            </a:r>
          </a:p>
          <a:p>
            <a:pPr lvl="1"/>
            <a:r>
              <a:rPr sz="2000" b="0">
                <a:solidFill>
                  <a:srgbClr val="222222"/>
                </a:solidFill>
                <a:latin typeface="Calibri"/>
              </a:rPr>
              <a:t>4. Because the interrupt is higher priority, the contents of registers such as the PC and ACC are pushed onto the stack.</a:t>
            </a:r>
          </a:p>
          <a:p>
            <a:pPr lvl="1"/>
            <a:r>
              <a:rPr sz="2000" b="0">
                <a:solidFill>
                  <a:srgbClr val="222222"/>
                </a:solidFill>
                <a:latin typeface="Calibri"/>
              </a:rPr>
              <a:t>5. The address of the matching ISR is loaded and the ISR runs to service the printer.</a:t>
            </a:r>
          </a:p>
          <a:p>
            <a:pPr lvl="1"/>
            <a:r>
              <a:rPr sz="2000" b="0">
                <a:solidFill>
                  <a:srgbClr val="222222"/>
                </a:solidFill>
                <a:latin typeface="Calibri"/>
              </a:rPr>
              <a:t>6. When the ISR finishes, the saved registers are popped off the stack so the original program resumes exactly where it left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Produce a comparison table of the five scheduling algorithms (round robin, FCFS, SJF, SRT, MLFQ) listing how each works, whether it is pre-emptive, and one strength and one weakness of each.</a:t>
            </a:r>
          </a:p>
          <a:p>
            <a:r>
              <a:rPr sz="2400" b="1">
                <a:solidFill>
                  <a:srgbClr val="B76E00"/>
                </a:solidFill>
                <a:latin typeface="Calibri"/>
              </a:rPr>
              <a:t>Challenge / stretch</a:t>
            </a:r>
          </a:p>
          <a:p>
            <a:pPr lvl="1"/>
            <a:r>
              <a:rPr sz="2200" b="0">
                <a:solidFill>
                  <a:srgbClr val="222222"/>
                </a:solidFill>
                <a:latin typeface="Calibri"/>
              </a:rPr>
              <a:t>A hospital infusion pump and a cloud server both need an operating system. For each, name the most suitable OS type and justify your choice using two specific features of that OS type, then explain why the other type would be unsuitable.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interrupt handling, why are the PC and ACC pushed onto a stack rather than simply overwritten?</a:t>
            </a:r>
          </a:p>
          <a:p>
            <a:r>
              <a:rPr sz="2200" b="1">
                <a:solidFill>
                  <a:srgbClr val="222222"/>
                </a:solidFill>
                <a:latin typeface="Calibri"/>
              </a:rPr>
              <a:t>2. Give one similarity and one difference between paging and segmentation.</a:t>
            </a:r>
          </a:p>
          <a:p>
            <a:r>
              <a:rPr sz="2200" b="1">
                <a:solidFill>
                  <a:srgbClr val="222222"/>
                </a:solidFill>
                <a:latin typeface="Calibri"/>
              </a:rPr>
              <a:t>3. What does the BIOS do at start-up, and why is it not the operating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In interrupt handling, why are the PC and ACC pushed onto a stack rather than simply overwritten?</a:t>
            </a:r>
          </a:p>
          <a:p>
            <a:pPr lvl="1"/>
            <a:r>
              <a:rPr sz="1800" i="1">
                <a:solidFill>
                  <a:srgbClr val="B76E00"/>
                </a:solidFill>
                <a:latin typeface="Calibri"/>
              </a:rPr>
              <a:t>Answer: So the interrupted task's state is saved and can be restored (popped) to resume correctly; the LIFO stack also supports nested interrupts.</a:t>
            </a:r>
          </a:p>
          <a:p>
            <a:r>
              <a:rPr sz="2200" b="1">
                <a:solidFill>
                  <a:srgbClr val="222222"/>
                </a:solidFill>
                <a:latin typeface="Calibri"/>
              </a:rPr>
              <a:t>2. Give one similarity and one difference between paging and segmentation.</a:t>
            </a:r>
          </a:p>
          <a:p>
            <a:pPr lvl="1"/>
            <a:r>
              <a:rPr sz="1800" i="1">
                <a:solidFill>
                  <a:srgbClr val="B76E00"/>
                </a:solidFill>
                <a:latin typeface="Calibri"/>
              </a:rPr>
              <a:t>Answer: Both divide memory to manage it; paging uses fixed-size blocks (internal fragmentation) while segmentation uses variable-size logical blocks (external fragmentation).</a:t>
            </a:r>
          </a:p>
          <a:p>
            <a:r>
              <a:rPr sz="2200" b="1">
                <a:solidFill>
                  <a:srgbClr val="222222"/>
                </a:solidFill>
                <a:latin typeface="Calibri"/>
              </a:rPr>
              <a:t>3. What does the BIOS do at start-up, and why is it not the operating system?</a:t>
            </a:r>
          </a:p>
          <a:p>
            <a:pPr lvl="1"/>
            <a:r>
              <a:rPr sz="1800" i="1">
                <a:solidFill>
                  <a:srgbClr val="B76E00"/>
                </a:solidFill>
                <a:latin typeface="Calibri"/>
              </a:rPr>
              <a:t>Answer: It runs first, performs POST and then loads the OS into RAM; it only bootstraps the OS rather than managing applications itself.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