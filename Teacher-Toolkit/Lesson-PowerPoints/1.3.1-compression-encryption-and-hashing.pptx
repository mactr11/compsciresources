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1.3.1 Compression, Encryption and Hashing</a:t>
            </a:r>
          </a:p>
          <a:p>
            <a:r>
              <a:rPr sz="2000" b="0" i="0">
                <a:solidFill>
                  <a:srgbClr val="BED3EC"/>
                </a:solidFill>
                <a:latin typeface="Calibri"/>
              </a:rPr>
              <a:t>OCR H446 — Component 01</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Lesson deck — editable skeleton: adapt freely.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Compare lossy and lossless compression and explain how run length encoding (RLE) and dictionary compression reduce file size.</a:t>
            </a:r>
          </a:p>
          <a:p>
            <a:pPr lvl="1"/>
            <a:r>
              <a:rPr sz="2200" b="0">
                <a:solidFill>
                  <a:srgbClr val="222222"/>
                </a:solidFill>
                <a:latin typeface="Calibri"/>
              </a:rPr>
              <a:t>Distinguish symmetric and asymmetric encryption and explain how asymmetric encryption solves the key-distribution problem.</a:t>
            </a:r>
          </a:p>
          <a:p>
            <a:pPr lvl="1"/>
            <a:r>
              <a:rPr sz="2200" b="0">
                <a:solidFill>
                  <a:srgbClr val="222222"/>
                </a:solidFill>
                <a:latin typeface="Calibri"/>
              </a:rPr>
              <a:t>Explain what hashing is, its key properties and why hashing (not encryption) is used to store passwords.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State two reasons why files are compressed.</a:t>
            </a:r>
          </a:p>
          <a:p>
            <a:r>
              <a:rPr sz="2200" b="1">
                <a:solidFill>
                  <a:srgbClr val="222222"/>
                </a:solidFill>
                <a:latin typeface="Calibri"/>
              </a:rPr>
              <a:t>2. Which type of compression permanently removes data so the original cannot be exactly recovered?</a:t>
            </a:r>
          </a:p>
          <a:p>
            <a:r>
              <a:rPr sz="2200" b="1">
                <a:solidFill>
                  <a:srgbClr val="222222"/>
                </a:solidFill>
                <a:latin typeface="Calibri"/>
              </a:rPr>
              <a:t>3. Give one suitable use of lossless compression and one of lossy compression.</a:t>
            </a:r>
          </a:p>
          <a:p>
            <a:r>
              <a:rPr sz="2200" b="1">
                <a:solidFill>
                  <a:srgbClr val="222222"/>
                </a:solidFill>
                <a:latin typeface="Calibri"/>
              </a:rPr>
              <a:t>4. Interleaving (1.2): Why is open-source software often distributed in a ZIP archive?</a:t>
            </a:r>
          </a:p>
          <a:p>
            <a:r>
              <a:rPr sz="2200" b="1">
                <a:solidFill>
                  <a:srgbClr val="222222"/>
                </a:solidFill>
                <a:latin typeface="Calibri"/>
              </a:rPr>
              <a:t>5. Interleaving (1.1.3): Why does a higher audio sample rate produce larger files, making compression useful?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State two reasons why files are compressed.</a:t>
            </a:r>
          </a:p>
          <a:p>
            <a:pPr lvl="1"/>
            <a:r>
              <a:rPr sz="1800" i="1">
                <a:solidFill>
                  <a:srgbClr val="B76E00"/>
                </a:solidFill>
                <a:latin typeface="Calibri"/>
              </a:rPr>
              <a:t>Answer: Less storage space used and less bandwidth needed, giving faster transfer.</a:t>
            </a:r>
          </a:p>
          <a:p>
            <a:r>
              <a:rPr sz="2200" b="1">
                <a:solidFill>
                  <a:srgbClr val="222222"/>
                </a:solidFill>
                <a:latin typeface="Calibri"/>
              </a:rPr>
              <a:t>2. Which type of compression permanently removes data so the original cannot be exactly recovered?</a:t>
            </a:r>
          </a:p>
          <a:p>
            <a:pPr lvl="1"/>
            <a:r>
              <a:rPr sz="1800" i="1">
                <a:solidFill>
                  <a:srgbClr val="B76E00"/>
                </a:solidFill>
                <a:latin typeface="Calibri"/>
              </a:rPr>
              <a:t>Answer: Lossy compression.</a:t>
            </a:r>
          </a:p>
          <a:p>
            <a:r>
              <a:rPr sz="2200" b="1">
                <a:solidFill>
                  <a:srgbClr val="222222"/>
                </a:solidFill>
                <a:latin typeface="Calibri"/>
              </a:rPr>
              <a:t>3. Give one suitable use of lossless compression and one of lossy compression.</a:t>
            </a:r>
          </a:p>
          <a:p>
            <a:pPr lvl="1"/>
            <a:r>
              <a:rPr sz="1800" i="1">
                <a:solidFill>
                  <a:srgbClr val="B76E00"/>
                </a:solidFill>
                <a:latin typeface="Calibri"/>
              </a:rPr>
              <a:t>Answer: Lossless: text, program code, ZIP or PNG. Lossy: JPEG images, MP3 audio or video.</a:t>
            </a:r>
          </a:p>
          <a:p>
            <a:r>
              <a:rPr sz="2200" b="1">
                <a:solidFill>
                  <a:srgbClr val="222222"/>
                </a:solidFill>
                <a:latin typeface="Calibri"/>
              </a:rPr>
              <a:t>4. Interleaving (1.2): Why is open-source software often distributed in a ZIP archive?</a:t>
            </a:r>
          </a:p>
          <a:p>
            <a:pPr lvl="1"/>
            <a:r>
              <a:rPr sz="1800" i="1">
                <a:solidFill>
                  <a:srgbClr val="B76E00"/>
                </a:solidFill>
                <a:latin typeface="Calibri"/>
              </a:rPr>
              <a:t>Answer: ZIP uses lossless compression so the original files are recovered exactly while reducing download size.</a:t>
            </a:r>
          </a:p>
          <a:p>
            <a:r>
              <a:rPr sz="2200" b="1">
                <a:solidFill>
                  <a:srgbClr val="222222"/>
                </a:solidFill>
                <a:latin typeface="Calibri"/>
              </a:rPr>
              <a:t>5. Interleaving (1.1.3): Why does a higher audio sample rate produce larger files, making compression useful?</a:t>
            </a:r>
          </a:p>
          <a:p>
            <a:pPr lvl="1"/>
            <a:r>
              <a:rPr sz="1800" i="1">
                <a:solidFill>
                  <a:srgbClr val="B76E00"/>
                </a:solidFill>
                <a:latin typeface="Calibri"/>
              </a:rPr>
              <a:t>Answer: More samples per second means more stored data per second, so the file is larger and benefits from compression for storage or streaming.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Lossless compression</a:t>
            </a:r>
            <a:r>
              <a:rPr sz="1800">
                <a:solidFill>
                  <a:srgbClr val="222222"/>
                </a:solidFill>
                <a:latin typeface="Calibri"/>
              </a:rPr>
              <a:t> — Reduces file size with no permanent loss of data; the original is exactly recoverable.</a:t>
            </a:r>
          </a:p>
          <a:p>
            <a:r>
              <a:rPr b="1" sz="2000">
                <a:solidFill>
                  <a:srgbClr val="1A365D"/>
                </a:solidFill>
                <a:latin typeface="Calibri"/>
              </a:rPr>
              <a:t>Lossy compression</a:t>
            </a:r>
            <a:r>
              <a:rPr sz="1800">
                <a:solidFill>
                  <a:srgbClr val="222222"/>
                </a:solidFill>
                <a:latin typeface="Calibri"/>
              </a:rPr>
              <a:t> — Reduces file size by permanently removing data; the original cannot be exactly recovered.</a:t>
            </a:r>
          </a:p>
          <a:p>
            <a:r>
              <a:rPr b="1" sz="2000">
                <a:solidFill>
                  <a:srgbClr val="1A365D"/>
                </a:solidFill>
                <a:latin typeface="Calibri"/>
              </a:rPr>
              <a:t>Run Length Encoding (RLE)</a:t>
            </a:r>
            <a:r>
              <a:rPr sz="1800">
                <a:solidFill>
                  <a:srgbClr val="222222"/>
                </a:solidFill>
                <a:latin typeface="Calibri"/>
              </a:rPr>
              <a:t> — Lossless method that replaces runs of repeated values with a single value plus a count.</a:t>
            </a:r>
          </a:p>
          <a:p>
            <a:r>
              <a:rPr b="1" sz="2000">
                <a:solidFill>
                  <a:srgbClr val="1A365D"/>
                </a:solidFill>
                <a:latin typeface="Calibri"/>
              </a:rPr>
              <a:t>Dictionary compression</a:t>
            </a:r>
            <a:r>
              <a:rPr sz="1800">
                <a:solidFill>
                  <a:srgbClr val="222222"/>
                </a:solidFill>
                <a:latin typeface="Calibri"/>
              </a:rPr>
              <a:t> — Lossless method that stores recurring patterns once in a dictionary/index and replaces each with a short reference; the dictionary must be sent with the file.</a:t>
            </a:r>
          </a:p>
          <a:p>
            <a:r>
              <a:rPr b="1" sz="2000">
                <a:solidFill>
                  <a:srgbClr val="1A365D"/>
                </a:solidFill>
                <a:latin typeface="Calibri"/>
              </a:rPr>
              <a:t>Symmetric encryption</a:t>
            </a:r>
            <a:r>
              <a:rPr sz="1800">
                <a:solidFill>
                  <a:srgbClr val="222222"/>
                </a:solidFill>
                <a:latin typeface="Calibri"/>
              </a:rPr>
              <a:t> — The same single key is used to both encrypt and decrypt the data.</a:t>
            </a:r>
          </a:p>
          <a:p>
            <a:r>
              <a:rPr b="1" sz="2000">
                <a:solidFill>
                  <a:srgbClr val="1A365D"/>
                </a:solidFill>
                <a:latin typeface="Calibri"/>
              </a:rPr>
              <a:t>Asymmetric encryption</a:t>
            </a:r>
            <a:r>
              <a:rPr sz="1800">
                <a:solidFill>
                  <a:srgbClr val="222222"/>
                </a:solidFill>
                <a:latin typeface="Calibri"/>
              </a:rPr>
              <a:t> — Uses a public and private key pair; data encrypted with the public key can only be decrypted with the matching private key.</a:t>
            </a:r>
          </a:p>
          <a:p>
            <a:r>
              <a:rPr b="1" sz="2000">
                <a:solidFill>
                  <a:srgbClr val="1A365D"/>
                </a:solidFill>
                <a:latin typeface="Calibri"/>
              </a:rPr>
              <a:t>Hashing</a:t>
            </a:r>
            <a:r>
              <a:rPr sz="1800">
                <a:solidFill>
                  <a:srgbClr val="222222"/>
                </a:solidFill>
                <a:latin typeface="Calibri"/>
              </a:rPr>
              <a:t> — A one-way function that turns an input into a fixed-length hash/digest that is not reversible.</a:t>
            </a:r>
          </a:p>
          <a:p>
            <a:r>
              <a:rPr b="1" sz="2000">
                <a:solidFill>
                  <a:srgbClr val="1A365D"/>
                </a:solidFill>
                <a:latin typeface="Calibri"/>
              </a:rPr>
              <a:t>Collision</a:t>
            </a:r>
            <a:r>
              <a:rPr sz="1800">
                <a:solidFill>
                  <a:srgbClr val="222222"/>
                </a:solidFill>
                <a:latin typeface="Calibri"/>
              </a:rPr>
              <a:t> — When two different inputs produce the same hash value; a good hash function makes these rare.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Compression: lossy vs lossless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Compression reduces file size to save storage and bandwidth and speed up transfer.</a:t>
            </a:r>
          </a:p>
          <a:p>
            <a:pPr/>
            <a:r>
              <a:rPr sz="2200" b="0">
                <a:solidFill>
                  <a:srgbClr val="222222"/>
                </a:solidFill>
                <a:latin typeface="Calibri"/>
              </a:rPr>
              <a:t>Lossless removes no data permanently and the original is exactly recoverable (text, code, ZIP, PNG).</a:t>
            </a:r>
          </a:p>
          <a:p>
            <a:pPr/>
            <a:r>
              <a:rPr sz="2200" b="0">
                <a:solidFill>
                  <a:srgbClr val="222222"/>
                </a:solidFill>
                <a:latin typeface="Calibri"/>
              </a:rPr>
              <a:t>Lossy permanently discards data and the original cannot be recovered, but gives a much smaller file (JPEG, MP3, video).</a:t>
            </a:r>
          </a:p>
          <a:p>
            <a:pPr/>
            <a:r>
              <a:rPr sz="2200" b="0">
                <a:solidFill>
                  <a:srgbClr val="222222"/>
                </a:solidFill>
                <a:latin typeface="Calibri"/>
              </a:rPr>
              <a:t>Exam reminder: lossy is not reversible — reduced quality is not the same as recoverable.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RLE and dictionary compression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RLE is lossless and replaces runs of repeated values with one value plus a count.</a:t>
            </a:r>
          </a:p>
          <a:p>
            <a:pPr/>
            <a:r>
              <a:rPr sz="2200" b="0">
                <a:solidFill>
                  <a:srgbClr val="222222"/>
                </a:solidFill>
                <a:latin typeface="Calibri"/>
              </a:rPr>
              <a:t>RLE works best on long runs (e.g. simple images) and can enlarge files when there are few repeats.</a:t>
            </a:r>
          </a:p>
          <a:p>
            <a:pPr/>
            <a:r>
              <a:rPr sz="2200" b="0">
                <a:solidFill>
                  <a:srgbClr val="222222"/>
                </a:solidFill>
                <a:latin typeface="Calibri"/>
              </a:rPr>
              <a:t>Dictionary compression stores recurring patterns once in a dictionary and replaces them with short references (e.g. LZW).</a:t>
            </a:r>
          </a:p>
          <a:p>
            <a:pPr/>
            <a:r>
              <a:rPr sz="2200" b="0">
                <a:solidFill>
                  <a:srgbClr val="222222"/>
                </a:solidFill>
                <a:latin typeface="Calibri"/>
              </a:rPr>
              <a:t>The dictionary must be supplied with the file so it can be decompressed.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Encryption: symmetric vs asymmetric</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Encryption scrambles plaintext into ciphertext using an algorithm and a key to protect confidentiality if intercepted.</a:t>
            </a:r>
          </a:p>
          <a:p>
            <a:pPr/>
            <a:r>
              <a:rPr sz="2200" b="0">
                <a:solidFill>
                  <a:srgbClr val="222222"/>
                </a:solidFill>
                <a:latin typeface="Calibri"/>
              </a:rPr>
              <a:t>Symmetric uses one shared key for both operations and is fast, but has the key-distribution problem.</a:t>
            </a:r>
          </a:p>
          <a:p>
            <a:pPr/>
            <a:r>
              <a:rPr sz="2200" b="0">
                <a:solidFill>
                  <a:srgbClr val="222222"/>
                </a:solidFill>
                <a:latin typeface="Calibri"/>
              </a:rPr>
              <a:t>Asymmetric uses a public/private key pair; the public key is shared openly, solving key distribution.</a:t>
            </a:r>
          </a:p>
          <a:p>
            <a:pPr/>
            <a:r>
              <a:rPr sz="2200" b="0">
                <a:solidFill>
                  <a:srgbClr val="222222"/>
                </a:solidFill>
                <a:latin typeface="Calibri"/>
              </a:rPr>
              <a:t>Data encrypted with a public key can only be decrypted by the matching private key; HTTPS uses asymmetric to swap a symmetric session key, then symmetric for bulk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Digital signatures and hashing</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A digital signature is created by signing with the sender's private key and verified with their public key, proving origin and integrity.</a:t>
            </a:r>
          </a:p>
          <a:p>
            <a:pPr/>
            <a:r>
              <a:rPr sz="2200" b="0">
                <a:solidFill>
                  <a:srgbClr val="222222"/>
                </a:solidFill>
                <a:latin typeface="Calibri"/>
              </a:rPr>
              <a:t>Hashing produces a fixed-length digest and is one-way, deterministic, fast and collision-resistant.</a:t>
            </a:r>
          </a:p>
          <a:p>
            <a:pPr/>
            <a:r>
              <a:rPr sz="2200" b="0">
                <a:solidFill>
                  <a:srgbClr val="222222"/>
                </a:solidFill>
                <a:latin typeface="Calibri"/>
              </a:rPr>
              <a:t>Passwords are stored as hashes, not plaintext; at login the entered password is hashed and compared.</a:t>
            </a:r>
          </a:p>
          <a:p>
            <a:pPr/>
            <a:r>
              <a:rPr sz="2200" b="0">
                <a:solidFill>
                  <a:srgbClr val="222222"/>
                </a:solidFill>
                <a:latin typeface="Calibri"/>
              </a:rPr>
              <a:t>Hashing is not encryption: hashing is one-way, whereas encryption is reversible with a key.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Encoding and decoding with Run Length Encoding</a:t>
            </a:r>
          </a:p>
          <a:p>
            <a:pPr lvl="1"/>
            <a:r>
              <a:rPr sz="2000" b="0">
                <a:solidFill>
                  <a:srgbClr val="222222"/>
                </a:solidFill>
                <a:latin typeface="Calibri"/>
              </a:rPr>
              <a:t>1. Encode the pixel run W W W W W B B W W W W W W using value+count pairs.</a:t>
            </a:r>
          </a:p>
          <a:p>
            <a:pPr lvl="1"/>
            <a:r>
              <a:rPr sz="2000" b="0">
                <a:solidFill>
                  <a:srgbClr val="222222"/>
                </a:solidFill>
                <a:latin typeface="Calibri"/>
              </a:rPr>
              <a:t>2. Group consecutive identical values: five W, then two B, then six W.</a:t>
            </a:r>
          </a:p>
          <a:p>
            <a:pPr lvl="1"/>
            <a:r>
              <a:rPr sz="2000" b="0">
                <a:solidFill>
                  <a:srgbClr val="222222"/>
                </a:solidFill>
                <a:latin typeface="Calibri"/>
              </a:rPr>
              <a:t>3. Write each group as value+count: 5W 2B 6W (13 values stored as 3 pairs).</a:t>
            </a:r>
          </a:p>
          <a:p>
            <a:pPr lvl="1"/>
            <a:r>
              <a:rPr sz="2000" b="0">
                <a:solidFill>
                  <a:srgbClr val="222222"/>
                </a:solidFill>
                <a:latin typeface="Calibri"/>
              </a:rPr>
              <a:t>4. Now decode 5A 3B 1C 4A back to the original sequence.</a:t>
            </a:r>
          </a:p>
          <a:p>
            <a:pPr lvl="1"/>
            <a:r>
              <a:rPr sz="2000" b="0">
                <a:solidFill>
                  <a:srgbClr val="222222"/>
                </a:solidFill>
                <a:latin typeface="Calibri"/>
              </a:rPr>
              <a:t>5. Expand each value+count pair: AAAAA, BBB, C, AAAA.</a:t>
            </a:r>
          </a:p>
          <a:p>
            <a:pPr lvl="1"/>
            <a:r>
              <a:rPr sz="2000" b="0">
                <a:solidFill>
                  <a:srgbClr val="222222"/>
                </a:solidFill>
                <a:latin typeface="Calibri"/>
              </a:rPr>
              <a:t>6. Concatenate to give AAAAABBBCAAAA (13 characters).</a:t>
            </a:r>
          </a:p>
          <a:p>
            <a:pPr lvl="1"/>
            <a:r>
              <a:rPr sz="2000" b="0">
                <a:solidFill>
                  <a:srgbClr val="222222"/>
                </a:solidFill>
                <a:latin typeface="Calibri"/>
              </a:rPr>
              <a:t>7. Note: if the data had few repeats, the value+count pairs could be longer than the original, so RLE would enlarge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Given the bitmap row B B B B W W B B B W W W W W, encode it with RLE and state the number of value+count pairs produced. Then decode 4G 1R 3G and explain in one sentence why this row compresses well.</a:t>
            </a:r>
          </a:p>
          <a:p>
            <a:r>
              <a:rPr sz="2400" b="1">
                <a:solidFill>
                  <a:srgbClr val="B76E00"/>
                </a:solidFill>
                <a:latin typeface="Calibri"/>
              </a:rPr>
              <a:t>Challenge / stretch</a:t>
            </a:r>
          </a:p>
          <a:p>
            <a:pPr lvl="1"/>
            <a:r>
              <a:rPr sz="2200" b="0">
                <a:solidFill>
                  <a:srgbClr val="222222"/>
                </a:solidFill>
                <a:latin typeface="Calibri"/>
              </a:rPr>
              <a:t>A developer claims RLE will always shrink a file. Construct a short example sequence where RLE produces a larger output than the original, and explain why, then state what kind of data RLE is genuinely suited 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Why is hashing rather than encryption used to store passwords?</a:t>
            </a:r>
          </a:p>
          <a:p>
            <a:r>
              <a:rPr sz="2200" b="1">
                <a:solidFill>
                  <a:srgbClr val="222222"/>
                </a:solidFill>
                <a:latin typeface="Calibri"/>
              </a:rPr>
              <a:t>2. State two properties of a good hash function.</a:t>
            </a:r>
          </a:p>
          <a:p>
            <a:r>
              <a:rPr sz="2200" b="1">
                <a:solidFill>
                  <a:srgbClr val="222222"/>
                </a:solidFill>
                <a:latin typeface="Calibri"/>
              </a:rPr>
              <a:t>3. How does asymmetric encryption let two strangers exchange data securely?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Why is hashing rather than encryption used to store passwords?</a:t>
            </a:r>
          </a:p>
          <a:p>
            <a:pPr lvl="1"/>
            <a:r>
              <a:rPr sz="1800" i="1">
                <a:solidFill>
                  <a:srgbClr val="B76E00"/>
                </a:solidFill>
                <a:latin typeface="Calibri"/>
              </a:rPr>
              <a:t>Answer: Hashing is one-way so the original password cannot be retrieved even if the database is stolen; the system only ever compares hashes, whereas encryption is reversible with a key.</a:t>
            </a:r>
          </a:p>
          <a:p>
            <a:r>
              <a:rPr sz="2200" b="1">
                <a:solidFill>
                  <a:srgbClr val="222222"/>
                </a:solidFill>
                <a:latin typeface="Calibri"/>
              </a:rPr>
              <a:t>2. State two properties of a good hash function.</a:t>
            </a:r>
          </a:p>
          <a:p>
            <a:pPr lvl="1"/>
            <a:r>
              <a:rPr sz="1800" i="1">
                <a:solidFill>
                  <a:srgbClr val="B76E00"/>
                </a:solidFill>
                <a:latin typeface="Calibri"/>
              </a:rPr>
              <a:t>Answer: Any two of: one-way/not reversible, deterministic, few collisions, fast to compute, fixed-length output.</a:t>
            </a:r>
          </a:p>
          <a:p>
            <a:r>
              <a:rPr sz="2200" b="1">
                <a:solidFill>
                  <a:srgbClr val="222222"/>
                </a:solidFill>
                <a:latin typeface="Calibri"/>
              </a:rPr>
              <a:t>3. How does asymmetric encryption let two strangers exchange data securely?</a:t>
            </a:r>
          </a:p>
          <a:p>
            <a:pPr lvl="1"/>
            <a:r>
              <a:rPr sz="1800" i="1">
                <a:solidFill>
                  <a:srgbClr val="B76E00"/>
                </a:solidFill>
                <a:latin typeface="Calibri"/>
              </a:rPr>
              <a:t>Answer: The public key can be shared openly so no secret key is exchanged in advance, and only the matching private key (kept secret) can decrypt, so an intercepted public key or ciphertext is useless.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