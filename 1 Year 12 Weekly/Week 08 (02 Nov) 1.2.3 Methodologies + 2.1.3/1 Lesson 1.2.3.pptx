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Calibri"/>
              </a:rPr>
              <a:t>1.2.3 Software Development</a:t>
            </a:r>
          </a:p>
          <a:p>
            <a:r>
              <a:rPr sz="2000" b="0" i="0">
                <a:solidFill>
                  <a:srgbClr val="BED3EC"/>
                </a:solidFill>
                <a:latin typeface="Calibri"/>
              </a:rPr>
              <a:t>OCR H446 — Component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0350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9AB4D6"/>
                </a:solidFill>
                <a:latin typeface="Calibri"/>
              </a:rPr>
              <a:t>Week 08 (02 Nov)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1">
                <a:solidFill>
                  <a:srgbClr val="2B6CB0"/>
                </a:solidFill>
                <a:latin typeface="Calibri"/>
              </a:rPr>
              <a:t>By the end of this lesson you can: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Describe the stages of the software development lifecycle and the outputs of each stage.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Compare the merits and drawbacks of Waterfall, Agile, Extreme Programming, Spiral and RAD.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Select and justify a methodology for a given scenario using explicit scenario clues.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Write and follow algorithms, and design test data using normal, boundary and erroneous values.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Do Now — retrieval starter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22222"/>
                </a:solidFill>
                <a:latin typeface="Calibri"/>
              </a:rPr>
              <a:t>1. List the four stages of compilation in order.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2. Give two differences between a compiler and an interpreter.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3. What does an assembler translate, and into what?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4. Name two schedulers an operating system might use and one difference between them.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5. What happens when an interrupt with higher priority than the current process is received?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Do Now —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22222"/>
                </a:solidFill>
                <a:latin typeface="Calibri"/>
              </a:rPr>
              <a:t>1. List the four stages of compilation in order.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Lexical analysis, syntax analysis, code generation, code optimisation (1.2.2).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2. Give two differences between a compiler and an interpreter.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Compiler translates the whole program before running and produces an executable; interpreter translates line by line at run time and stops at the first error (1.2.2).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3. What does an assembler translate, and into what?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Assembly language mnemonics into machine code, roughly one to one (1.2.2).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4. Name two schedulers an operating system might use and one difference between them.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Examples: round robin gives each process a fixed time slice pre-emptively; first come first served runs each job to completion, non pre-emptively (1.2.1).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5. What happens when an interrupt with higher priority than the current process is received?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At the end of the current fetch-decode-execute cycle the processor pushes its registers onto the stack, loads and runs the interrupt service routine, then pops the registers and resumes (1.2.1).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Key terminology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b="1" sz="2000">
                <a:solidFill>
                  <a:srgbClr val="1A365D"/>
                </a:solidFill>
                <a:latin typeface="Calibri"/>
              </a:rPr>
              <a:t>Waterfall</a:t>
            </a:r>
            <a:r>
              <a:rPr sz="1800">
                <a:solidFill>
                  <a:srgbClr val="222222"/>
                </a:solidFill>
                <a:latin typeface="Calibri"/>
              </a:rPr>
              <a:t> — A linear, sequential methodology completing one stage fully before the next; suits fixed, clear requirements.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Agile</a:t>
            </a:r>
            <a:r>
              <a:rPr sz="1800">
                <a:solidFill>
                  <a:srgbClr val="222222"/>
                </a:solidFill>
                <a:latin typeface="Calibri"/>
              </a:rPr>
              <a:t> — An iterative methodology delivering working increments with continuous client feedback; suits changing requirements.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Extreme programming</a:t>
            </a:r>
            <a:r>
              <a:rPr sz="1800">
                <a:solidFill>
                  <a:srgbClr val="222222"/>
                </a:solidFill>
                <a:latin typeface="Calibri"/>
              </a:rPr>
              <a:t> — An Agile variant adding pair programming, constant test-driven development and a customer embedded in the team.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Spiral</a:t>
            </a:r>
            <a:r>
              <a:rPr sz="1800">
                <a:solidFill>
                  <a:srgbClr val="222222"/>
                </a:solidFill>
                <a:latin typeface="Calibri"/>
              </a:rPr>
              <a:t> — An iterative methodology with risk analysis at the centre of each loop; suits large, expensive, high-risk projects.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RAD</a:t>
            </a:r>
            <a:r>
              <a:rPr sz="1800">
                <a:solidFill>
                  <a:srgbClr val="222222"/>
                </a:solidFill>
                <a:latin typeface="Calibri"/>
              </a:rPr>
              <a:t> — Rapid application development: prototypes refined by user feedback; suits fast delivery or vague requirements.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Analysis</a:t>
            </a:r>
            <a:r>
              <a:rPr sz="1800">
                <a:solidFill>
                  <a:srgbClr val="222222"/>
                </a:solidFill>
                <a:latin typeface="Calibri"/>
              </a:rPr>
              <a:t> — The lifecycle stage that investigates the problem, gathers requirements and assesses feasibility.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Normal data</a:t>
            </a:r>
            <a:r>
              <a:rPr sz="1800">
                <a:solidFill>
                  <a:srgbClr val="222222"/>
                </a:solidFill>
                <a:latin typeface="Calibri"/>
              </a:rPr>
              <a:t> — Typical in-range test values that the program should accept and process correctly.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Boundary data</a:t>
            </a:r>
            <a:r>
              <a:rPr sz="1800">
                <a:solidFill>
                  <a:srgbClr val="222222"/>
                </a:solidFill>
                <a:latin typeface="Calibri"/>
              </a:rPr>
              <a:t> — Test values at the exact edges of the acceptable range, which should still be accepted.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Erroneous data</a:t>
            </a:r>
            <a:r>
              <a:rPr sz="1800">
                <a:solidFill>
                  <a:srgbClr val="222222"/>
                </a:solidFill>
                <a:latin typeface="Calibri"/>
              </a:rPr>
              <a:t> — Invalid test values outside the acceptable range, which the program should reject gracefully.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The software development 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Every methodology organises the same stages: analysis, design, development, testing, evaluation.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Analysis investigates the problem, gathers requirements from stakeholders and assesses feasibility.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Design plans data structures, algorithms, the user interface and input, output and file formats.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Development writes the code in modules; testing and evaluation judge it against the requirements.</a:t>
            </a:r>
          </a:p>
          <a:p>
            <a:pPr/>
            <a:r>
              <a:rPr sz="1800" b="1">
                <a:solidFill>
                  <a:srgbClr val="B76E00"/>
                </a:solidFill>
                <a:latin typeface="Calibri"/>
              </a:rPr>
              <a:t>Learn the stages in order with one named output each: examiners reward stage-specific detail.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Waterfall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Linear and sequential: each stage is fully completed and signed off before the next begins.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Merits: simple to manage, clear milestones, thorough documentation at every stage.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Drawbacks: inflexible; changing requirements means going back up the waterfall, which is costly.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The client only sees the finished product at the end, so misunderstandings surface late.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Best when requirements are fixed, clear and unlikely to change, such as contractual work.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Agile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Develops the product in short iterations, each delivering a working increment.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Continuous client feedback shapes the next iteration, so changing requirements are absorbed cheaply.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Merits: flexible, early usable software, close client involvement.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Drawbacks: lighter documentation; final cost and timescale are hard to predict at the start.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Best when requirements are unclear or expected to change.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Extreme programming (XP)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An Agile methodology pushed to extremes for code quality.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Pair programming: two developers share one machine, one typing while the other reviews.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Tests are written before code (test-driven development) and run constantly.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A customer representative sits within the team to answer questions immediately.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Merit: very high quality code; drawback: staff-intensive and demands a committed on-site customer.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Spiral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Iterative loops, each passing through objectives, risk analysis, development and planning quadrants.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Risk analysis at the start of every loop identifies and mitigates the biggest hazards first.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Merit: costly problems are caught early on large, high-risk projects.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Drawbacks: expensive, complex to manage, and needs skilled risk assessors.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Best for large, expensive projects where failure would be catastrophic.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RAD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Rapid application development builds a partial prototype quickly from initial requirements.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Users trial each prototype and their feedback drives the next refinement until it becomes the product.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Merits: very fast delivery; works even when users cannot state requirements up front.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Drawbacks: needs skilled developers and committed users; the result can be less robust and efficient.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Best when the deadline is tight or requirements are vague.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Choosing a methodology for a 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Read the scenario for clues: clarity of requirements, budget, deadline, risk, team size.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Fixed, documented, contractual requirements point to Waterfall.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Vague or volatile requirements point to Agile or RAD; tight deadlines strengthen RAD.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Large budget with a high cost of failure points to Spiral.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Marks come from linking each clue to a feature of the chosen methodology, not from description.</a:t>
            </a:r>
          </a:p>
          <a:p>
            <a:pPr/>
            <a:r>
              <a:rPr sz="1800" b="1">
                <a:solidFill>
                  <a:srgbClr val="B76E00"/>
                </a:solidFill>
                <a:latin typeface="Calibri"/>
              </a:rPr>
              <a:t>AO3 questions expect a justified choice plus an acknowledged trade-off of that choice.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Writing and following algorithms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An algorithm is a precise, ordered, finite set of steps that solves a problem.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Writing one means stating unambiguous steps in sequence with clear inputs and outputs.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Following one means tracing it exactly as written, recording every variable change in a trace table.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Trace tables expose logic errors before any code is written.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total = 0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for i = 1 to 4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   num = input("Enter a number")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   total = total + num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next i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print(total / 4)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Test data: normal, boundary, erroneous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Normal (valid) data: typical in-range values the program should accept.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Boundary data: values at the exact edges of the range, still valid and accepted.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Erroneous (invalid) data: out-of-range or wrong-type values the program should reject gracefully.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A good test plan states the data, its type, the expected result and the actual result.</a:t>
            </a:r>
          </a:p>
          <a:p>
            <a:pPr/>
            <a:r>
              <a:rPr sz="1800" b="1">
                <a:solidFill>
                  <a:srgbClr val="B76E00"/>
                </a:solidFill>
                <a:latin typeface="Calibri"/>
              </a:rPr>
              <a:t>Boundary means the edge value itself, for example 0 and 50 for a 0 to 50 range, not just outside it.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Testing across the lifecycle and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Iterative methodologies test throughout development, not only in a final testing stage.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Alpha testing is done in-house by the developers; beta testing by a limited group of real users.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Beta feedback catches problems developers missed because real users behave unexpectedly.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Evaluation judges the finished system against the original requirements: effective, usable, robust, maintainable.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Worked example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1">
                <a:solidFill>
                  <a:srgbClr val="2B6CB0"/>
                </a:solidFill>
                <a:latin typeface="Calibri"/>
              </a:rPr>
              <a:t>Choosing a methodology for a high-risk banking system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1. Read the scenario clues: large budget, high cost of failure, security-critical and long-lived.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2. Note that requirements are fairly well known but the risk of expensive errors dominates.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3. Rule out Waterfall: no explicit risk handling once the project is mid-flow.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4. Rule out RAD: it prioritises speed over the robustness a bank demands.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5. Select Spiral because each loop performs explicit risk analysis before continuing.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6. Justify: catching costly problems early on a high-cost project reduces the chance of expensive failure.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7. Acknowledge the trade-off: Spiral is itself expensive and complex, which the large budget can absorb.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Worked example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1">
                <a:solidFill>
                  <a:srgbClr val="2B6CB0"/>
                </a:solidFill>
                <a:latin typeface="Calibri"/>
              </a:rPr>
              <a:t>Designing a test plan for a quiz mark field accepting 0 to 50 inclusive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1. State the rule precisely: accept whole numbers where mark is at least 0 and at most 50.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2. Normal data: 25, a typical in-range value; expected result accept.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3. Boundary data: 0 and 50, the exact edges of the range; both expected to be accepted.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4. Erroneous data: -1 and 51, one below and one above the range; both expected to be rejected.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5. Erroneous data of the wrong type: the text ten; expected to be rejected with an error message.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6. Check each value against the rule: 0 and 50 satisfy it, -1 and 51 do not, so the expectations are correct.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Worked example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1">
                <a:solidFill>
                  <a:srgbClr val="2B6CB0"/>
                </a:solidFill>
                <a:latin typeface="Calibri"/>
              </a:rPr>
              <a:t>Following an algorithm with a trace table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1. Algorithm: total = 0, then loop i from 1 to 4 inputting num and adding it to total, then output total / 4.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2. Inputs supplied in order: 4, 8, 6, 2.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3. i = 1: num = 4, total = 0 + 4 = 4.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4. i = 2: num = 8, total = 4 + 8 = 12.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5. i = 3: num = 6, total = 12 + 6 = 18.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6. i = 4: num = 2, total = 18 + 2 = 20.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7. Loop ends; output total / 4 = 20 / 4 = 5, the mean of the four inputs.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Activity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1">
                <a:solidFill>
                  <a:srgbClr val="2B6CB0"/>
                </a:solidFill>
                <a:latin typeface="Calibri"/>
              </a:rPr>
              <a:t>Methodology expert jigsaw  (20 min)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Home groups of five number off: 1 Waterfall, 2 Agile, 3 XP, 4 Spiral, 5 RAD; experts regroup by number.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Expert groups agree the key idea, one strength, one weakness and the tell-tale scenario clue that says pick me.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Back in home groups each expert teaches for 60 seconds while listeners keep pens down.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Teacher reads three scenarios: a bank payroll system with legally fixed requirements; a startup that keeps changing its mind and needs something next month; crewed-flight software with a huge budget where failure is catastrophic.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Home groups hold up the methodology and the clue word that justified it, then everyone writes the strength and weakness of a methodology they did not teach.</a:t>
            </a:r>
          </a:p>
          <a:p>
            <a:pPr/>
            <a:r>
              <a:rPr sz="1800" b="0">
                <a:solidFill>
                  <a:srgbClr val="B76E00"/>
                </a:solidFill>
                <a:latin typeface="Calibri"/>
              </a:rPr>
              <a:t>Stretch: Experts also state what their methodology costs you: Waterfall hides the product until the end, Agile has unpredictable cost, XP is staff-intensive, Spiral is expensive, RAD sacrifices robustness.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Activity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1">
                <a:solidFill>
                  <a:srgbClr val="2B6CB0"/>
                </a:solidFill>
                <a:latin typeface="Calibri"/>
              </a:rPr>
              <a:t>Waterfall to Agile decision continuum  (10 min)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Mark a line across the room: one wall is pure Waterfall, the other pure Agile.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Read scenarios one at a time: an air-traffic-control replacement with full documentation demanded up front; a social app for a market that shifts monthly; a client who will know what they want when they see it; a fixed-price contract with penalty clauses; a studio prototyping game ideas.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Students take a position and must name the scenario clue that put them there when interviewed.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Middle-standers must describe the hybrid they would actually run; then three students move to the opposite half and steelman that position.</a:t>
            </a:r>
          </a:p>
          <a:p>
            <a:pPr/>
            <a:r>
              <a:rPr sz="1800" b="0">
                <a:solidFill>
                  <a:srgbClr val="B76E00"/>
                </a:solidFill>
                <a:latin typeface="Calibri"/>
              </a:rPr>
              <a:t>Stretch: Ask where Spiral lives on this line and why that is a trick question: it is iterative like Agile but heavyweight like Waterfall, and risk analysis is an axis the line does not show.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Activity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1">
                <a:solidFill>
                  <a:srgbClr val="2B6CB0"/>
                </a:solidFill>
                <a:latin typeface="Calibri"/>
              </a:rPr>
              <a:t>Doomed by design  (10 min)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Each student picks a project scenario and secretly assigns it the most catastrophically wrong methodology, such as Waterfall for a startup that pivots weekly or RAD for a pacemaker.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Pairs swap disasters; the partner narrates specifically how the project dies, naming the stage, the missing artefact and the raging stakeholder, using correct terminology.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The funniest technically accurate disaster is performed for the class in 30 seconds.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The class then prescribes the correct methodology and names the scenario clue that dictates it.</a:t>
            </a:r>
          </a:p>
          <a:p>
            <a:pPr/>
            <a:r>
              <a:rPr sz="1800" b="0">
                <a:solidFill>
                  <a:srgbClr val="B76E00"/>
                </a:solidFill>
                <a:latin typeface="Calibri"/>
              </a:rPr>
              <a:t>Stretch: Ruin a project twice: show how even the right methodology fails when a precondition such as committed users, skilled developers or an available customer is missing.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Practice (1-4)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22222"/>
                </a:solidFill>
                <a:latin typeface="Calibri"/>
              </a:rPr>
              <a:t>1. Describe the Waterfall methodology. (2)</a:t>
            </a:r>
          </a:p>
          <a:p>
            <a:r>
              <a:rPr sz="2000" b="1">
                <a:solidFill>
                  <a:srgbClr val="222222"/>
                </a:solidFill>
                <a:latin typeface="Calibri"/>
              </a:rPr>
              <a:t>2. Explain why Agile is more suitable than Waterfall for a project whose requirements are likely to change. (3)</a:t>
            </a:r>
          </a:p>
          <a:p>
            <a:r>
              <a:rPr sz="2000" b="1">
                <a:solidFill>
                  <a:srgbClr val="222222"/>
                </a:solidFill>
                <a:latin typeface="Calibri"/>
              </a:rPr>
              <a:t>3. State two features of extreme programming that go beyond standard Agile development. (2)</a:t>
            </a:r>
          </a:p>
          <a:p>
            <a:r>
              <a:rPr sz="2000" b="1">
                <a:solidFill>
                  <a:srgbClr val="222222"/>
                </a:solidFill>
                <a:latin typeface="Calibri"/>
              </a:rPr>
              <a:t>4. A national space agency is developing crewed-flight control software with a very large budget; failure would be catastrophic. Justify a suitable methodology. (4)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Practice — answers (1-4)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22222"/>
                </a:solidFill>
                <a:latin typeface="Calibri"/>
              </a:rPr>
              <a:t>1. Describe the Waterfall methodology. (2)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A linear, sequential methodology (1) in which each stage is fully completed and signed off before the next begins (1).</a:t>
            </a:r>
          </a:p>
          <a:p>
            <a:r>
              <a:rPr sz="2000" b="1">
                <a:solidFill>
                  <a:srgbClr val="222222"/>
                </a:solidFill>
                <a:latin typeface="Calibri"/>
              </a:rPr>
              <a:t>2. Explain why Agile is more suitable than Waterfall for a project whose requirements are likely to change. (3)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Agile works in short iterations delivering working increments (1); continuous client feedback means changed requirements are built into the next cycle (1); Waterfall fixes requirements at the start and changing them means repeating earlier stages at high cost (1).</a:t>
            </a:r>
          </a:p>
          <a:p>
            <a:r>
              <a:rPr sz="2000" b="1">
                <a:solidFill>
                  <a:srgbClr val="222222"/>
                </a:solidFill>
                <a:latin typeface="Calibri"/>
              </a:rPr>
              <a:t>3. State two features of extreme programming that go beyond standard Agile development. (2)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Pair programming with two developers sharing one machine (1); test-driven development where tests are written before the code, or a customer representative embedded in the team (1).</a:t>
            </a:r>
          </a:p>
          <a:p>
            <a:r>
              <a:rPr sz="2000" b="1">
                <a:solidFill>
                  <a:srgbClr val="222222"/>
                </a:solidFill>
                <a:latin typeface="Calibri"/>
              </a:rPr>
              <a:t>4. A national space agency is developing crewed-flight control software with a very large budget; failure would be catastrophic. Justify a suitable methodology. (4)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Spiral (1); each loop begins with explicit risk analysis so the most dangerous problems are found and mitigated early (1); on a high-cost, safety-critical project early risk discovery prevents catastrophic late failure (1); Spiral is complex and expensive but the very large budget can absorb this trade-off (1).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Practice (5-8)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22222"/>
                </a:solidFill>
                <a:latin typeface="Calibri"/>
              </a:rPr>
              <a:t>1. A program accepts ages from 18 to 65 inclusive. Give one item of normal, one of boundary and one of erroneous test data, with the expected outcome of each. (3)</a:t>
            </a:r>
          </a:p>
          <a:p>
            <a:r>
              <a:rPr sz="2000" b="1">
                <a:solidFill>
                  <a:srgbClr val="222222"/>
                </a:solidFill>
                <a:latin typeface="Calibri"/>
              </a:rPr>
              <a:t>2. State the five stages of the software development lifecycle in order and name one output of the design stage. (3)</a:t>
            </a:r>
          </a:p>
          <a:p>
            <a:r>
              <a:rPr sz="2000" b="1">
                <a:solidFill>
                  <a:srgbClr val="222222"/>
                </a:solidFill>
                <a:latin typeface="Calibri"/>
              </a:rPr>
              <a:t>3. Describe the difference between alpha testing and beta testing. (2)</a:t>
            </a:r>
          </a:p>
          <a:p>
            <a:r>
              <a:rPr sz="2000" b="1">
                <a:solidFill>
                  <a:srgbClr val="222222"/>
                </a:solidFill>
                <a:latin typeface="Calibri"/>
              </a:rPr>
              <a:t>4. Explain one drawback of RAD for a system that must be highly robust. (2)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Practice — answers (5-8)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22222"/>
                </a:solidFill>
                <a:latin typeface="Calibri"/>
              </a:rPr>
              <a:t>1. A program accepts ages from 18 to 65 inclusive. Give one item of normal, one of boundary and one of erroneous test data, with the expected outcome of each. (3)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Normal: 40, accepted (1); boundary: 18 or 65, accepted (1); erroneous: 17, 66 or text such as abc, rejected with an error message (1).</a:t>
            </a:r>
          </a:p>
          <a:p>
            <a:r>
              <a:rPr sz="2000" b="1">
                <a:solidFill>
                  <a:srgbClr val="222222"/>
                </a:solidFill>
                <a:latin typeface="Calibri"/>
              </a:rPr>
              <a:t>2. State the five stages of the software development lifecycle in order and name one output of the design stage. (3)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Analysis, design, development, testing, evaluation in that order (2); design outputs include data structures, algorithms, interface designs or input and output formats (1).</a:t>
            </a:r>
          </a:p>
          <a:p>
            <a:r>
              <a:rPr sz="2000" b="1">
                <a:solidFill>
                  <a:srgbClr val="222222"/>
                </a:solidFill>
                <a:latin typeface="Calibri"/>
              </a:rPr>
              <a:t>3. Describe the difference between alpha testing and beta testing. (2)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Alpha testing is carried out in-house by the developers or their team (1); beta testing releases the software to a limited group of real end users who report problems (1).</a:t>
            </a:r>
          </a:p>
          <a:p>
            <a:r>
              <a:rPr sz="2000" b="1">
                <a:solidFill>
                  <a:srgbClr val="222222"/>
                </a:solidFill>
                <a:latin typeface="Calibri"/>
              </a:rPr>
              <a:t>4. Explain one drawback of RAD for a system that must be highly robust. (2)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RAD builds the product from rapidly refined prototypes (1), so the final system can be less robust and efficient than one engineered from a full design, which is unacceptable where robustness is critical (1).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Common misconceptions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✗ Students often think boundary data means values just outside the range, but boundary values are the exact edges and should be accepted.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✗ Students often think Agile means no planning or documentation, but it plans every iteration and documents more lightly, not never.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✗ Students often think testing is a single stage after coding, but iterative methodologies test continuously throughout development.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✗ Students often describe a methodology instead of justifying it, but scenario questions only reward choices linked to explicit scenario clues.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✗ Students often think Spiral is just Agile with extra steps, but its defining feature is risk analysis at the start of every loop.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How the exam asks this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Command words: state and describe for 2 to 3 mark definitions; explain, compare and justify for applied questions.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Methodology choice questions run to 4 to 9 marks; the 9 mark extended response is levelled on AO3 justification quality.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Test data questions typically give a validation rule and ask for the three categories with expected outcomes, 3 to 6 marks.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Example stem: A small company is developing software for a client who is unsure of their requirements. Discuss which methodology the company should use. (9)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 b="1">
                <a:solidFill>
                  <a:srgbClr val="2B6CB0"/>
                </a:solidFill>
                <a:latin typeface="Calibri"/>
              </a:rPr>
              <a:t>Task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Create a one-page revision table for the five methodologies: key idea, one merit, one drawback, the tell-tale scenario clue, and one scenario each suits.</a:t>
            </a:r>
          </a:p>
          <a:p>
            <a:r>
              <a:rPr sz="2400" b="1">
                <a:solidFill>
                  <a:srgbClr val="B76E00"/>
                </a:solidFill>
                <a:latin typeface="Calibri"/>
              </a:rPr>
              <a:t>Challenge / stretch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A startup is building a brand-new mobile app: requirements are unclear and expected to change, the budget is modest and the team is small but skilled. Recommend a methodology with at least three explicit links to these clues, explain why Waterfall is unsuitable, and design a five-row test plan for the app's age field accepting 13 to 120 inclusive.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Exit ticket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22222"/>
                </a:solidFill>
                <a:latin typeface="Calibri"/>
              </a:rPr>
              <a:t>1. Name the three categories of test data and give an example of each for a range of 1 to 100 inclusive.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2. Give one merit and one drawback of Waterfall.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3. Which methodology puts risk analysis at the centre of every loop, and what kind of project suits it?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Exit ticket —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22222"/>
                </a:solidFill>
                <a:latin typeface="Calibri"/>
              </a:rPr>
              <a:t>1. Name the three categories of test data and give an example of each for a range of 1 to 100 inclusive.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Normal, for example 50; boundary, for example 1 or 100; erroneous, for example 0, 101 or text such as abc.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2. Give one merit and one drawback of Waterfall.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Merit: simple, well documented with clear milestones; drawback: inflexible and the client only sees the product at the end.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3. Which methodology puts risk analysis at the centre of every loop, and what kind of project suits it?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Spiral; large, expensive, high-risk projects where failure would be very costly.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