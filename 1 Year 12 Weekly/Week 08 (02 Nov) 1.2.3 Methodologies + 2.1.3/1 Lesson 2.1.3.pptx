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365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194560"/>
            <a:ext cx="1069848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000" b="1" i="0">
                <a:solidFill>
                  <a:srgbClr val="FFFFFF"/>
                </a:solidFill>
                <a:latin typeface="Calibri"/>
              </a:rPr>
              <a:t>2.1.3 Thinking Procedurally</a:t>
            </a:r>
          </a:p>
          <a:p>
            <a:r>
              <a:rPr sz="2000" b="0" i="0">
                <a:solidFill>
                  <a:srgbClr val="BED3EC"/>
                </a:solidFill>
                <a:latin typeface="Calibri"/>
              </a:rPr>
              <a:t>OCR H446 — Component 02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035040"/>
            <a:ext cx="10698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1">
                <a:solidFill>
                  <a:srgbClr val="9AB4D6"/>
                </a:solidFill>
                <a:latin typeface="Calibri"/>
              </a:rPr>
              <a:t>Week 08 (02 Nov)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2B6CB0"/>
                </a:solidFill>
                <a:latin typeface="Calibri"/>
              </a:rPr>
              <a:t>Learning objectives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088136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2200" b="1">
                <a:solidFill>
                  <a:srgbClr val="2B6CB0"/>
                </a:solidFill>
                <a:latin typeface="Calibri"/>
              </a:rPr>
              <a:t>By the end of this lesson you can:</a:t>
            </a:r>
          </a:p>
          <a:p>
            <a:pPr lvl="1"/>
            <a:r>
              <a:rPr sz="2200" b="0">
                <a:solidFill>
                  <a:srgbClr val="222222"/>
                </a:solidFill>
                <a:latin typeface="Calibri"/>
              </a:rPr>
              <a:t>Identify the components of a problem and decompose it into smaller sub-problems.</a:t>
            </a:r>
          </a:p>
          <a:p>
            <a:pPr lvl="1"/>
            <a:r>
              <a:rPr sz="2200" b="0">
                <a:solidFill>
                  <a:srgbClr val="222222"/>
                </a:solidFill>
                <a:latin typeface="Calibri"/>
              </a:rPr>
              <a:t>Identify the components of a solution as named sub-procedures, each doing one clear job.</a:t>
            </a:r>
          </a:p>
          <a:p>
            <a:pPr lvl="1"/>
            <a:r>
              <a:rPr sz="2200" b="0">
                <a:solidFill>
                  <a:srgbClr val="222222"/>
                </a:solidFill>
                <a:latin typeface="Calibri"/>
              </a:rPr>
              <a:t>Determine and justify the order of steps needed to solve a problem using data dependencies.</a:t>
            </a:r>
          </a:p>
          <a:p>
            <a:pPr lvl="1"/>
            <a:r>
              <a:rPr sz="2200" b="0">
                <a:solidFill>
                  <a:srgbClr val="222222"/>
                </a:solidFill>
                <a:latin typeface="Calibri"/>
              </a:rPr>
              <a:t>Explain the benefits of a modular, procedural solution for building, testing and maintenance.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2B6CB0"/>
                </a:solidFill>
                <a:latin typeface="Calibri"/>
              </a:rPr>
              <a:t>Do Now — retrieval starter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088136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222222"/>
                </a:solidFill>
                <a:latin typeface="Calibri"/>
              </a:rPr>
              <a:t>1. Define abstraction.</a:t>
            </a:r>
          </a:p>
          <a:p>
            <a:r>
              <a:rPr sz="2200" b="1">
                <a:solidFill>
                  <a:srgbClr val="222222"/>
                </a:solidFill>
                <a:latin typeface="Calibri"/>
              </a:rPr>
              <a:t>2. What is the difference between representational abstraction and generalisation?</a:t>
            </a:r>
          </a:p>
          <a:p>
            <a:r>
              <a:rPr sz="2200" b="1">
                <a:solidFill>
                  <a:srgbClr val="222222"/>
                </a:solidFill>
                <a:latin typeface="Calibri"/>
              </a:rPr>
              <a:t>3. State two things a developer should determine before coding, as part of thinking ahead.</a:t>
            </a:r>
          </a:p>
          <a:p>
            <a:r>
              <a:rPr sz="2200" b="1">
                <a:solidFill>
                  <a:srgbClr val="222222"/>
                </a:solidFill>
                <a:latin typeface="Calibri"/>
              </a:rPr>
              <a:t>4. What is caching and what is its main risk?</a:t>
            </a:r>
          </a:p>
          <a:p>
            <a:r>
              <a:rPr sz="2200" b="1">
                <a:solidFill>
                  <a:srgbClr val="222222"/>
                </a:solidFill>
                <a:latin typeface="Calibri"/>
              </a:rPr>
              <a:t>5. What does a linker do after compilation?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2B6CB0"/>
                </a:solidFill>
                <a:latin typeface="Calibri"/>
              </a:rPr>
              <a:t>Do Now — answers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088136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222222"/>
                </a:solidFill>
                <a:latin typeface="Calibri"/>
              </a:rPr>
              <a:t>1. Define abstraction.</a:t>
            </a:r>
          </a:p>
          <a:p>
            <a:pPr lvl="1"/>
            <a:r>
              <a:rPr sz="1800" i="1">
                <a:solidFill>
                  <a:srgbClr val="B76E00"/>
                </a:solidFill>
                <a:latin typeface="Calibri"/>
              </a:rPr>
              <a:t>Answer: Removing or hiding unnecessary detail so only information relevant to the problem remains (2.1.1).</a:t>
            </a:r>
          </a:p>
          <a:p>
            <a:r>
              <a:rPr sz="2200" b="1">
                <a:solidFill>
                  <a:srgbClr val="222222"/>
                </a:solidFill>
                <a:latin typeface="Calibri"/>
              </a:rPr>
              <a:t>2. What is the difference between representational abstraction and generalisation?</a:t>
            </a:r>
          </a:p>
          <a:p>
            <a:pPr lvl="1"/>
            <a:r>
              <a:rPr sz="1800" i="1">
                <a:solidFill>
                  <a:srgbClr val="B76E00"/>
                </a:solidFill>
                <a:latin typeface="Calibri"/>
              </a:rPr>
              <a:t>Answer: Representational abstraction removes detail from one specific thing; generalisation groups many things by shared characteristics (2.1.1).</a:t>
            </a:r>
          </a:p>
          <a:p>
            <a:r>
              <a:rPr sz="2200" b="1">
                <a:solidFill>
                  <a:srgbClr val="222222"/>
                </a:solidFill>
                <a:latin typeface="Calibri"/>
              </a:rPr>
              <a:t>3. State two things a developer should determine before coding, as part of thinking ahead.</a:t>
            </a:r>
          </a:p>
          <a:p>
            <a:pPr lvl="1"/>
            <a:r>
              <a:rPr sz="1800" i="1">
                <a:solidFill>
                  <a:srgbClr val="B76E00"/>
                </a:solidFill>
                <a:latin typeface="Calibri"/>
              </a:rPr>
              <a:t>Answer: The inputs and outputs of the solution, plus any preconditions that must hold before a routine runs (2.1.2).</a:t>
            </a:r>
          </a:p>
          <a:p>
            <a:r>
              <a:rPr sz="2200" b="1">
                <a:solidFill>
                  <a:srgbClr val="222222"/>
                </a:solidFill>
                <a:latin typeface="Calibri"/>
              </a:rPr>
              <a:t>4. What is caching and what is its main risk?</a:t>
            </a:r>
          </a:p>
          <a:p>
            <a:pPr lvl="1"/>
            <a:r>
              <a:rPr sz="1800" i="1">
                <a:solidFill>
                  <a:srgbClr val="B76E00"/>
                </a:solidFill>
                <a:latin typeface="Calibri"/>
              </a:rPr>
              <a:t>Answer: Storing frequently used or expensive results in faster storage for reuse; the cached copy can become stale when the source changes (2.1.2).</a:t>
            </a:r>
          </a:p>
          <a:p>
            <a:r>
              <a:rPr sz="2200" b="1">
                <a:solidFill>
                  <a:srgbClr val="222222"/>
                </a:solidFill>
                <a:latin typeface="Calibri"/>
              </a:rPr>
              <a:t>5. What does a linker do after compilation?</a:t>
            </a:r>
          </a:p>
          <a:p>
            <a:pPr lvl="1"/>
            <a:r>
              <a:rPr sz="1800" i="1">
                <a:solidFill>
                  <a:srgbClr val="B76E00"/>
                </a:solidFill>
                <a:latin typeface="Calibri"/>
              </a:rPr>
              <a:t>Answer: It combines the compiled object code with library routines and other modules, resolving references into one executable (1.2.2).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2B6CB0"/>
                </a:solidFill>
                <a:latin typeface="Calibri"/>
              </a:rPr>
              <a:t>Key terminology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088136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r>
              <a:rPr b="1" sz="2000">
                <a:solidFill>
                  <a:srgbClr val="1A365D"/>
                </a:solidFill>
                <a:latin typeface="Calibri"/>
              </a:rPr>
              <a:t>Thinking procedurally</a:t>
            </a:r>
            <a:r>
              <a:rPr sz="1800">
                <a:solidFill>
                  <a:srgbClr val="222222"/>
                </a:solidFill>
                <a:latin typeface="Calibri"/>
              </a:rPr>
              <a:t> — Breaking a problem into an ordered sequence of steps and sub-procedures, then arranging them correctly.</a:t>
            </a:r>
          </a:p>
          <a:p>
            <a:r>
              <a:rPr b="1" sz="2000">
                <a:solidFill>
                  <a:srgbClr val="1A365D"/>
                </a:solidFill>
                <a:latin typeface="Calibri"/>
              </a:rPr>
              <a:t>Decomposition</a:t>
            </a:r>
            <a:r>
              <a:rPr sz="1800">
                <a:solidFill>
                  <a:srgbClr val="222222"/>
                </a:solidFill>
                <a:latin typeface="Calibri"/>
              </a:rPr>
              <a:t> — Splitting a large problem into smaller, more manageable sub-problems.</a:t>
            </a:r>
          </a:p>
          <a:p>
            <a:r>
              <a:rPr b="1" sz="2000">
                <a:solidFill>
                  <a:srgbClr val="1A365D"/>
                </a:solidFill>
                <a:latin typeface="Calibri"/>
              </a:rPr>
              <a:t>Component</a:t>
            </a:r>
            <a:r>
              <a:rPr sz="1800">
                <a:solidFill>
                  <a:srgbClr val="222222"/>
                </a:solidFill>
                <a:latin typeface="Calibri"/>
              </a:rPr>
              <a:t> — One identifiable part of a problem or solution, such as input, processing or output.</a:t>
            </a:r>
          </a:p>
          <a:p>
            <a:r>
              <a:rPr b="1" sz="2000">
                <a:solidFill>
                  <a:srgbClr val="1A365D"/>
                </a:solidFill>
                <a:latin typeface="Calibri"/>
              </a:rPr>
              <a:t>Sub-procedure</a:t>
            </a:r>
            <a:r>
              <a:rPr sz="1800">
                <a:solidFill>
                  <a:srgbClr val="222222"/>
                </a:solidFill>
                <a:latin typeface="Calibri"/>
              </a:rPr>
              <a:t> — A named block of code, also called a subroutine, that performs one part of the task.</a:t>
            </a:r>
          </a:p>
          <a:p>
            <a:r>
              <a:rPr b="1" sz="2000">
                <a:solidFill>
                  <a:srgbClr val="1A365D"/>
                </a:solidFill>
                <a:latin typeface="Calibri"/>
              </a:rPr>
              <a:t>Sequence</a:t>
            </a:r>
            <a:r>
              <a:rPr sz="1800">
                <a:solidFill>
                  <a:srgbClr val="222222"/>
                </a:solidFill>
                <a:latin typeface="Calibri"/>
              </a:rPr>
              <a:t> — The order in which steps or procedures are carried out.</a:t>
            </a:r>
          </a:p>
          <a:p>
            <a:r>
              <a:rPr b="1" sz="2000">
                <a:solidFill>
                  <a:srgbClr val="1A365D"/>
                </a:solidFill>
                <a:latin typeface="Calibri"/>
              </a:rPr>
              <a:t>Dependency</a:t>
            </a:r>
            <a:r>
              <a:rPr sz="1800">
                <a:solidFill>
                  <a:srgbClr val="222222"/>
                </a:solidFill>
                <a:latin typeface="Calibri"/>
              </a:rPr>
              <a:t> — When one step needs the output of an earlier step, forcing their relative order.</a:t>
            </a:r>
          </a:p>
          <a:p>
            <a:r>
              <a:rPr b="1" sz="2000">
                <a:solidFill>
                  <a:srgbClr val="1A365D"/>
                </a:solidFill>
                <a:latin typeface="Calibri"/>
              </a:rPr>
              <a:t>Modularity</a:t>
            </a:r>
            <a:r>
              <a:rPr sz="1800">
                <a:solidFill>
                  <a:srgbClr val="222222"/>
                </a:solidFill>
                <a:latin typeface="Calibri"/>
              </a:rPr>
              <a:t> — Building a solution from separate, self-contained parts that can be developed and tested independently.</a:t>
            </a:r>
          </a:p>
          <a:p>
            <a:r>
              <a:rPr b="1" sz="2000">
                <a:solidFill>
                  <a:srgbClr val="1A365D"/>
                </a:solidFill>
                <a:latin typeface="Calibri"/>
              </a:rPr>
              <a:t>Parameter</a:t>
            </a:r>
            <a:r>
              <a:rPr sz="1800">
                <a:solidFill>
                  <a:srgbClr val="222222"/>
                </a:solidFill>
                <a:latin typeface="Calibri"/>
              </a:rPr>
              <a:t> — A value passed into a sub-procedure to make it general and reusable.</a:t>
            </a:r>
          </a:p>
          <a:p>
            <a:r>
              <a:rPr b="1" sz="2000">
                <a:solidFill>
                  <a:srgbClr val="1A365D"/>
                </a:solidFill>
                <a:latin typeface="Calibri"/>
              </a:rPr>
              <a:t>Interface</a:t>
            </a:r>
            <a:r>
              <a:rPr sz="1800">
                <a:solidFill>
                  <a:srgbClr val="222222"/>
                </a:solidFill>
                <a:latin typeface="Calibri"/>
              </a:rPr>
              <a:t> — The agreed inputs and outputs through which one module communicates with another.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2B6CB0"/>
                </a:solidFill>
                <a:latin typeface="Calibri"/>
              </a:rPr>
              <a:t>What thinking procedurally means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088136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2000" b="0">
                <a:solidFill>
                  <a:srgbClr val="222222"/>
                </a:solidFill>
                <a:latin typeface="Calibri"/>
              </a:rPr>
              <a:t>Thinking procedurally breaks a problem into an ordered sequence of steps and sub-procedures.</a:t>
            </a:r>
          </a:p>
          <a:p>
            <a:pPr/>
            <a:r>
              <a:rPr sz="2000" b="0">
                <a:solidFill>
                  <a:srgbClr val="222222"/>
                </a:solidFill>
                <a:latin typeface="Calibri"/>
              </a:rPr>
              <a:t>It answers two questions: what are the parts, and in what order must they run?</a:t>
            </a:r>
          </a:p>
          <a:p>
            <a:pPr/>
            <a:r>
              <a:rPr sz="2000" b="0">
                <a:solidFill>
                  <a:srgbClr val="222222"/>
                </a:solidFill>
                <a:latin typeface="Calibri"/>
              </a:rPr>
              <a:t>It is the skill behind every algorithm and every structured program.</a:t>
            </a:r>
          </a:p>
          <a:p>
            <a:pPr/>
            <a:r>
              <a:rPr sz="2000" b="0">
                <a:solidFill>
                  <a:srgbClr val="222222"/>
                </a:solidFill>
                <a:latin typeface="Calibri"/>
              </a:rPr>
              <a:t>Contrast with abstraction: abstraction removes detail; procedural thinking breaks the problem into ordered sub-steps.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2B6CB0"/>
                </a:solidFill>
                <a:latin typeface="Calibri"/>
              </a:rPr>
              <a:t>Identifying the components of a problem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088136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2000" b="0">
                <a:solidFill>
                  <a:srgbClr val="222222"/>
                </a:solidFill>
                <a:latin typeface="Calibri"/>
              </a:rPr>
              <a:t>Read the problem statement and list its distinct concerns: inputs, processes, outputs, stored data.</a:t>
            </a:r>
          </a:p>
          <a:p>
            <a:pPr/>
            <a:r>
              <a:rPr sz="2000" b="0">
                <a:solidFill>
                  <a:srgbClr val="222222"/>
                </a:solidFill>
                <a:latin typeface="Calibri"/>
              </a:rPr>
              <a:t>Each concern that can be described separately is a candidate component.</a:t>
            </a:r>
          </a:p>
          <a:p>
            <a:pPr/>
            <a:r>
              <a:rPr sz="2000" b="0">
                <a:solidFill>
                  <a:srgbClr val="222222"/>
                </a:solidFill>
                <a:latin typeface="Calibri"/>
              </a:rPr>
              <a:t>A school report system splits into collecting marks, calculating grades, formatting reports, distributing them.</a:t>
            </a:r>
          </a:p>
          <a:p>
            <a:pPr/>
            <a:r>
              <a:rPr sz="2000" b="0">
                <a:solidFill>
                  <a:srgbClr val="222222"/>
                </a:solidFill>
                <a:latin typeface="Calibri"/>
              </a:rPr>
              <a:t>Components should have minimal overlap: one job should live in exactly one component.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2B6CB0"/>
                </a:solidFill>
                <a:latin typeface="Calibri"/>
              </a:rPr>
              <a:t>Decomposition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088136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2000" b="0">
                <a:solidFill>
                  <a:srgbClr val="222222"/>
                </a:solidFill>
                <a:latin typeface="Calibri"/>
              </a:rPr>
              <a:t>Decomposition splits a large problem into smaller, more manageable sub-problems.</a:t>
            </a:r>
          </a:p>
          <a:p>
            <a:pPr/>
            <a:r>
              <a:rPr sz="2000" b="0">
                <a:solidFill>
                  <a:srgbClr val="222222"/>
                </a:solidFill>
                <a:latin typeface="Calibri"/>
              </a:rPr>
              <a:t>Each sub-problem is simpler to specify, solve and test than the whole.</a:t>
            </a:r>
          </a:p>
          <a:p>
            <a:pPr/>
            <a:r>
              <a:rPr sz="2000" b="0">
                <a:solidFill>
                  <a:srgbClr val="222222"/>
                </a:solidFill>
                <a:latin typeface="Calibri"/>
              </a:rPr>
              <a:t>Decompose repeatedly until each sub-problem is small enough to solve directly.</a:t>
            </a:r>
          </a:p>
          <a:p>
            <a:pPr/>
            <a:r>
              <a:rPr sz="2000" b="0">
                <a:solidFill>
                  <a:srgbClr val="222222"/>
                </a:solidFill>
                <a:latin typeface="Calibri"/>
              </a:rPr>
              <a:t>The full solution is the sub-solutions combined in the right order.</a:t>
            </a:r>
          </a:p>
          <a:p>
            <a:pPr/>
            <a:r>
              <a:rPr sz="1800" b="1">
                <a:solidFill>
                  <a:srgbClr val="B76E00"/>
                </a:solidFill>
                <a:latin typeface="Calibri"/>
              </a:rPr>
              <a:t>Keep decomposition distinct from abstraction in written answers: split into parts, not remove detail.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2B6CB0"/>
                </a:solidFill>
                <a:latin typeface="Calibri"/>
              </a:rPr>
              <a:t>Identifying the components of a solution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088136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2000" b="0">
                <a:solidFill>
                  <a:srgbClr val="222222"/>
                </a:solidFill>
                <a:latin typeface="Calibri"/>
              </a:rPr>
              <a:t>Each sub-problem maps to a sub-procedure: a named block of code doing one clear job.</a:t>
            </a:r>
          </a:p>
          <a:p>
            <a:pPr/>
            <a:r>
              <a:rPr sz="2000" b="0">
                <a:solidFill>
                  <a:srgbClr val="222222"/>
                </a:solidFill>
                <a:latin typeface="Calibri"/>
              </a:rPr>
              <a:t>Good names describe the job, for example checkSeatAvailability or takePayment.</a:t>
            </a:r>
          </a:p>
          <a:p>
            <a:pPr/>
            <a:r>
              <a:rPr sz="2000" b="0">
                <a:solidFill>
                  <a:srgbClr val="222222"/>
                </a:solidFill>
                <a:latin typeface="Calibri"/>
              </a:rPr>
              <a:t>State what each sub-procedure takes in and gives out: its interface.</a:t>
            </a:r>
          </a:p>
          <a:p>
            <a:pPr/>
            <a:r>
              <a:rPr sz="2000" b="0">
                <a:solidFill>
                  <a:srgbClr val="222222"/>
                </a:solidFill>
                <a:latin typeface="Calibri"/>
              </a:rPr>
              <a:t>The main program then reads as a sequence of calls to these sub-procedures.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2B6CB0"/>
                </a:solidFill>
                <a:latin typeface="Calibri"/>
              </a:rPr>
              <a:t>Determining the order of steps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088136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2000" b="0">
                <a:solidFill>
                  <a:srgbClr val="222222"/>
                </a:solidFill>
                <a:latin typeface="Calibri"/>
              </a:rPr>
              <a:t>Some steps consume the output of earlier steps, so their order is fixed.</a:t>
            </a:r>
          </a:p>
          <a:p>
            <a:pPr/>
            <a:r>
              <a:rPr sz="2000" b="0">
                <a:solidFill>
                  <a:srgbClr val="222222"/>
                </a:solidFill>
                <a:latin typeface="Calibri"/>
              </a:rPr>
              <a:t>A dependency exists when step B needs data produced by step A.</a:t>
            </a:r>
          </a:p>
          <a:p>
            <a:pPr/>
            <a:r>
              <a:rPr sz="2000" b="0">
                <a:solidFill>
                  <a:srgbClr val="222222"/>
                </a:solidFill>
                <a:latin typeface="Calibri"/>
              </a:rPr>
              <a:t>Steps with no dependency between them are order-independent and could even run concurrently.</a:t>
            </a:r>
          </a:p>
          <a:p>
            <a:pPr/>
            <a:r>
              <a:rPr sz="2000" b="0">
                <a:solidFill>
                  <a:srgbClr val="222222"/>
                </a:solidFill>
                <a:latin typeface="Calibri"/>
              </a:rPr>
              <a:t>Justify any stated order by naming the dependency, not by habit or preference.</a:t>
            </a:r>
          </a:p>
          <a:p>
            <a:pPr/>
            <a:r>
              <a:rPr sz="1800" b="1">
                <a:solidFill>
                  <a:srgbClr val="B76E00"/>
                </a:solidFill>
                <a:latin typeface="Calibri"/>
              </a:rPr>
              <a:t>Exam answers earn AO2 marks by naming which output each later step depends on.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2B6CB0"/>
                </a:solidFill>
                <a:latin typeface="Calibri"/>
              </a:rPr>
              <a:t>Worked ordering: an online order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088136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2000" b="0">
                <a:solidFill>
                  <a:srgbClr val="222222"/>
                </a:solidFill>
                <a:latin typeface="Calibri"/>
              </a:rPr>
              <a:t>Take basket contents, check stock, take payment, decrement stock, generate confirmation, email receipt.</a:t>
            </a:r>
          </a:p>
          <a:p>
            <a:pPr/>
            <a:r>
              <a:rPr sz="2000" b="0">
                <a:solidFill>
                  <a:srgbClr val="222222"/>
                </a:solidFill>
                <a:latin typeface="Calibri"/>
              </a:rPr>
              <a:t>Payment must follow the stock check: charging for unavailable goods is a concrete failure.</a:t>
            </a:r>
          </a:p>
          <a:p>
            <a:pPr/>
            <a:r>
              <a:rPr sz="2000" b="0">
                <a:solidFill>
                  <a:srgbClr val="222222"/>
                </a:solidFill>
                <a:latin typeface="Calibri"/>
              </a:rPr>
              <a:t>Stock is only decremented after payment succeeds, so a failed payment leaves stock untouched.</a:t>
            </a:r>
          </a:p>
          <a:p>
            <a:pPr/>
            <a:r>
              <a:rPr sz="2000" b="0">
                <a:solidFill>
                  <a:srgbClr val="222222"/>
                </a:solidFill>
                <a:latin typeface="Calibri"/>
              </a:rPr>
              <a:t>Confirmation and receipt both depend on payment but are plausibly swappable with each other.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2B6CB0"/>
                </a:solidFill>
                <a:latin typeface="Calibri"/>
              </a:rPr>
              <a:t>Identifying sub-procedures for a scenario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088136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2000" b="0">
                <a:solidFill>
                  <a:srgbClr val="222222"/>
                </a:solidFill>
                <a:latin typeface="Calibri"/>
              </a:rPr>
              <a:t>Walk the scenario chronologically and name a sub-procedure for each distinct job.</a:t>
            </a:r>
          </a:p>
          <a:p>
            <a:pPr/>
            <a:r>
              <a:rPr sz="2000" b="0">
                <a:solidFill>
                  <a:srgbClr val="222222"/>
                </a:solidFill>
                <a:latin typeface="Calibri"/>
              </a:rPr>
              <a:t>A cinema booking needs selectShowing, checkSeatAvailability, chooseSeats, takePayment, confirmBooking.</a:t>
            </a:r>
          </a:p>
          <a:p>
            <a:pPr/>
            <a:r>
              <a:rPr sz="2000" b="0">
                <a:solidFill>
                  <a:srgbClr val="222222"/>
                </a:solidFill>
                <a:latin typeface="Calibri"/>
              </a:rPr>
              <a:t>Each depends on the previous one's output: you cannot choose seats before knowing which are free.</a:t>
            </a:r>
          </a:p>
          <a:p>
            <a:pPr/>
            <a:r>
              <a:rPr sz="2000" b="0">
                <a:solidFill>
                  <a:srgbClr val="222222"/>
                </a:solidFill>
                <a:latin typeface="Calibri"/>
              </a:rPr>
              <a:t>Reused jobs such as takePayment should be one sub-procedure called from several places.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2B6CB0"/>
                </a:solidFill>
                <a:latin typeface="Calibri"/>
              </a:rPr>
              <a:t>Parameters make sub-procedures reusable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088136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2000" b="0">
                <a:solidFill>
                  <a:srgbClr val="222222"/>
                </a:solidFill>
                <a:latin typeface="Calibri"/>
              </a:rPr>
              <a:t>A parameter is a value passed in so one sub-procedure serves many cases.</a:t>
            </a:r>
          </a:p>
          <a:p>
            <a:pPr/>
            <a:r>
              <a:rPr sz="2000" b="0">
                <a:solidFill>
                  <a:srgbClr val="222222"/>
                </a:solidFill>
                <a:latin typeface="Calibri"/>
              </a:rPr>
              <a:t>brew(strength, milk) makes every tea order use the same procedure with different arguments.</a:t>
            </a:r>
          </a:p>
          <a:p>
            <a:pPr/>
            <a:r>
              <a:rPr sz="2000" b="0">
                <a:solidFill>
                  <a:srgbClr val="222222"/>
                </a:solidFill>
                <a:latin typeface="Calibri"/>
              </a:rPr>
              <a:t>Without parameters you would duplicate near-identical code for each case.</a:t>
            </a:r>
          </a:p>
          <a:p>
            <a:pPr/>
            <a:r>
              <a:rPr sz="2000" b="0">
                <a:solidFill>
                  <a:srgbClr val="222222"/>
                </a:solidFill>
                <a:latin typeface="Calibri"/>
              </a:rPr>
              <a:t>This links procedural thinking to reusable components from thinking ahead.</a:t>
            </a:r>
          </a:p>
          <a:p>
            <a:pPr lvl="1"/>
            <a:r>
              <a:rPr sz="1600" b="0">
                <a:solidFill>
                  <a:srgbClr val="1A365D"/>
                </a:solidFill>
                <a:latin typeface="Consolas"/>
              </a:rPr>
              <a:t>procedure brew(strength, milk)</a:t>
            </a:r>
          </a:p>
          <a:p>
            <a:pPr lvl="1"/>
            <a:r>
              <a:rPr sz="1600" b="0">
                <a:solidFill>
                  <a:srgbClr val="1A365D"/>
                </a:solidFill>
                <a:latin typeface="Consolas"/>
              </a:rPr>
              <a:t>   wait(strength * 30)</a:t>
            </a:r>
          </a:p>
          <a:p>
            <a:pPr lvl="1"/>
            <a:r>
              <a:rPr sz="1600" b="0">
                <a:solidFill>
                  <a:srgbClr val="1A365D"/>
                </a:solidFill>
                <a:latin typeface="Consolas"/>
              </a:rPr>
              <a:t>   if milk == true then</a:t>
            </a:r>
          </a:p>
          <a:p>
            <a:pPr lvl="1"/>
            <a:r>
              <a:rPr sz="1600" b="0">
                <a:solidFill>
                  <a:srgbClr val="1A365D"/>
                </a:solidFill>
                <a:latin typeface="Consolas"/>
              </a:rPr>
              <a:t>      addMilk()</a:t>
            </a:r>
          </a:p>
          <a:p>
            <a:pPr lvl="1"/>
            <a:r>
              <a:rPr sz="1600" b="0">
                <a:solidFill>
                  <a:srgbClr val="1A365D"/>
                </a:solidFill>
                <a:latin typeface="Consolas"/>
              </a:rPr>
              <a:t>   endif</a:t>
            </a:r>
          </a:p>
          <a:p>
            <a:pPr lvl="1"/>
            <a:r>
              <a:rPr sz="1600" b="0">
                <a:solidFill>
                  <a:srgbClr val="1A365D"/>
                </a:solidFill>
                <a:latin typeface="Consolas"/>
              </a:rPr>
              <a:t>endprocedure</a:t>
            </a:r>
          </a:p>
          <a:p>
            <a:pPr lvl="1"/>
            <a:r>
              <a:rPr sz="1600" b="0">
                <a:solidFill>
                  <a:srgbClr val="1A365D"/>
                </a:solidFill>
                <a:latin typeface="Consolas"/>
              </a:rPr>
              <a:t>brew(2, true)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2B6CB0"/>
                </a:solidFill>
                <a:latin typeface="Calibri"/>
              </a:rPr>
              <a:t>Benefits of a modular solution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088136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2000" b="0">
                <a:solidFill>
                  <a:srgbClr val="222222"/>
                </a:solidFill>
                <a:latin typeface="Calibri"/>
              </a:rPr>
              <a:t>Modules can be shared between a team and developed in parallel.</a:t>
            </a:r>
          </a:p>
          <a:p>
            <a:pPr/>
            <a:r>
              <a:rPr sz="2000" b="0">
                <a:solidFill>
                  <a:srgbClr val="222222"/>
                </a:solidFill>
                <a:latin typeface="Calibri"/>
              </a:rPr>
              <a:t>Each module is tested in isolation, so errors are found and located faster.</a:t>
            </a:r>
          </a:p>
          <a:p>
            <a:pPr/>
            <a:r>
              <a:rPr sz="2000" b="0">
                <a:solidFill>
                  <a:srgbClr val="222222"/>
                </a:solidFill>
                <a:latin typeface="Calibri"/>
              </a:rPr>
              <a:t>Maintenance changes are confined to one module instead of rippling through the program.</a:t>
            </a:r>
          </a:p>
          <a:p>
            <a:pPr/>
            <a:r>
              <a:rPr sz="2000" b="0">
                <a:solidFill>
                  <a:srgbClr val="222222"/>
                </a:solidFill>
                <a:latin typeface="Calibri"/>
              </a:rPr>
              <a:t>Well-defined modules can be reused in other programs, saving development time.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2B6CB0"/>
                </a:solidFill>
                <a:latin typeface="Calibri"/>
              </a:rPr>
              <a:t>From decomposition to program structure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088136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2000" b="0">
                <a:solidFill>
                  <a:srgbClr val="222222"/>
                </a:solidFill>
                <a:latin typeface="Calibri"/>
              </a:rPr>
              <a:t>The decomposition becomes the program design: one sub-procedure per sub-problem.</a:t>
            </a:r>
          </a:p>
          <a:p>
            <a:pPr/>
            <a:r>
              <a:rPr sz="2000" b="0">
                <a:solidFill>
                  <a:srgbClr val="222222"/>
                </a:solidFill>
                <a:latin typeface="Calibri"/>
              </a:rPr>
              <a:t>The main program calls them in dependency order.</a:t>
            </a:r>
          </a:p>
          <a:p>
            <a:pPr/>
            <a:r>
              <a:rPr sz="2000" b="0">
                <a:solidFill>
                  <a:srgbClr val="222222"/>
                </a:solidFill>
                <a:latin typeface="Calibri"/>
              </a:rPr>
              <a:t>Modules that must exchange data need an agreed interface before both are built.</a:t>
            </a:r>
          </a:p>
          <a:p>
            <a:pPr/>
            <a:r>
              <a:rPr sz="2000" b="0">
                <a:solidFill>
                  <a:srgbClr val="222222"/>
                </a:solidFill>
                <a:latin typeface="Calibri"/>
              </a:rPr>
              <a:t>Dependency, not preference, dictates the build and call order.</a:t>
            </a:r>
          </a:p>
          <a:p>
            <a:pPr lvl="1"/>
            <a:r>
              <a:rPr sz="1600" b="0">
                <a:solidFill>
                  <a:srgbClr val="1A365D"/>
                </a:solidFill>
                <a:latin typeface="Consolas"/>
              </a:rPr>
              <a:t>procedure makeTea()</a:t>
            </a:r>
          </a:p>
          <a:p>
            <a:pPr lvl="1"/>
            <a:r>
              <a:rPr sz="1600" b="0">
                <a:solidFill>
                  <a:srgbClr val="1A365D"/>
                </a:solidFill>
                <a:latin typeface="Consolas"/>
              </a:rPr>
              <a:t>   fetchItems()</a:t>
            </a:r>
          </a:p>
          <a:p>
            <a:pPr lvl="1"/>
            <a:r>
              <a:rPr sz="1600" b="0">
                <a:solidFill>
                  <a:srgbClr val="1A365D"/>
                </a:solidFill>
                <a:latin typeface="Consolas"/>
              </a:rPr>
              <a:t>   boilWater()</a:t>
            </a:r>
          </a:p>
          <a:p>
            <a:pPr lvl="1"/>
            <a:r>
              <a:rPr sz="1600" b="0">
                <a:solidFill>
                  <a:srgbClr val="1A365D"/>
                </a:solidFill>
                <a:latin typeface="Consolas"/>
              </a:rPr>
              <a:t>   brew(2, true)</a:t>
            </a:r>
          </a:p>
          <a:p>
            <a:pPr lvl="1"/>
            <a:r>
              <a:rPr sz="1600" b="0">
                <a:solidFill>
                  <a:srgbClr val="1A365D"/>
                </a:solidFill>
                <a:latin typeface="Consolas"/>
              </a:rPr>
              <a:t>   addExtras()</a:t>
            </a:r>
          </a:p>
          <a:p>
            <a:pPr lvl="1"/>
            <a:r>
              <a:rPr sz="1600" b="0">
                <a:solidFill>
                  <a:srgbClr val="1A365D"/>
                </a:solidFill>
                <a:latin typeface="Consolas"/>
              </a:rPr>
              <a:t>endprocedure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2B6CB0"/>
                </a:solidFill>
                <a:latin typeface="Calibri"/>
              </a:rPr>
              <a:t>Worked example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088136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2200" b="1">
                <a:solidFill>
                  <a:srgbClr val="2B6CB0"/>
                </a:solidFill>
                <a:latin typeface="Calibri"/>
              </a:rPr>
              <a:t>Decomposing an online cinema booking system</a:t>
            </a:r>
          </a:p>
          <a:p>
            <a:pPr lvl="1"/>
            <a:r>
              <a:rPr sz="1900" b="0">
                <a:solidFill>
                  <a:srgbClr val="222222"/>
                </a:solidFill>
                <a:latin typeface="Calibri"/>
              </a:rPr>
              <a:t>1. State the whole problem: let a customer book and pay for cinema seats online.</a:t>
            </a:r>
          </a:p>
          <a:p>
            <a:pPr lvl="1"/>
            <a:r>
              <a:rPr sz="1900" b="0">
                <a:solidFill>
                  <a:srgbClr val="222222"/>
                </a:solidFill>
                <a:latin typeface="Calibri"/>
              </a:rPr>
              <a:t>2. Identify component 1: selectFilmAndShowtime, choosing film, date and time.</a:t>
            </a:r>
          </a:p>
          <a:p>
            <a:pPr lvl="1"/>
            <a:r>
              <a:rPr sz="1900" b="0">
                <a:solidFill>
                  <a:srgbClr val="222222"/>
                </a:solidFill>
                <a:latin typeface="Calibri"/>
              </a:rPr>
              <a:t>3. Identify component 2: checkSeatAvailability, which depends on step 1's output, the chosen showing.</a:t>
            </a:r>
          </a:p>
          <a:p>
            <a:pPr lvl="1"/>
            <a:r>
              <a:rPr sz="1900" b="0">
                <a:solidFill>
                  <a:srgbClr val="222222"/>
                </a:solidFill>
                <a:latin typeface="Calibri"/>
              </a:rPr>
              <a:t>4. Identify component 3: chooseSeats, which depends on step 2, since only free seats may be offered.</a:t>
            </a:r>
          </a:p>
          <a:p>
            <a:pPr lvl="1"/>
            <a:r>
              <a:rPr sz="1900" b="0">
                <a:solidFill>
                  <a:srgbClr val="222222"/>
                </a:solidFill>
                <a:latin typeface="Calibri"/>
              </a:rPr>
              <a:t>5. Identify component 4: takePayment, which depends on step 3 to know the number of seats and price.</a:t>
            </a:r>
          </a:p>
          <a:p>
            <a:pPr lvl="1"/>
            <a:r>
              <a:rPr sz="1900" b="0">
                <a:solidFill>
                  <a:srgbClr val="222222"/>
                </a:solidFill>
                <a:latin typeface="Calibri"/>
              </a:rPr>
              <a:t>6. Identify component 5: confirmBookingAndUpdateSeatMap, which depends on step 4: only confirm once paid.</a:t>
            </a:r>
          </a:p>
          <a:p>
            <a:pPr lvl="1"/>
            <a:r>
              <a:rPr sz="1900" b="0">
                <a:solidFill>
                  <a:srgbClr val="222222"/>
                </a:solidFill>
                <a:latin typeface="Calibri"/>
              </a:rPr>
              <a:t>7. Conclude: the data dependencies fix the order, and takePayment is reusable elsewhere on the site.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2B6CB0"/>
                </a:solidFill>
                <a:latin typeface="Calibri"/>
              </a:rPr>
              <a:t>Worked example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088136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2200" b="1">
                <a:solidFill>
                  <a:srgbClr val="2B6CB0"/>
                </a:solidFill>
                <a:latin typeface="Calibri"/>
              </a:rPr>
              <a:t>Justifying the order of steps in a login process</a:t>
            </a:r>
          </a:p>
          <a:p>
            <a:pPr lvl="1"/>
            <a:r>
              <a:rPr sz="1900" b="0">
                <a:solidFill>
                  <a:srgbClr val="222222"/>
                </a:solidFill>
                <a:latin typeface="Calibri"/>
              </a:rPr>
              <a:t>1. List the steps: display login form, user enters details, look up username, compare password hash, create session, show dashboard.</a:t>
            </a:r>
          </a:p>
          <a:p>
            <a:pPr lvl="1"/>
            <a:r>
              <a:rPr sz="1900" b="0">
                <a:solidFill>
                  <a:srgbClr val="222222"/>
                </a:solidFill>
                <a:latin typeface="Calibri"/>
              </a:rPr>
              <a:t>2. Look up username must follow entry of details: it consumes the typed username.</a:t>
            </a:r>
          </a:p>
          <a:p>
            <a:pPr lvl="1"/>
            <a:r>
              <a:rPr sz="1900" b="0">
                <a:solidFill>
                  <a:srgbClr val="222222"/>
                </a:solidFill>
                <a:latin typeface="Calibri"/>
              </a:rPr>
              <a:t>3. Compare password hash must follow the lookup: it needs the stored hash that the lookup retrieves.</a:t>
            </a:r>
          </a:p>
          <a:p>
            <a:pPr lvl="1"/>
            <a:r>
              <a:rPr sz="1900" b="0">
                <a:solidFill>
                  <a:srgbClr val="222222"/>
                </a:solidFill>
                <a:latin typeface="Calibri"/>
              </a:rPr>
              <a:t>4. Create session must follow a successful comparison: an unverified user must not get a session.</a:t>
            </a:r>
          </a:p>
          <a:p>
            <a:pPr lvl="1"/>
            <a:r>
              <a:rPr sz="1900" b="0">
                <a:solidFill>
                  <a:srgbClr val="222222"/>
                </a:solidFill>
                <a:latin typeface="Calibri"/>
              </a:rPr>
              <a:t>5. Show dashboard must follow session creation: the page is only for authenticated users.</a:t>
            </a:r>
          </a:p>
          <a:p>
            <a:pPr lvl="1"/>
            <a:r>
              <a:rPr sz="1900" b="0">
                <a:solidFill>
                  <a:srgbClr val="222222"/>
                </a:solidFill>
                <a:latin typeface="Calibri"/>
              </a:rPr>
              <a:t>6. Conclude: every adjacent pair is a must-follow dependency, so this sequence cannot be reordered.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2B6CB0"/>
                </a:solidFill>
                <a:latin typeface="Calibri"/>
              </a:rPr>
              <a:t>Worked example 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088136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2200" b="1">
                <a:solidFill>
                  <a:srgbClr val="2B6CB0"/>
                </a:solidFill>
                <a:latin typeface="Calibri"/>
              </a:rPr>
              <a:t>Turning a decomposition into parameterised procedures</a:t>
            </a:r>
          </a:p>
          <a:p>
            <a:pPr lvl="1"/>
            <a:r>
              <a:rPr sz="1900" b="0">
                <a:solidFill>
                  <a:srgbClr val="222222"/>
                </a:solidFill>
                <a:latin typeface="Calibri"/>
              </a:rPr>
              <a:t>1. Decompose making tea into fetchItems, boilWater, brew and addExtras.</a:t>
            </a:r>
          </a:p>
          <a:p>
            <a:pPr lvl="1"/>
            <a:r>
              <a:rPr sz="1900" b="0">
                <a:solidFill>
                  <a:srgbClr val="222222"/>
                </a:solidFill>
                <a:latin typeface="Calibri"/>
              </a:rPr>
              <a:t>2. Note the dependencies: brew needs both the fetched mug and the boiled water; addExtras needs a brewed cup.</a:t>
            </a:r>
          </a:p>
          <a:p>
            <a:pPr lvl="1"/>
            <a:r>
              <a:rPr sz="1900" b="0">
                <a:solidFill>
                  <a:srgbClr val="222222"/>
                </a:solidFill>
                <a:latin typeface="Calibri"/>
              </a:rPr>
              <a:t>3. Note the independence: fetchItems and boilWater share no data, so their relative order is free.</a:t>
            </a:r>
          </a:p>
          <a:p>
            <a:pPr lvl="1"/>
            <a:r>
              <a:rPr sz="1900" b="0">
                <a:solidFill>
                  <a:srgbClr val="222222"/>
                </a:solidFill>
                <a:latin typeface="Calibri"/>
              </a:rPr>
              <a:t>4. Generalise brew with parameters strength and milk so one procedure serves every order.</a:t>
            </a:r>
          </a:p>
          <a:p>
            <a:pPr lvl="1"/>
            <a:r>
              <a:rPr sz="1900" b="0">
                <a:solidFill>
                  <a:srgbClr val="222222"/>
                </a:solidFill>
                <a:latin typeface="Calibri"/>
              </a:rPr>
              <a:t>5. Write the main program as ordered calls: fetchItems, boilWater, brew(2, true), addExtras.</a:t>
            </a:r>
          </a:p>
          <a:p>
            <a:pPr lvl="1"/>
            <a:r>
              <a:rPr sz="1900" b="0">
                <a:solidFill>
                  <a:srgbClr val="222222"/>
                </a:solidFill>
                <a:latin typeface="Calibri"/>
              </a:rPr>
              <a:t>6. Check each call against its dependencies: everything each procedure consumes is produced by an earlier call.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2B6CB0"/>
                </a:solidFill>
                <a:latin typeface="Calibri"/>
              </a:rPr>
              <a:t>Activity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088136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2200" b="1">
                <a:solidFill>
                  <a:srgbClr val="2B6CB0"/>
                </a:solidFill>
                <a:latin typeface="Calibri"/>
              </a:rPr>
              <a:t>Tea-Bot 3000  (25 min)</a:t>
            </a:r>
          </a:p>
          <a:p>
            <a:pPr lvl="1"/>
            <a:r>
              <a:rPr sz="2000" b="0">
                <a:solidFill>
                  <a:srgbClr val="222222"/>
                </a:solidFill>
                <a:latin typeface="Calibri"/>
              </a:rPr>
              <a:t>Brief the class: write instructions so a robot that has never seen tea makes a cup; it executes literally, in order, and halts with an error on anything ambiguous or impossible.</a:t>
            </a:r>
          </a:p>
          <a:p>
            <a:pPr lvl="1"/>
            <a:r>
              <a:rPr sz="2000" b="0">
                <a:solidFill>
                  <a:srgbClr val="222222"/>
                </a:solidFill>
                <a:latin typeface="Calibri"/>
              </a:rPr>
              <a:t>Pairs write their instruction list in six minutes.</a:t>
            </a:r>
          </a:p>
          <a:p>
            <a:pPr lvl="1"/>
            <a:r>
              <a:rPr sz="2000" b="0">
                <a:solidFill>
                  <a:srgbClr val="222222"/>
                </a:solidFill>
                <a:latin typeface="Calibri"/>
              </a:rPr>
              <a:t>Run submissions at the front with malicious literalness: put the teabag in the mug before any mug is fetched fails; boil an empty kettle boils dry; add milk empties the whole carton.</a:t>
            </a:r>
          </a:p>
          <a:p>
            <a:pPr lvl="1"/>
            <a:r>
              <a:rPr sz="2000" b="0">
                <a:solidFill>
                  <a:srgbClr val="222222"/>
                </a:solidFill>
                <a:latin typeface="Calibri"/>
              </a:rPr>
              <a:t>After two or three crashes, name the fixes the class is discovering: decompose into sub-procedures such as fetchItems, boilWater, brew and addExtras, each with precise ordered steps and noted dependencies.</a:t>
            </a:r>
          </a:p>
          <a:p>
            <a:pPr lvl="1"/>
            <a:r>
              <a:rPr sz="2000" b="0">
                <a:solidFill>
                  <a:srgbClr val="222222"/>
                </a:solidFill>
                <a:latin typeface="Calibri"/>
              </a:rPr>
              <a:t>Pairs revise into named sub-procedures with an explicit calling order; run the best attempt to a successful cup.</a:t>
            </a:r>
          </a:p>
          <a:p>
            <a:pPr/>
            <a:r>
              <a:rPr sz="1800" b="0">
                <a:solidFill>
                  <a:srgbClr val="B76E00"/>
                </a:solidFill>
                <a:latin typeface="Calibri"/>
              </a:rPr>
              <a:t>Stretch: Add parameters: rewrite brew to take strength and milk so one sub-procedure serves every order, a reusable generalised component.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2B6CB0"/>
                </a:solidFill>
                <a:latin typeface="Calibri"/>
              </a:rPr>
              <a:t>Activity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088136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2200" b="1">
                <a:solidFill>
                  <a:srgbClr val="2B6CB0"/>
                </a:solidFill>
                <a:latin typeface="Calibri"/>
              </a:rPr>
              <a:t>Human sequencer: order matters  (15 min)</a:t>
            </a:r>
          </a:p>
          <a:p>
            <a:pPr lvl="1"/>
            <a:r>
              <a:rPr sz="2000" b="0">
                <a:solidFill>
                  <a:srgbClr val="222222"/>
                </a:solidFill>
                <a:latin typeface="Calibri"/>
              </a:rPr>
              <a:t>Give each group shuffled step cards for two interleaved processes: a login flow and an online order flow.</a:t>
            </a:r>
          </a:p>
          <a:p>
            <a:pPr lvl="1"/>
            <a:r>
              <a:rPr sz="2000" b="0">
                <a:solidFill>
                  <a:srgbClr val="222222"/>
                </a:solidFill>
                <a:latin typeface="Calibri"/>
              </a:rPr>
              <a:t>Groups first separate the two processes, then physically line up holding the cards in a defensible order.</a:t>
            </a:r>
          </a:p>
          <a:p>
            <a:pPr lvl="1"/>
            <a:r>
              <a:rPr sz="2000" b="0">
                <a:solidFill>
                  <a:srgbClr val="222222"/>
                </a:solidFill>
                <a:latin typeface="Calibri"/>
              </a:rPr>
              <a:t>Teacher swaps two students, for example take payment before check stock; the group must state the concrete failure caused, or accept the swap if genuinely order-independent.</a:t>
            </a:r>
          </a:p>
          <a:p>
            <a:pPr lvl="1"/>
            <a:r>
              <a:rPr sz="2000" b="0">
                <a:solidFill>
                  <a:srgbClr val="222222"/>
                </a:solidFill>
                <a:latin typeface="Calibri"/>
              </a:rPr>
              <a:t>Groups label each adjacent pair as must-follow, citing the data dependency, or could-swap.</a:t>
            </a:r>
          </a:p>
          <a:p>
            <a:pPr/>
            <a:r>
              <a:rPr sz="1800" b="0">
                <a:solidFill>
                  <a:srgbClr val="B76E00"/>
                </a:solidFill>
                <a:latin typeface="Calibri"/>
              </a:rPr>
              <a:t>Stretch: Ask where a precondition belongs in each line, such as stock at least the quantity ordered, and have that student stand side-on as a gate before the step they guard.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2B6CB0"/>
                </a:solidFill>
                <a:latin typeface="Calibri"/>
              </a:rPr>
              <a:t>Activity 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088136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2200" b="1">
                <a:solidFill>
                  <a:srgbClr val="2B6CB0"/>
                </a:solidFill>
                <a:latin typeface="Calibri"/>
              </a:rPr>
              <a:t>Decomposition jigsaw: build the game  (25 min)</a:t>
            </a:r>
          </a:p>
          <a:p>
            <a:pPr lvl="1"/>
            <a:r>
              <a:rPr sz="2000" b="0">
                <a:solidFill>
                  <a:srgbClr val="222222"/>
                </a:solidFill>
                <a:latin typeface="Calibri"/>
              </a:rPr>
              <a:t>Give the brief for a top-down maze game: player moves, collects keys, avoids a patrolling guard, opens the exit.</a:t>
            </a:r>
          </a:p>
          <a:p>
            <a:pPr lvl="1"/>
            <a:r>
              <a:rPr sz="2000" b="0">
                <a:solidFill>
                  <a:srgbClr val="222222"/>
                </a:solidFill>
                <a:latin typeface="Calibri"/>
              </a:rPr>
              <a:t>Each home-group member takes one expert card: player input and movement, guard patrol logic, key and door interactions, score and display.</a:t>
            </a:r>
          </a:p>
          <a:p>
            <a:pPr lvl="1"/>
            <a:r>
              <a:rPr sz="2000" b="0">
                <a:solidFill>
                  <a:srgbClr val="222222"/>
                </a:solidFill>
                <a:latin typeface="Calibri"/>
              </a:rPr>
              <a:t>Expert groups decompose their subsystem into four to six ordered steps, noting the data they need from and provide to other subsystems.</a:t>
            </a:r>
          </a:p>
          <a:p>
            <a:pPr lvl="1"/>
            <a:r>
              <a:rPr sz="2000" b="0">
                <a:solidFill>
                  <a:srgbClr val="222222"/>
                </a:solidFill>
                <a:latin typeface="Calibri"/>
              </a:rPr>
              <a:t>Experts return and teach their decomposition; the group assembles a master diagram of all four subsystems and the data flows between them.</a:t>
            </a:r>
          </a:p>
          <a:p>
            <a:pPr lvl="1"/>
            <a:r>
              <a:rPr sz="2000" b="0">
                <a:solidFill>
                  <a:srgbClr val="222222"/>
                </a:solidFill>
                <a:latin typeface="Calibri"/>
              </a:rPr>
              <a:t>Groups answer the integration question: which subsystems could be built and tested independently, and which pairs must agree an interface first?</a:t>
            </a:r>
          </a:p>
          <a:p>
            <a:pPr/>
            <a:r>
              <a:rPr sz="1800" b="0">
                <a:solidFill>
                  <a:srgbClr val="B76E00"/>
                </a:solidFill>
                <a:latin typeface="Calibri"/>
              </a:rPr>
              <a:t>Stretch: Mark which subsystem steps could run concurrently each frame and which cannot: guard patrol and player input are independent, but both must finish before collision checks.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2B6CB0"/>
                </a:solidFill>
                <a:latin typeface="Calibri"/>
              </a:rPr>
              <a:t>Practice (1-4)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088136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1">
                <a:solidFill>
                  <a:srgbClr val="222222"/>
                </a:solidFill>
                <a:latin typeface="Calibri"/>
              </a:rPr>
              <a:t>1. Define decomposition. (1)</a:t>
            </a:r>
          </a:p>
          <a:p>
            <a:r>
              <a:rPr sz="2000" b="1">
                <a:solidFill>
                  <a:srgbClr val="222222"/>
                </a:solidFill>
                <a:latin typeface="Calibri"/>
              </a:rPr>
              <a:t>2. State two components of the problem of calculating and printing a class's exam grades. (2)</a:t>
            </a:r>
          </a:p>
          <a:p>
            <a:r>
              <a:rPr sz="2000" b="1">
                <a:solidFill>
                  <a:srgbClr val="222222"/>
                </a:solidFill>
                <a:latin typeface="Calibri"/>
              </a:rPr>
              <a:t>3. A vending machine program must be written. Identify four sub-procedures the solution could use. (4)</a:t>
            </a:r>
          </a:p>
          <a:p>
            <a:r>
              <a:rPr sz="2000" b="1">
                <a:solidFill>
                  <a:srgbClr val="222222"/>
                </a:solidFill>
                <a:latin typeface="Calibri"/>
              </a:rPr>
              <a:t>4. Explain why the steps take payment and check stock in an online shop must run in a particular order. (2)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2B6CB0"/>
                </a:solidFill>
                <a:latin typeface="Calibri"/>
              </a:rPr>
              <a:t>Practice — answers (1-4)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088136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1">
                <a:solidFill>
                  <a:srgbClr val="222222"/>
                </a:solidFill>
                <a:latin typeface="Calibri"/>
              </a:rPr>
              <a:t>1. Define decomposition. (1)</a:t>
            </a:r>
          </a:p>
          <a:p>
            <a:pPr lvl="1"/>
            <a:r>
              <a:rPr sz="1800" i="1">
                <a:solidFill>
                  <a:srgbClr val="B76E00"/>
                </a:solidFill>
                <a:latin typeface="Calibri"/>
              </a:rPr>
              <a:t>Answer: Breaking a problem down into smaller sub-problems, each of which is easier to solve (1).</a:t>
            </a:r>
          </a:p>
          <a:p>
            <a:r>
              <a:rPr sz="2000" b="1">
                <a:solidFill>
                  <a:srgbClr val="222222"/>
                </a:solidFill>
                <a:latin typeface="Calibri"/>
              </a:rPr>
              <a:t>2. State two components of the problem of calculating and printing a class's exam grades. (2)</a:t>
            </a:r>
          </a:p>
          <a:p>
            <a:pPr lvl="1"/>
            <a:r>
              <a:rPr sz="1800" i="1">
                <a:solidFill>
                  <a:srgbClr val="B76E00"/>
                </a:solidFill>
                <a:latin typeface="Calibri"/>
              </a:rPr>
              <a:t>Answer: Any two of: inputting or reading the marks (1); calculating each grade from the mark (1); outputting or printing the results (1).</a:t>
            </a:r>
          </a:p>
          <a:p>
            <a:r>
              <a:rPr sz="2000" b="1">
                <a:solidFill>
                  <a:srgbClr val="222222"/>
                </a:solidFill>
                <a:latin typeface="Calibri"/>
              </a:rPr>
              <a:t>3. A vending machine program must be written. Identify four sub-procedures the solution could use. (4)</a:t>
            </a:r>
          </a:p>
          <a:p>
            <a:pPr lvl="1"/>
            <a:r>
              <a:rPr sz="1800" i="1">
                <a:solidFill>
                  <a:srgbClr val="B76E00"/>
                </a:solidFill>
                <a:latin typeface="Calibri"/>
              </a:rPr>
              <a:t>Answer: One mark each for four sensible named jobs, for example: readSelection (1); acceptAndCheckPayment (1); dispenseItem (1); giveChange or updateStockLevel (1).</a:t>
            </a:r>
          </a:p>
          <a:p>
            <a:r>
              <a:rPr sz="2000" b="1">
                <a:solidFill>
                  <a:srgbClr val="222222"/>
                </a:solidFill>
                <a:latin typeface="Calibri"/>
              </a:rPr>
              <a:t>4. Explain why the steps take payment and check stock in an online shop must run in a particular order. (2)</a:t>
            </a:r>
          </a:p>
          <a:p>
            <a:pPr lvl="1"/>
            <a:r>
              <a:rPr sz="1800" i="1">
                <a:solidFill>
                  <a:srgbClr val="B76E00"/>
                </a:solidFill>
                <a:latin typeface="Calibri"/>
              </a:rPr>
              <a:t>Answer: Check stock must come first because payment depends on knowing the item is available (1); charging a customer for unavailable goods would then require a refund, a concrete failure (1).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2B6CB0"/>
                </a:solidFill>
                <a:latin typeface="Calibri"/>
              </a:rPr>
              <a:t>Practice (5-8)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088136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1">
                <a:solidFill>
                  <a:srgbClr val="222222"/>
                </a:solidFill>
                <a:latin typeface="Calibri"/>
              </a:rPr>
              <a:t>1. Describe the difference between decomposition and abstraction. (2)</a:t>
            </a:r>
          </a:p>
          <a:p>
            <a:r>
              <a:rPr sz="2000" b="1">
                <a:solidFill>
                  <a:srgbClr val="222222"/>
                </a:solidFill>
                <a:latin typeface="Calibri"/>
              </a:rPr>
              <a:t>2. Explain two benefits to a development team of splitting a program into sub-procedures. (4)</a:t>
            </a:r>
          </a:p>
          <a:p>
            <a:r>
              <a:rPr sz="2000" b="1">
                <a:solidFill>
                  <a:srgbClr val="222222"/>
                </a:solidFill>
                <a:latin typeface="Calibri"/>
              </a:rPr>
              <a:t>3. Explain how a parameter makes a sub-procedure reusable. (2)</a:t>
            </a:r>
          </a:p>
          <a:p>
            <a:r>
              <a:rPr sz="2000" b="1">
                <a:solidFill>
                  <a:srgbClr val="222222"/>
                </a:solidFill>
                <a:latin typeface="Calibri"/>
              </a:rPr>
              <a:t>4. A program will manage a school library kiosk offering borrow, return and reserve. Identify the sub-procedures needed and state, with a reason, which must run before any of the others. (4)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2B6CB0"/>
                </a:solidFill>
                <a:latin typeface="Calibri"/>
              </a:rPr>
              <a:t>Practice — answers (5-8)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088136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1">
                <a:solidFill>
                  <a:srgbClr val="222222"/>
                </a:solidFill>
                <a:latin typeface="Calibri"/>
              </a:rPr>
              <a:t>1. Describe the difference between decomposition and abstraction. (2)</a:t>
            </a:r>
          </a:p>
          <a:p>
            <a:pPr lvl="1"/>
            <a:r>
              <a:rPr sz="1800" i="1">
                <a:solidFill>
                  <a:srgbClr val="B76E00"/>
                </a:solidFill>
                <a:latin typeface="Calibri"/>
              </a:rPr>
              <a:t>Answer: Decomposition breaks a problem into smaller sub-problems to be solved separately (1); abstraction removes or hides unnecessary detail so only what is relevant remains (1).</a:t>
            </a:r>
          </a:p>
          <a:p>
            <a:r>
              <a:rPr sz="2000" b="1">
                <a:solidFill>
                  <a:srgbClr val="222222"/>
                </a:solidFill>
                <a:latin typeface="Calibri"/>
              </a:rPr>
              <a:t>2. Explain two benefits to a development team of splitting a program into sub-procedures. (4)</a:t>
            </a:r>
          </a:p>
          <a:p>
            <a:pPr lvl="1"/>
            <a:r>
              <a:rPr sz="1800" i="1">
                <a:solidFill>
                  <a:srgbClr val="B76E00"/>
                </a:solidFill>
                <a:latin typeface="Calibri"/>
              </a:rPr>
              <a:t>Answer: Sub-procedures can be shared out so developers work in parallel, cutting development time (2); each can be tested or maintained in isolation so errors are located quickly and fixes do not ripple through the program (2).</a:t>
            </a:r>
          </a:p>
          <a:p>
            <a:r>
              <a:rPr sz="2000" b="1">
                <a:solidFill>
                  <a:srgbClr val="222222"/>
                </a:solidFill>
                <a:latin typeface="Calibri"/>
              </a:rPr>
              <a:t>3. Explain how a parameter makes a sub-procedure reusable. (2)</a:t>
            </a:r>
          </a:p>
          <a:p>
            <a:pPr lvl="1"/>
            <a:r>
              <a:rPr sz="1800" i="1">
                <a:solidFill>
                  <a:srgbClr val="B76E00"/>
                </a:solidFill>
                <a:latin typeface="Calibri"/>
              </a:rPr>
              <a:t>Answer: A parameter passes a value in when the sub-procedure is called (1), so the same code handles many different cases instead of duplicating near-identical routines (1).</a:t>
            </a:r>
          </a:p>
          <a:p>
            <a:r>
              <a:rPr sz="2000" b="1">
                <a:solidFill>
                  <a:srgbClr val="222222"/>
                </a:solidFill>
                <a:latin typeface="Calibri"/>
              </a:rPr>
              <a:t>4. A program will manage a school library kiosk offering borrow, return and reserve. Identify the sub-procedures needed and state, with a reason, which must run before any of the others. (4)</a:t>
            </a:r>
          </a:p>
          <a:p>
            <a:pPr lvl="1"/>
            <a:r>
              <a:rPr sz="1800" i="1">
                <a:solidFill>
                  <a:srgbClr val="B76E00"/>
                </a:solidFill>
                <a:latin typeface="Calibri"/>
              </a:rPr>
              <a:t>Answer: Sub-procedures: authenticate the member, borrow, return, reserve, update the loans database (2, any four sensible); authenticate must run first (1) because every other action depends on knowing which valid member is acting (1).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2B6CB0"/>
                </a:solidFill>
                <a:latin typeface="Calibri"/>
              </a:rPr>
              <a:t>Common misconceptions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088136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2000" b="0">
                <a:solidFill>
                  <a:srgbClr val="222222"/>
                </a:solidFill>
                <a:latin typeface="Calibri"/>
              </a:rPr>
              <a:t>✗ Students often think decomposition and abstraction are the same skill, but decomposition splits a problem into parts while abstraction removes detail.</a:t>
            </a:r>
          </a:p>
          <a:p>
            <a:pPr/>
            <a:r>
              <a:rPr sz="2000" b="0">
                <a:solidFill>
                  <a:srgbClr val="222222"/>
                </a:solidFill>
                <a:latin typeface="Calibri"/>
              </a:rPr>
              <a:t>✗ Students often think any order of steps will do, but steps that consume earlier outputs have a fixed, justifiable position.</a:t>
            </a:r>
          </a:p>
          <a:p>
            <a:pPr/>
            <a:r>
              <a:rPr sz="2000" b="0">
                <a:solidFill>
                  <a:srgbClr val="222222"/>
                </a:solidFill>
                <a:latin typeface="Calibri"/>
              </a:rPr>
              <a:t>✗ Students often define decomposition when asked to apply it, but scenario questions want the scenario's actual named sub-procedures in order.</a:t>
            </a:r>
          </a:p>
          <a:p>
            <a:pPr/>
            <a:r>
              <a:rPr sz="2000" b="0">
                <a:solidFill>
                  <a:srgbClr val="222222"/>
                </a:solidFill>
                <a:latin typeface="Calibri"/>
              </a:rPr>
              <a:t>✗ Students often think more sub-procedures always means better design, but each should be one clear job; fragmenting a single job adds complexity.</a:t>
            </a:r>
          </a:p>
          <a:p>
            <a:pPr/>
            <a:r>
              <a:rPr sz="2000" b="0">
                <a:solidFill>
                  <a:srgbClr val="222222"/>
                </a:solidFill>
                <a:latin typeface="Calibri"/>
              </a:rPr>
              <a:t>✗ Students often think sub-procedures are only about neatness, but the marked benefits are parallel teamwork, isolated testing, easier maintenance and reuse.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2B6CB0"/>
                </a:solidFill>
                <a:latin typeface="Calibri"/>
              </a:rPr>
              <a:t>How the exam asks this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088136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2000" b="0">
                <a:solidFill>
                  <a:srgbClr val="222222"/>
                </a:solidFill>
                <a:latin typeface="Calibri"/>
              </a:rPr>
              <a:t>Command words: identify and state for naming components, 1 to 4 marks; explain and justify for ordering and benefits, 2 to 4 marks.</a:t>
            </a:r>
          </a:p>
          <a:p>
            <a:pPr/>
            <a:r>
              <a:rPr sz="2000" b="0">
                <a:solidFill>
                  <a:srgbClr val="222222"/>
                </a:solidFill>
                <a:latin typeface="Calibri"/>
              </a:rPr>
              <a:t>Application beats definition: questions give an unseen scenario and expect its actual sub-procedures, not textbook definitions.</a:t>
            </a:r>
          </a:p>
          <a:p>
            <a:pPr/>
            <a:r>
              <a:rPr sz="2000" b="0">
                <a:solidFill>
                  <a:srgbClr val="222222"/>
                </a:solidFill>
                <a:latin typeface="Calibri"/>
              </a:rPr>
              <a:t>Ordering marks come from naming the dependency: state which earlier output each step needs.</a:t>
            </a:r>
          </a:p>
          <a:p>
            <a:pPr/>
            <a:r>
              <a:rPr sz="2000" b="0">
                <a:solidFill>
                  <a:srgbClr val="222222"/>
                </a:solidFill>
                <a:latin typeface="Calibri"/>
              </a:rPr>
              <a:t>Example stem: A company is developing a self-service checkout. Identify the sub-procedures the program will need and justify the order in which two of them must execute. (6)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2B6CB0"/>
                </a:solidFill>
                <a:latin typeface="Calibri"/>
              </a:rPr>
              <a:t>Your turn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088136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2400" b="1">
                <a:solidFill>
                  <a:srgbClr val="2B6CB0"/>
                </a:solidFill>
                <a:latin typeface="Calibri"/>
              </a:rPr>
              <a:t>Task</a:t>
            </a:r>
          </a:p>
          <a:p>
            <a:pPr lvl="1"/>
            <a:r>
              <a:rPr sz="2200" b="0">
                <a:solidFill>
                  <a:srgbClr val="222222"/>
                </a:solidFill>
                <a:latin typeface="Calibri"/>
              </a:rPr>
              <a:t>Decompose a school attendance app into five to seven named sub-procedures; draw them as a diagram with arrows showing data dependencies, and mark each adjacent pair must-follow or could-swap.</a:t>
            </a:r>
          </a:p>
          <a:p>
            <a:r>
              <a:rPr sz="2400" b="1">
                <a:solidFill>
                  <a:srgbClr val="B76E00"/>
                </a:solidFill>
                <a:latin typeface="Calibri"/>
              </a:rPr>
              <a:t>Challenge / stretch</a:t>
            </a:r>
          </a:p>
          <a:p>
            <a:pPr lvl="1"/>
            <a:r>
              <a:rPr sz="2200" b="0">
                <a:solidFill>
                  <a:srgbClr val="222222"/>
                </a:solidFill>
                <a:latin typeface="Calibri"/>
              </a:rPr>
              <a:t>For your attendance app, write OCR-style pseudocode headers for each sub-procedure with parameters, then identify one sub-procedure reusable in a different school system and one pair of sub-procedures that could run concurrently, justifying both.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2B6CB0"/>
                </a:solidFill>
                <a:latin typeface="Calibri"/>
              </a:rPr>
              <a:t>Exit ticket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088136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222222"/>
                </a:solidFill>
                <a:latin typeface="Calibri"/>
              </a:rPr>
              <a:t>1. What is thinking procedurally?</a:t>
            </a:r>
          </a:p>
          <a:p>
            <a:r>
              <a:rPr sz="2200" b="1">
                <a:solidFill>
                  <a:srgbClr val="222222"/>
                </a:solidFill>
                <a:latin typeface="Calibri"/>
              </a:rPr>
              <a:t>2. What fixes the order of two steps in a solution?</a:t>
            </a:r>
          </a:p>
          <a:p>
            <a:r>
              <a:rPr sz="2200" b="1">
                <a:solidFill>
                  <a:srgbClr val="222222"/>
                </a:solidFill>
                <a:latin typeface="Calibri"/>
              </a:rPr>
              <a:t>3. Give two benefits of solving a problem with sub-procedures.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2B6CB0"/>
                </a:solidFill>
                <a:latin typeface="Calibri"/>
              </a:rPr>
              <a:t>Exit ticket — answers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088136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222222"/>
                </a:solidFill>
                <a:latin typeface="Calibri"/>
              </a:rPr>
              <a:t>1. What is thinking procedurally?</a:t>
            </a:r>
          </a:p>
          <a:p>
            <a:pPr lvl="1"/>
            <a:r>
              <a:rPr sz="1800" i="1">
                <a:solidFill>
                  <a:srgbClr val="B76E00"/>
                </a:solidFill>
                <a:latin typeface="Calibri"/>
              </a:rPr>
              <a:t>Answer: Breaking a problem into an ordered sequence of steps and sub-procedures, then arranging them in the correct order.</a:t>
            </a:r>
          </a:p>
          <a:p>
            <a:r>
              <a:rPr sz="2200" b="1">
                <a:solidFill>
                  <a:srgbClr val="222222"/>
                </a:solidFill>
                <a:latin typeface="Calibri"/>
              </a:rPr>
              <a:t>2. What fixes the order of two steps in a solution?</a:t>
            </a:r>
          </a:p>
          <a:p>
            <a:pPr lvl="1"/>
            <a:r>
              <a:rPr sz="1800" i="1">
                <a:solidFill>
                  <a:srgbClr val="B76E00"/>
                </a:solidFill>
                <a:latin typeface="Calibri"/>
              </a:rPr>
              <a:t>Answer: A data dependency: the later step needs the output of the earlier one.</a:t>
            </a:r>
          </a:p>
          <a:p>
            <a:r>
              <a:rPr sz="2200" b="1">
                <a:solidFill>
                  <a:srgbClr val="222222"/>
                </a:solidFill>
                <a:latin typeface="Calibri"/>
              </a:rPr>
              <a:t>3. Give two benefits of solving a problem with sub-procedures.</a:t>
            </a:r>
          </a:p>
          <a:p>
            <a:pPr lvl="1"/>
            <a:r>
              <a:rPr sz="1800" i="1">
                <a:solidFill>
                  <a:srgbClr val="B76E00"/>
                </a:solidFill>
                <a:latin typeface="Calibri"/>
              </a:rPr>
              <a:t>Answer: Any two of: team members build modules in parallel; modules are tested in isolation; maintenance is localised; modules can be reused.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