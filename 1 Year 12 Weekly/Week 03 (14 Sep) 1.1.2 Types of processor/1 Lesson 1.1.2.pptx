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1.1.2 Types of Processor</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03 (14 Sep)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give distinct differences between CISC and RISC processors and link each to a typical use</a:t>
            </a:r>
          </a:p>
          <a:p>
            <a:pPr lvl="1"/>
            <a:r>
              <a:rPr sz="2200" b="0">
                <a:solidFill>
                  <a:srgbClr val="222222"/>
                </a:solidFill>
                <a:latin typeface="Calibri"/>
              </a:rPr>
              <a:t>I can explain how a GPU achieves high performance and identify workloads suited to GPUs, including GPGPU uses</a:t>
            </a:r>
          </a:p>
          <a:p>
            <a:pPr lvl="1"/>
            <a:r>
              <a:rPr sz="2200" b="0">
                <a:solidFill>
                  <a:srgbClr val="222222"/>
                </a:solidFill>
                <a:latin typeface="Calibri"/>
              </a:rPr>
              <a:t>I can describe multicore and parallel systems and explain what limits the benefit of adding cores</a:t>
            </a:r>
          </a:p>
          <a:p>
            <a:pPr lvl="1"/>
            <a:r>
              <a:rPr sz="2200" b="0">
                <a:solidFill>
                  <a:srgbClr val="222222"/>
                </a:solidFill>
                <a:latin typeface="Calibri"/>
              </a:rPr>
              <a:t>I can justify a choice of processor type for a given scenario using hardware features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Last week: list the four fetch-stage register transfers in order.</a:t>
            </a:r>
          </a:p>
          <a:p>
            <a:r>
              <a:rPr sz="2200" b="1">
                <a:solidFill>
                  <a:srgbClr val="222222"/>
                </a:solidFill>
                <a:latin typeface="Calibri"/>
              </a:rPr>
              <a:t>2. Last week: which bus is unidirectional, and what does an n-bit width of it determine?</a:t>
            </a:r>
          </a:p>
          <a:p>
            <a:r>
              <a:rPr sz="2200" b="1">
                <a:solidFill>
                  <a:srgbClr val="222222"/>
                </a:solidFill>
                <a:latin typeface="Calibri"/>
              </a:rPr>
              <a:t>3. Last week: state the difference between the MAR and the MDR.</a:t>
            </a:r>
          </a:p>
          <a:p>
            <a:r>
              <a:rPr sz="2200" b="1">
                <a:solidFill>
                  <a:srgbClr val="222222"/>
                </a:solidFill>
                <a:latin typeface="Calibri"/>
              </a:rPr>
              <a:t>4. Last week: why does a branch instruction reduce the benefit of pipelining?</a:t>
            </a:r>
          </a:p>
          <a:p>
            <a:r>
              <a:rPr sz="2200" b="1">
                <a:solidFill>
                  <a:srgbClr val="222222"/>
                </a:solidFill>
                <a:latin typeface="Calibri"/>
              </a:rPr>
              <a:t>5. Last week: in what order does the CPU check cache levels before 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Last week: list the four fetch-stage register transfers in order.</a:t>
            </a:r>
          </a:p>
          <a:p>
            <a:pPr lvl="1"/>
            <a:r>
              <a:rPr sz="1800" i="1">
                <a:solidFill>
                  <a:srgbClr val="B76E00"/>
                </a:solidFill>
                <a:latin typeface="Calibri"/>
              </a:rPr>
              <a:t>Answer: PC copied to MAR; instruction from memory via data bus into MDR; PC incremented; MDR copied to CIR.</a:t>
            </a:r>
          </a:p>
          <a:p>
            <a:r>
              <a:rPr sz="2200" b="1">
                <a:solidFill>
                  <a:srgbClr val="222222"/>
                </a:solidFill>
                <a:latin typeface="Calibri"/>
              </a:rPr>
              <a:t>2. Last week: which bus is unidirectional, and what does an n-bit width of it determine?</a:t>
            </a:r>
          </a:p>
          <a:p>
            <a:pPr lvl="1"/>
            <a:r>
              <a:rPr sz="1800" i="1">
                <a:solidFill>
                  <a:srgbClr val="B76E00"/>
                </a:solidFill>
                <a:latin typeface="Calibri"/>
              </a:rPr>
              <a:t>Answer: The address bus; n bits gives 2^n directly addressable memory locations.</a:t>
            </a:r>
          </a:p>
          <a:p>
            <a:r>
              <a:rPr sz="2200" b="1">
                <a:solidFill>
                  <a:srgbClr val="222222"/>
                </a:solidFill>
                <a:latin typeface="Calibri"/>
              </a:rPr>
              <a:t>3. Last week: state the difference between the MAR and the MDR.</a:t>
            </a:r>
          </a:p>
          <a:p>
            <a:pPr lvl="1"/>
            <a:r>
              <a:rPr sz="1800" i="1">
                <a:solidFill>
                  <a:srgbClr val="B76E00"/>
                </a:solidFill>
                <a:latin typeface="Calibri"/>
              </a:rPr>
              <a:t>Answer: MAR holds the address of the location to access; MDR holds the data or instruction itself.</a:t>
            </a:r>
          </a:p>
          <a:p>
            <a:r>
              <a:rPr sz="2200" b="1">
                <a:solidFill>
                  <a:srgbClr val="222222"/>
                </a:solidFill>
                <a:latin typeface="Calibri"/>
              </a:rPr>
              <a:t>4. Last week: why does a branch instruction reduce the benefit of pipelining?</a:t>
            </a:r>
          </a:p>
          <a:p>
            <a:pPr lvl="1"/>
            <a:r>
              <a:rPr sz="1800" i="1">
                <a:solidFill>
                  <a:srgbClr val="B76E00"/>
                </a:solidFill>
                <a:latin typeface="Calibri"/>
              </a:rPr>
              <a:t>Answer: It writes a new address into the PC, so prefetched instructions in the pipeline must be flushed.</a:t>
            </a:r>
          </a:p>
          <a:p>
            <a:r>
              <a:rPr sz="2200" b="1">
                <a:solidFill>
                  <a:srgbClr val="222222"/>
                </a:solidFill>
                <a:latin typeface="Calibri"/>
              </a:rPr>
              <a:t>5. Last week: in what order does the CPU check cache levels before RAM?</a:t>
            </a:r>
          </a:p>
          <a:p>
            <a:pPr lvl="1"/>
            <a:r>
              <a:rPr sz="1800" i="1">
                <a:solidFill>
                  <a:srgbClr val="B76E00"/>
                </a:solidFill>
                <a:latin typeface="Calibri"/>
              </a:rPr>
              <a:t>Answer: L1, then L2, then L3, then RAM; L1 is the smallest and fastest.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CISC</a:t>
            </a:r>
            <a:r>
              <a:rPr sz="1800">
                <a:solidFill>
                  <a:srgbClr val="222222"/>
                </a:solidFill>
                <a:latin typeface="Calibri"/>
              </a:rPr>
              <a:t> — Complex Instruction Set Computer; a large set of complex, variable-length instructions taking multiple cycles.</a:t>
            </a:r>
          </a:p>
          <a:p>
            <a:r>
              <a:rPr b="1" sz="2000">
                <a:solidFill>
                  <a:srgbClr val="1A365D"/>
                </a:solidFill>
                <a:latin typeface="Calibri"/>
              </a:rPr>
              <a:t>RISC</a:t>
            </a:r>
            <a:r>
              <a:rPr sz="1800">
                <a:solidFill>
                  <a:srgbClr val="222222"/>
                </a:solidFill>
                <a:latin typeface="Calibri"/>
              </a:rPr>
              <a:t> — Reduced Instruction Set Computer; a small set of simple, fixed-length instructions aiming for one cycle each.</a:t>
            </a:r>
          </a:p>
          <a:p>
            <a:r>
              <a:rPr b="1" sz="2000">
                <a:solidFill>
                  <a:srgbClr val="1A365D"/>
                </a:solidFill>
                <a:latin typeface="Calibri"/>
              </a:rPr>
              <a:t>Instruction set</a:t>
            </a:r>
            <a:r>
              <a:rPr sz="1800">
                <a:solidFill>
                  <a:srgbClr val="222222"/>
                </a:solidFill>
                <a:latin typeface="Calibri"/>
              </a:rPr>
              <a:t> — The complete collection of machine-code operations a particular processor can execute.</a:t>
            </a:r>
          </a:p>
          <a:p>
            <a:r>
              <a:rPr b="1" sz="2000">
                <a:solidFill>
                  <a:srgbClr val="1A365D"/>
                </a:solidFill>
                <a:latin typeface="Calibri"/>
              </a:rPr>
              <a:t>GPU</a:t>
            </a:r>
            <a:r>
              <a:rPr sz="1800">
                <a:solidFill>
                  <a:srgbClr val="222222"/>
                </a:solidFill>
                <a:latin typeface="Calibri"/>
              </a:rPr>
              <a:t> — Graphics Processing Unit; thousands of small cores applying the same operation to large data blocks in parallel.</a:t>
            </a:r>
          </a:p>
          <a:p>
            <a:r>
              <a:rPr b="1" sz="2000">
                <a:solidFill>
                  <a:srgbClr val="1A365D"/>
                </a:solidFill>
                <a:latin typeface="Calibri"/>
              </a:rPr>
              <a:t>GPGPU</a:t>
            </a:r>
            <a:r>
              <a:rPr sz="1800">
                <a:solidFill>
                  <a:srgbClr val="222222"/>
                </a:solidFill>
                <a:latin typeface="Calibri"/>
              </a:rPr>
              <a:t> — General-purpose computing on a GPU; using it for non-graphics work such as machine learning.</a:t>
            </a:r>
          </a:p>
          <a:p>
            <a:r>
              <a:rPr b="1" sz="2000">
                <a:solidFill>
                  <a:srgbClr val="1A365D"/>
                </a:solidFill>
                <a:latin typeface="Calibri"/>
              </a:rPr>
              <a:t>Data parallelism</a:t>
            </a:r>
            <a:r>
              <a:rPr sz="1800">
                <a:solidFill>
                  <a:srgbClr val="222222"/>
                </a:solidFill>
                <a:latin typeface="Calibri"/>
              </a:rPr>
              <a:t> — Applying the same operation independently to many data items at the same time.</a:t>
            </a:r>
          </a:p>
          <a:p>
            <a:r>
              <a:rPr b="1" sz="2000">
                <a:solidFill>
                  <a:srgbClr val="1A365D"/>
                </a:solidFill>
                <a:latin typeface="Calibri"/>
              </a:rPr>
              <a:t>Multicore processor</a:t>
            </a:r>
            <a:r>
              <a:rPr sz="1800">
                <a:solidFill>
                  <a:srgbClr val="222222"/>
                </a:solidFill>
                <a:latin typeface="Calibri"/>
              </a:rPr>
              <a:t> — A single chip containing two or more independent cores, each running its own FDE cycle.</a:t>
            </a:r>
          </a:p>
          <a:p>
            <a:r>
              <a:rPr b="1" sz="2000">
                <a:solidFill>
                  <a:srgbClr val="1A365D"/>
                </a:solidFill>
                <a:latin typeface="Calibri"/>
              </a:rPr>
              <a:t>Parallel processing</a:t>
            </a:r>
            <a:r>
              <a:rPr sz="1800">
                <a:solidFill>
                  <a:srgbClr val="222222"/>
                </a:solidFill>
                <a:latin typeface="Calibri"/>
              </a:rPr>
              <a:t> — Splitting a task so multiple computations are carried out simultaneously across cores or processors.</a:t>
            </a:r>
          </a:p>
          <a:p>
            <a:r>
              <a:rPr b="1" sz="2000">
                <a:solidFill>
                  <a:srgbClr val="1A365D"/>
                </a:solidFill>
                <a:latin typeface="Calibri"/>
              </a:rPr>
              <a:t>Serial fraction</a:t>
            </a:r>
            <a:r>
              <a:rPr sz="1800">
                <a:solidFill>
                  <a:srgbClr val="222222"/>
                </a:solidFill>
                <a:latin typeface="Calibri"/>
              </a:rPr>
              <a:t> — The part of a task that must run in sequence and so cannot be shared across cores.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Instruction sets: two design philosophies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An instruction set is the full list of machine-code operations a CPU understands</a:t>
            </a:r>
          </a:p>
          <a:p>
            <a:pPr/>
            <a:r>
              <a:rPr sz="2000" b="0">
                <a:solidFill>
                  <a:srgbClr val="222222"/>
                </a:solidFill>
                <a:latin typeface="Calibri"/>
              </a:rPr>
              <a:t>Designers face a trade-off: many powerful instructions, or few simple ones executed very fast</a:t>
            </a:r>
          </a:p>
          <a:p>
            <a:pPr/>
            <a:r>
              <a:rPr sz="2000" b="0">
                <a:solidFill>
                  <a:srgbClr val="222222"/>
                </a:solidFill>
                <a:latin typeface="Calibri"/>
              </a:rPr>
              <a:t>CISC and RISC are the two resulting philosophies, and both are on the spec</a:t>
            </a:r>
          </a:p>
          <a:p>
            <a:pPr/>
            <a:r>
              <a:rPr sz="2000" b="0">
                <a:solidFill>
                  <a:srgbClr val="222222"/>
                </a:solidFill>
                <a:latin typeface="Calibri"/>
              </a:rPr>
              <a:t>Last week's architecture (registers, FDE, pipeline) explains why each choice has consequences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CISC: Complex Instruction Set Computers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Large set of complex instructions; a single instruction can do several low-level jobs</a:t>
            </a:r>
          </a:p>
          <a:p>
            <a:pPr/>
            <a:r>
              <a:rPr sz="2000" b="0">
                <a:solidFill>
                  <a:srgbClr val="222222"/>
                </a:solidFill>
                <a:latin typeface="Calibri"/>
              </a:rPr>
              <a:t>Instructions are variable length and take multiple clock cycles</a:t>
            </a:r>
          </a:p>
          <a:p>
            <a:pPr/>
            <a:r>
              <a:rPr sz="2000" b="0">
                <a:solidFill>
                  <a:srgbClr val="222222"/>
                </a:solidFill>
                <a:latin typeface="Calibri"/>
              </a:rPr>
              <a:t>Complexity sits in the HARDWARE, so compilers do less work and machine code is compact</a:t>
            </a:r>
          </a:p>
          <a:p>
            <a:pPr/>
            <a:r>
              <a:rPr sz="2000" b="0">
                <a:solidFill>
                  <a:srgbClr val="222222"/>
                </a:solidFill>
                <a:latin typeface="Calibri"/>
              </a:rPr>
              <a:t>Needs more power and generates more heat; typical of x86 desktop and laptop processors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RISC: Reduced Instruction Set Computers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Small set of simple, fixed-length instructions, each aiming to complete in one clock cycle</a:t>
            </a:r>
          </a:p>
          <a:p>
            <a:pPr/>
            <a:r>
              <a:rPr sz="2000" b="0">
                <a:solidFill>
                  <a:srgbClr val="222222"/>
                </a:solidFill>
                <a:latin typeface="Calibri"/>
              </a:rPr>
              <a:t>Complexity moves to the SOFTWARE: the compiler builds complex behaviour from many simple instructions</a:t>
            </a:r>
          </a:p>
          <a:p>
            <a:pPr/>
            <a:r>
              <a:rPr sz="2000" b="0">
                <a:solidFill>
                  <a:srgbClr val="222222"/>
                </a:solidFill>
                <a:latin typeface="Calibri"/>
              </a:rPr>
              <a:t>Fewer transistors needed, so lower power consumption and less heat</a:t>
            </a:r>
          </a:p>
          <a:p>
            <a:pPr/>
            <a:r>
              <a:rPr sz="2000" b="0">
                <a:solidFill>
                  <a:srgbClr val="222222"/>
                </a:solidFill>
                <a:latin typeface="Calibri"/>
              </a:rPr>
              <a:t>Typical of ARM processors in phones, tablets and embedded devices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Why RISC pipelines so well</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Pipelining works best when every stage takes the same, predictable time</a:t>
            </a:r>
          </a:p>
          <a:p>
            <a:pPr/>
            <a:r>
              <a:rPr sz="2000" b="0">
                <a:solidFill>
                  <a:srgbClr val="222222"/>
                </a:solidFill>
                <a:latin typeface="Calibri"/>
              </a:rPr>
              <a:t>Fixed-length, one-cycle RISC instructions slot cleanly into pipeline stages</a:t>
            </a:r>
          </a:p>
          <a:p>
            <a:pPr/>
            <a:r>
              <a:rPr sz="2000" b="0">
                <a:solidFill>
                  <a:srgbClr val="222222"/>
                </a:solidFill>
                <a:latin typeface="Calibri"/>
              </a:rPr>
              <a:t>Variable-length, multi-cycle CISC instructions stall stages and complicate the pipeline</a:t>
            </a:r>
          </a:p>
          <a:p>
            <a:pPr/>
            <a:r>
              <a:rPr sz="2000" b="0">
                <a:solidFill>
                  <a:srgbClr val="222222"/>
                </a:solidFill>
                <a:latin typeface="Calibri"/>
              </a:rPr>
              <a:t>Modern x86 chips even translate CISC instructions into RISC-like micro-operations internally</a:t>
            </a:r>
          </a:p>
          <a:p>
            <a:pPr/>
            <a:r>
              <a:rPr sz="1800" b="1">
                <a:solidFill>
                  <a:srgbClr val="B76E00"/>
                </a:solidFill>
                <a:latin typeface="Calibri"/>
              </a:rPr>
              <a:t>Exam answers need DISTINCT differences: set size, instruction length, cycles per instruction, where complexity lies.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Choosing CISC or RISC for a scenario</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Battery-powered or embedded device: RISC, for low power, less heat and cheap simple hardware</a:t>
            </a:r>
          </a:p>
          <a:p>
            <a:pPr/>
            <a:r>
              <a:rPr sz="2000" b="0">
                <a:solidFill>
                  <a:srgbClr val="222222"/>
                </a:solidFill>
                <a:latin typeface="Calibri"/>
              </a:rPr>
              <a:t>Desktop running legacy software: CISC (x86), for compatibility and compact code</a:t>
            </a:r>
          </a:p>
          <a:p>
            <a:pPr/>
            <a:r>
              <a:rPr sz="2000" b="0">
                <a:solidFill>
                  <a:srgbClr val="222222"/>
                </a:solidFill>
                <a:latin typeface="Calibri"/>
              </a:rPr>
              <a:t>Give the hardware justification, not just the label: instruction length, cycles, power, pipelining</a:t>
            </a:r>
          </a:p>
          <a:p>
            <a:pPr/>
            <a:r>
              <a:rPr sz="2000" b="0">
                <a:solidFill>
                  <a:srgbClr val="222222"/>
                </a:solidFill>
                <a:latin typeface="Calibri"/>
              </a:rPr>
              <a:t>The real world is blurring: Apple Silicon laptops are RISC; many servers now use ARM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GPUs: built for data parallelism</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GPU contains thousands of small, simple cores; a CPU has a few powerful ones</a:t>
            </a:r>
          </a:p>
          <a:p>
            <a:pPr/>
            <a:r>
              <a:rPr sz="2000" b="0">
                <a:solidFill>
                  <a:srgbClr val="222222"/>
                </a:solidFill>
                <a:latin typeface="Calibri"/>
              </a:rPr>
              <a:t>GPU cores apply the SAME operation to large blocks of data simultaneously (data parallelism)</a:t>
            </a:r>
          </a:p>
          <a:p>
            <a:pPr/>
            <a:r>
              <a:rPr sz="2000" b="0">
                <a:solidFill>
                  <a:srgbClr val="222222"/>
                </a:solidFill>
                <a:latin typeface="Calibri"/>
              </a:rPr>
              <a:t>Perfect for graphics: the same transformation applied to millions of pixels or vertices per frame</a:t>
            </a:r>
          </a:p>
          <a:p>
            <a:pPr/>
            <a:r>
              <a:rPr sz="2000" b="0">
                <a:solidFill>
                  <a:srgbClr val="222222"/>
                </a:solidFill>
                <a:latin typeface="Calibri"/>
              </a:rPr>
              <a:t>Weak at branch-heavy, sequential, dependency-laden work — that still belongs on the CPU</a:t>
            </a:r>
          </a:p>
          <a:p>
            <a:pPr/>
            <a:r>
              <a:rPr sz="1800" b="1">
                <a:solidFill>
                  <a:srgbClr val="B76E00"/>
                </a:solidFill>
                <a:latin typeface="Calibri"/>
              </a:rPr>
              <a:t>Explain GPU speed with BOTH ideas: thousands of cores AND the same operation on many data items.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GPGPU: general-purpose uses of GPUs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GPGPU means using a GPU for non-graphics computation</a:t>
            </a:r>
          </a:p>
          <a:p>
            <a:pPr/>
            <a:r>
              <a:rPr sz="2000" b="0">
                <a:solidFill>
                  <a:srgbClr val="222222"/>
                </a:solidFill>
                <a:latin typeface="Calibri"/>
              </a:rPr>
              <a:t>Machine learning and neural-network training: the same weight calculations across huge data sets</a:t>
            </a:r>
          </a:p>
          <a:p>
            <a:pPr/>
            <a:r>
              <a:rPr sz="2000" b="0">
                <a:solidFill>
                  <a:srgbClr val="222222"/>
                </a:solidFill>
                <a:latin typeface="Calibri"/>
              </a:rPr>
              <a:t>Scientific modelling, e.g. weather simulation over a grid of cells</a:t>
            </a:r>
          </a:p>
          <a:p>
            <a:pPr/>
            <a:r>
              <a:rPr sz="2000" b="0">
                <a:solidFill>
                  <a:srgbClr val="222222"/>
                </a:solidFill>
                <a:latin typeface="Calibri"/>
              </a:rPr>
              <a:t>Image and video processing, and cryptocurrency hash calculations</a:t>
            </a:r>
          </a:p>
          <a:p>
            <a:pPr/>
            <a:r>
              <a:rPr sz="2000" b="0">
                <a:solidFill>
                  <a:srgbClr val="222222"/>
                </a:solidFill>
                <a:latin typeface="Calibri"/>
              </a:rPr>
              <a:t>Caveat: software must be specifically written to run on the GPU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Multicore processors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multicore processor has two or more independent cores on one chip</a:t>
            </a:r>
          </a:p>
          <a:p>
            <a:pPr/>
            <a:r>
              <a:rPr sz="2000" b="0">
                <a:solidFill>
                  <a:srgbClr val="222222"/>
                </a:solidFill>
                <a:latin typeface="Calibri"/>
              </a:rPr>
              <a:t>Each core runs its own FDE cycle, so different instructions execute simultaneously</a:t>
            </a:r>
          </a:p>
          <a:p>
            <a:pPr/>
            <a:r>
              <a:rPr sz="2000" b="0">
                <a:solidFill>
                  <a:srgbClr val="222222"/>
                </a:solidFill>
                <a:latin typeface="Calibri"/>
              </a:rPr>
              <a:t>Cores typically have private L1 and L2 caches but share L3 cache and main memory</a:t>
            </a:r>
          </a:p>
          <a:p>
            <a:pPr/>
            <a:r>
              <a:rPr sz="2000" b="0">
                <a:solidFill>
                  <a:srgbClr val="222222"/>
                </a:solidFill>
                <a:latin typeface="Calibri"/>
              </a:rPr>
              <a:t>The operating system schedules threads and processes across the cores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Parallel processing and its limits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Parallel processing splits one task into parts computed simultaneously across cores</a:t>
            </a:r>
          </a:p>
          <a:p>
            <a:pPr/>
            <a:r>
              <a:rPr sz="2000" b="0">
                <a:solidFill>
                  <a:srgbClr val="222222"/>
                </a:solidFill>
                <a:latin typeface="Calibri"/>
              </a:rPr>
              <a:t>The serial fraction limits the benefit: steps depending on earlier results cannot be parallelised</a:t>
            </a:r>
          </a:p>
          <a:p>
            <a:pPr/>
            <a:r>
              <a:rPr sz="2000" b="0">
                <a:solidFill>
                  <a:srgbClr val="222222"/>
                </a:solidFill>
                <a:latin typeface="Calibri"/>
              </a:rPr>
              <a:t>Coordination overhead: splitting work and combining results costs time</a:t>
            </a:r>
          </a:p>
          <a:p>
            <a:pPr/>
            <a:r>
              <a:rPr sz="2000" b="0">
                <a:solidFill>
                  <a:srgbClr val="222222"/>
                </a:solidFill>
                <a:latin typeface="Calibri"/>
              </a:rPr>
              <a:t>Software must be written for multiple threads, or extra cores sit idle</a:t>
            </a:r>
          </a:p>
          <a:p>
            <a:pPr/>
            <a:r>
              <a:rPr sz="2000" b="0">
                <a:solidFill>
                  <a:srgbClr val="222222"/>
                </a:solidFill>
                <a:latin typeface="Calibri"/>
              </a:rPr>
              <a:t>If 20 percent of a task is inherently serial, the best possible speed-up is 5 times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Choosing between a multicore CPU and a GPU for a workload</a:t>
            </a:r>
          </a:p>
          <a:p>
            <a:pPr lvl="1"/>
            <a:r>
              <a:rPr sz="1900" b="0">
                <a:solidFill>
                  <a:srgbClr val="222222"/>
                </a:solidFill>
                <a:latin typeface="Calibri"/>
              </a:rPr>
              <a:t>1. Scenario: apply the same brightness calculation to every one of the 2 million pixels in a photo</a:t>
            </a:r>
          </a:p>
          <a:p>
            <a:pPr lvl="1"/>
            <a:r>
              <a:rPr sz="1900" b="0">
                <a:solidFill>
                  <a:srgbClr val="222222"/>
                </a:solidFill>
                <a:latin typeface="Calibri"/>
              </a:rPr>
              <a:t>2. Step 1, identify the workload type: the same operation repeated over huge data, no branching, each pixel independent — highly data-parallel</a:t>
            </a:r>
          </a:p>
          <a:p>
            <a:pPr lvl="1"/>
            <a:r>
              <a:rPr sz="1900" b="0">
                <a:solidFill>
                  <a:srgbClr val="222222"/>
                </a:solidFill>
                <a:latin typeface="Calibri"/>
              </a:rPr>
              <a:t>3. Step 2, match to hardware: a GPU's thousands of small cores process many pixels simultaneously; a CPU's few powerful cores suit sequential, branch-heavy work</a:t>
            </a:r>
          </a:p>
          <a:p>
            <a:pPr lvl="1"/>
            <a:r>
              <a:rPr sz="1900" b="0">
                <a:solidFill>
                  <a:srgbClr val="222222"/>
                </a:solidFill>
                <a:latin typeface="Calibri"/>
              </a:rPr>
              <a:t>4. Step 3, add the caveat: the software must be written to use the GPU; a branchy task like a chess engine would suit the CPU instead</a:t>
            </a:r>
          </a:p>
          <a:p>
            <a:pPr lvl="1"/>
            <a:r>
              <a:rPr sz="1900" b="0">
                <a:solidFill>
                  <a:srgbClr val="222222"/>
                </a:solidFill>
                <a:latin typeface="Calibri"/>
              </a:rPr>
              <a:t>5. Step 4, conclude: for this uniform, massively parallel task the GPU maximises throughput, so it is the better choice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Counting cycles: why RISC pipelines beat serial execution</a:t>
            </a:r>
          </a:p>
          <a:p>
            <a:pPr lvl="1"/>
            <a:r>
              <a:rPr sz="1900" b="0">
                <a:solidFill>
                  <a:srgbClr val="222222"/>
                </a:solidFill>
                <a:latin typeface="Calibri"/>
              </a:rPr>
              <a:t>1. A RISC processor runs 6 fixed-length instructions through a 3-stage pipeline (fetch, decode, execute)</a:t>
            </a:r>
          </a:p>
          <a:p>
            <a:pPr lvl="1"/>
            <a:r>
              <a:rPr sz="1900" b="0">
                <a:solidFill>
                  <a:srgbClr val="222222"/>
                </a:solidFill>
                <a:latin typeface="Calibri"/>
              </a:rPr>
              <a:t>2. Without pipelining: 6 instructions x 3 cycles = 18 cycles</a:t>
            </a:r>
          </a:p>
          <a:p>
            <a:pPr lvl="1"/>
            <a:r>
              <a:rPr sz="1900" b="0">
                <a:solidFill>
                  <a:srgbClr val="222222"/>
                </a:solidFill>
                <a:latin typeface="Calibri"/>
              </a:rPr>
              <a:t>3. With pipelining: the first instruction completes at cycle 3, then one completes every cycle: total = 6 + 3 - 1 = 8 cycles</a:t>
            </a:r>
          </a:p>
          <a:p>
            <a:pPr lvl="1"/>
            <a:r>
              <a:rPr sz="1900" b="0">
                <a:solidFill>
                  <a:srgbClr val="222222"/>
                </a:solidFill>
                <a:latin typeface="Calibri"/>
              </a:rPr>
              <a:t>4. Speed-up = 18 / 8 = 2.25 times for this run</a:t>
            </a:r>
          </a:p>
          <a:p>
            <a:pPr lvl="1"/>
            <a:r>
              <a:rPr sz="1900" b="0">
                <a:solidFill>
                  <a:srgbClr val="222222"/>
                </a:solidFill>
                <a:latin typeface="Calibri"/>
              </a:rPr>
              <a:t>5. Why CISC struggles: variable-length, multi-cycle instructions make the stages uneven, causing stalls that reduce this gain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 serial-fraction limit on multicore speed-up</a:t>
            </a:r>
          </a:p>
          <a:p>
            <a:pPr lvl="1"/>
            <a:r>
              <a:rPr sz="1900" b="0">
                <a:solidFill>
                  <a:srgbClr val="222222"/>
                </a:solidFill>
                <a:latin typeface="Calibri"/>
              </a:rPr>
              <a:t>1. A task takes 100 seconds on one core; 80 seconds of it is parallelisable, 20 seconds is inherently serial</a:t>
            </a:r>
          </a:p>
          <a:p>
            <a:pPr lvl="1"/>
            <a:r>
              <a:rPr sz="1900" b="0">
                <a:solidFill>
                  <a:srgbClr val="222222"/>
                </a:solidFill>
                <a:latin typeface="Calibri"/>
              </a:rPr>
              <a:t>2. With 4 cores, the parallel part takes 80 / 4 = 20 seconds; total = 20 + 20 = 40 seconds, i.e. 2.5 times faster</a:t>
            </a:r>
          </a:p>
          <a:p>
            <a:pPr lvl="1"/>
            <a:r>
              <a:rPr sz="1900" b="0">
                <a:solidFill>
                  <a:srgbClr val="222222"/>
                </a:solidFill>
                <a:latin typeface="Calibri"/>
              </a:rPr>
              <a:t>3. With 80 cores, the parallel part takes 80 / 80 = 1 second; total = 20 + 1 = 21 seconds</a:t>
            </a:r>
          </a:p>
          <a:p>
            <a:pPr lvl="1"/>
            <a:r>
              <a:rPr sz="1900" b="0">
                <a:solidFill>
                  <a:srgbClr val="222222"/>
                </a:solidFill>
                <a:latin typeface="Calibri"/>
              </a:rPr>
              <a:t>4. Even with unlimited cores the total can never drop below the 20-second serial part</a:t>
            </a:r>
          </a:p>
          <a:p>
            <a:pPr lvl="1"/>
            <a:r>
              <a:rPr sz="1900" b="0">
                <a:solidFill>
                  <a:srgbClr val="222222"/>
                </a:solidFill>
                <a:latin typeface="Calibri"/>
              </a:rPr>
              <a:t>5. So the maximum possible speed-up is 100 / 20 = 5 times — the serial fraction caps the benefit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RISC or CISC? Decision Continuum  (10 min)</a:t>
            </a:r>
          </a:p>
          <a:p>
            <a:pPr lvl="1"/>
            <a:r>
              <a:rPr sz="2000" b="0">
                <a:solidFill>
                  <a:srgbClr val="222222"/>
                </a:solidFill>
                <a:latin typeface="Calibri"/>
              </a:rPr>
              <a:t>Mark an imaginary line across the room: one wall is definitely RISC, the other definitely CISC</a:t>
            </a:r>
          </a:p>
          <a:p>
            <a:pPr lvl="1"/>
            <a:r>
              <a:rPr sz="2000" b="0">
                <a:solidFill>
                  <a:srgbClr val="222222"/>
                </a:solidFill>
                <a:latin typeface="Calibri"/>
              </a:rPr>
              <a:t>Read a scenario; students stand along the line — no fence-sitting in the exact middle without a spoken reason</a:t>
            </a:r>
          </a:p>
          <a:p>
            <a:pPr lvl="1"/>
            <a:r>
              <a:rPr sz="2000" b="0">
                <a:solidFill>
                  <a:srgbClr val="222222"/>
                </a:solidFill>
                <a:latin typeface="Calibri"/>
              </a:rPr>
              <a:t>Scenarios: a fitness tracker running two weeks on a coin cell; a desktop workstation running legacy x86 software; a drone flight controller; a data-centre server prioritising performance per watt; the student's own laptop</a:t>
            </a:r>
          </a:p>
          <a:p>
            <a:pPr lvl="1"/>
            <a:r>
              <a:rPr sz="2000" b="0">
                <a:solidFill>
                  <a:srgbClr val="222222"/>
                </a:solidFill>
                <a:latin typeface="Calibri"/>
              </a:rPr>
              <a:t>Interview outliers and clusters: what feature of the scenario put you there?</a:t>
            </a:r>
          </a:p>
          <a:p>
            <a:pPr lvl="1"/>
            <a:r>
              <a:rPr sz="2000" b="0">
                <a:solidFill>
                  <a:srgbClr val="222222"/>
                </a:solidFill>
                <a:latin typeface="Calibri"/>
              </a:rPr>
              <a:t>After each scenario one student must give the hardware justification (instruction length, cycles per instruction, power, pipelining) before moving on</a:t>
            </a:r>
          </a:p>
          <a:p>
            <a:pPr lvl="1"/>
            <a:r>
              <a:rPr sz="2000" b="0">
                <a:solidFill>
                  <a:srgbClr val="222222"/>
                </a:solidFill>
                <a:latin typeface="Calibri"/>
              </a:rPr>
              <a:t>Expected: tracker RISC; legacy desktop CISC; drone RISC; server defensibly RISC (ARM); laptop genuinely mixed — reward students who ask which laptop</a:t>
            </a:r>
          </a:p>
          <a:p>
            <a:pPr/>
            <a:r>
              <a:rPr sz="1800" b="0">
                <a:solidFill>
                  <a:srgbClr val="B76E00"/>
                </a:solidFill>
                <a:latin typeface="Calibri"/>
              </a:rPr>
              <a:t>Stretch: Modern x86 chips translate CISC instructions into RISC-like micro-ops internally — does the distinction still matter? Defend a position.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CPU or GPU? Corner Sort  (8 min)</a:t>
            </a:r>
          </a:p>
          <a:p>
            <a:pPr lvl="1"/>
            <a:r>
              <a:rPr sz="2000" b="0">
                <a:solidFill>
                  <a:srgbClr val="222222"/>
                </a:solidFill>
                <a:latin typeface="Calibri"/>
              </a:rPr>
              <a:t>Label two corners CPU and GPU, plus a third spot labelled It Depends</a:t>
            </a:r>
          </a:p>
          <a:p>
            <a:pPr lvl="1"/>
            <a:r>
              <a:rPr sz="2000" b="0">
                <a:solidFill>
                  <a:srgbClr val="222222"/>
                </a:solidFill>
                <a:latin typeface="Calibri"/>
              </a:rPr>
              <a:t>Read a workload; students walk to a corner within five seconds, then justify on request</a:t>
            </a:r>
          </a:p>
          <a:p>
            <a:pPr lvl="1"/>
            <a:r>
              <a:rPr sz="2000" b="0">
                <a:solidFill>
                  <a:srgbClr val="222222"/>
                </a:solidFill>
                <a:latin typeface="Calibri"/>
              </a:rPr>
              <a:t>Workloads: training a neural network; applying a filter to every pixel of a photo; running the OS scheduler; a chess engine searching deep branching game trees; mining cryptocurrency hashes; simulating weather across a grid; parsing source code</a:t>
            </a:r>
          </a:p>
          <a:p>
            <a:pPr lvl="1"/>
            <a:r>
              <a:rPr sz="2000" b="0">
                <a:solidFill>
                  <a:srgbClr val="222222"/>
                </a:solidFill>
                <a:latin typeface="Calibri"/>
              </a:rPr>
              <a:t>Expected: GPU for neural network, pixel filter, hashing, weather grid (same operation, huge data); CPU for scheduler, chess search, parsing (sequential, branchy, dependent)</a:t>
            </a:r>
          </a:p>
          <a:p>
            <a:pPr lvl="1"/>
            <a:r>
              <a:rPr sz="2000" b="0">
                <a:solidFill>
                  <a:srgbClr val="222222"/>
                </a:solidFill>
                <a:latin typeface="Calibri"/>
              </a:rPr>
              <a:t>Finish: every student writes the rule of thumb in one sentence on a whiteboard</a:t>
            </a:r>
          </a:p>
          <a:p>
            <a:pPr/>
            <a:r>
              <a:rPr sz="1800" b="0">
                <a:solidFill>
                  <a:srgbClr val="B76E00"/>
                </a:solidFill>
                <a:latin typeface="Calibri"/>
              </a:rPr>
              <a:t>Stretch: If 20 percent of a task is inherently serial, what is the best possible speed-up however many cores you add? (5 times.)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Analogy Autopsy: 1,000 Pupils vs 4 Professors  (8 min)</a:t>
            </a:r>
          </a:p>
          <a:p>
            <a:pPr lvl="1"/>
            <a:r>
              <a:rPr sz="2000" b="0">
                <a:solidFill>
                  <a:srgbClr val="222222"/>
                </a:solidFill>
                <a:latin typeface="Calibri"/>
              </a:rPr>
              <a:t>Display the analogy: a GPU is 1,000 primary-school pupils each doing one simple sum; a CPU is 4 professors solving hard problems one after another</a:t>
            </a:r>
          </a:p>
          <a:p>
            <a:pPr lvl="1"/>
            <a:r>
              <a:rPr sz="2000" b="0">
                <a:solidFill>
                  <a:srgbClr val="222222"/>
                </a:solidFill>
                <a:latin typeface="Calibri"/>
              </a:rPr>
              <a:t>Think (1 minute): individually list what the analogy gets right</a:t>
            </a:r>
          </a:p>
          <a:p>
            <a:pPr lvl="1"/>
            <a:r>
              <a:rPr sz="2000" b="0">
                <a:solidFill>
                  <a:srgbClr val="222222"/>
                </a:solidFill>
                <a:latin typeface="Calibri"/>
              </a:rPr>
              <a:t>Pair (2 minutes): find at least two places it breaks down</a:t>
            </a:r>
          </a:p>
          <a:p>
            <a:pPr lvl="1"/>
            <a:r>
              <a:rPr sz="2000" b="0">
                <a:solidFill>
                  <a:srgbClr val="222222"/>
                </a:solidFill>
                <a:latin typeface="Calibri"/>
              </a:rPr>
              <a:t>Share: harvest onto a two-column board, Holds Up versus Breaks Down</a:t>
            </a:r>
          </a:p>
          <a:p>
            <a:pPr lvl="1"/>
            <a:r>
              <a:rPr sz="2000" b="0">
                <a:solidFill>
                  <a:srgbClr val="222222"/>
                </a:solidFill>
                <a:latin typeface="Calibri"/>
              </a:rPr>
              <a:t>Key breakdowns to surface: GPU cores work in lockstep on the same instruction while pupils could each freelance a different sum; no coordination or memory-bandwidth cost is shown; the professors (CPU cores) also work in parallel with each other</a:t>
            </a:r>
          </a:p>
          <a:p>
            <a:pPr lvl="1"/>
            <a:r>
              <a:rPr sz="2000" b="0">
                <a:solidFill>
                  <a:srgbClr val="222222"/>
                </a:solidFill>
                <a:latin typeface="Calibri"/>
              </a:rPr>
              <a:t>Pairs propose a one-word patch to the analogy that fixes one flaw</a:t>
            </a:r>
          </a:p>
          <a:p>
            <a:pPr/>
            <a:r>
              <a:rPr sz="1800" b="0">
                <a:solidFill>
                  <a:srgbClr val="B76E00"/>
                </a:solidFill>
                <a:latin typeface="Calibri"/>
              </a:rPr>
              <a:t>Stretch: Write a better original analogy for GPGPU or multicore and give it to a partner for autopsy.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three differences between RISC and CISC processors. [3]</a:t>
            </a:r>
          </a:p>
          <a:p>
            <a:r>
              <a:rPr sz="2000" b="1">
                <a:solidFill>
                  <a:srgbClr val="222222"/>
                </a:solidFill>
                <a:latin typeface="Calibri"/>
              </a:rPr>
              <a:t>2. A smartwatch manufacturer must choose between a RISC and a CISC processor. Explain why RISC is likely to be more suitable. [3]</a:t>
            </a:r>
          </a:p>
          <a:p>
            <a:r>
              <a:rPr sz="2000" b="1">
                <a:solidFill>
                  <a:srgbClr val="222222"/>
                </a:solidFill>
                <a:latin typeface="Calibri"/>
              </a:rPr>
              <a:t>3. Explain how the design of a GPU makes it well suited to rendering 3D graphics. [3]</a:t>
            </a:r>
          </a:p>
          <a:p>
            <a:r>
              <a:rPr sz="2000" b="1">
                <a:solidFill>
                  <a:srgbClr val="222222"/>
                </a:solidFill>
                <a:latin typeface="Calibri"/>
              </a:rPr>
              <a:t>4. State what is meant by GPGPU and give two examples of non-graphics uses of a GPU. [3]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Describe three differences between RISC and CISC processors. [3]</a:t>
            </a:r>
          </a:p>
          <a:p>
            <a:pPr lvl="1"/>
            <a:r>
              <a:rPr sz="1800" i="1">
                <a:solidFill>
                  <a:srgbClr val="B76E00"/>
                </a:solidFill>
                <a:latin typeface="Calibri"/>
              </a:rPr>
              <a:t>Answer: RISC has a small set of simple instructions whereas CISC has a large set of complex instructions (1); RISC instructions are fixed length and aim to complete in one clock cycle whereas CISC instructions are variable length and take multiple cycles (1); in RISC the complexity is handled by the compiler/software whereas in CISC it is built into the hardware (1). Also credit: RISC uses less power / pipelines more easily.</a:t>
            </a:r>
          </a:p>
          <a:p>
            <a:r>
              <a:rPr sz="2000" b="1">
                <a:solidFill>
                  <a:srgbClr val="222222"/>
                </a:solidFill>
                <a:latin typeface="Calibri"/>
              </a:rPr>
              <a:t>2. A smartwatch manufacturer must choose between a RISC and a CISC processor. Explain why RISC is likely to be more suitable. [3]</a:t>
            </a:r>
          </a:p>
          <a:p>
            <a:pPr lvl="1"/>
            <a:r>
              <a:rPr sz="1800" i="1">
                <a:solidFill>
                  <a:srgbClr val="B76E00"/>
                </a:solidFill>
                <a:latin typeface="Calibri"/>
              </a:rPr>
              <a:t>Answer: RISC processors use simpler circuitry with fewer transistors so they consume less power (1), extending battery life and producing less heat inside a small sealed case (1); the simple fixed-length instructions pipeline efficiently, giving sufficient performance for the watch's limited tasks (1).</a:t>
            </a:r>
          </a:p>
          <a:p>
            <a:r>
              <a:rPr sz="2000" b="1">
                <a:solidFill>
                  <a:srgbClr val="222222"/>
                </a:solidFill>
                <a:latin typeface="Calibri"/>
              </a:rPr>
              <a:t>3. Explain how the design of a GPU makes it well suited to rendering 3D graphics. [3]</a:t>
            </a:r>
          </a:p>
          <a:p>
            <a:pPr lvl="1"/>
            <a:r>
              <a:rPr sz="1800" i="1">
                <a:solidFill>
                  <a:srgbClr val="B76E00"/>
                </a:solidFill>
                <a:latin typeface="Calibri"/>
              </a:rPr>
              <a:t>Answer: A GPU contains thousands of small cores (1) that apply the same operation to large blocks of data in parallel (1); rendering repeats the same calculation for millions of independent pixels/vertices, so many can be processed simultaneously (1).</a:t>
            </a:r>
          </a:p>
          <a:p>
            <a:r>
              <a:rPr sz="2000" b="1">
                <a:solidFill>
                  <a:srgbClr val="222222"/>
                </a:solidFill>
                <a:latin typeface="Calibri"/>
              </a:rPr>
              <a:t>4. State what is meant by GPGPU and give two examples of non-graphics uses of a GPU. [3]</a:t>
            </a:r>
          </a:p>
          <a:p>
            <a:pPr lvl="1"/>
            <a:r>
              <a:rPr sz="1800" i="1">
                <a:solidFill>
                  <a:srgbClr val="B76E00"/>
                </a:solidFill>
                <a:latin typeface="Calibri"/>
              </a:rPr>
              <a:t>Answer: GPGPU is using a GPU for general-purpose, non-graphics computation (1); examples for the other two marks: training machine-learning/neural networks; scientific simulations such as weather modelling; large-scale image or video processing; cryptocurrency hash calculations.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Define the terms multicore processor and parallel processing. [2]</a:t>
            </a:r>
          </a:p>
          <a:p>
            <a:r>
              <a:rPr sz="2000" b="1">
                <a:solidFill>
                  <a:srgbClr val="222222"/>
                </a:solidFill>
                <a:latin typeface="Calibri"/>
              </a:rPr>
              <a:t>2. A video-editing program renders a film in 100 seconds on one core; 80 seconds of the work can be shared perfectly across cores and 20 seconds cannot. Calculate the render time on 4 cores. [2]</a:t>
            </a:r>
          </a:p>
          <a:p>
            <a:r>
              <a:rPr sz="2000" b="1">
                <a:solidFill>
                  <a:srgbClr val="222222"/>
                </a:solidFill>
                <a:latin typeface="Calibri"/>
              </a:rPr>
              <a:t>3. Explain two reasons why doubling the number of cores may not halve a program's run time. [4]</a:t>
            </a:r>
          </a:p>
          <a:p>
            <a:r>
              <a:rPr sz="2000" b="1">
                <a:solidFill>
                  <a:srgbClr val="222222"/>
                </a:solidFill>
                <a:latin typeface="Calibri"/>
              </a:rPr>
              <a:t>4. A research lab must apply the same statistical operation to billions of independent sensor readings. Discuss whether a multicore CPU or a GPU is more appropriate. [4]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Define the terms multicore processor and parallel processing. [2]</a:t>
            </a:r>
          </a:p>
          <a:p>
            <a:pPr lvl="1"/>
            <a:r>
              <a:rPr sz="1800" i="1">
                <a:solidFill>
                  <a:srgbClr val="B76E00"/>
                </a:solidFill>
                <a:latin typeface="Calibri"/>
              </a:rPr>
              <a:t>Answer: A multicore processor is a single chip containing two or more independent cores, each able to run its own fetch-decode-execute cycle (1); parallel processing is splitting a task so multiple computations are carried out simultaneously across cores or processors (1).</a:t>
            </a:r>
          </a:p>
          <a:p>
            <a:r>
              <a:rPr sz="2000" b="1">
                <a:solidFill>
                  <a:srgbClr val="222222"/>
                </a:solidFill>
                <a:latin typeface="Calibri"/>
              </a:rPr>
              <a:t>2. A video-editing program renders a film in 100 seconds on one core; 80 seconds of the work can be shared perfectly across cores and 20 seconds cannot. Calculate the render time on 4 cores. [2]</a:t>
            </a:r>
          </a:p>
          <a:p>
            <a:pPr lvl="1"/>
            <a:r>
              <a:rPr sz="1800" i="1">
                <a:solidFill>
                  <a:srgbClr val="B76E00"/>
                </a:solidFill>
                <a:latin typeface="Calibri"/>
              </a:rPr>
              <a:t>Answer: Parallel part: 80 / 4 = 20 seconds (1); total = 20 serial + 20 parallel = 40 seconds (1).</a:t>
            </a:r>
          </a:p>
          <a:p>
            <a:r>
              <a:rPr sz="2000" b="1">
                <a:solidFill>
                  <a:srgbClr val="222222"/>
                </a:solidFill>
                <a:latin typeface="Calibri"/>
              </a:rPr>
              <a:t>3. Explain two reasons why doubling the number of cores may not halve a program's run time. [4]</a:t>
            </a:r>
          </a:p>
          <a:p>
            <a:pPr lvl="1"/>
            <a:r>
              <a:rPr sz="1800" i="1">
                <a:solidFill>
                  <a:srgbClr val="B76E00"/>
                </a:solidFill>
                <a:latin typeface="Calibri"/>
              </a:rPr>
              <a:t>Answer: Part of the task may be inherently serial because each step depends on the previous result, so it cannot be split across cores (1), and this serial fraction sets a floor on the run time (1). The software must also be written to use multiple threads, otherwise extra cores sit idle (1), and dividing work then combining results adds coordination overhead (1).</a:t>
            </a:r>
          </a:p>
          <a:p>
            <a:r>
              <a:rPr sz="2000" b="1">
                <a:solidFill>
                  <a:srgbClr val="222222"/>
                </a:solidFill>
                <a:latin typeface="Calibri"/>
              </a:rPr>
              <a:t>4. A research lab must apply the same statistical operation to billions of independent sensor readings. Discuss whether a multicore CPU or a GPU is more appropriate. [4]</a:t>
            </a:r>
          </a:p>
          <a:p>
            <a:pPr lvl="1"/>
            <a:r>
              <a:rPr sz="1800" i="1">
                <a:solidFill>
                  <a:srgbClr val="B76E00"/>
                </a:solidFill>
                <a:latin typeface="Calibri"/>
              </a:rPr>
              <a:t>Answer: The workload applies the same operation to a huge number of independent data items, so it is data-parallel (1); a GPU's thousands of cores can process many readings simultaneously, giving far higher throughput than a CPU's few cores (1); however the software must be written specifically for the GPU (1); as there is little branching or dependency, the GPU is the more appropriate choice, with the CPU handling sequential control work (1).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think RISC means weaker or slower, but simple one-cycle instructions plus easy pipelining can give equal or better performance per watt.</a:t>
            </a:r>
          </a:p>
          <a:p>
            <a:pPr/>
            <a:r>
              <a:rPr sz="2000" b="0">
                <a:solidFill>
                  <a:srgbClr val="222222"/>
                </a:solidFill>
                <a:latin typeface="Calibri"/>
              </a:rPr>
              <a:t>✗ Students often think a GPU is just a faster CPU, but its thousands of cores apply the same operation in lockstep — it only wins on data-parallel work.</a:t>
            </a:r>
          </a:p>
          <a:p>
            <a:pPr/>
            <a:r>
              <a:rPr sz="2000" b="0">
                <a:solidFill>
                  <a:srgbClr val="222222"/>
                </a:solidFill>
                <a:latin typeface="Calibri"/>
              </a:rPr>
              <a:t>✗ Students often think more cores always means proportionally faster, but the serial fraction, data dependencies and unthreaded software cap the speed-up.</a:t>
            </a:r>
          </a:p>
          <a:p>
            <a:pPr/>
            <a:r>
              <a:rPr sz="2000" b="0">
                <a:solidFill>
                  <a:srgbClr val="222222"/>
                </a:solidFill>
                <a:latin typeface="Calibri"/>
              </a:rPr>
              <a:t>✗ Students often give one RISC/CISC difference reworded several times; examiners want distinct points — set size, instruction length, cycles, where complexity lies.</a:t>
            </a:r>
          </a:p>
          <a:p>
            <a:pPr/>
            <a:r>
              <a:rPr sz="2000" b="0">
                <a:solidFill>
                  <a:srgbClr val="222222"/>
                </a:solidFill>
                <a:latin typeface="Calibri"/>
              </a:rPr>
              <a:t>✗ Students often think GPUs are only for graphics, but GPGPU covers machine learning, simulation and hashing.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Command words: Define/State (1-2 marks on terms), Describe (RISC vs CISC differences, 3 marks), Explain (why a processor suits a device, 3-4 marks), Discuss (processor choice for a scenario, up to 9-mark levels of response).</a:t>
            </a:r>
          </a:p>
          <a:p>
            <a:pPr/>
            <a:r>
              <a:rPr sz="2000" b="0">
                <a:solidFill>
                  <a:srgbClr val="222222"/>
                </a:solidFill>
                <a:latin typeface="Calibri"/>
              </a:rPr>
              <a:t>RISC vs CISC comparison questions penalise repeated points reworded — plan three genuinely distinct differences before writing.</a:t>
            </a:r>
          </a:p>
          <a:p>
            <a:pPr/>
            <a:r>
              <a:rPr sz="2000" b="0">
                <a:solidFill>
                  <a:srgbClr val="222222"/>
                </a:solidFill>
                <a:latin typeface="Calibri"/>
              </a:rPr>
              <a:t>Example stem: 'A company is developing a battery-powered drone. Discuss the suitability of RISC and CISC processors for this product.' — link every hardware feature to the scenario.</a:t>
            </a:r>
          </a:p>
          <a:p>
            <a:pPr/>
            <a:r>
              <a:rPr sz="2000" b="0">
                <a:solidFill>
                  <a:srgbClr val="222222"/>
                </a:solidFill>
                <a:latin typeface="Calibri"/>
              </a:rPr>
              <a:t>GPU questions expect the two-part mechanism (many cores AND same operation on much data) plus the software-support caveat for full marks.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For each of these four devices, choose CISC, RISC, GPU-assisted or multicore-focused and justify with at least two hardware features linked to the device's needs: a hearing aid, a 3D-rendering workstation, a supermarket checkout, and a machine-learning research server.</a:t>
            </a:r>
          </a:p>
          <a:p>
            <a:r>
              <a:rPr sz="2400" b="1">
                <a:solidFill>
                  <a:srgbClr val="B76E00"/>
                </a:solidFill>
                <a:latin typeface="Calibri"/>
              </a:rPr>
              <a:t>Challenge / stretch</a:t>
            </a:r>
          </a:p>
          <a:p>
            <a:pPr lvl="1"/>
            <a:r>
              <a:rPr sz="2200" b="0">
                <a:solidFill>
                  <a:srgbClr val="222222"/>
                </a:solidFill>
                <a:latin typeface="Calibri"/>
              </a:rPr>
              <a:t>A task takes 200 seconds on one core; 150 seconds of it parallelises perfectly. Calculate the run times on 2, 5 and 50 cores (125 s, 80 s, 53 s) and the theoretical minimum (50 s), then write three sentences explaining what this tells a buyer comparing an 8-core CPU with a 64-core CPU.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Give two distinct differences between RISC and CISC.</a:t>
            </a:r>
          </a:p>
          <a:p>
            <a:r>
              <a:rPr sz="2200" b="1">
                <a:solidFill>
                  <a:srgbClr val="222222"/>
                </a:solidFill>
                <a:latin typeface="Calibri"/>
              </a:rPr>
              <a:t>2. What TWO ideas must you combine to explain why a GPU is fast?</a:t>
            </a:r>
          </a:p>
          <a:p>
            <a:r>
              <a:rPr sz="2200" b="1">
                <a:solidFill>
                  <a:srgbClr val="222222"/>
                </a:solidFill>
                <a:latin typeface="Calibri"/>
              </a:rPr>
              <a:t>3. Name two things that limit the benefit of adding more cores.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Give two distinct differences between RISC and CISC.</a:t>
            </a:r>
          </a:p>
          <a:p>
            <a:pPr lvl="1"/>
            <a:r>
              <a:rPr sz="1800" i="1">
                <a:solidFill>
                  <a:srgbClr val="B76E00"/>
                </a:solidFill>
                <a:latin typeface="Calibri"/>
              </a:rPr>
              <a:t>Answer: Any two of: small simple set vs large complex set; fixed-length one-cycle vs variable-length multi-cycle instructions; complexity in compiler/software vs in hardware; lower vs higher power.</a:t>
            </a:r>
          </a:p>
          <a:p>
            <a:r>
              <a:rPr sz="2200" b="1">
                <a:solidFill>
                  <a:srgbClr val="222222"/>
                </a:solidFill>
                <a:latin typeface="Calibri"/>
              </a:rPr>
              <a:t>2. What TWO ideas must you combine to explain why a GPU is fast?</a:t>
            </a:r>
          </a:p>
          <a:p>
            <a:pPr lvl="1"/>
            <a:r>
              <a:rPr sz="1800" i="1">
                <a:solidFill>
                  <a:srgbClr val="B76E00"/>
                </a:solidFill>
                <a:latin typeface="Calibri"/>
              </a:rPr>
              <a:t>Answer: It has thousands of cores, and it applies the same operation to many data items in parallel.</a:t>
            </a:r>
          </a:p>
          <a:p>
            <a:r>
              <a:rPr sz="2200" b="1">
                <a:solidFill>
                  <a:srgbClr val="222222"/>
                </a:solidFill>
                <a:latin typeface="Calibri"/>
              </a:rPr>
              <a:t>3. Name two things that limit the benefit of adding more cores.</a:t>
            </a:r>
          </a:p>
          <a:p>
            <a:pPr lvl="1"/>
            <a:r>
              <a:rPr sz="1800" i="1">
                <a:solidFill>
                  <a:srgbClr val="B76E00"/>
                </a:solidFill>
                <a:latin typeface="Calibri"/>
              </a:rPr>
              <a:t>Answer: Any two of: the serial fraction/data dependencies, software not written for multiple threads, coordination overhead.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