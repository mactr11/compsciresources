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1.2.2 Applications Generation</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07 (12 Oct)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distinguish applications, systems software and utilities, and compare open and closed source software.</a:t>
            </a:r>
          </a:p>
          <a:p>
            <a:pPr lvl="1"/>
            <a:r>
              <a:rPr sz="2200" b="0">
                <a:solidFill>
                  <a:srgbClr val="222222"/>
                </a:solidFill>
                <a:latin typeface="Calibri"/>
              </a:rPr>
              <a:t>I can compare assemblers, compilers and interpreters and choose the right translator for a scenario.</a:t>
            </a:r>
          </a:p>
          <a:p>
            <a:pPr lvl="1"/>
            <a:r>
              <a:rPr sz="2200" b="0">
                <a:solidFill>
                  <a:srgbClr val="222222"/>
                </a:solidFill>
                <a:latin typeface="Calibri"/>
              </a:rPr>
              <a:t>I can describe the four stages of compilation, in order, with what each produces.</a:t>
            </a:r>
          </a:p>
          <a:p>
            <a:pPr lvl="1"/>
            <a:r>
              <a:rPr sz="2200" b="0">
                <a:solidFill>
                  <a:srgbClr val="222222"/>
                </a:solidFill>
                <a:latin typeface="Calibri"/>
              </a:rPr>
              <a:t>I can explain the roles of libraries, linkers and loaders, including static versus dynamic linking.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1.2.1: describe the role of the BIOS at start-up.</a:t>
            </a:r>
          </a:p>
          <a:p>
            <a:r>
              <a:rPr sz="2200" b="1">
                <a:solidFill>
                  <a:srgbClr val="222222"/>
                </a:solidFill>
                <a:latin typeface="Calibri"/>
              </a:rPr>
              <a:t>2. From 1.2.1: what is the difference between paging and segmentation?</a:t>
            </a:r>
          </a:p>
          <a:p>
            <a:r>
              <a:rPr sz="2200" b="1">
                <a:solidFill>
                  <a:srgbClr val="222222"/>
                </a:solidFill>
                <a:latin typeface="Calibri"/>
              </a:rPr>
              <a:t>3. From 1.2.1: why is a device driver specific to one operating system?</a:t>
            </a:r>
          </a:p>
          <a:p>
            <a:r>
              <a:rPr sz="2200" b="1">
                <a:solidFill>
                  <a:srgbClr val="222222"/>
                </a:solidFill>
                <a:latin typeface="Calibri"/>
              </a:rPr>
              <a:t>4. From 1.2.1: what does a virtual machine such as the JVM execute, and what is the benefit?</a:t>
            </a:r>
          </a:p>
          <a:p>
            <a:r>
              <a:rPr sz="2200" b="1">
                <a:solidFill>
                  <a:srgbClr val="222222"/>
                </a:solidFill>
                <a:latin typeface="Calibri"/>
              </a:rPr>
              <a:t>5. From 2.1.2: give one benefit and one trade-off of caching.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1.2.1: describe the role of the BIOS at start-up.</a:t>
            </a:r>
          </a:p>
          <a:p>
            <a:pPr lvl="1"/>
            <a:r>
              <a:rPr sz="1800" i="1">
                <a:solidFill>
                  <a:srgbClr val="B76E00"/>
                </a:solidFill>
                <a:latin typeface="Calibri"/>
              </a:rPr>
              <a:t>Answer: The first program to run, held in ROM; it performs the POST, then bootstraps (loads) the OS into RAM.</a:t>
            </a:r>
          </a:p>
          <a:p>
            <a:r>
              <a:rPr sz="2200" b="1">
                <a:solidFill>
                  <a:srgbClr val="222222"/>
                </a:solidFill>
                <a:latin typeface="Calibri"/>
              </a:rPr>
              <a:t>2. From 1.2.1: what is the difference between paging and segmentation?</a:t>
            </a:r>
          </a:p>
          <a:p>
            <a:pPr lvl="1"/>
            <a:r>
              <a:rPr sz="1800" i="1">
                <a:solidFill>
                  <a:srgbClr val="B76E00"/>
                </a:solidFill>
                <a:latin typeface="Calibri"/>
              </a:rPr>
              <a:t>Answer: Paging uses fixed-size physical blocks; segmentation uses variable-size logical blocks matching the program's structure.</a:t>
            </a:r>
          </a:p>
          <a:p>
            <a:r>
              <a:rPr sz="2200" b="1">
                <a:solidFill>
                  <a:srgbClr val="222222"/>
                </a:solidFill>
                <a:latin typeface="Calibri"/>
              </a:rPr>
              <a:t>3. From 1.2.1: why is a device driver specific to one operating system?</a:t>
            </a:r>
          </a:p>
          <a:p>
            <a:pPr lvl="1"/>
            <a:r>
              <a:rPr sz="1800" i="1">
                <a:solidFill>
                  <a:srgbClr val="B76E00"/>
                </a:solidFill>
                <a:latin typeface="Calibri"/>
              </a:rPr>
              <a:t>Answer: It translates that OS's commands into instructions for the device, so a different OS needs a different driver.</a:t>
            </a:r>
          </a:p>
          <a:p>
            <a:r>
              <a:rPr sz="2200" b="1">
                <a:solidFill>
                  <a:srgbClr val="222222"/>
                </a:solidFill>
                <a:latin typeface="Calibri"/>
              </a:rPr>
              <a:t>4. From 1.2.1: what does a virtual machine such as the JVM execute, and what is the benefit?</a:t>
            </a:r>
          </a:p>
          <a:p>
            <a:pPr lvl="1"/>
            <a:r>
              <a:rPr sz="1800" i="1">
                <a:solidFill>
                  <a:srgbClr val="B76E00"/>
                </a:solidFill>
                <a:latin typeface="Calibri"/>
              </a:rPr>
              <a:t>Answer: Intermediate code (bytecode); the same code runs on any platform with the VM installed, giving portability.</a:t>
            </a:r>
          </a:p>
          <a:p>
            <a:r>
              <a:rPr sz="2200" b="1">
                <a:solidFill>
                  <a:srgbClr val="222222"/>
                </a:solidFill>
                <a:latin typeface="Calibri"/>
              </a:rPr>
              <a:t>5. From 2.1.2: give one benefit and one trade-off of caching.</a:t>
            </a:r>
          </a:p>
          <a:p>
            <a:pPr lvl="1"/>
            <a:r>
              <a:rPr sz="1800" i="1">
                <a:solidFill>
                  <a:srgbClr val="B76E00"/>
                </a:solidFill>
                <a:latin typeface="Calibri"/>
              </a:rPr>
              <a:t>Answer: Benefit: faster reuse of expensive or frequent results with less traffic. Trade-off: extra storage and data going stale, needing invalidation.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Application software</a:t>
            </a:r>
            <a:r>
              <a:rPr sz="1800">
                <a:solidFill>
                  <a:srgbClr val="222222"/>
                </a:solidFill>
                <a:latin typeface="Calibri"/>
              </a:rPr>
              <a:t> — Software that lets a user perform a real-world task, such as a word processor, browser or game.</a:t>
            </a:r>
          </a:p>
          <a:p>
            <a:r>
              <a:rPr b="1" sz="2000">
                <a:solidFill>
                  <a:srgbClr val="1A365D"/>
                </a:solidFill>
                <a:latin typeface="Calibri"/>
              </a:rPr>
              <a:t>Utility software</a:t>
            </a:r>
            <a:r>
              <a:rPr sz="1800">
                <a:solidFill>
                  <a:srgbClr val="222222"/>
                </a:solidFill>
                <a:latin typeface="Calibri"/>
              </a:rPr>
              <a:t> — Systems software that maintains or optimises the computer, such as defragmentation, backup, antivirus or compression.</a:t>
            </a:r>
          </a:p>
          <a:p>
            <a:r>
              <a:rPr b="1" sz="2000">
                <a:solidFill>
                  <a:srgbClr val="1A365D"/>
                </a:solidFill>
                <a:latin typeface="Calibri"/>
              </a:rPr>
              <a:t>Open source</a:t>
            </a:r>
            <a:r>
              <a:rPr sz="1800">
                <a:solidFill>
                  <a:srgbClr val="222222"/>
                </a:solidFill>
                <a:latin typeface="Calibri"/>
              </a:rPr>
              <a:t> — Software whose source code is available to view and modify, usually free with community support.</a:t>
            </a:r>
          </a:p>
          <a:p>
            <a:r>
              <a:rPr b="1" sz="2000">
                <a:solidFill>
                  <a:srgbClr val="1A365D"/>
                </a:solidFill>
                <a:latin typeface="Calibri"/>
              </a:rPr>
              <a:t>Closed source</a:t>
            </a:r>
            <a:r>
              <a:rPr sz="1800">
                <a:solidFill>
                  <a:srgbClr val="222222"/>
                </a:solidFill>
                <a:latin typeface="Calibri"/>
              </a:rPr>
              <a:t> — Proprietary software whose source code is hidden, usually under a paid licence with vendor support.</a:t>
            </a:r>
          </a:p>
          <a:p>
            <a:r>
              <a:rPr b="1" sz="2000">
                <a:solidFill>
                  <a:srgbClr val="1A365D"/>
                </a:solidFill>
                <a:latin typeface="Calibri"/>
              </a:rPr>
              <a:t>Assembler</a:t>
            </a:r>
            <a:r>
              <a:rPr sz="1800">
                <a:solidFill>
                  <a:srgbClr val="222222"/>
                </a:solidFill>
                <a:latin typeface="Calibri"/>
              </a:rPr>
              <a:t> — A translator converting assembly language into machine code, roughly one mnemonic to one instruction.</a:t>
            </a:r>
          </a:p>
          <a:p>
            <a:r>
              <a:rPr b="1" sz="2000">
                <a:solidFill>
                  <a:srgbClr val="1A365D"/>
                </a:solidFill>
                <a:latin typeface="Calibri"/>
              </a:rPr>
              <a:t>Compiler</a:t>
            </a:r>
            <a:r>
              <a:rPr sz="1800">
                <a:solidFill>
                  <a:srgbClr val="222222"/>
                </a:solidFill>
                <a:latin typeface="Calibri"/>
              </a:rPr>
              <a:t> — A translator converting high-level source into machine code all at once, producing a standalone executable.</a:t>
            </a:r>
          </a:p>
          <a:p>
            <a:r>
              <a:rPr b="1" sz="2000">
                <a:solidFill>
                  <a:srgbClr val="1A365D"/>
                </a:solidFill>
                <a:latin typeface="Calibri"/>
              </a:rPr>
              <a:t>Interpreter</a:t>
            </a:r>
            <a:r>
              <a:rPr sz="1800">
                <a:solidFill>
                  <a:srgbClr val="222222"/>
                </a:solidFill>
                <a:latin typeface="Calibri"/>
              </a:rPr>
              <a:t> — A translator that converts and executes high-level source one line at a time at run time.</a:t>
            </a:r>
          </a:p>
          <a:p>
            <a:r>
              <a:rPr b="1" sz="2000">
                <a:solidFill>
                  <a:srgbClr val="1A365D"/>
                </a:solidFill>
                <a:latin typeface="Calibri"/>
              </a:rPr>
              <a:t>Linker</a:t>
            </a:r>
            <a:r>
              <a:rPr sz="1800">
                <a:solidFill>
                  <a:srgbClr val="222222"/>
                </a:solidFill>
                <a:latin typeface="Calibri"/>
              </a:rPr>
              <a:t> — Software that combines compiled code with libraries and modules into one executable, resolving references.</a:t>
            </a:r>
          </a:p>
          <a:p>
            <a:r>
              <a:rPr b="1" sz="2000">
                <a:solidFill>
                  <a:srgbClr val="1A365D"/>
                </a:solidFill>
                <a:latin typeface="Calibri"/>
              </a:rPr>
              <a:t>Loader</a:t>
            </a:r>
            <a:r>
              <a:rPr sz="1800">
                <a:solidFill>
                  <a:srgbClr val="222222"/>
                </a:solidFill>
                <a:latin typeface="Calibri"/>
              </a:rPr>
              <a:t> — Operating system software that copies an executable from storage into RAM ready to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Applications versus systems software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Application software lets the user perform a real-world task.</a:t>
            </a:r>
          </a:p>
          <a:p>
            <a:pPr/>
            <a:r>
              <a:rPr sz="2000" b="0">
                <a:solidFill>
                  <a:srgbClr val="222222"/>
                </a:solidFill>
                <a:latin typeface="Calibri"/>
              </a:rPr>
              <a:t>Examples: word processor, browser, spreadsheet, game.</a:t>
            </a:r>
          </a:p>
          <a:p>
            <a:pPr/>
            <a:r>
              <a:rPr sz="2000" b="0">
                <a:solidFill>
                  <a:srgbClr val="222222"/>
                </a:solidFill>
                <a:latin typeface="Calibri"/>
              </a:rPr>
              <a:t>Systems software runs and maintains the computer itself.</a:t>
            </a:r>
          </a:p>
          <a:p>
            <a:pPr/>
            <a:r>
              <a:rPr sz="2000" b="0">
                <a:solidFill>
                  <a:srgbClr val="222222"/>
                </a:solidFill>
                <a:latin typeface="Calibri"/>
              </a:rPr>
              <a:t>Systems software includes the operating system, utilities, drivers and translators.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Utility software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Utilities maintain or optimise the computer rather than serve a user task.</a:t>
            </a:r>
          </a:p>
          <a:p>
            <a:pPr/>
            <a:r>
              <a:rPr sz="2000" b="0">
                <a:solidFill>
                  <a:srgbClr val="222222"/>
                </a:solidFill>
                <a:latin typeface="Calibri"/>
              </a:rPr>
              <a:t>Examples: defragmentation, backup, compression, antivirus, firewall.</a:t>
            </a:r>
          </a:p>
          <a:p>
            <a:pPr/>
            <a:r>
              <a:rPr sz="2000" b="0">
                <a:solidFill>
                  <a:srgbClr val="222222"/>
                </a:solidFill>
                <a:latin typeface="Calibri"/>
              </a:rPr>
              <a:t>Each does one maintenance job well.</a:t>
            </a:r>
          </a:p>
          <a:p>
            <a:pPr/>
            <a:r>
              <a:rPr sz="2000" b="0">
                <a:solidFill>
                  <a:srgbClr val="222222"/>
                </a:solidFill>
                <a:latin typeface="Calibri"/>
              </a:rPr>
              <a:t>The classic trap: antivirus is a utility, not an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Open source versus closed source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Open source: source code available to view and modify; usually free.</a:t>
            </a:r>
          </a:p>
          <a:p>
            <a:pPr/>
            <a:r>
              <a:rPr sz="2000" b="0">
                <a:solidFill>
                  <a:srgbClr val="222222"/>
                </a:solidFill>
                <a:latin typeface="Calibri"/>
              </a:rPr>
              <a:t>Open source support comes from the community; anyone can audit the code.</a:t>
            </a:r>
          </a:p>
          <a:p>
            <a:pPr/>
            <a:r>
              <a:rPr sz="2000" b="0">
                <a:solidFill>
                  <a:srgbClr val="222222"/>
                </a:solidFill>
                <a:latin typeface="Calibri"/>
              </a:rPr>
              <a:t>Closed (proprietary): source hidden, usually a paid licence.</a:t>
            </a:r>
          </a:p>
          <a:p>
            <a:pPr/>
            <a:r>
              <a:rPr sz="2000" b="0">
                <a:solidFill>
                  <a:srgbClr val="222222"/>
                </a:solidFill>
                <a:latin typeface="Calibri"/>
              </a:rPr>
              <a:t>Closed source offers official vendor support and accountability.</a:t>
            </a:r>
          </a:p>
          <a:p>
            <a:pPr/>
            <a:r>
              <a:rPr sz="2000" b="0">
                <a:solidFill>
                  <a:srgbClr val="222222"/>
                </a:solidFill>
                <a:latin typeface="Calibri"/>
              </a:rPr>
              <a:t>Open source is usually free, but free of charge is not the definition.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Translators and the assembler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translator converts program code into a form the machine can execute.</a:t>
            </a:r>
          </a:p>
          <a:p>
            <a:pPr/>
            <a:r>
              <a:rPr sz="2000" b="0">
                <a:solidFill>
                  <a:srgbClr val="222222"/>
                </a:solidFill>
                <a:latin typeface="Calibri"/>
              </a:rPr>
              <a:t>The three types: assembler, compiler, interpreter.</a:t>
            </a:r>
          </a:p>
          <a:p>
            <a:pPr/>
            <a:r>
              <a:rPr sz="2000" b="0">
                <a:solidFill>
                  <a:srgbClr val="222222"/>
                </a:solidFill>
                <a:latin typeface="Calibri"/>
              </a:rPr>
              <a:t>An assembler translates assembly language into machine code.</a:t>
            </a:r>
          </a:p>
          <a:p>
            <a:pPr/>
            <a:r>
              <a:rPr sz="2000" b="0">
                <a:solidFill>
                  <a:srgbClr val="222222"/>
                </a:solidFill>
                <a:latin typeface="Calibri"/>
              </a:rPr>
              <a:t>Roughly one mnemonic becomes one machine code instruction.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Compilers and interpreters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compiler translates the whole program at once, before it runs.</a:t>
            </a:r>
          </a:p>
          <a:p>
            <a:pPr/>
            <a:r>
              <a:rPr sz="2000" b="0">
                <a:solidFill>
                  <a:srgbClr val="222222"/>
                </a:solidFill>
                <a:latin typeface="Calibri"/>
              </a:rPr>
              <a:t>It produces a standalone executable that runs fast without the source.</a:t>
            </a:r>
          </a:p>
          <a:p>
            <a:pPr/>
            <a:r>
              <a:rPr sz="2000" b="0">
                <a:solidFill>
                  <a:srgbClr val="222222"/>
                </a:solidFill>
                <a:latin typeface="Calibri"/>
              </a:rPr>
              <a:t>All errors are reported together after translation completes.</a:t>
            </a:r>
          </a:p>
          <a:p>
            <a:pPr/>
            <a:r>
              <a:rPr sz="2000" b="0">
                <a:solidFill>
                  <a:srgbClr val="222222"/>
                </a:solidFill>
                <a:latin typeface="Calibri"/>
              </a:rPr>
              <a:t>An interpreter translates and executes one line at a time at run time.</a:t>
            </a:r>
          </a:p>
          <a:p>
            <a:pPr/>
            <a:r>
              <a:rPr sz="2000" b="0">
                <a:solidFill>
                  <a:srgbClr val="222222"/>
                </a:solidFill>
                <a:latin typeface="Calibri"/>
              </a:rPr>
              <a:t>It produces no executable, needs the source present, and stops at the first error.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Choosing a translator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Distributing finished software: compile, so customers get no source and need no translator.</a:t>
            </a:r>
          </a:p>
          <a:p>
            <a:pPr/>
            <a:r>
              <a:rPr sz="2000" b="0">
                <a:solidFill>
                  <a:srgbClr val="222222"/>
                </a:solidFill>
                <a:latin typeface="Calibri"/>
              </a:rPr>
              <a:t>The executable is platform-specific: one build per processor and OS.</a:t>
            </a:r>
          </a:p>
          <a:p>
            <a:pPr/>
            <a:r>
              <a:rPr sz="2000" b="0">
                <a:solidFill>
                  <a:srgbClr val="222222"/>
                </a:solidFill>
                <a:latin typeface="Calibri"/>
              </a:rPr>
              <a:t>Developing and debugging: interpret, as changes run instantly and errors localise.</a:t>
            </a:r>
          </a:p>
          <a:p>
            <a:pPr/>
            <a:r>
              <a:rPr sz="2000" b="0">
                <a:solidFill>
                  <a:srgbClr val="222222"/>
                </a:solidFill>
                <a:latin typeface="Calibri"/>
              </a:rPr>
              <a:t>Interpreted code is portable to any machine with the interpreter.</a:t>
            </a:r>
          </a:p>
          <a:p>
            <a:pPr/>
            <a:r>
              <a:rPr sz="2000" b="0">
                <a:solidFill>
                  <a:srgbClr val="222222"/>
                </a:solidFill>
                <a:latin typeface="Calibri"/>
              </a:rPr>
              <a:t>Middle ground: compile to intermediate code run by a virtual machine (last week's JVM).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Compilation stage 1: lexical analysis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source code is read in as a stream of characters.</a:t>
            </a:r>
          </a:p>
          <a:p>
            <a:pPr/>
            <a:r>
              <a:rPr sz="2000" b="0">
                <a:solidFill>
                  <a:srgbClr val="222222"/>
                </a:solidFill>
                <a:latin typeface="Calibri"/>
              </a:rPr>
              <a:t>Whitespace and comments are removed.</a:t>
            </a:r>
          </a:p>
          <a:p>
            <a:pPr/>
            <a:r>
              <a:rPr sz="2000" b="0">
                <a:solidFill>
                  <a:srgbClr val="222222"/>
                </a:solidFill>
                <a:latin typeface="Calibri"/>
              </a:rPr>
              <a:t>The code is broken into tokens: keywords, identifiers, operators, values.</a:t>
            </a:r>
          </a:p>
          <a:p>
            <a:pPr/>
            <a:r>
              <a:rPr sz="2000" b="0">
                <a:solidFill>
                  <a:srgbClr val="222222"/>
                </a:solidFill>
                <a:latin typeface="Calibri"/>
              </a:rPr>
              <a:t>A symbol table is created recording identifiers and their details.</a:t>
            </a:r>
          </a:p>
          <a:p>
            <a:pPr/>
            <a:r>
              <a:rPr sz="1800" b="1">
                <a:solidFill>
                  <a:srgbClr val="B76E00"/>
                </a:solidFill>
                <a:latin typeface="Calibri"/>
              </a:rPr>
              <a:t>OCR names exactly four stages: lexical analysis, syntax analysis, code generation, code optimisation.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Compilation stage 2: syntax analysis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Tokens are checked against the grammar rules of the language.</a:t>
            </a:r>
          </a:p>
          <a:p>
            <a:pPr/>
            <a:r>
              <a:rPr sz="2000" b="0">
                <a:solidFill>
                  <a:srgbClr val="222222"/>
                </a:solidFill>
                <a:latin typeface="Calibri"/>
              </a:rPr>
              <a:t>A parse tree (abstract syntax tree) is built from the tokens.</a:t>
            </a:r>
          </a:p>
          <a:p>
            <a:pPr/>
            <a:r>
              <a:rPr sz="2000" b="0">
                <a:solidFill>
                  <a:srgbClr val="222222"/>
                </a:solidFill>
                <a:latin typeface="Calibri"/>
              </a:rPr>
              <a:t>Code that breaks the rules generates syntax errors, reported at this stage.</a:t>
            </a:r>
          </a:p>
          <a:p>
            <a:pPr/>
            <a:r>
              <a:rPr sz="2000" b="0">
                <a:solidFill>
                  <a:srgbClr val="222222"/>
                </a:solidFill>
                <a:latin typeface="Calibri"/>
              </a:rPr>
              <a:t>A missing bracket is caught here, not in lexical analysis.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Compilation stages 3 and 4: code generation and optimisation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Code generation turns the parse tree into object code (machine code).</a:t>
            </a:r>
          </a:p>
          <a:p>
            <a:pPr/>
            <a:r>
              <a:rPr sz="2000" b="0">
                <a:solidFill>
                  <a:srgbClr val="222222"/>
                </a:solidFill>
                <a:latin typeface="Calibri"/>
              </a:rPr>
              <a:t>The symbol table supplies variable addresses during generation.</a:t>
            </a:r>
          </a:p>
          <a:p>
            <a:pPr/>
            <a:r>
              <a:rPr sz="2000" b="0">
                <a:solidFill>
                  <a:srgbClr val="222222"/>
                </a:solidFill>
                <a:latin typeface="Calibri"/>
              </a:rPr>
              <a:t>Code optimisation refines the code to run faster or use less memory.</a:t>
            </a:r>
          </a:p>
          <a:p>
            <a:pPr/>
            <a:r>
              <a:rPr sz="2000" b="0">
                <a:solidFill>
                  <a:srgbClr val="222222"/>
                </a:solidFill>
                <a:latin typeface="Calibri"/>
              </a:rPr>
              <a:t>Optimised code must still produce exactly the same result.</a:t>
            </a:r>
          </a:p>
          <a:p>
            <a:pPr/>
            <a:r>
              <a:rPr sz="2000" b="0">
                <a:solidFill>
                  <a:srgbClr val="222222"/>
                </a:solidFill>
                <a:latin typeface="Calibri"/>
              </a:rPr>
              <a:t>Optimisation can make compilation itself take longer.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Libraries, linkers and loaders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library is a collection of pre-written, pre-compiled, tested subroutines.</a:t>
            </a:r>
          </a:p>
          <a:p>
            <a:pPr/>
            <a:r>
              <a:rPr sz="2000" b="0">
                <a:solidFill>
                  <a:srgbClr val="222222"/>
                </a:solidFill>
                <a:latin typeface="Calibri"/>
              </a:rPr>
              <a:t>Libraries save development time and improve reliability through reuse.</a:t>
            </a:r>
          </a:p>
          <a:p>
            <a:pPr/>
            <a:r>
              <a:rPr sz="2000" b="0">
                <a:solidFill>
                  <a:srgbClr val="222222"/>
                </a:solidFill>
                <a:latin typeface="Calibri"/>
              </a:rPr>
              <a:t>The linker combines compiled code with libraries into one executable, resolving references.</a:t>
            </a:r>
          </a:p>
          <a:p>
            <a:pPr/>
            <a:r>
              <a:rPr sz="2000" b="0">
                <a:solidFill>
                  <a:srgbClr val="222222"/>
                </a:solidFill>
                <a:latin typeface="Calibri"/>
              </a:rPr>
              <a:t>Static linking copies library code in: bigger file, fully self-contained.</a:t>
            </a:r>
          </a:p>
          <a:p>
            <a:pPr/>
            <a:r>
              <a:rPr sz="2000" b="0">
                <a:solidFill>
                  <a:srgbClr val="222222"/>
                </a:solidFill>
                <a:latin typeface="Calibri"/>
              </a:rPr>
              <a:t>Dynamic linking references a separate file (a .dll) at run time: smaller, shared, updatable.</a:t>
            </a:r>
          </a:p>
          <a:p>
            <a:pPr/>
            <a:r>
              <a:rPr sz="2000" b="0">
                <a:solidFill>
                  <a:srgbClr val="222222"/>
                </a:solidFill>
                <a:latin typeface="Calibri"/>
              </a:rPr>
              <a:t>The loader then copies the executable into RAM ready to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total = price * qty through the four stages of compilation</a:t>
            </a:r>
          </a:p>
          <a:p>
            <a:pPr lvl="1"/>
            <a:r>
              <a:rPr sz="1900" b="0">
                <a:solidFill>
                  <a:srgbClr val="222222"/>
                </a:solidFill>
                <a:latin typeface="Calibri"/>
              </a:rPr>
              <a:t>1. Start with the high-level source line: total = price * qty.</a:t>
            </a:r>
          </a:p>
          <a:p>
            <a:pPr lvl="1"/>
            <a:r>
              <a:rPr sz="1900" b="0">
                <a:solidFill>
                  <a:srgbClr val="222222"/>
                </a:solidFill>
                <a:latin typeface="Calibri"/>
              </a:rPr>
              <a:t>2. Lexical analysis strips whitespace and comments, produces the tokens total, =, price, *, qty, and records the identifiers total, price and qty in the symbol table.</a:t>
            </a:r>
          </a:p>
          <a:p>
            <a:pPr lvl="1"/>
            <a:r>
              <a:rPr sz="1900" b="0">
                <a:solidFill>
                  <a:srgbClr val="222222"/>
                </a:solidFill>
                <a:latin typeface="Calibri"/>
              </a:rPr>
              <a:t>3. Syntax analysis checks the token sequence against the grammar (identifier = identifier * identifier is valid) and builds a parse tree with = at the root; a missing operand such as total = price * would be reported here as a syntax error.</a:t>
            </a:r>
          </a:p>
          <a:p>
            <a:pPr lvl="1"/>
            <a:r>
              <a:rPr sz="1900" b="0">
                <a:solidFill>
                  <a:srgbClr val="222222"/>
                </a:solidFill>
                <a:latin typeface="Calibri"/>
              </a:rPr>
              <a:t>4. Code generation walks the parse tree using the symbol table to produce object code, e.g. LDA price, then multiply by qty, then STA total.</a:t>
            </a:r>
          </a:p>
          <a:p>
            <a:pPr lvl="1"/>
            <a:r>
              <a:rPr sz="1900" b="0">
                <a:solidFill>
                  <a:srgbClr val="222222"/>
                </a:solidFill>
                <a:latin typeface="Calibri"/>
              </a:rPr>
              <a:t>5. Code optimisation refines the object code, for example removing a redundant load if price is already in the accumulator, keeping the output identical.</a:t>
            </a:r>
          </a:p>
          <a:p>
            <a:pPr lvl="1"/>
            <a:r>
              <a:rPr sz="1900" b="0">
                <a:solidFill>
                  <a:srgbClr val="222222"/>
                </a:solidFill>
                <a:latin typeface="Calibri"/>
              </a:rPr>
              <a:t>6. The object code is now ready for the linker and, later, the loader.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Choosing a translator: shipping a game versus writing it</a:t>
            </a:r>
          </a:p>
          <a:p>
            <a:pPr lvl="1"/>
            <a:r>
              <a:rPr sz="1900" b="0">
                <a:solidFill>
                  <a:srgbClr val="222222"/>
                </a:solidFill>
                <a:latin typeface="Calibri"/>
              </a:rPr>
              <a:t>1. Scenario: a studio is developing a game, then selling it to customers who must not see the source and should install nothing extra.</a:t>
            </a:r>
          </a:p>
          <a:p>
            <a:pPr lvl="1"/>
            <a:r>
              <a:rPr sz="1900" b="0">
                <a:solidFill>
                  <a:srgbClr val="222222"/>
                </a:solidFill>
                <a:latin typeface="Calibri"/>
              </a:rPr>
              <a:t>2. During development, an interpreter helps: each change runs immediately with no full translation, and execution stops at the first error, pinpointing the faulty line.</a:t>
            </a:r>
          </a:p>
          <a:p>
            <a:pPr lvl="1"/>
            <a:r>
              <a:rPr sz="1900" b="0">
                <a:solidFill>
                  <a:srgbClr val="222222"/>
                </a:solidFill>
                <a:latin typeface="Calibri"/>
              </a:rPr>
              <a:t>3. For release, the studio compiles: translation happens once, entirely before distribution.</a:t>
            </a:r>
          </a:p>
          <a:p>
            <a:pPr lvl="1"/>
            <a:r>
              <a:rPr sz="1900" b="0">
                <a:solidFill>
                  <a:srgbClr val="222222"/>
                </a:solidFill>
                <a:latin typeface="Calibri"/>
              </a:rPr>
              <a:t>4. The customers receive only the executable machine code: no source is revealed and no translator is needed on their machines.</a:t>
            </a:r>
          </a:p>
          <a:p>
            <a:pPr lvl="1"/>
            <a:r>
              <a:rPr sz="1900" b="0">
                <a:solidFill>
                  <a:srgbClr val="222222"/>
                </a:solidFill>
                <a:latin typeface="Calibri"/>
              </a:rPr>
              <a:t>5. The compiled game also runs faster, since no translation happens at run time.</a:t>
            </a:r>
          </a:p>
          <a:p>
            <a:pPr lvl="1"/>
            <a:r>
              <a:rPr sz="1900" b="0">
                <a:solidFill>
                  <a:srgbClr val="222222"/>
                </a:solidFill>
                <a:latin typeface="Calibri"/>
              </a:rPr>
              <a:t>6. Trade-off to state: the executable is platform-specific, so the studio must compile separate versions for Windows and Mac.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Static versus dynamic linking of a maths library</a:t>
            </a:r>
          </a:p>
          <a:p>
            <a:pPr lvl="1"/>
            <a:r>
              <a:rPr sz="1900" b="0">
                <a:solidFill>
                  <a:srgbClr val="222222"/>
                </a:solidFill>
                <a:latin typeface="Calibri"/>
              </a:rPr>
              <a:t>1. A compiled program calls sqrt, which lives in a pre-compiled maths library, so the object code contains an unresolved reference to sqrt.</a:t>
            </a:r>
          </a:p>
          <a:p>
            <a:pPr lvl="1"/>
            <a:r>
              <a:rPr sz="1900" b="0">
                <a:solidFill>
                  <a:srgbClr val="222222"/>
                </a:solidFill>
                <a:latin typeface="Calibri"/>
              </a:rPr>
              <a:t>2. The linker's job is to resolve that reference by connecting the program to the library code.</a:t>
            </a:r>
          </a:p>
          <a:p>
            <a:pPr lvl="1"/>
            <a:r>
              <a:rPr sz="1900" b="0">
                <a:solidFill>
                  <a:srgbClr val="222222"/>
                </a:solidFill>
                <a:latin typeface="Calibri"/>
              </a:rPr>
              <a:t>3. Static linking: the linker copies the sqrt routine's code into the executable itself. The file is larger but completely self-contained.</a:t>
            </a:r>
          </a:p>
          <a:p>
            <a:pPr lvl="1"/>
            <a:r>
              <a:rPr sz="1900" b="0">
                <a:solidFill>
                  <a:srgbClr val="222222"/>
                </a:solidFill>
                <a:latin typeface="Calibri"/>
              </a:rPr>
              <a:t>4. Dynamic linking: the linker instead records the address or name of the library file (a .dll); the routine stays separate and is connected at run time.</a:t>
            </a:r>
          </a:p>
          <a:p>
            <a:pPr lvl="1"/>
            <a:r>
              <a:rPr sz="1900" b="0">
                <a:solidFill>
                  <a:srgbClr val="222222"/>
                </a:solidFill>
                <a:latin typeface="Calibri"/>
              </a:rPr>
              <a:t>5. Dynamic advantages: the executable is smaller, many programs share one library copy, and a library update fixes all of them without recompiling.</a:t>
            </a:r>
          </a:p>
          <a:p>
            <a:pPr lvl="1"/>
            <a:r>
              <a:rPr sz="1900" b="0">
                <a:solidFill>
                  <a:srgbClr val="222222"/>
                </a:solidFill>
                <a:latin typeface="Calibri"/>
              </a:rPr>
              <a:t>6. Dynamic risk: if the .dll is missing or a buggy update is installed, every dependent program breaks; a statically linked program is immune. Finally the loader copies the executable into RAM to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Compilation assembly line  (12 min)</a:t>
            </a:r>
          </a:p>
          <a:p>
            <a:pPr lvl="1"/>
            <a:r>
              <a:rPr sz="2000" b="0">
                <a:solidFill>
                  <a:srgbClr val="222222"/>
                </a:solidFill>
                <a:latin typeface="Calibri"/>
              </a:rPr>
              <a:t>Deal ten cards to ten volunteers: source code arrives; comments and whitespace removed; code converted into tokens; symbol table created; tokens checked against grammar rules; parse tree built; syntax errors reported; object code produced; code refined to run faster or use less memory; same output, better performance.</a:t>
            </a:r>
          </a:p>
          <a:p>
            <a:pPr lvl="1"/>
            <a:r>
              <a:rPr sz="2000" b="0">
                <a:solidFill>
                  <a:srgbClr val="222222"/>
                </a:solidFill>
                <a:latin typeface="Calibri"/>
              </a:rPr>
              <a:t>Volunteers arrange themselves in one line at the front; the seated class are inspectors who may shout STOP THE LINE and state a fault, factory-style.</a:t>
            </a:r>
          </a:p>
          <a:p>
            <a:pPr lvl="1"/>
            <a:r>
              <a:rPr sz="2000" b="0">
                <a:solidFill>
                  <a:srgbClr val="222222"/>
                </a:solidFill>
                <a:latin typeface="Calibri"/>
              </a:rPr>
              <a:t>Once the line settles, walk it: each student reads their card and names the stage they belong to; then insert four students holding stage-name signs: LEXICAL ANALYSIS, SYNTAX ANALYSIS, CODE GENERATION, OPTIMISATION.</a:t>
            </a:r>
          </a:p>
          <a:p>
            <a:pPr lvl="1"/>
            <a:r>
              <a:rPr sz="2000" b="0">
                <a:solidFill>
                  <a:srgbClr val="222222"/>
                </a:solidFill>
                <a:latin typeface="Calibri"/>
              </a:rPr>
              <a:t>Sabotage round: secretly swap two students during a close-your-eyes moment; inspectors must find and fix the swap.</a:t>
            </a:r>
          </a:p>
          <a:p>
            <a:pPr lvl="1"/>
            <a:r>
              <a:rPr sz="2000" b="0">
                <a:solidFill>
                  <a:srgbClr val="222222"/>
                </a:solidFill>
                <a:latin typeface="Calibri"/>
              </a:rPr>
              <a:t>Exit question to the line: which stage reports a missing bracket, and why can lexical analysis not catch it? (Syntax analysis; lexical analysis only tokenises and has no grammar to check against.)</a:t>
            </a:r>
          </a:p>
          <a:p>
            <a:pPr/>
            <a:r>
              <a:rPr sz="1800" b="0">
                <a:solidFill>
                  <a:srgbClr val="B76E00"/>
                </a:solidFill>
                <a:latin typeface="Calibri"/>
              </a:rPr>
              <a:t>Stretch: Add two rogue cards, 'program is executed' and 'variables are given values', which belong nowhere in compilation and must be ejected with reasons.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Spot and fix: compiler versus interpreter horror story  (10 min)</a:t>
            </a:r>
          </a:p>
          <a:p>
            <a:pPr lvl="1"/>
            <a:r>
              <a:rPr sz="2000" b="0">
                <a:solidFill>
                  <a:srgbClr val="222222"/>
                </a:solidFill>
                <a:latin typeface="Calibri"/>
              </a:rPr>
              <a:t>Project this paragraph: 'A compiler translates a high-level program one line at a time while it runs, producing a standalone executable. An interpreter translates the whole program in one go before it runs, so interpreted programs run faster afterwards. A compiled .exe needs the source code present to run, which is why companies distribute their source with the executable. Interpreters report every error in one list at the end, whereas compilers stop at the first error. An assembler translates high-level code into assembly language.'</a:t>
            </a:r>
          </a:p>
          <a:p>
            <a:pPr lvl="1"/>
            <a:r>
              <a:rPr sz="2000" b="0">
                <a:solidFill>
                  <a:srgbClr val="222222"/>
                </a:solidFill>
                <a:latin typeface="Calibri"/>
              </a:rPr>
              <a:t>Pairs find the errors (tell them there are 7) and number them on whiteboards.</a:t>
            </a:r>
          </a:p>
          <a:p>
            <a:pPr lvl="1"/>
            <a:r>
              <a:rPr sz="2000" b="0">
                <a:solidFill>
                  <a:srgbClr val="222222"/>
                </a:solidFill>
                <a:latin typeface="Calibri"/>
              </a:rPr>
              <a:t>Answers: compilers translate all at once before running; the compiler is what produces the executable; interpreters translate line by line at run time; compiled programs run faster; a compiled .exe does not need the source (which is why source stays secret); the error behaviours are swapped (compilers list all at the end, interpreters stop at the first); an assembler translates assembly language into machine code.</a:t>
            </a:r>
          </a:p>
          <a:p>
            <a:pPr lvl="1"/>
            <a:r>
              <a:rPr sz="2000" b="0">
                <a:solidFill>
                  <a:srgbClr val="222222"/>
                </a:solidFill>
                <a:latin typeface="Calibri"/>
              </a:rPr>
              <a:t>Pairs rewrite the paragraph correctly in exactly four sentences; the class votes for the tightest correct version.</a:t>
            </a:r>
          </a:p>
          <a:p>
            <a:pPr/>
            <a:r>
              <a:rPr sz="1800" b="0">
                <a:solidFill>
                  <a:srgbClr val="B76E00"/>
                </a:solidFill>
                <a:latin typeface="Calibri"/>
              </a:rPr>
              <a:t>Stretch: Add the portability comparison the paragraph never mentions, in one accurate sentence.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Build me an executable  (10 min)</a:t>
            </a:r>
          </a:p>
          <a:p>
            <a:pPr lvl="1"/>
            <a:r>
              <a:rPr sz="2000" b="0">
                <a:solidFill>
                  <a:srgbClr val="222222"/>
                </a:solidFill>
                <a:latin typeface="Calibri"/>
              </a:rPr>
              <a:t>Cast six volunteers: one holds 'your compiled code' with gaps written as ??? sqrt and ??? print; two hold 'library routine (pre-compiled, tested)' cards; one is LINKER, one is LOADER; a chair is labelled RAM and a corner labelled storage.</a:t>
            </a:r>
          </a:p>
          <a:p>
            <a:pPr lvl="1"/>
            <a:r>
              <a:rPr sz="2000" b="0">
                <a:solidFill>
                  <a:srgbClr val="222222"/>
                </a:solidFill>
                <a:latin typeface="Calibri"/>
              </a:rPr>
              <a:t>The three code-holders stand scattered in storage. LINKER gathers them, writes the routine-holders' names over the ??? gaps and links their arms into one executable. Ask: static or dynamic? (Static: code copied in, bigger but self-contained.)</a:t>
            </a:r>
          </a:p>
          <a:p>
            <a:pPr lvl="1"/>
            <a:r>
              <a:rPr sz="2000" b="0">
                <a:solidFill>
                  <a:srgbClr val="222222"/>
                </a:solidFill>
                <a:latin typeface="Calibri"/>
              </a:rPr>
              <a:t>Re-run as dynamic linking: LINKER writes only addresses on sticky notes; the libraries stay in storage until run time and a second program volunteer points at the same shared libraries.</a:t>
            </a:r>
          </a:p>
          <a:p>
            <a:pPr lvl="1"/>
            <a:r>
              <a:rPr sz="2000" b="0">
                <a:solidFill>
                  <a:srgbClr val="222222"/>
                </a:solidFill>
                <a:latin typeface="Calibri"/>
              </a:rPr>
              <a:t>LOADER escorts the executable from storage to the RAM chair to run.</a:t>
            </a:r>
          </a:p>
          <a:p>
            <a:pPr lvl="1"/>
            <a:r>
              <a:rPr sz="2000" b="0">
                <a:solidFill>
                  <a:srgbClr val="222222"/>
                </a:solidFill>
                <a:latin typeface="Calibri"/>
              </a:rPr>
              <a:t>The class closes by stating, in one sentence each, what library, linker and loader mean.</a:t>
            </a:r>
          </a:p>
          <a:p>
            <a:pPr/>
            <a:r>
              <a:rPr sz="1800" b="0">
                <a:solidFill>
                  <a:srgbClr val="B76E00"/>
                </a:solidFill>
                <a:latin typeface="Calibri"/>
              </a:rPr>
              <a:t>Stretch: The dynamic library gets a buggy update: what happens to every program that links it, and why can that not happen with static linking?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the four stages of compilation in the correct order. [4]</a:t>
            </a:r>
          </a:p>
          <a:p>
            <a:r>
              <a:rPr sz="2000" b="1">
                <a:solidFill>
                  <a:srgbClr val="222222"/>
                </a:solidFill>
                <a:latin typeface="Calibri"/>
              </a:rPr>
              <a:t>2. Describe what happens during lexical analysis. [3]</a:t>
            </a:r>
          </a:p>
          <a:p>
            <a:r>
              <a:rPr sz="2000" b="1">
                <a:solidFill>
                  <a:srgbClr val="222222"/>
                </a:solidFill>
                <a:latin typeface="Calibri"/>
              </a:rPr>
              <a:t>3. A program contains a missing closing bracket. Explain why this error is reported during syntax analysis and not during lexical analysis. [2]</a:t>
            </a:r>
          </a:p>
          <a:p>
            <a:r>
              <a:rPr sz="2000" b="1">
                <a:solidFill>
                  <a:srgbClr val="222222"/>
                </a:solidFill>
                <a:latin typeface="Calibri"/>
              </a:rPr>
              <a:t>4. A developer writes a program in a high-level language, then sells it to thousands of customers. Explain why an interpreter is useful during development but a compiler is used for distribution.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the four stages of compilation in the correct order. [4]</a:t>
            </a:r>
          </a:p>
          <a:p>
            <a:pPr lvl="1"/>
            <a:r>
              <a:rPr sz="1800" i="1">
                <a:solidFill>
                  <a:srgbClr val="B76E00"/>
                </a:solidFill>
                <a:latin typeface="Calibri"/>
              </a:rPr>
              <a:t>Answer: Lexical analysis (1), syntax analysis (1), code generation (1), code optimisation (1).</a:t>
            </a:r>
          </a:p>
          <a:p>
            <a:r>
              <a:rPr sz="2000" b="1">
                <a:solidFill>
                  <a:srgbClr val="222222"/>
                </a:solidFill>
                <a:latin typeface="Calibri"/>
              </a:rPr>
              <a:t>2. Describe what happens during lexical analysis. [3]</a:t>
            </a:r>
          </a:p>
          <a:p>
            <a:pPr lvl="1"/>
            <a:r>
              <a:rPr sz="1800" i="1">
                <a:solidFill>
                  <a:srgbClr val="B76E00"/>
                </a:solidFill>
                <a:latin typeface="Calibri"/>
              </a:rPr>
              <a:t>Answer: Whitespace and comments are removed (1); the source code is converted into tokens such as keywords, identifiers and operators (1); a symbol table is created holding details of the identifiers (1).</a:t>
            </a:r>
          </a:p>
          <a:p>
            <a:r>
              <a:rPr sz="2000" b="1">
                <a:solidFill>
                  <a:srgbClr val="222222"/>
                </a:solidFill>
                <a:latin typeface="Calibri"/>
              </a:rPr>
              <a:t>3. A program contains a missing closing bracket. Explain why this error is reported during syntax analysis and not during lexical analysis. [2]</a:t>
            </a:r>
          </a:p>
          <a:p>
            <a:pPr lvl="1"/>
            <a:r>
              <a:rPr sz="1800" i="1">
                <a:solidFill>
                  <a:srgbClr val="B76E00"/>
                </a:solidFill>
                <a:latin typeface="Calibri"/>
              </a:rPr>
              <a:t>Answer: Lexical analysis only converts characters into tokens and has no grammar rules to check (1); syntax analysis compares the token sequence against the language's grammar, so the invalid structure is detected there (1).</a:t>
            </a:r>
          </a:p>
          <a:p>
            <a:r>
              <a:rPr sz="2000" b="1">
                <a:solidFill>
                  <a:srgbClr val="222222"/>
                </a:solidFill>
                <a:latin typeface="Calibri"/>
              </a:rPr>
              <a:t>4. A developer writes a program in a high-level language, then sells it to thousands of customers. Explain why an interpreter is useful during development but a compiler is used for distribution. [4]</a:t>
            </a:r>
          </a:p>
          <a:p>
            <a:pPr lvl="1"/>
            <a:r>
              <a:rPr sz="1800" i="1">
                <a:solidFill>
                  <a:srgbClr val="B76E00"/>
                </a:solidFill>
                <a:latin typeface="Calibri"/>
              </a:rPr>
              <a:t>Answer: An interpreter runs changed code immediately without full translation (1) and stops at the first error, helping locate bugs (1). A compiler produces a standalone executable, so customers need no translator and never see the source (1), and the compiled program runs faster with no run-time translation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difference between static and dynamic linking. [3]</a:t>
            </a:r>
          </a:p>
          <a:p>
            <a:r>
              <a:rPr sz="2000" b="1">
                <a:solidFill>
                  <a:srgbClr val="222222"/>
                </a:solidFill>
                <a:latin typeface="Calibri"/>
              </a:rPr>
              <a:t>2. State the purpose of a loader. [1]</a:t>
            </a:r>
          </a:p>
          <a:p>
            <a:r>
              <a:rPr sz="2000" b="1">
                <a:solidFill>
                  <a:srgbClr val="222222"/>
                </a:solidFill>
                <a:latin typeface="Calibri"/>
              </a:rPr>
              <a:t>3. A company is deciding whether to release its new program as open source. Give one benefit and one drawback to the company of doing so. [2]</a:t>
            </a:r>
          </a:p>
          <a:p>
            <a:r>
              <a:rPr sz="2000" b="1">
                <a:solidFill>
                  <a:srgbClr val="222222"/>
                </a:solidFill>
                <a:latin typeface="Calibri"/>
              </a:rPr>
              <a:t>4. Describe the role of an assembler.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difference between static and dynamic linking. [3]</a:t>
            </a:r>
          </a:p>
          <a:p>
            <a:pPr lvl="1"/>
            <a:r>
              <a:rPr sz="1800" i="1">
                <a:solidFill>
                  <a:srgbClr val="B76E00"/>
                </a:solidFill>
                <a:latin typeface="Calibri"/>
              </a:rPr>
              <a:t>Answer: Static linking copies the library code into the executable (1), making it larger but self-contained (1); dynamic linking keeps the library separate (e.g. a .dll) and connects it at run time, so it is smaller, shared, and can be updated without recompiling (1).</a:t>
            </a:r>
          </a:p>
          <a:p>
            <a:r>
              <a:rPr sz="2000" b="1">
                <a:solidFill>
                  <a:srgbClr val="222222"/>
                </a:solidFill>
                <a:latin typeface="Calibri"/>
              </a:rPr>
              <a:t>2. State the purpose of a loader. [1]</a:t>
            </a:r>
          </a:p>
          <a:p>
            <a:pPr lvl="1"/>
            <a:r>
              <a:rPr sz="1800" i="1">
                <a:solidFill>
                  <a:srgbClr val="B76E00"/>
                </a:solidFill>
                <a:latin typeface="Calibri"/>
              </a:rPr>
              <a:t>Answer: It copies the executable program from storage into RAM and prepares it to run (1).</a:t>
            </a:r>
          </a:p>
          <a:p>
            <a:r>
              <a:rPr sz="2000" b="1">
                <a:solidFill>
                  <a:srgbClr val="222222"/>
                </a:solidFill>
                <a:latin typeface="Calibri"/>
              </a:rPr>
              <a:t>3. A company is deciding whether to release its new program as open source. Give one benefit and one drawback to the company of doing so. [2]</a:t>
            </a:r>
          </a:p>
          <a:p>
            <a:pPr lvl="1"/>
            <a:r>
              <a:rPr sz="1800" i="1">
                <a:solidFill>
                  <a:srgbClr val="B76E00"/>
                </a:solidFill>
                <a:latin typeface="Calibri"/>
              </a:rPr>
              <a:t>Answer: Benefit: the community can inspect, improve and support the code, aiding security and development (1). Drawback: competitors can see and reuse the code, and licence sales revenue is lost (1).</a:t>
            </a:r>
          </a:p>
          <a:p>
            <a:r>
              <a:rPr sz="2000" b="1">
                <a:solidFill>
                  <a:srgbClr val="222222"/>
                </a:solidFill>
                <a:latin typeface="Calibri"/>
              </a:rPr>
              <a:t>4. Describe the role of an assembler. [2]</a:t>
            </a:r>
          </a:p>
          <a:p>
            <a:pPr lvl="1"/>
            <a:r>
              <a:rPr sz="1800" i="1">
                <a:solidFill>
                  <a:srgbClr val="B76E00"/>
                </a:solidFill>
                <a:latin typeface="Calibri"/>
              </a:rPr>
              <a:t>Answer: It translates assembly language mnemonics into machine code (1), with roughly one mnemonic converting to one machine code instruction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say compiled programs run faster because the compiler is faster; the speed gain is at run time, because translation already happened and no translator is present.</a:t>
            </a:r>
          </a:p>
          <a:p>
            <a:pPr/>
            <a:r>
              <a:rPr sz="2000" b="0">
                <a:solidFill>
                  <a:srgbClr val="222222"/>
                </a:solidFill>
                <a:latin typeface="Calibri"/>
              </a:rPr>
              <a:t>✗ Students often add a semantic analysis stage; OCR names exactly four stages: lexical analysis, syntax analysis, code generation and code optimisation.</a:t>
            </a:r>
          </a:p>
          <a:p>
            <a:pPr/>
            <a:r>
              <a:rPr sz="2000" b="0">
                <a:solidFill>
                  <a:srgbClr val="222222"/>
                </a:solidFill>
                <a:latin typeface="Calibri"/>
              </a:rPr>
              <a:t>✗ Students often think open source means free of charge; the definition is that the source code is available and modifiable, and it is only usually free.</a:t>
            </a:r>
          </a:p>
          <a:p>
            <a:pPr/>
            <a:r>
              <a:rPr sz="2000" b="0">
                <a:solidFill>
                  <a:srgbClr val="222222"/>
                </a:solidFill>
                <a:latin typeface="Calibri"/>
              </a:rPr>
              <a:t>✗ Students often classify antivirus as application software; it maintains the computer, so it is a utility.</a:t>
            </a:r>
          </a:p>
          <a:p>
            <a:pPr/>
            <a:r>
              <a:rPr sz="2000" b="0">
                <a:solidFill>
                  <a:srgbClr val="222222"/>
                </a:solidFill>
                <a:latin typeface="Calibri"/>
              </a:rPr>
              <a:t>✗ Students often swap linker and loader; the linker combines compiled code with libraries into an executable, the loader copies that executable into RAM to run.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 for definitions and the stage order (1-4 marks); describe for the stages, linkers and loaders (2-3 marks); explain and compare for compiler versus interpreter choices (2-4 marks); discuss for open versus closed source (up to 9 marks).</a:t>
            </a:r>
          </a:p>
          <a:p>
            <a:pPr/>
            <a:r>
              <a:rPr sz="2000" b="0">
                <a:solidFill>
                  <a:srgbClr val="222222"/>
                </a:solidFill>
                <a:latin typeface="Calibri"/>
              </a:rPr>
              <a:t>Compiler versus interpreter answers must say when translation happens and whether an executable is produced; vague 'faster or slower' claims score nothing without that anchor.</a:t>
            </a:r>
          </a:p>
          <a:p>
            <a:pPr/>
            <a:r>
              <a:rPr sz="2000" b="0">
                <a:solidFill>
                  <a:srgbClr val="222222"/>
                </a:solidFill>
                <a:latin typeface="Calibri"/>
              </a:rPr>
              <a:t>Open versus closed source appears as a scenario discussion question: marks need both sides applied to the stakeholder before a justified conclusion.</a:t>
            </a:r>
          </a:p>
          <a:p>
            <a:pPr/>
            <a:r>
              <a:rPr sz="2000" b="0">
                <a:solidFill>
                  <a:srgbClr val="222222"/>
                </a:solidFill>
                <a:latin typeface="Calibri"/>
              </a:rPr>
              <a:t>Example stem: 'A programmer has written a program in a high-level language. Describe how the program is converted into machine code by a compiler.'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Complete a comparison table of compiler versus interpreter with rows: when translation happens, whether an executable is produced, run-time speed, whether the source is needed to run, error reporting, and one ideal use case. Then annotate each row with the exam phrase you would quote for the mark.</a:t>
            </a:r>
          </a:p>
          <a:p>
            <a:r>
              <a:rPr sz="2400" b="1">
                <a:solidFill>
                  <a:srgbClr val="B76E00"/>
                </a:solidFill>
                <a:latin typeface="Calibri"/>
              </a:rPr>
              <a:t>Challenge / stretch</a:t>
            </a:r>
          </a:p>
          <a:p>
            <a:pPr lvl="1"/>
            <a:r>
              <a:rPr sz="2200" b="0">
                <a:solidFill>
                  <a:srgbClr val="222222"/>
                </a:solidFill>
                <a:latin typeface="Calibri"/>
              </a:rPr>
              <a:t>A developer must ship a finished game to customers who must not see or change the source code and should need no extra software to run it. Justify choosing a compiler over an interpreter, explain how a library and the linker contribute to building the final executable, decide between static and dynamic linking for this product with a justified reason, and state what the loader does when a customer starts the game.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List the four stages of compilation in the correct order.</a:t>
            </a:r>
          </a:p>
          <a:p>
            <a:r>
              <a:rPr sz="2200" b="1">
                <a:solidFill>
                  <a:srgbClr val="222222"/>
                </a:solidFill>
                <a:latin typeface="Calibri"/>
              </a:rPr>
              <a:t>2. State one difference between static and dynamic linking.</a:t>
            </a:r>
          </a:p>
          <a:p>
            <a:r>
              <a:rPr sz="2200" b="1">
                <a:solidFill>
                  <a:srgbClr val="222222"/>
                </a:solidFill>
                <a:latin typeface="Calibri"/>
              </a:rPr>
              <a:t>3. Why does distributing software as a compiled executable protect the source code?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List the four stages of compilation in the correct order.</a:t>
            </a:r>
          </a:p>
          <a:p>
            <a:pPr lvl="1"/>
            <a:r>
              <a:rPr sz="1800" i="1">
                <a:solidFill>
                  <a:srgbClr val="B76E00"/>
                </a:solidFill>
                <a:latin typeface="Calibri"/>
              </a:rPr>
              <a:t>Answer: Lexical analysis, syntax analysis, code generation, code optimisation.</a:t>
            </a:r>
          </a:p>
          <a:p>
            <a:r>
              <a:rPr sz="2200" b="1">
                <a:solidFill>
                  <a:srgbClr val="222222"/>
                </a:solidFill>
                <a:latin typeface="Calibri"/>
              </a:rPr>
              <a:t>2. State one difference between static and dynamic linking.</a:t>
            </a:r>
          </a:p>
          <a:p>
            <a:pPr lvl="1"/>
            <a:r>
              <a:rPr sz="1800" i="1">
                <a:solidFill>
                  <a:srgbClr val="B76E00"/>
                </a:solidFill>
                <a:latin typeface="Calibri"/>
              </a:rPr>
              <a:t>Answer: Static linking copies library code into the executable (larger, self-contained); dynamic linking keeps it in a separate file linked at run time (smaller, shared, updatable).</a:t>
            </a:r>
          </a:p>
          <a:p>
            <a:r>
              <a:rPr sz="2200" b="1">
                <a:solidFill>
                  <a:srgbClr val="222222"/>
                </a:solidFill>
                <a:latin typeface="Calibri"/>
              </a:rPr>
              <a:t>3. Why does distributing software as a compiled executable protect the source code?</a:t>
            </a:r>
          </a:p>
          <a:p>
            <a:pPr lvl="1"/>
            <a:r>
              <a:rPr sz="1800" i="1">
                <a:solidFill>
                  <a:srgbClr val="B76E00"/>
                </a:solidFill>
                <a:latin typeface="Calibri"/>
              </a:rPr>
              <a:t>Answer: Only machine code is shipped, so customers cannot read or modify the source and need no compiler or interpreter to run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