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1.1.1 Structure and Function of the Processor</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02 (07 Sep)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the roles of the ALU, Control Unit and the registers PC, MAR, MDR, CIR and ACC</a:t>
            </a:r>
          </a:p>
          <a:p>
            <a:pPr lvl="1"/>
            <a:r>
              <a:rPr sz="2200" b="0">
                <a:solidFill>
                  <a:srgbClr val="222222"/>
                </a:solidFill>
                <a:latin typeface="Calibri"/>
              </a:rPr>
              <a:t>I can trace the fetch-decode-execute cycle, naming every register transfer and bus involved</a:t>
            </a:r>
          </a:p>
          <a:p>
            <a:pPr lvl="1"/>
            <a:r>
              <a:rPr sz="2200" b="0">
                <a:solidFill>
                  <a:srgbClr val="222222"/>
                </a:solidFill>
                <a:latin typeface="Calibri"/>
              </a:rPr>
              <a:t>I can explain how clock speed, cores, cache and pipelining affect CPU performance, with caveats</a:t>
            </a:r>
          </a:p>
          <a:p>
            <a:pPr lvl="1"/>
            <a:r>
              <a:rPr sz="2200" b="0">
                <a:solidFill>
                  <a:srgbClr val="222222"/>
                </a:solidFill>
                <a:latin typeface="Calibri"/>
              </a:rPr>
              <a:t>I can compare Von Neumann, Harvard and contemporary (modified Harvard) architectures with distinct differences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Convert the denary number 13 into 8-bit binary.</a:t>
            </a:r>
          </a:p>
          <a:p>
            <a:r>
              <a:rPr sz="2200" b="1">
                <a:solidFill>
                  <a:srgbClr val="222222"/>
                </a:solidFill>
                <a:latin typeface="Calibri"/>
              </a:rPr>
              <a:t>2. Convert the binary number 10110 into denary.</a:t>
            </a:r>
          </a:p>
          <a:p>
            <a:r>
              <a:rPr sz="2200" b="1">
                <a:solidFill>
                  <a:srgbClr val="222222"/>
                </a:solidFill>
                <a:latin typeface="Calibri"/>
              </a:rPr>
              <a:t>3. From GCSE: what is the overall job of the CPU in a computer system?</a:t>
            </a:r>
          </a:p>
          <a:p>
            <a:r>
              <a:rPr sz="2200" b="1">
                <a:solidFill>
                  <a:srgbClr val="222222"/>
                </a:solidFill>
                <a:latin typeface="Calibri"/>
              </a:rPr>
              <a:t>4. From GCSE: state one difference between RAM and ROM.</a:t>
            </a:r>
          </a:p>
          <a:p>
            <a:r>
              <a:rPr sz="2200" b="1">
                <a:solidFill>
                  <a:srgbClr val="222222"/>
                </a:solidFill>
                <a:latin typeface="Calibri"/>
              </a:rPr>
              <a:t>5. From GCSE: what is an algorithm?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Convert the denary number 13 into 8-bit binary.</a:t>
            </a:r>
          </a:p>
          <a:p>
            <a:pPr lvl="1"/>
            <a:r>
              <a:rPr sz="1800" i="1">
                <a:solidFill>
                  <a:srgbClr val="B76E00"/>
                </a:solidFill>
                <a:latin typeface="Calibri"/>
              </a:rPr>
              <a:t>Answer: 00001101 (8 + 4 + 1 = 13).</a:t>
            </a:r>
          </a:p>
          <a:p>
            <a:r>
              <a:rPr sz="2200" b="1">
                <a:solidFill>
                  <a:srgbClr val="222222"/>
                </a:solidFill>
                <a:latin typeface="Calibri"/>
              </a:rPr>
              <a:t>2. Convert the binary number 10110 into denary.</a:t>
            </a:r>
          </a:p>
          <a:p>
            <a:pPr lvl="1"/>
            <a:r>
              <a:rPr sz="1800" i="1">
                <a:solidFill>
                  <a:srgbClr val="B76E00"/>
                </a:solidFill>
                <a:latin typeface="Calibri"/>
              </a:rPr>
              <a:t>Answer: 22 (16 + 4 + 2).</a:t>
            </a:r>
          </a:p>
          <a:p>
            <a:r>
              <a:rPr sz="2200" b="1">
                <a:solidFill>
                  <a:srgbClr val="222222"/>
                </a:solidFill>
                <a:latin typeface="Calibri"/>
              </a:rPr>
              <a:t>3. From GCSE: what is the overall job of the CPU in a computer system?</a:t>
            </a:r>
          </a:p>
          <a:p>
            <a:pPr lvl="1"/>
            <a:r>
              <a:rPr sz="1800" i="1">
                <a:solidFill>
                  <a:srgbClr val="B76E00"/>
                </a:solidFill>
                <a:latin typeface="Calibri"/>
              </a:rPr>
              <a:t>Answer: It fetches, decodes and executes instructions, processing data and controlling the rest of the system.</a:t>
            </a:r>
          </a:p>
          <a:p>
            <a:r>
              <a:rPr sz="2200" b="1">
                <a:solidFill>
                  <a:srgbClr val="222222"/>
                </a:solidFill>
                <a:latin typeface="Calibri"/>
              </a:rPr>
              <a:t>4. From GCSE: state one difference between RAM and ROM.</a:t>
            </a:r>
          </a:p>
          <a:p>
            <a:pPr lvl="1"/>
            <a:r>
              <a:rPr sz="1800" i="1">
                <a:solidFill>
                  <a:srgbClr val="B76E00"/>
                </a:solidFill>
                <a:latin typeface="Calibri"/>
              </a:rPr>
              <a:t>Answer: RAM is volatile working memory that can be read and written; ROM is non-volatile and holds fixed startup instructions.</a:t>
            </a:r>
          </a:p>
          <a:p>
            <a:r>
              <a:rPr sz="2200" b="1">
                <a:solidFill>
                  <a:srgbClr val="222222"/>
                </a:solidFill>
                <a:latin typeface="Calibri"/>
              </a:rPr>
              <a:t>5. From GCSE: what is an algorithm?</a:t>
            </a:r>
          </a:p>
          <a:p>
            <a:pPr lvl="1"/>
            <a:r>
              <a:rPr sz="1800" i="1">
                <a:solidFill>
                  <a:srgbClr val="B76E00"/>
                </a:solidFill>
                <a:latin typeface="Calibri"/>
              </a:rPr>
              <a:t>Answer: A precise sequence of steps that solves a problem or completes a task.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ALU</a:t>
            </a:r>
            <a:r>
              <a:rPr sz="1800">
                <a:solidFill>
                  <a:srgbClr val="222222"/>
                </a:solidFill>
                <a:latin typeface="Calibri"/>
              </a:rPr>
              <a:t> — Arithmetic Logic Unit; performs arithmetic, logic and shift operations, sending results to the accumulator.</a:t>
            </a:r>
          </a:p>
          <a:p>
            <a:r>
              <a:rPr b="1" sz="2000">
                <a:solidFill>
                  <a:srgbClr val="1A365D"/>
                </a:solidFill>
                <a:latin typeface="Calibri"/>
              </a:rPr>
              <a:t>Control Unit (CU)</a:t>
            </a:r>
            <a:r>
              <a:rPr sz="1800">
                <a:solidFill>
                  <a:srgbClr val="222222"/>
                </a:solidFill>
                <a:latin typeface="Calibri"/>
              </a:rPr>
              <a:t> — Decodes instructions, generates control signals and synchronises the CPU using the clock.</a:t>
            </a:r>
          </a:p>
          <a:p>
            <a:r>
              <a:rPr b="1" sz="2000">
                <a:solidFill>
                  <a:srgbClr val="1A365D"/>
                </a:solidFill>
                <a:latin typeface="Calibri"/>
              </a:rPr>
              <a:t>Program Counter (PC)</a:t>
            </a:r>
            <a:r>
              <a:rPr sz="1800">
                <a:solidFill>
                  <a:srgbClr val="222222"/>
                </a:solidFill>
                <a:latin typeface="Calibri"/>
              </a:rPr>
              <a:t> — Register holding the address of the next instruction to fetch; incremented every cycle.</a:t>
            </a:r>
          </a:p>
          <a:p>
            <a:r>
              <a:rPr b="1" sz="2000">
                <a:solidFill>
                  <a:srgbClr val="1A365D"/>
                </a:solidFill>
                <a:latin typeface="Calibri"/>
              </a:rPr>
              <a:t>MAR</a:t>
            </a:r>
            <a:r>
              <a:rPr sz="1800">
                <a:solidFill>
                  <a:srgbClr val="222222"/>
                </a:solidFill>
                <a:latin typeface="Calibri"/>
              </a:rPr>
              <a:t> — Memory Address Register; holds the address of the memory location to be read from or written to.</a:t>
            </a:r>
          </a:p>
          <a:p>
            <a:r>
              <a:rPr b="1" sz="2000">
                <a:solidFill>
                  <a:srgbClr val="1A365D"/>
                </a:solidFill>
                <a:latin typeface="Calibri"/>
              </a:rPr>
              <a:t>MDR</a:t>
            </a:r>
            <a:r>
              <a:rPr sz="1800">
                <a:solidFill>
                  <a:srgbClr val="222222"/>
                </a:solidFill>
                <a:latin typeface="Calibri"/>
              </a:rPr>
              <a:t> — Memory Data Register; holds the data or instruction just fetched from, or about to be written to, memory.</a:t>
            </a:r>
          </a:p>
          <a:p>
            <a:r>
              <a:rPr b="1" sz="2000">
                <a:solidFill>
                  <a:srgbClr val="1A365D"/>
                </a:solidFill>
                <a:latin typeface="Calibri"/>
              </a:rPr>
              <a:t>CIR</a:t>
            </a:r>
            <a:r>
              <a:rPr sz="1800">
                <a:solidFill>
                  <a:srgbClr val="222222"/>
                </a:solidFill>
                <a:latin typeface="Calibri"/>
              </a:rPr>
              <a:t> — Current Instruction Register; holds the instruction currently being decoded and executed.</a:t>
            </a:r>
          </a:p>
          <a:p>
            <a:r>
              <a:rPr b="1" sz="2000">
                <a:solidFill>
                  <a:srgbClr val="1A365D"/>
                </a:solidFill>
                <a:latin typeface="Calibri"/>
              </a:rPr>
              <a:t>Cache</a:t>
            </a:r>
            <a:r>
              <a:rPr sz="1800">
                <a:solidFill>
                  <a:srgbClr val="222222"/>
                </a:solidFill>
                <a:latin typeface="Calibri"/>
              </a:rPr>
              <a:t> — Small, very fast memory on or near the CPU holding frequently used data and instructions; not part of RAM.</a:t>
            </a:r>
          </a:p>
          <a:p>
            <a:r>
              <a:rPr b="1" sz="2000">
                <a:solidFill>
                  <a:srgbClr val="1A365D"/>
                </a:solidFill>
                <a:latin typeface="Calibri"/>
              </a:rPr>
              <a:t>Pipelining</a:t>
            </a:r>
            <a:r>
              <a:rPr sz="1800">
                <a:solidFill>
                  <a:srgbClr val="222222"/>
                </a:solidFill>
                <a:latin typeface="Calibri"/>
              </a:rPr>
              <a:t> — Overlapping the fetch, decode and execute stages of consecutive instructions to raise throughput.</a:t>
            </a:r>
          </a:p>
          <a:p>
            <a:r>
              <a:rPr b="1" sz="2000">
                <a:solidFill>
                  <a:srgbClr val="1A365D"/>
                </a:solidFill>
                <a:latin typeface="Calibri"/>
              </a:rPr>
              <a:t>Von Neumann architecture</a:t>
            </a:r>
            <a:r>
              <a:rPr sz="1800">
                <a:solidFill>
                  <a:srgbClr val="222222"/>
                </a:solidFill>
                <a:latin typeface="Calibri"/>
              </a:rPr>
              <a:t> — A single shared memory and bus for both data and instructions.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big picture: what the processor does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CPU repeatedly fetches an instruction from memory, decodes it, then executes it</a:t>
            </a:r>
          </a:p>
          <a:p>
            <a:pPr/>
            <a:r>
              <a:rPr sz="2000" b="0">
                <a:solidFill>
                  <a:srgbClr val="222222"/>
                </a:solidFill>
                <a:latin typeface="Calibri"/>
              </a:rPr>
              <a:t>This loop is the fetch-decode-execute (FDE) cycle, running billions of times per second</a:t>
            </a:r>
          </a:p>
          <a:p>
            <a:pPr/>
            <a:r>
              <a:rPr sz="2000" b="0">
                <a:solidFill>
                  <a:srgbClr val="222222"/>
                </a:solidFill>
                <a:latin typeface="Calibri"/>
              </a:rPr>
              <a:t>Both instructions and data live in main memory as binary; the CPU cannot tell them apart by looking</a:t>
            </a:r>
          </a:p>
          <a:p>
            <a:pPr/>
            <a:r>
              <a:rPr sz="2000" b="0">
                <a:solidFill>
                  <a:srgbClr val="222222"/>
                </a:solidFill>
                <a:latin typeface="Calibri"/>
              </a:rPr>
              <a:t>Inside the CPU: the ALU, the Control Unit, and a set of registers</a:t>
            </a:r>
          </a:p>
          <a:p>
            <a:pPr/>
            <a:r>
              <a:rPr sz="1800" b="1">
                <a:solidFill>
                  <a:srgbClr val="B76E00"/>
                </a:solidFill>
                <a:latin typeface="Calibri"/>
              </a:rPr>
              <a:t>Everything this lesson builds on this one loop: fetch, decode, execute, repeat.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ALU and the Control Unit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ALU performs arithmetic (add, subtract, multiply, divide), logic (AND, OR, NOT, comparisons) and shifts</a:t>
            </a:r>
          </a:p>
          <a:p>
            <a:pPr/>
            <a:r>
              <a:rPr sz="2000" b="0">
                <a:solidFill>
                  <a:srgbClr val="222222"/>
                </a:solidFill>
                <a:latin typeface="Calibri"/>
              </a:rPr>
              <a:t>ALU results are placed in the accumulator (ACC)</a:t>
            </a:r>
          </a:p>
          <a:p>
            <a:pPr/>
            <a:r>
              <a:rPr sz="2000" b="0">
                <a:solidFill>
                  <a:srgbClr val="222222"/>
                </a:solidFill>
                <a:latin typeface="Calibri"/>
              </a:rPr>
              <a:t>The Control Unit decodes each instruction and generates control signals directing the other components</a:t>
            </a:r>
          </a:p>
          <a:p>
            <a:pPr/>
            <a:r>
              <a:rPr sz="2000" b="0">
                <a:solidFill>
                  <a:srgbClr val="222222"/>
                </a:solidFill>
                <a:latin typeface="Calibri"/>
              </a:rPr>
              <a:t>The CU manages the flow of data on the buses and synchronises everything with the clock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five special-purpose registers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register is a tiny, extremely fast storage location inside the CPU</a:t>
            </a:r>
          </a:p>
          <a:p>
            <a:pPr/>
            <a:r>
              <a:rPr sz="2000" b="0">
                <a:solidFill>
                  <a:srgbClr val="222222"/>
                </a:solidFill>
                <a:latin typeface="Calibri"/>
              </a:rPr>
              <a:t>PC: address of the NEXT instruction; incremented each cycle</a:t>
            </a:r>
          </a:p>
          <a:p>
            <a:pPr/>
            <a:r>
              <a:rPr sz="2000" b="0">
                <a:solidFill>
                  <a:srgbClr val="222222"/>
                </a:solidFill>
                <a:latin typeface="Calibri"/>
              </a:rPr>
              <a:t>MAR: the address being read from or written to; MDR: the data or instruction itself</a:t>
            </a:r>
          </a:p>
          <a:p>
            <a:pPr/>
            <a:r>
              <a:rPr sz="2000" b="0">
                <a:solidFill>
                  <a:srgbClr val="222222"/>
                </a:solidFill>
                <a:latin typeface="Calibri"/>
              </a:rPr>
              <a:t>CIR: the current instruction while it is decoded and executed</a:t>
            </a:r>
          </a:p>
          <a:p>
            <a:pPr/>
            <a:r>
              <a:rPr sz="2000" b="0">
                <a:solidFill>
                  <a:srgbClr val="222222"/>
                </a:solidFill>
                <a:latin typeface="Calibri"/>
              </a:rPr>
              <a:t>ACC: the immediate result of ALU calculations</a:t>
            </a:r>
          </a:p>
          <a:p>
            <a:pPr/>
            <a:r>
              <a:rPr sz="1800" b="1">
                <a:solidFill>
                  <a:srgbClr val="B76E00"/>
                </a:solidFill>
                <a:latin typeface="Calibri"/>
              </a:rPr>
              <a:t>MAR holds an ADDRESS, MDR holds DATA. Swapping these is the most common lost mark.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The three system buses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Address bus: carries addresses from CPU to memory; UNIDIRECTIONAL</a:t>
            </a:r>
          </a:p>
          <a:p>
            <a:pPr/>
            <a:r>
              <a:rPr sz="2000" b="0">
                <a:solidFill>
                  <a:srgbClr val="222222"/>
                </a:solidFill>
                <a:latin typeface="Calibri"/>
              </a:rPr>
              <a:t>Data bus: carries data and instructions between CPU and memory; bidirectional</a:t>
            </a:r>
          </a:p>
          <a:p>
            <a:pPr/>
            <a:r>
              <a:rPr sz="2000" b="0">
                <a:solidFill>
                  <a:srgbClr val="222222"/>
                </a:solidFill>
                <a:latin typeface="Calibri"/>
              </a:rPr>
              <a:t>Control bus: carries control signals such as read, write and clock; bidirectional</a:t>
            </a:r>
          </a:p>
          <a:p>
            <a:pPr/>
            <a:r>
              <a:rPr sz="2000" b="0">
                <a:solidFill>
                  <a:srgbClr val="222222"/>
                </a:solidFill>
                <a:latin typeface="Calibri"/>
              </a:rPr>
              <a:t>An address bus n bits wide can address 2^n memory locations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FDE cycle: the fetch stage in full</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contents of the PC are copied into the MAR</a:t>
            </a:r>
          </a:p>
          <a:p>
            <a:pPr/>
            <a:r>
              <a:rPr sz="2000" b="0">
                <a:solidFill>
                  <a:srgbClr val="222222"/>
                </a:solidFill>
                <a:latin typeface="Calibri"/>
              </a:rPr>
              <a:t>A read signal is sent on the control bus; the instruction returns along the data bus into the MDR</a:t>
            </a:r>
          </a:p>
          <a:p>
            <a:pPr/>
            <a:r>
              <a:rPr sz="2000" b="0">
                <a:solidFill>
                  <a:srgbClr val="222222"/>
                </a:solidFill>
                <a:latin typeface="Calibri"/>
              </a:rPr>
              <a:t>The PC is incremented so it points at the following instruction</a:t>
            </a:r>
          </a:p>
          <a:p>
            <a:pPr/>
            <a:r>
              <a:rPr sz="2000" b="0">
                <a:solidFill>
                  <a:srgbClr val="222222"/>
                </a:solidFill>
                <a:latin typeface="Calibri"/>
              </a:rPr>
              <a:t>The instruction is copied from the MDR into the CIR</a:t>
            </a:r>
          </a:p>
          <a:p>
            <a:pPr lvl="1"/>
            <a:r>
              <a:rPr sz="1600" b="0">
                <a:solidFill>
                  <a:srgbClr val="1A365D"/>
                </a:solidFill>
                <a:latin typeface="Consolas"/>
              </a:rPr>
              <a:t>MAR = PC</a:t>
            </a:r>
          </a:p>
          <a:p>
            <a:pPr lvl="1"/>
            <a:r>
              <a:rPr sz="1600" b="0">
                <a:solidFill>
                  <a:srgbClr val="1A365D"/>
                </a:solidFill>
                <a:latin typeface="Consolas"/>
              </a:rPr>
              <a:t>MDR = contents of memory at address in MAR</a:t>
            </a:r>
          </a:p>
          <a:p>
            <a:pPr lvl="1"/>
            <a:r>
              <a:rPr sz="1600" b="0">
                <a:solidFill>
                  <a:srgbClr val="1A365D"/>
                </a:solidFill>
                <a:latin typeface="Consolas"/>
              </a:rPr>
              <a:t>PC = PC + 1</a:t>
            </a:r>
          </a:p>
          <a:p>
            <a:pPr lvl="1"/>
            <a:r>
              <a:rPr sz="1600" b="0">
                <a:solidFill>
                  <a:srgbClr val="1A365D"/>
                </a:solidFill>
                <a:latin typeface="Consolas"/>
              </a:rPr>
              <a:t>CIR = MDR</a:t>
            </a:r>
          </a:p>
          <a:p>
            <a:pPr/>
            <a:r>
              <a:rPr sz="1800" b="1">
                <a:solidFill>
                  <a:srgbClr val="B76E00"/>
                </a:solidFill>
                <a:latin typeface="Calibri"/>
              </a:rPr>
              <a:t>Candidates routinely miss the PC increment and the MDR to CIR copy — include both.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FDE cycle: decode and execute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Decode: the CU splits the CIR contents into opcode (the operation) and operand (data or an address)</a:t>
            </a:r>
          </a:p>
          <a:p>
            <a:pPr/>
            <a:r>
              <a:rPr sz="2000" b="0">
                <a:solidFill>
                  <a:srgbClr val="222222"/>
                </a:solidFill>
                <a:latin typeface="Calibri"/>
              </a:rPr>
              <a:t>Execute an ALU operation: values are processed and the result goes to the ACC</a:t>
            </a:r>
          </a:p>
          <a:p>
            <a:pPr/>
            <a:r>
              <a:rPr sz="2000" b="0">
                <a:solidFill>
                  <a:srgbClr val="222222"/>
                </a:solidFill>
                <a:latin typeface="Calibri"/>
              </a:rPr>
              <a:t>Execute a load or store: data moves between memory and registers via MAR and MDR</a:t>
            </a:r>
          </a:p>
          <a:p>
            <a:pPr/>
            <a:r>
              <a:rPr sz="2000" b="0">
                <a:solidFill>
                  <a:srgbClr val="222222"/>
                </a:solidFill>
                <a:latin typeface="Calibri"/>
              </a:rPr>
              <a:t>Execute a jump or branch: a new address is written into the PC, changing what fetches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Performance factor 1: clock speed and cores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The clock sends regular pulses; speed in Hz is pulses per second</a:t>
            </a:r>
          </a:p>
          <a:p>
            <a:pPr/>
            <a:r>
              <a:rPr sz="2000" b="0">
                <a:solidFill>
                  <a:srgbClr val="222222"/>
                </a:solidFill>
                <a:latin typeface="Calibri"/>
              </a:rPr>
              <a:t>Higher clock speed means more FDE cycles per second, but heat and power consumption set a limit</a:t>
            </a:r>
          </a:p>
          <a:p>
            <a:pPr/>
            <a:r>
              <a:rPr sz="2000" b="0">
                <a:solidFill>
                  <a:srgbClr val="222222"/>
                </a:solidFill>
                <a:latin typeface="Calibri"/>
              </a:rPr>
              <a:t>A core is an independent processing unit running its own FDE cycle</a:t>
            </a:r>
          </a:p>
          <a:p>
            <a:pPr/>
            <a:r>
              <a:rPr sz="2000" b="0">
                <a:solidFill>
                  <a:srgbClr val="222222"/>
                </a:solidFill>
                <a:latin typeface="Calibri"/>
              </a:rPr>
              <a:t>More cores only help if the task can be split up AND the software supports multiple cores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Performance factor 2: cache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Cache is small, very fast memory on or near the CPU holding frequently or recently used data</a:t>
            </a:r>
          </a:p>
          <a:p>
            <a:pPr/>
            <a:r>
              <a:rPr sz="2000" b="0">
                <a:solidFill>
                  <a:srgbClr val="222222"/>
                </a:solidFill>
                <a:latin typeface="Calibri"/>
              </a:rPr>
              <a:t>It is separate fast memory, NOT a section of RAM</a:t>
            </a:r>
          </a:p>
          <a:p>
            <a:pPr/>
            <a:r>
              <a:rPr sz="2000" b="0">
                <a:solidFill>
                  <a:srgbClr val="222222"/>
                </a:solidFill>
                <a:latin typeface="Calibri"/>
              </a:rPr>
              <a:t>Checked in order: L1 (smallest, fastest) then L2 then L3 (largest, slowest) then RAM</a:t>
            </a:r>
          </a:p>
          <a:p>
            <a:pPr/>
            <a:r>
              <a:rPr sz="2000" b="0">
                <a:solidFill>
                  <a:srgbClr val="222222"/>
                </a:solidFill>
                <a:latin typeface="Calibri"/>
              </a:rPr>
              <a:t>More cache means fewer slow trips to RAM, so the CPU waits less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Performance factor 3: pipelining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Pipelining overlaps the fetch, decode and execute stages of consecutive instructions</a:t>
            </a:r>
          </a:p>
          <a:p>
            <a:pPr/>
            <a:r>
              <a:rPr sz="2000" b="0">
                <a:solidFill>
                  <a:srgbClr val="222222"/>
                </a:solidFill>
                <a:latin typeface="Calibri"/>
              </a:rPr>
              <a:t>While instruction 1 executes, instruction 2 decodes and instruction 3 is fetched</a:t>
            </a:r>
          </a:p>
          <a:p>
            <a:pPr/>
            <a:r>
              <a:rPr sz="2000" b="0">
                <a:solidFill>
                  <a:srgbClr val="222222"/>
                </a:solidFill>
                <a:latin typeface="Calibri"/>
              </a:rPr>
              <a:t>Throughput rises, but no individual instruction completes any faster</a:t>
            </a:r>
          </a:p>
          <a:p>
            <a:pPr/>
            <a:r>
              <a:rPr sz="2000" b="0">
                <a:solidFill>
                  <a:srgbClr val="222222"/>
                </a:solidFill>
                <a:latin typeface="Calibri"/>
              </a:rPr>
              <a:t>Jumps and branches cause hazards: prefetched instructions become wrong and must be flushed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Von Neumann, Harvard and contemporary CPUs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Von Neumann: ONE shared memory and bus for data and instructions; simpler, cheaper, flexible; general-purpose PCs</a:t>
            </a:r>
          </a:p>
          <a:p>
            <a:pPr/>
            <a:r>
              <a:rPr sz="2000" b="0">
                <a:solidFill>
                  <a:srgbClr val="222222"/>
                </a:solidFill>
                <a:latin typeface="Calibri"/>
              </a:rPr>
              <a:t>Its weakness is the bottleneck: it cannot fetch an instruction and access data simultaneously</a:t>
            </a:r>
          </a:p>
          <a:p>
            <a:pPr/>
            <a:r>
              <a:rPr sz="2000" b="0">
                <a:solidFill>
                  <a:srgbClr val="222222"/>
                </a:solidFill>
                <a:latin typeface="Calibri"/>
              </a:rPr>
              <a:t>Harvard: SEPARATE memories and buses, allowing simultaneous instruction fetch and data access; costlier; embedded systems, microcontrollers, DSPs</a:t>
            </a:r>
          </a:p>
          <a:p>
            <a:pPr/>
            <a:r>
              <a:rPr sz="2000" b="0">
                <a:solidFill>
                  <a:srgbClr val="222222"/>
                </a:solidFill>
                <a:latin typeface="Calibri"/>
              </a:rPr>
              <a:t>Contemporary CPUs are modified (hybrid) Harvard: unified main memory but separate L1 instruction and data caches</a:t>
            </a:r>
          </a:p>
          <a:p>
            <a:pPr/>
            <a:r>
              <a:rPr sz="1800" b="1">
                <a:solidFill>
                  <a:srgbClr val="B76E00"/>
                </a:solidFill>
                <a:latin typeface="Calibri"/>
              </a:rPr>
              <a:t>This hybrid point IS spec bullet 1.1.1(e) — contemporary processor architecture.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Full register-transfer trace of fetching one instruction</a:t>
            </a:r>
          </a:p>
          <a:p>
            <a:pPr lvl="1"/>
            <a:r>
              <a:rPr sz="1900" b="0">
                <a:solidFill>
                  <a:srgbClr val="222222"/>
                </a:solidFill>
                <a:latin typeface="Calibri"/>
              </a:rPr>
              <a:t>1. Suppose PC holds address 0052 and location 0052 contains the instruction ADD 13</a:t>
            </a:r>
          </a:p>
          <a:p>
            <a:pPr lvl="1"/>
            <a:r>
              <a:rPr sz="1900" b="0">
                <a:solidFill>
                  <a:srgbClr val="222222"/>
                </a:solidFill>
                <a:latin typeface="Calibri"/>
              </a:rPr>
              <a:t>2. Step 1: PC copied to MAR, so MAR now holds 0052</a:t>
            </a:r>
          </a:p>
          <a:p>
            <a:pPr lvl="1"/>
            <a:r>
              <a:rPr sz="1900" b="0">
                <a:solidFill>
                  <a:srgbClr val="222222"/>
                </a:solidFill>
                <a:latin typeface="Calibri"/>
              </a:rPr>
              <a:t>3. Step 2: read signal sent on the control bus; ADD 13 travels along the data bus into the MDR</a:t>
            </a:r>
          </a:p>
          <a:p>
            <a:pPr lvl="1"/>
            <a:r>
              <a:rPr sz="1900" b="0">
                <a:solidFill>
                  <a:srgbClr val="222222"/>
                </a:solidFill>
                <a:latin typeface="Calibri"/>
              </a:rPr>
              <a:t>4. Step 3: PC incremented, so PC now holds 0053</a:t>
            </a:r>
          </a:p>
          <a:p>
            <a:pPr lvl="1"/>
            <a:r>
              <a:rPr sz="1900" b="0">
                <a:solidFill>
                  <a:srgbClr val="222222"/>
                </a:solidFill>
                <a:latin typeface="Calibri"/>
              </a:rPr>
              <a:t>5. Step 4: MDR copied to CIR, so CIR now holds ADD 13</a:t>
            </a:r>
          </a:p>
          <a:p>
            <a:pPr lvl="1"/>
            <a:r>
              <a:rPr sz="1900" b="0">
                <a:solidFill>
                  <a:srgbClr val="222222"/>
                </a:solidFill>
                <a:latin typeface="Calibri"/>
              </a:rPr>
              <a:t>6. Decode: the CU splits ADD 13 into opcode ADD and operand 13</a:t>
            </a:r>
          </a:p>
          <a:p>
            <a:pPr lvl="1"/>
            <a:r>
              <a:rPr sz="1900" b="0">
                <a:solidFill>
                  <a:srgbClr val="222222"/>
                </a:solidFill>
                <a:latin typeface="Calibri"/>
              </a:rPr>
              <a:t>7. Execute: the value at address 13 is fetched (via MAR and MDR again), the ALU adds it to the ACC, and the result stays in the ACC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Address bus width calculation</a:t>
            </a:r>
          </a:p>
          <a:p>
            <a:pPr lvl="1"/>
            <a:r>
              <a:rPr sz="1900" b="0">
                <a:solidFill>
                  <a:srgbClr val="222222"/>
                </a:solidFill>
                <a:latin typeface="Calibri"/>
              </a:rPr>
              <a:t>1. Question: a CPU has a 16-bit address bus. How many memory locations can it directly address?</a:t>
            </a:r>
          </a:p>
          <a:p>
            <a:pPr lvl="1"/>
            <a:r>
              <a:rPr sz="1900" b="0">
                <a:solidFill>
                  <a:srgbClr val="222222"/>
                </a:solidFill>
                <a:latin typeface="Calibri"/>
              </a:rPr>
              <a:t>2. Rule: an n-bit address bus addresses 2^n locations</a:t>
            </a:r>
          </a:p>
          <a:p>
            <a:pPr lvl="1"/>
            <a:r>
              <a:rPr sz="1900" b="0">
                <a:solidFill>
                  <a:srgbClr val="222222"/>
                </a:solidFill>
                <a:latin typeface="Calibri"/>
              </a:rPr>
              <a:t>3. Calculation: 2^16 = 65,536 locations</a:t>
            </a:r>
          </a:p>
          <a:p>
            <a:pPr lvl="1"/>
            <a:r>
              <a:rPr sz="1900" b="0">
                <a:solidFill>
                  <a:srgbClr val="222222"/>
                </a:solidFill>
                <a:latin typeface="Calibri"/>
              </a:rPr>
              <a:t>4. Extension: widening the bus to 17 bits DOUBLES this to 131,072, because each extra bit doubles the address space</a:t>
            </a:r>
          </a:p>
          <a:p>
            <a:pPr lvl="1"/>
            <a:r>
              <a:rPr sz="1900" b="0">
                <a:solidFill>
                  <a:srgbClr val="222222"/>
                </a:solidFill>
                <a:latin typeface="Calibri"/>
              </a:rPr>
              <a:t>5. Common error: answering 16 x 2 or 2 x 16 instead of 2 to the power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Pipelining throughput: 6 instructions, 3 stages</a:t>
            </a:r>
          </a:p>
          <a:p>
            <a:pPr lvl="1"/>
            <a:r>
              <a:rPr sz="1900" b="0">
                <a:solidFill>
                  <a:srgbClr val="222222"/>
                </a:solidFill>
                <a:latin typeface="Calibri"/>
              </a:rPr>
              <a:t>1. Without pipelining, each instruction needs 3 cycles (fetch, decode, execute) before the next starts: 6 x 3 = 18 cycles</a:t>
            </a:r>
          </a:p>
          <a:p>
            <a:pPr lvl="1"/>
            <a:r>
              <a:rPr sz="1900" b="0">
                <a:solidFill>
                  <a:srgbClr val="222222"/>
                </a:solidFill>
                <a:latin typeface="Calibri"/>
              </a:rPr>
              <a:t>2. With pipelining, a new instruction enters the pipeline every cycle once it is full</a:t>
            </a:r>
          </a:p>
          <a:p>
            <a:pPr lvl="1"/>
            <a:r>
              <a:rPr sz="1900" b="0">
                <a:solidFill>
                  <a:srgbClr val="222222"/>
                </a:solidFill>
                <a:latin typeface="Calibri"/>
              </a:rPr>
              <a:t>3. Cycle 1: I1 fetches. Cycle 2: I1 decodes, I2 fetches. Cycle 3: I1 executes, I2 decodes, I3 fetches</a:t>
            </a:r>
          </a:p>
          <a:p>
            <a:pPr lvl="1"/>
            <a:r>
              <a:rPr sz="1900" b="0">
                <a:solidFill>
                  <a:srgbClr val="222222"/>
                </a:solidFill>
                <a:latin typeface="Calibri"/>
              </a:rPr>
              <a:t>4. First instruction finishes at cycle 3; one more finishes every cycle after: cycles 3,4,5,6,7,8</a:t>
            </a:r>
          </a:p>
          <a:p>
            <a:pPr lvl="1"/>
            <a:r>
              <a:rPr sz="1900" b="0">
                <a:solidFill>
                  <a:srgbClr val="222222"/>
                </a:solidFill>
                <a:latin typeface="Calibri"/>
              </a:rPr>
              <a:t>5. Total = 8 cycles (formula: instructions + stages - 1 = 6 + 3 - 1)</a:t>
            </a:r>
          </a:p>
          <a:p>
            <a:pPr lvl="1"/>
            <a:r>
              <a:rPr sz="1900" b="0">
                <a:solidFill>
                  <a:srgbClr val="222222"/>
                </a:solidFill>
                <a:latin typeface="Calibri"/>
              </a:rPr>
              <a:t>6. Note: each instruction still takes 3 cycles of its own — latency is unchanged, throughput improves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Living FDE Cycle (unplugged role-play)  (15 min)</a:t>
            </a:r>
          </a:p>
          <a:p>
            <a:pPr lvl="1"/>
            <a:r>
              <a:rPr sz="2000" b="0">
                <a:solidFill>
                  <a:srgbClr val="222222"/>
                </a:solidFill>
                <a:latin typeface="Calibri"/>
              </a:rPr>
              <a:t>Assign roles with labels: PC, MAR, MDR, CIR, CU, ALU, ACC, plus students at numbered desks as Memory holding instruction cards (LDA 12, ADD 13, STA 14, HLT)</a:t>
            </a:r>
          </a:p>
          <a:p>
            <a:pPr lvl="1"/>
            <a:r>
              <a:rPr sz="2000" b="0">
                <a:solidFill>
                  <a:srgbClr val="222222"/>
                </a:solidFill>
                <a:latin typeface="Calibri"/>
              </a:rPr>
              <a:t>Walk the fetch: PC shows their number to MAR; MAR calls the address down the one-way address bus; Memory hands the card to MDR via the data bus; PC increments; MDR passes the card to CIR</a:t>
            </a:r>
          </a:p>
          <a:p>
            <a:pPr lvl="1"/>
            <a:r>
              <a:rPr sz="2000" b="0">
                <a:solidFill>
                  <a:srgbClr val="222222"/>
                </a:solidFill>
                <a:latin typeface="Calibri"/>
              </a:rPr>
              <a:t>CU takes the card from CIR, splits it aloud into opcode and operand, and directs the execute: loads go via MDR to ACC; ADD sends both values to the ALU, who hands the result to ACC</a:t>
            </a:r>
          </a:p>
          <a:p>
            <a:pPr lvl="1"/>
            <a:r>
              <a:rPr sz="2000" b="0">
                <a:solidFill>
                  <a:srgbClr val="222222"/>
                </a:solidFill>
                <a:latin typeface="Calibri"/>
              </a:rPr>
              <a:t>Ban illegal moves: if data travels a route that does not exist (Memory talking straight to CIR, or Memory speaking back up the address bus), freeze and make the class spot it</a:t>
            </a:r>
          </a:p>
          <a:p>
            <a:pPr lvl="1"/>
            <a:r>
              <a:rPr sz="2000" b="0">
                <a:solidFill>
                  <a:srgbClr val="222222"/>
                </a:solidFill>
                <a:latin typeface="Calibri"/>
              </a:rPr>
              <a:t>Round 2: swap roles and include a branch instruction — the class must realise execute writes a new address into the PC</a:t>
            </a:r>
          </a:p>
          <a:p>
            <a:pPr/>
            <a:r>
              <a:rPr sz="1800" b="0">
                <a:solidFill>
                  <a:srgbClr val="B76E00"/>
                </a:solidFill>
                <a:latin typeface="Calibri"/>
              </a:rPr>
              <a:t>Stretch: Ask the branching PC-holder: what happens to the two instructions a pipeline would already have prefetched? (Flushed — branch hazard.)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Human Pipeline Laundry Line  (10 min)</a:t>
            </a:r>
          </a:p>
          <a:p>
            <a:pPr lvl="1"/>
            <a:r>
              <a:rPr sz="2000" b="0">
                <a:solidFill>
                  <a:srgbClr val="222222"/>
                </a:solidFill>
                <a:latin typeface="Calibri"/>
              </a:rPr>
              <a:t>Set up three desks labelled FETCH, DECODE, EXECUTE; teacher claps to mark each clock cycle</a:t>
            </a:r>
          </a:p>
          <a:p>
            <a:pPr lvl="1"/>
            <a:r>
              <a:rPr sz="2000" b="0">
                <a:solidFill>
                  <a:srgbClr val="222222"/>
                </a:solidFill>
                <a:latin typeface="Calibri"/>
              </a:rPr>
              <a:t>Round 1, no pipelining: one instruction card at a time passes through all three desks before the next starts; class counts claps for 6 cards (18)</a:t>
            </a:r>
          </a:p>
          <a:p>
            <a:pPr lvl="1"/>
            <a:r>
              <a:rPr sz="2000" b="0">
                <a:solidFill>
                  <a:srgbClr val="222222"/>
                </a:solidFill>
                <a:latin typeface="Calibri"/>
              </a:rPr>
              <a:t>Round 2, pipelining: three volunteers, one per desk; every clap each desk passes its card forward and FETCH takes a new one; count again (8)</a:t>
            </a:r>
          </a:p>
          <a:p>
            <a:pPr lvl="1"/>
            <a:r>
              <a:rPr sz="2000" b="0">
                <a:solidFill>
                  <a:srgbClr val="222222"/>
                </a:solidFill>
                <a:latin typeface="Calibri"/>
              </a:rPr>
              <a:t>Ask: did any single instruction get faster? No — latency unchanged, throughput improved</a:t>
            </a:r>
          </a:p>
          <a:p>
            <a:pPr lvl="1"/>
            <a:r>
              <a:rPr sz="2000" b="0">
                <a:solidFill>
                  <a:srgbClr val="222222"/>
                </a:solidFill>
                <a:latin typeface="Calibri"/>
              </a:rPr>
              <a:t>Round 3: make card 3 a branch; when it executes, the cards in FETCH and DECODE are thrown away (pipeline flush) and the class recounts</a:t>
            </a:r>
          </a:p>
          <a:p>
            <a:pPr/>
            <a:r>
              <a:rPr sz="1800" b="0">
                <a:solidFill>
                  <a:srgbClr val="B76E00"/>
                </a:solidFill>
                <a:latin typeface="Calibri"/>
              </a:rPr>
              <a:t>Stretch: Instruction 4 needs the result of instruction 3, which has not executed yet — what are the CPU's options? (Stall, or predict/reorder.)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Always-Sometimes-Never: CPU Performance  (10 min)</a:t>
            </a:r>
          </a:p>
          <a:p>
            <a:pPr lvl="1"/>
            <a:r>
              <a:rPr sz="2000" b="0">
                <a:solidFill>
                  <a:srgbClr val="222222"/>
                </a:solidFill>
                <a:latin typeface="Calibri"/>
              </a:rPr>
              <a:t>Display one statement at a time; pairs discuss for 30 seconds then show A, S or N on whiteboards simultaneously</a:t>
            </a:r>
          </a:p>
          <a:p>
            <a:pPr lvl="1"/>
            <a:r>
              <a:rPr sz="2000" b="0">
                <a:solidFill>
                  <a:srgbClr val="222222"/>
                </a:solidFill>
                <a:latin typeface="Calibri"/>
              </a:rPr>
              <a:t>Statements: doubling clock speed doubles program speed; a quad-core beats a dual-core; the address bus carries data to memory; a cache miss means fetching from RAM; increasing address bus width increases addressable memory; pipelining makes each instruction faster</a:t>
            </a:r>
          </a:p>
          <a:p>
            <a:pPr lvl="1"/>
            <a:r>
              <a:rPr sz="2000" b="0">
                <a:solidFill>
                  <a:srgbClr val="222222"/>
                </a:solidFill>
                <a:latin typeface="Calibri"/>
              </a:rPr>
              <a:t>Pick a pair from each camp to justify; every Sometimes must state when it is true and when false</a:t>
            </a:r>
          </a:p>
          <a:p>
            <a:pPr lvl="1"/>
            <a:r>
              <a:rPr sz="2000" b="0">
                <a:solidFill>
                  <a:srgbClr val="222222"/>
                </a:solidFill>
                <a:latin typeface="Calibri"/>
              </a:rPr>
              <a:t>Answers: Sometimes (bottlenecks, heat); Sometimes (only if parallelisable and software supports it); Never (addresses only, one-way); Sometimes (L2 or L3 may hit first); Always (2^n); Never (throughput rises, latency does not)</a:t>
            </a:r>
          </a:p>
          <a:p>
            <a:pPr lvl="1"/>
            <a:r>
              <a:rPr sz="2000" b="0">
                <a:solidFill>
                  <a:srgbClr val="222222"/>
                </a:solidFill>
                <a:latin typeface="Calibri"/>
              </a:rPr>
              <a:t>Close: pairs convert one Sometimes into an Always by adding the missing caveat</a:t>
            </a:r>
          </a:p>
          <a:p>
            <a:pPr/>
            <a:r>
              <a:rPr sz="1800" b="0">
                <a:solidFill>
                  <a:srgbClr val="B76E00"/>
                </a:solidFill>
                <a:latin typeface="Calibri"/>
              </a:rPr>
              <a:t>Stretch: Write one Sometimes statement about cache levels that would split the class.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steps of the fetch phase of the fetch-decode-execute cycle, naming the registers and buses used. [4]</a:t>
            </a:r>
          </a:p>
          <a:p>
            <a:r>
              <a:rPr sz="2000" b="1">
                <a:solidFill>
                  <a:srgbClr val="222222"/>
                </a:solidFill>
                <a:latin typeface="Calibri"/>
              </a:rPr>
              <a:t>2. State the purpose of the MAR and the MDR. [2]</a:t>
            </a:r>
          </a:p>
          <a:p>
            <a:r>
              <a:rPr sz="2000" b="1">
                <a:solidFill>
                  <a:srgbClr val="222222"/>
                </a:solidFill>
                <a:latin typeface="Calibri"/>
              </a:rPr>
              <a:t>3. Describe the role of the program counter, including what happens to it during a jump instruction. [3]</a:t>
            </a:r>
          </a:p>
          <a:p>
            <a:r>
              <a:rPr sz="2000" b="1">
                <a:solidFill>
                  <a:srgbClr val="222222"/>
                </a:solidFill>
                <a:latin typeface="Calibri"/>
              </a:rPr>
              <a:t>4. A CPU has a 24-bit address bus. Calculate the number of memory locations it can directly address.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the steps of the fetch phase of the fetch-decode-execute cycle, naming the registers and buses used. [4]</a:t>
            </a:r>
          </a:p>
          <a:p>
            <a:pPr lvl="1"/>
            <a:r>
              <a:rPr sz="1800" i="1">
                <a:solidFill>
                  <a:srgbClr val="B76E00"/>
                </a:solidFill>
                <a:latin typeface="Calibri"/>
              </a:rPr>
              <a:t>Answer: The contents of the PC are copied into the MAR (1); a read signal is sent along the control bus and the instruction is transferred from memory along the data bus into the MDR (1); the PC is incremented to point to the next instruction (1); the instruction is copied from the MDR into the CIR (1).</a:t>
            </a:r>
          </a:p>
          <a:p>
            <a:r>
              <a:rPr sz="2000" b="1">
                <a:solidFill>
                  <a:srgbClr val="222222"/>
                </a:solidFill>
                <a:latin typeface="Calibri"/>
              </a:rPr>
              <a:t>2. State the purpose of the MAR and the MDR. [2]</a:t>
            </a:r>
          </a:p>
          <a:p>
            <a:pPr lvl="1"/>
            <a:r>
              <a:rPr sz="1800" i="1">
                <a:solidFill>
                  <a:srgbClr val="B76E00"/>
                </a:solidFill>
                <a:latin typeface="Calibri"/>
              </a:rPr>
              <a:t>Answer: The MAR holds the address of the memory location to be read from or written to (1); the MDR holds the data or instruction that has been fetched from, or is about to be written to, that location (1).</a:t>
            </a:r>
          </a:p>
          <a:p>
            <a:r>
              <a:rPr sz="2000" b="1">
                <a:solidFill>
                  <a:srgbClr val="222222"/>
                </a:solidFill>
                <a:latin typeface="Calibri"/>
              </a:rPr>
              <a:t>3. Describe the role of the program counter, including what happens to it during a jump instruction. [3]</a:t>
            </a:r>
          </a:p>
          <a:p>
            <a:pPr lvl="1"/>
            <a:r>
              <a:rPr sz="1800" i="1">
                <a:solidFill>
                  <a:srgbClr val="B76E00"/>
                </a:solidFill>
                <a:latin typeface="Calibri"/>
              </a:rPr>
              <a:t>Answer: The PC holds the address of the next instruction to be fetched (1); it is incremented during each fetch so it points to the following instruction (1); executing a jump writes a new address into the PC so execution continues from a different location (1).</a:t>
            </a:r>
          </a:p>
          <a:p>
            <a:r>
              <a:rPr sz="2000" b="1">
                <a:solidFill>
                  <a:srgbClr val="222222"/>
                </a:solidFill>
                <a:latin typeface="Calibri"/>
              </a:rPr>
              <a:t>4. A CPU has a 24-bit address bus. Calculate the number of memory locations it can directly address. [2]</a:t>
            </a:r>
          </a:p>
          <a:p>
            <a:pPr lvl="1"/>
            <a:r>
              <a:rPr sz="1800" i="1">
                <a:solidFill>
                  <a:srgbClr val="B76E00"/>
                </a:solidFill>
                <a:latin typeface="Calibri"/>
              </a:rPr>
              <a:t>Answer: 2^24 (1) = 16,777,216 locations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Explain why increasing the number of cores does not always make a program run faster. [3]</a:t>
            </a:r>
          </a:p>
          <a:p>
            <a:r>
              <a:rPr sz="2000" b="1">
                <a:solidFill>
                  <a:srgbClr val="222222"/>
                </a:solidFill>
                <a:latin typeface="Calibri"/>
              </a:rPr>
              <a:t>2. Explain how cache improves the performance of the CPU. [3]</a:t>
            </a:r>
          </a:p>
          <a:p>
            <a:r>
              <a:rPr sz="2000" b="1">
                <a:solidFill>
                  <a:srgbClr val="222222"/>
                </a:solidFill>
                <a:latin typeface="Calibri"/>
              </a:rPr>
              <a:t>3. Describe how pipelining increases the throughput of a processor and explain why a branch instruction reduces this benefit. [4]</a:t>
            </a:r>
          </a:p>
          <a:p>
            <a:r>
              <a:rPr sz="2000" b="1">
                <a:solidFill>
                  <a:srgbClr val="222222"/>
                </a:solidFill>
                <a:latin typeface="Calibri"/>
              </a:rPr>
              <a:t>4. Compare Von Neumann and Harvard architectures, and state how contemporary processors combine the two.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Explain why increasing the number of cores does not always make a program run faster. [3]</a:t>
            </a:r>
          </a:p>
          <a:p>
            <a:pPr lvl="1"/>
            <a:r>
              <a:rPr sz="1800" i="1">
                <a:solidFill>
                  <a:srgbClr val="B76E00"/>
                </a:solidFill>
                <a:latin typeface="Calibri"/>
              </a:rPr>
              <a:t>Answer: The program or task may not be parallelisable, e.g. each step depends on the previous result (1); the software must be written to use multiple cores/threads, otherwise extra cores sit idle (1); coordinating and combining results between cores adds overhead, limiting the gain (1).</a:t>
            </a:r>
          </a:p>
          <a:p>
            <a:r>
              <a:rPr sz="2000" b="1">
                <a:solidFill>
                  <a:srgbClr val="222222"/>
                </a:solidFill>
                <a:latin typeface="Calibri"/>
              </a:rPr>
              <a:t>2. Explain how cache improves the performance of the CPU. [3]</a:t>
            </a:r>
          </a:p>
          <a:p>
            <a:pPr lvl="1"/>
            <a:r>
              <a:rPr sz="1800" i="1">
                <a:solidFill>
                  <a:srgbClr val="B76E00"/>
                </a:solidFill>
                <a:latin typeface="Calibri"/>
              </a:rPr>
              <a:t>Answer: Cache is small, very fast memory on or near the CPU (1); it stores frequently or recently used data and instructions (1); these can be accessed far faster than fetching from RAM, so the CPU spends less time waiting (1).</a:t>
            </a:r>
          </a:p>
          <a:p>
            <a:r>
              <a:rPr sz="2000" b="1">
                <a:solidFill>
                  <a:srgbClr val="222222"/>
                </a:solidFill>
                <a:latin typeface="Calibri"/>
              </a:rPr>
              <a:t>3. Describe how pipelining increases the throughput of a processor and explain why a branch instruction reduces this benefit. [4]</a:t>
            </a:r>
          </a:p>
          <a:p>
            <a:pPr lvl="1"/>
            <a:r>
              <a:rPr sz="1800" i="1">
                <a:solidFill>
                  <a:srgbClr val="B76E00"/>
                </a:solidFill>
                <a:latin typeface="Calibri"/>
              </a:rPr>
              <a:t>Answer: Pipelining overlaps the fetch, decode and execute stages of consecutive instructions (1), so one instruction can complete per clock cycle once the pipeline is full, raising throughput (1). A branch changes the PC to a new address (1), so the instructions already prefetched into the pipeline are wrong and must be flushed, wasting cycles (1).</a:t>
            </a:r>
          </a:p>
          <a:p>
            <a:r>
              <a:rPr sz="2000" b="1">
                <a:solidFill>
                  <a:srgbClr val="222222"/>
                </a:solidFill>
                <a:latin typeface="Calibri"/>
              </a:rPr>
              <a:t>4. Compare Von Neumann and Harvard architectures, and state how contemporary processors combine the two. [6]</a:t>
            </a:r>
          </a:p>
          <a:p>
            <a:pPr lvl="1"/>
            <a:r>
              <a:rPr sz="1800" i="1">
                <a:solidFill>
                  <a:srgbClr val="B76E00"/>
                </a:solidFill>
                <a:latin typeface="Calibri"/>
              </a:rPr>
              <a:t>Answer: Von Neumann has a single shared memory and bus for data and instructions (1) so it cannot fetch an instruction and access data simultaneously, causing a bottleneck (1), but is simpler/cheaper and used in general-purpose PCs (1). Harvard has separate memories and buses for data and instructions (1) allowing simultaneous access, and is used in embedded systems and DSPs (1). Contemporary CPUs are modified Harvard: unified main memory but separate L1 instruction and data caches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the MAR holds data and the MDR holds addresses; it is the reverse — MAR is the ADDRESS register, MDR is the DATA register.</a:t>
            </a:r>
          </a:p>
          <a:p>
            <a:pPr/>
            <a:r>
              <a:rPr sz="2000" b="0">
                <a:solidFill>
                  <a:srgbClr val="222222"/>
                </a:solidFill>
                <a:latin typeface="Calibri"/>
              </a:rPr>
              <a:t>✗ Students often think cache is a reserved section of RAM, but it is separate, much faster memory located on or near the CPU itself.</a:t>
            </a:r>
          </a:p>
          <a:p>
            <a:pPr/>
            <a:r>
              <a:rPr sz="2000" b="0">
                <a:solidFill>
                  <a:srgbClr val="222222"/>
                </a:solidFill>
                <a:latin typeface="Calibri"/>
              </a:rPr>
              <a:t>✗ Students often think more cores always means proportionally faster, but the gain depends on the task being parallelisable and the software supporting it.</a:t>
            </a:r>
          </a:p>
          <a:p>
            <a:pPr/>
            <a:r>
              <a:rPr sz="2000" b="0">
                <a:solidFill>
                  <a:srgbClr val="222222"/>
                </a:solidFill>
                <a:latin typeface="Calibri"/>
              </a:rPr>
              <a:t>✗ Students often think pipelining makes each instruction execute faster, but latency per instruction is unchanged; only throughput improves.</a:t>
            </a:r>
          </a:p>
          <a:p>
            <a:pPr/>
            <a:r>
              <a:rPr sz="2000" b="0">
                <a:solidFill>
                  <a:srgbClr val="222222"/>
                </a:solidFill>
                <a:latin typeface="Calibri"/>
              </a:rPr>
              <a:t>✗ Students often think all three buses are two-way, but the address bus is unidirectional, carrying addresses from the CPU to memory only.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State (1 mark definitions of registers), Describe (fetch stage, 3-4 marks), Explain (performance factors, 2-3 marks each), Compare/Discuss (architectures or buying advice, up to 9-mark levels of response).</a:t>
            </a:r>
          </a:p>
          <a:p>
            <a:pPr/>
            <a:r>
              <a:rPr sz="2000" b="0">
                <a:solidFill>
                  <a:srgbClr val="222222"/>
                </a:solidFill>
                <a:latin typeface="Calibri"/>
              </a:rPr>
              <a:t>The FDE trace is a classic 4-6 marker: marks are lost by omitting the PC increment and the MDR to CIR copy.</a:t>
            </a:r>
          </a:p>
          <a:p>
            <a:pPr/>
            <a:r>
              <a:rPr sz="2000" b="0">
                <a:solidFill>
                  <a:srgbClr val="222222"/>
                </a:solidFill>
                <a:latin typeface="Calibri"/>
              </a:rPr>
              <a:t>9-mark example stem: 'A gamer is choosing between a 3.2 GHz quad-core CPU with 8 MB cache and a 4.0 GHz dual-core with 2 MB cache. Discuss which is more suitable.' — answers must weigh clock, cores, cache AND the software caveat.</a:t>
            </a:r>
          </a:p>
          <a:p>
            <a:pPr/>
            <a:r>
              <a:rPr sz="2000" b="0">
                <a:solidFill>
                  <a:srgbClr val="222222"/>
                </a:solidFill>
                <a:latin typeface="Calibri"/>
              </a:rPr>
              <a:t>Calculation questions use 2^n for addressable locations; always show the power, not just the final value.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Write a full register-transfer trace for the two-instruction program LDA 20 then ADD 21, where address 20 holds 7 and address 21 holds 5. For each instruction give every fetch step (naming registers and buses), the decode split, and the execute action, finishing with the value left in the ACC (12).</a:t>
            </a:r>
          </a:p>
          <a:p>
            <a:r>
              <a:rPr sz="2400" b="1">
                <a:solidFill>
                  <a:srgbClr val="B76E00"/>
                </a:solidFill>
                <a:latin typeface="Calibri"/>
              </a:rPr>
              <a:t>Challenge / stretch</a:t>
            </a:r>
          </a:p>
          <a:p>
            <a:pPr lvl="1"/>
            <a:r>
              <a:rPr sz="2200" b="0">
                <a:solidFill>
                  <a:srgbClr val="222222"/>
                </a:solidFill>
                <a:latin typeface="Calibri"/>
              </a:rPr>
              <a:t>A CPU has a 20-bit address bus and a 3-stage pipeline. Calculate the addressable locations (2^20 = 1,048,576), then calculate how many cycles 10 instructions take unpipelined (30) versus pipelined (12), and explain why a branch at instruction 5 would add wasted cycles.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Name the two fetch-stage steps that candidates most often forget.</a:t>
            </a:r>
          </a:p>
          <a:p>
            <a:r>
              <a:rPr sz="2200" b="1">
                <a:solidFill>
                  <a:srgbClr val="222222"/>
                </a:solidFill>
                <a:latin typeface="Calibri"/>
              </a:rPr>
              <a:t>2. Which bus is unidirectional and what does it carry?</a:t>
            </a:r>
          </a:p>
          <a:p>
            <a:r>
              <a:rPr sz="2200" b="1">
                <a:solidFill>
                  <a:srgbClr val="222222"/>
                </a:solidFill>
                <a:latin typeface="Calibri"/>
              </a:rPr>
              <a:t>3. How do contemporary CPUs mix Von Neumann and Harvard designs?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Name the two fetch-stage steps that candidates most often forget.</a:t>
            </a:r>
          </a:p>
          <a:p>
            <a:pPr lvl="1"/>
            <a:r>
              <a:rPr sz="1800" i="1">
                <a:solidFill>
                  <a:srgbClr val="B76E00"/>
                </a:solidFill>
                <a:latin typeface="Calibri"/>
              </a:rPr>
              <a:t>Answer: Incrementing the PC, and copying the instruction from the MDR into the CIR.</a:t>
            </a:r>
          </a:p>
          <a:p>
            <a:r>
              <a:rPr sz="2200" b="1">
                <a:solidFill>
                  <a:srgbClr val="222222"/>
                </a:solidFill>
                <a:latin typeface="Calibri"/>
              </a:rPr>
              <a:t>2. Which bus is unidirectional and what does it carry?</a:t>
            </a:r>
          </a:p>
          <a:p>
            <a:pPr lvl="1"/>
            <a:r>
              <a:rPr sz="1800" i="1">
                <a:solidFill>
                  <a:srgbClr val="B76E00"/>
                </a:solidFill>
                <a:latin typeface="Calibri"/>
              </a:rPr>
              <a:t>Answer: The address bus; it carries memory addresses from the CPU to memory only.</a:t>
            </a:r>
          </a:p>
          <a:p>
            <a:r>
              <a:rPr sz="2200" b="1">
                <a:solidFill>
                  <a:srgbClr val="222222"/>
                </a:solidFill>
                <a:latin typeface="Calibri"/>
              </a:rPr>
              <a:t>3. How do contemporary CPUs mix Von Neumann and Harvard designs?</a:t>
            </a:r>
          </a:p>
          <a:p>
            <a:pPr lvl="1"/>
            <a:r>
              <a:rPr sz="1800" i="1">
                <a:solidFill>
                  <a:srgbClr val="B76E00"/>
                </a:solidFill>
                <a:latin typeface="Calibri"/>
              </a:rPr>
              <a:t>Answer: They use one unified main memory (Von Neumann) but separate L1 instruction and data caches (Harvard) — modified Harvard.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