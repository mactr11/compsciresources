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365D"/>
        </a:solidFill>
        <a:effectLst/>
      </p:bgPr>
    </p:bg>
    <p:spTree>
      <p:nvGrpSpPr>
        <p:cNvPr id="1" name=""/>
        <p:cNvGrpSpPr/>
        <p:nvPr/>
      </p:nvGrpSpPr>
      <p:grpSpPr/>
      <p:sp>
        <p:nvSpPr>
          <p:cNvPr id="2" name="TextBox 1"/>
          <p:cNvSpPr txBox="1"/>
          <p:nvPr/>
        </p:nvSpPr>
        <p:spPr>
          <a:xfrm>
            <a:off x="731520" y="2194560"/>
            <a:ext cx="10698480" cy="1828800"/>
          </a:xfrm>
          <a:prstGeom prst="rect">
            <a:avLst/>
          </a:prstGeom>
          <a:noFill/>
        </p:spPr>
        <p:txBody>
          <a:bodyPr wrap="square">
            <a:spAutoFit/>
          </a:bodyPr>
          <a:lstStyle/>
          <a:p>
            <a:r>
              <a:rPr sz="4000" b="1" i="0">
                <a:solidFill>
                  <a:srgbClr val="FFFFFF"/>
                </a:solidFill>
                <a:latin typeface="Calibri"/>
              </a:rPr>
              <a:t>1.3.2 Databases</a:t>
            </a:r>
          </a:p>
          <a:p>
            <a:r>
              <a:rPr sz="2000" b="0" i="0">
                <a:solidFill>
                  <a:srgbClr val="BED3EC"/>
                </a:solidFill>
                <a:latin typeface="Calibri"/>
              </a:rPr>
              <a:t>OCR H446 — Component 01</a:t>
            </a:r>
          </a:p>
        </p:txBody>
      </p:sp>
      <p:sp>
        <p:nvSpPr>
          <p:cNvPr id="3" name="TextBox 2"/>
          <p:cNvSpPr txBox="1"/>
          <p:nvPr/>
        </p:nvSpPr>
        <p:spPr>
          <a:xfrm>
            <a:off x="731520" y="6035040"/>
            <a:ext cx="10698480" cy="548640"/>
          </a:xfrm>
          <a:prstGeom prst="rect">
            <a:avLst/>
          </a:prstGeom>
          <a:noFill/>
        </p:spPr>
        <p:txBody>
          <a:bodyPr wrap="square">
            <a:spAutoFit/>
          </a:bodyPr>
          <a:lstStyle/>
          <a:p>
            <a:r>
              <a:rPr sz="1400" b="0" i="1">
                <a:solidFill>
                  <a:srgbClr val="9AB4D6"/>
                </a:solidFill>
                <a:latin typeface="Calibri"/>
              </a:rPr>
              <a:t>Week 11 (23 Nov)</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Learning objectives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By the end of this lesson you can:</a:t>
            </a:r>
          </a:p>
          <a:p>
            <a:pPr lvl="1"/>
            <a:r>
              <a:rPr sz="2200" b="0">
                <a:solidFill>
                  <a:srgbClr val="222222"/>
                </a:solidFill>
                <a:latin typeface="Calibri"/>
              </a:rPr>
              <a:t>I can define entity, attribute and record, and compare flat file and relational databases.</a:t>
            </a:r>
          </a:p>
          <a:p>
            <a:pPr lvl="1"/>
            <a:r>
              <a:rPr sz="2200" b="0">
                <a:solidFill>
                  <a:srgbClr val="222222"/>
                </a:solidFill>
                <a:latin typeface="Calibri"/>
              </a:rPr>
              <a:t>I can identify primary, foreign, composite and secondary keys and draw ER diagrams, resolving many-to-many relationships.</a:t>
            </a:r>
          </a:p>
          <a:p>
            <a:pPr lvl="1"/>
            <a:r>
              <a:rPr sz="2200" b="0">
                <a:solidFill>
                  <a:srgbClr val="222222"/>
                </a:solidFill>
                <a:latin typeface="Calibri"/>
              </a:rPr>
              <a:t>I can normalise a table to 3NF, naming the dependency removed at each stage.</a:t>
            </a:r>
          </a:p>
          <a:p>
            <a:pPr lvl="1"/>
            <a:r>
              <a:rPr sz="2200" b="0">
                <a:solidFill>
                  <a:srgbClr val="222222"/>
                </a:solidFill>
                <a:latin typeface="Calibri"/>
              </a:rPr>
              <a:t>I can write and interpret SQL, and explain referential integrity, transactions, ACID and record locking.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retrieval starter</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Apply run length encoding to the string AAAABBBCC.</a:t>
            </a:r>
          </a:p>
          <a:p>
            <a:r>
              <a:rPr sz="2200" b="1">
                <a:solidFill>
                  <a:srgbClr val="222222"/>
                </a:solidFill>
                <a:latin typeface="Calibri"/>
              </a:rPr>
              <a:t>2. When does RLE make a file larger instead of smaller?</a:t>
            </a:r>
          </a:p>
          <a:p>
            <a:r>
              <a:rPr sz="2200" b="1">
                <a:solidFill>
                  <a:srgbClr val="222222"/>
                </a:solidFill>
                <a:latin typeface="Calibri"/>
              </a:rPr>
              <a:t>3. State the key difference between symmetric and asymmetric encryption.</a:t>
            </a:r>
          </a:p>
          <a:p>
            <a:r>
              <a:rPr sz="2200" b="1">
                <a:solidFill>
                  <a:srgbClr val="222222"/>
                </a:solidFill>
                <a:latin typeface="Calibri"/>
              </a:rPr>
              <a:t>4. What problem of symmetric encryption does asymmetric encryption solve?</a:t>
            </a:r>
          </a:p>
          <a:p>
            <a:r>
              <a:rPr sz="2200" b="1">
                <a:solidFill>
                  <a:srgbClr val="222222"/>
                </a:solidFill>
                <a:latin typeface="Calibri"/>
              </a:rPr>
              <a:t>5. Why should a website store hashes of passwords rather than encrypted passwords?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Apply run length encoding to the string AAAABBBCC.</a:t>
            </a:r>
          </a:p>
          <a:p>
            <a:pPr lvl="1"/>
            <a:r>
              <a:rPr sz="1800" i="1">
                <a:solidFill>
                  <a:srgbClr val="B76E00"/>
                </a:solidFill>
                <a:latin typeface="Calibri"/>
              </a:rPr>
              <a:t>Answer: 4A3B2C (or A4B3C2) — each run of repeated characters is replaced by a count and the value.</a:t>
            </a:r>
          </a:p>
          <a:p>
            <a:r>
              <a:rPr sz="2200" b="1">
                <a:solidFill>
                  <a:srgbClr val="222222"/>
                </a:solidFill>
                <a:latin typeface="Calibri"/>
              </a:rPr>
              <a:t>2. When does RLE make a file larger instead of smaller?</a:t>
            </a:r>
          </a:p>
          <a:p>
            <a:pPr lvl="1"/>
            <a:r>
              <a:rPr sz="1800" i="1">
                <a:solidFill>
                  <a:srgbClr val="B76E00"/>
                </a:solidFill>
                <a:latin typeface="Calibri"/>
              </a:rPr>
              <a:t>Answer: When there are few or no runs of repeated values, e.g. ABCABC becomes 1A1B1C1A1B1C, doubling the size.</a:t>
            </a:r>
          </a:p>
          <a:p>
            <a:r>
              <a:rPr sz="2200" b="1">
                <a:solidFill>
                  <a:srgbClr val="222222"/>
                </a:solidFill>
                <a:latin typeface="Calibri"/>
              </a:rPr>
              <a:t>3. State the key difference between symmetric and asymmetric encryption.</a:t>
            </a:r>
          </a:p>
          <a:p>
            <a:pPr lvl="1"/>
            <a:r>
              <a:rPr sz="1800" i="1">
                <a:solidFill>
                  <a:srgbClr val="B76E00"/>
                </a:solidFill>
                <a:latin typeface="Calibri"/>
              </a:rPr>
              <a:t>Answer: Symmetric uses the same shared key to encrypt and decrypt; asymmetric uses a public key to encrypt and a different, mathematically related private key to decrypt.</a:t>
            </a:r>
          </a:p>
          <a:p>
            <a:r>
              <a:rPr sz="2200" b="1">
                <a:solidFill>
                  <a:srgbClr val="222222"/>
                </a:solidFill>
                <a:latin typeface="Calibri"/>
              </a:rPr>
              <a:t>4. What problem of symmetric encryption does asymmetric encryption solve?</a:t>
            </a:r>
          </a:p>
          <a:p>
            <a:pPr lvl="1"/>
            <a:r>
              <a:rPr sz="1800" i="1">
                <a:solidFill>
                  <a:srgbClr val="B76E00"/>
                </a:solidFill>
                <a:latin typeface="Calibri"/>
              </a:rPr>
              <a:t>Answer: The key distribution problem — with asymmetric encryption the public key can be shared openly, so no secret key ever has to be transmitted.</a:t>
            </a:r>
          </a:p>
          <a:p>
            <a:r>
              <a:rPr sz="2200" b="1">
                <a:solidFill>
                  <a:srgbClr val="222222"/>
                </a:solidFill>
                <a:latin typeface="Calibri"/>
              </a:rPr>
              <a:t>5. Why should a website store hashes of passwords rather than encrypted passwords?</a:t>
            </a:r>
          </a:p>
          <a:p>
            <a:pPr lvl="1"/>
            <a:r>
              <a:rPr sz="1800" i="1">
                <a:solidFill>
                  <a:srgbClr val="B76E00"/>
                </a:solidFill>
                <a:latin typeface="Calibri"/>
              </a:rPr>
              <a:t>Answer: Hashing is one-way, so the original password cannot be recovered even if the database is stolen; encryption is reversible with a key that could also be stolen.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Key terminology</a:t>
            </a:r>
          </a:p>
        </p:txBody>
      </p:sp>
      <p:sp>
        <p:nvSpPr>
          <p:cNvPr id="3" name="TextBox 2"/>
          <p:cNvSpPr txBox="1"/>
          <p:nvPr/>
        </p:nvSpPr>
        <p:spPr>
          <a:xfrm>
            <a:off x="640080" y="1280160"/>
            <a:ext cx="10881360" cy="5120640"/>
          </a:xfrm>
          <a:prstGeom prst="rect">
            <a:avLst/>
          </a:prstGeom>
          <a:noFill/>
        </p:spPr>
        <p:txBody>
          <a:bodyPr wrap="square">
            <a:spAutoFit/>
          </a:bodyPr>
          <a:lstStyle/>
          <a:p/>
          <a:p>
            <a:r>
              <a:rPr b="1" sz="2000">
                <a:solidFill>
                  <a:srgbClr val="1A365D"/>
                </a:solidFill>
                <a:latin typeface="Calibri"/>
              </a:rPr>
              <a:t>Entity</a:t>
            </a:r>
            <a:r>
              <a:rPr sz="1800">
                <a:solidFill>
                  <a:srgbClr val="222222"/>
                </a:solidFill>
                <a:latin typeface="Calibri"/>
              </a:rPr>
              <a:t> — A category of thing about which data is stored, implemented as a table.</a:t>
            </a:r>
          </a:p>
          <a:p>
            <a:r>
              <a:rPr b="1" sz="2000">
                <a:solidFill>
                  <a:srgbClr val="1A365D"/>
                </a:solidFill>
                <a:latin typeface="Calibri"/>
              </a:rPr>
              <a:t>Primary key</a:t>
            </a:r>
            <a:r>
              <a:rPr sz="1800">
                <a:solidFill>
                  <a:srgbClr val="222222"/>
                </a:solidFill>
                <a:latin typeface="Calibri"/>
              </a:rPr>
              <a:t> — An attribute, or set of attributes, that uniquely identifies each record in a table.</a:t>
            </a:r>
          </a:p>
          <a:p>
            <a:r>
              <a:rPr b="1" sz="2000">
                <a:solidFill>
                  <a:srgbClr val="1A365D"/>
                </a:solidFill>
                <a:latin typeface="Calibri"/>
              </a:rPr>
              <a:t>Foreign key</a:t>
            </a:r>
            <a:r>
              <a:rPr sz="1800">
                <a:solidFill>
                  <a:srgbClr val="222222"/>
                </a:solidFill>
                <a:latin typeface="Calibri"/>
              </a:rPr>
              <a:t> — An attribute in one table that is the primary key of another table, linking the two.</a:t>
            </a:r>
          </a:p>
          <a:p>
            <a:r>
              <a:rPr b="1" sz="2000">
                <a:solidFill>
                  <a:srgbClr val="1A365D"/>
                </a:solidFill>
                <a:latin typeface="Calibri"/>
              </a:rPr>
              <a:t>Composite key</a:t>
            </a:r>
            <a:r>
              <a:rPr sz="1800">
                <a:solidFill>
                  <a:srgbClr val="222222"/>
                </a:solidFill>
                <a:latin typeface="Calibri"/>
              </a:rPr>
              <a:t> — A primary key made up of two or more attributes combined.</a:t>
            </a:r>
          </a:p>
          <a:p>
            <a:r>
              <a:rPr b="1" sz="2000">
                <a:solidFill>
                  <a:srgbClr val="1A365D"/>
                </a:solidFill>
                <a:latin typeface="Calibri"/>
              </a:rPr>
              <a:t>Secondary key</a:t>
            </a:r>
            <a:r>
              <a:rPr sz="1800">
                <a:solidFill>
                  <a:srgbClr val="222222"/>
                </a:solidFill>
                <a:latin typeface="Calibri"/>
              </a:rPr>
              <a:t> — A non-primary attribute indexed to allow fast searching, e.g. Surname.</a:t>
            </a:r>
          </a:p>
          <a:p>
            <a:r>
              <a:rPr b="1" sz="2000">
                <a:solidFill>
                  <a:srgbClr val="1A365D"/>
                </a:solidFill>
                <a:latin typeface="Calibri"/>
              </a:rPr>
              <a:t>Normalisation</a:t>
            </a:r>
            <a:r>
              <a:rPr sz="1800">
                <a:solidFill>
                  <a:srgbClr val="222222"/>
                </a:solidFill>
                <a:latin typeface="Calibri"/>
              </a:rPr>
              <a:t> — Organising data into tables to reduce redundancy and remove insertion, update and deletion anomalies.</a:t>
            </a:r>
          </a:p>
          <a:p>
            <a:r>
              <a:rPr b="1" sz="2000">
                <a:solidFill>
                  <a:srgbClr val="1A365D"/>
                </a:solidFill>
                <a:latin typeface="Calibri"/>
              </a:rPr>
              <a:t>Referential integrity</a:t>
            </a:r>
            <a:r>
              <a:rPr sz="1800">
                <a:solidFill>
                  <a:srgbClr val="222222"/>
                </a:solidFill>
                <a:latin typeface="Calibri"/>
              </a:rPr>
              <a:t> — The rule that every foreign key value must reference an existing primary key, or be null.</a:t>
            </a:r>
          </a:p>
          <a:p>
            <a:r>
              <a:rPr b="1" sz="2000">
                <a:solidFill>
                  <a:srgbClr val="1A365D"/>
                </a:solidFill>
                <a:latin typeface="Calibri"/>
              </a:rPr>
              <a:t>Transaction</a:t>
            </a:r>
            <a:r>
              <a:rPr sz="1800">
                <a:solidFill>
                  <a:srgbClr val="222222"/>
                </a:solidFill>
                <a:latin typeface="Calibri"/>
              </a:rPr>
              <a:t> — A single logical operation whose steps must all succeed or all fail together.</a:t>
            </a:r>
          </a:p>
          <a:p>
            <a:r>
              <a:rPr b="1" sz="2000">
                <a:solidFill>
                  <a:srgbClr val="1A365D"/>
                </a:solidFill>
                <a:latin typeface="Calibri"/>
              </a:rPr>
              <a:t>Record locking</a:t>
            </a:r>
            <a:r>
              <a:rPr sz="1800">
                <a:solidFill>
                  <a:srgbClr val="222222"/>
                </a:solidFill>
                <a:latin typeface="Calibri"/>
              </a:rPr>
              <a:t> — Locking a record during a transaction so no other user can edit it, preventing lost updates.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Entities, attributes and records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 database is an organised, persistent store of data.</a:t>
            </a:r>
          </a:p>
          <a:p>
            <a:pPr/>
            <a:r>
              <a:rPr sz="2000" b="0">
                <a:solidFill>
                  <a:srgbClr val="222222"/>
                </a:solidFill>
                <a:latin typeface="Calibri"/>
              </a:rPr>
              <a:t>Entity: a category of thing data is stored about, e.g. Student — implemented as a table (relation).</a:t>
            </a:r>
          </a:p>
          <a:p>
            <a:pPr/>
            <a:r>
              <a:rPr sz="2000" b="0">
                <a:solidFill>
                  <a:srgbClr val="222222"/>
                </a:solidFill>
                <a:latin typeface="Calibri"/>
              </a:rPr>
              <a:t>Attribute (field): one property of an entity — a column, e.g. Surname.</a:t>
            </a:r>
          </a:p>
          <a:p>
            <a:pPr/>
            <a:r>
              <a:rPr sz="2000" b="0">
                <a:solidFill>
                  <a:srgbClr val="222222"/>
                </a:solidFill>
                <a:latin typeface="Calibri"/>
              </a:rPr>
              <a:t>Record (row, tuple): all the data about one instance of an entity.</a:t>
            </a:r>
          </a:p>
          <a:p>
            <a:pPr/>
            <a:r>
              <a:rPr sz="2000" b="0">
                <a:solidFill>
                  <a:srgbClr val="222222"/>
                </a:solidFill>
                <a:latin typeface="Calibri"/>
              </a:rPr>
              <a:t>Each table stores data about exactly one entity; keys link the tables together.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Flat file vs relational databases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 flat file holds everything in a single table, so the same facts are repeated many times.</a:t>
            </a:r>
          </a:p>
          <a:p>
            <a:pPr/>
            <a:r>
              <a:rPr sz="2000" b="0">
                <a:solidFill>
                  <a:srgbClr val="222222"/>
                </a:solidFill>
                <a:latin typeface="Calibri"/>
              </a:rPr>
              <a:t>Redundancy causes anomalies: update (change a fact in many places), insertion and deletion anomalies.</a:t>
            </a:r>
          </a:p>
          <a:p>
            <a:pPr/>
            <a:r>
              <a:rPr sz="2000" b="0">
                <a:solidFill>
                  <a:srgbClr val="222222"/>
                </a:solidFill>
                <a:latin typeface="Calibri"/>
              </a:rPr>
              <a:t>A relational database splits data across multiple linked tables, storing each fact once.</a:t>
            </a:r>
          </a:p>
          <a:p>
            <a:pPr/>
            <a:r>
              <a:rPr sz="2000" b="0">
                <a:solidFill>
                  <a:srgbClr val="222222"/>
                </a:solidFill>
                <a:latin typeface="Calibri"/>
              </a:rPr>
              <a:t>Relational databases give consistency, less storage waste, scalability and complex queries across tables.</a:t>
            </a:r>
          </a:p>
          <a:p>
            <a:pPr/>
            <a:r>
              <a:rPr sz="2000" b="0">
                <a:solidFill>
                  <a:srgbClr val="222222"/>
                </a:solidFill>
                <a:latin typeface="Calibri"/>
              </a:rPr>
              <a:t>Flat files remain simpler to set up and adequate for small, single-entity data sets.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Keys: primary, foreign, composite, secondary</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Primary key: attribute(s) uniquely identifying each record, e.g. StudentID.</a:t>
            </a:r>
          </a:p>
          <a:p>
            <a:pPr/>
            <a:r>
              <a:rPr sz="2000" b="0">
                <a:solidFill>
                  <a:srgbClr val="222222"/>
                </a:solidFill>
                <a:latin typeface="Calibri"/>
              </a:rPr>
              <a:t>Foreign key: the primary key of another table, placed in a table to create the link.</a:t>
            </a:r>
          </a:p>
          <a:p>
            <a:pPr/>
            <a:r>
              <a:rPr sz="2000" b="0">
                <a:solidFill>
                  <a:srgbClr val="222222"/>
                </a:solidFill>
                <a:latin typeface="Calibri"/>
              </a:rPr>
              <a:t>Composite key: a primary key of two or more attributes when no single attribute is unique.</a:t>
            </a:r>
          </a:p>
          <a:p>
            <a:pPr/>
            <a:r>
              <a:rPr sz="2000" b="0">
                <a:solidFill>
                  <a:srgbClr val="222222"/>
                </a:solidFill>
                <a:latin typeface="Calibri"/>
              </a:rPr>
              <a:t>Secondary key: a non-primary attribute indexed for fast searching, e.g. Surname in a school system.</a:t>
            </a:r>
          </a:p>
          <a:p>
            <a:pPr/>
            <a:r>
              <a:rPr sz="2000" b="0">
                <a:solidFill>
                  <a:srgbClr val="222222"/>
                </a:solidFill>
                <a:latin typeface="Calibri"/>
              </a:rPr>
              <a:t>In exams, always name which table a foreign key links to.</a:t>
            </a:r>
          </a:p>
          <a:p>
            <a:pPr/>
            <a:r>
              <a:rPr sz="1800" b="1">
                <a:solidFill>
                  <a:srgbClr val="B76E00"/>
                </a:solidFill>
                <a:latin typeface="Calibri"/>
              </a:rPr>
              <a:t>A foreign key is defined by what it is elsewhere: the primary key of another table.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Entity relationship modelling</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ER diagrams show entities as boxes and relationships as lines with crow's-foot or 1/M notation.</a:t>
            </a:r>
          </a:p>
          <a:p>
            <a:pPr/>
            <a:r>
              <a:rPr sz="2000" b="0">
                <a:solidFill>
                  <a:srgbClr val="222222"/>
                </a:solidFill>
                <a:latin typeface="Calibri"/>
              </a:rPr>
              <a:t>Degrees of relationship: one-to-one (1:1), one-to-many (1:M), many-to-many (M:N).</a:t>
            </a:r>
          </a:p>
          <a:p>
            <a:pPr/>
            <a:r>
              <a:rPr sz="2000" b="0">
                <a:solidFill>
                  <a:srgbClr val="222222"/>
                </a:solidFill>
                <a:latin typeface="Calibri"/>
              </a:rPr>
              <a:t>Example: one Customer places many Orders (1:M); a Student takes many Courses and vice versa (M:N).</a:t>
            </a:r>
          </a:p>
          <a:p>
            <a:pPr/>
            <a:r>
              <a:rPr sz="2000" b="0">
                <a:solidFill>
                  <a:srgbClr val="222222"/>
                </a:solidFill>
                <a:latin typeface="Calibri"/>
              </a:rPr>
              <a:t>M:N cannot be implemented directly — resolve it with a linking (junction) table.</a:t>
            </a:r>
          </a:p>
          <a:p>
            <a:pPr/>
            <a:r>
              <a:rPr sz="2000" b="0">
                <a:solidFill>
                  <a:srgbClr val="222222"/>
                </a:solidFill>
                <a:latin typeface="Calibri"/>
              </a:rPr>
              <a:t>The link table holds two foreign keys, usually forming a composite primary key, giving two 1:M relationships.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Normalisation to 3NF</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Purpose: reduce redundancy and remove insertion, update and deletion anomalies while keeping data consistent.</a:t>
            </a:r>
          </a:p>
          <a:p>
            <a:pPr/>
            <a:r>
              <a:rPr sz="2000" b="0">
                <a:solidFill>
                  <a:srgbClr val="222222"/>
                </a:solidFill>
                <a:latin typeface="Calibri"/>
              </a:rPr>
              <a:t>1NF: atomic values, no repeating groups of attributes, and a primary key exists.</a:t>
            </a:r>
          </a:p>
          <a:p>
            <a:pPr/>
            <a:r>
              <a:rPr sz="2000" b="0">
                <a:solidFill>
                  <a:srgbClr val="222222"/>
                </a:solidFill>
                <a:latin typeface="Calibri"/>
              </a:rPr>
              <a:t>2NF: in 1NF and no partial dependencies — every non-key attribute depends on the whole composite key.</a:t>
            </a:r>
          </a:p>
          <a:p>
            <a:pPr/>
            <a:r>
              <a:rPr sz="2000" b="0">
                <a:solidFill>
                  <a:srgbClr val="222222"/>
                </a:solidFill>
                <a:latin typeface="Calibri"/>
              </a:rPr>
              <a:t>3NF: in 2NF and no transitive dependencies — no non-key attribute depends on another non-key attribute.</a:t>
            </a:r>
          </a:p>
          <a:p>
            <a:pPr/>
            <a:r>
              <a:rPr sz="2000" b="0">
                <a:solidFill>
                  <a:srgbClr val="222222"/>
                </a:solidFill>
                <a:latin typeface="Calibri"/>
              </a:rPr>
              <a:t>Mantra: every non-key attribute depends on the key, the whole key, and nothing but the key.</a:t>
            </a:r>
          </a:p>
          <a:p>
            <a:pPr/>
            <a:r>
              <a:rPr sz="1800" b="1">
                <a:solidFill>
                  <a:srgbClr val="B76E00"/>
                </a:solidFill>
                <a:latin typeface="Calibri"/>
              </a:rPr>
              <a:t>Name the dependency removed at each stage: repeating group (1NF), partial (2NF), transitive (3NF).</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SQL: retrieving data</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SELECT chooses columns, FROM names the table, WHERE filters rows with conditions using AND, OR, comparison operators.</a:t>
            </a:r>
          </a:p>
          <a:p>
            <a:pPr/>
            <a:r>
              <a:rPr sz="2000" b="0">
                <a:solidFill>
                  <a:srgbClr val="222222"/>
                </a:solidFill>
                <a:latin typeface="Calibri"/>
              </a:rPr>
              <a:t>ORDER BY sorts the results ascending (ASC) or descending (DESC).</a:t>
            </a:r>
          </a:p>
          <a:p>
            <a:pPr/>
            <a:r>
              <a:rPr sz="2000" b="0">
                <a:solidFill>
                  <a:srgbClr val="222222"/>
                </a:solidFill>
                <a:latin typeface="Calibri"/>
              </a:rPr>
              <a:t>LIKE with the % wildcard matches patterns: 'M%' starts with M, '%son' ends with son.</a:t>
            </a:r>
          </a:p>
          <a:p>
            <a:pPr/>
            <a:r>
              <a:rPr sz="2000" b="0">
                <a:solidFill>
                  <a:srgbClr val="222222"/>
                </a:solidFill>
                <a:latin typeface="Calibri"/>
              </a:rPr>
              <a:t>JOIN ... ON combines columns from two tables where the foreign key matches the primary key.</a:t>
            </a:r>
          </a:p>
          <a:p>
            <a:pPr/>
            <a:r>
              <a:rPr sz="2000" b="0">
                <a:solidFill>
                  <a:srgbClr val="222222"/>
                </a:solidFill>
                <a:latin typeface="Calibri"/>
              </a:rPr>
              <a:t>Clause order is fixed: SELECT, FROM, WHERE, ORDER BY. Text values need quotes.</a:t>
            </a:r>
          </a:p>
          <a:p>
            <a:pPr lvl="1"/>
            <a:r>
              <a:rPr sz="1600" b="0">
                <a:solidFill>
                  <a:srgbClr val="1A365D"/>
                </a:solidFill>
                <a:latin typeface="Consolas"/>
              </a:rPr>
              <a:t>SELECT Surname, TutorGroup</a:t>
            </a:r>
          </a:p>
          <a:p>
            <a:pPr lvl="1"/>
            <a:r>
              <a:rPr sz="1600" b="0">
                <a:solidFill>
                  <a:srgbClr val="1A365D"/>
                </a:solidFill>
                <a:latin typeface="Consolas"/>
              </a:rPr>
              <a:t>FROM Student</a:t>
            </a:r>
          </a:p>
          <a:p>
            <a:pPr lvl="1"/>
            <a:r>
              <a:rPr sz="1600" b="0">
                <a:solidFill>
                  <a:srgbClr val="1A365D"/>
                </a:solidFill>
                <a:latin typeface="Consolas"/>
              </a:rPr>
              <a:t>WHERE YearGroup = 13 AND Surname LIKE 'M%'</a:t>
            </a:r>
          </a:p>
          <a:p>
            <a:pPr lvl="1"/>
            <a:r>
              <a:rPr sz="1600" b="0">
                <a:solidFill>
                  <a:srgbClr val="1A365D"/>
                </a:solidFill>
                <a:latin typeface="Consolas"/>
              </a:rPr>
              <a:t>ORDER BY Surname ASC;</a:t>
            </a:r>
          </a:p>
          <a:p>
            <a:pPr lvl="1"/>
            <a:r>
              <a:rPr sz="1600" b="0">
                <a:solidFill>
                  <a:srgbClr val="1A365D"/>
                </a:solidFill>
                <a:latin typeface="Consolas"/>
              </a:rPr>
              <a:t> </a:t>
            </a:r>
          </a:p>
          <a:p>
            <a:pPr lvl="1"/>
            <a:r>
              <a:rPr sz="1600" b="0">
                <a:solidFill>
                  <a:srgbClr val="1A365D"/>
                </a:solidFill>
                <a:latin typeface="Consolas"/>
              </a:rPr>
              <a:t>SELECT Student.Surname, Class.ClassName</a:t>
            </a:r>
          </a:p>
          <a:p>
            <a:pPr lvl="1"/>
            <a:r>
              <a:rPr sz="1600" b="0">
                <a:solidFill>
                  <a:srgbClr val="1A365D"/>
                </a:solidFill>
                <a:latin typeface="Consolas"/>
              </a:rPr>
              <a:t>FROM Student</a:t>
            </a:r>
          </a:p>
          <a:p>
            <a:pPr lvl="1"/>
            <a:r>
              <a:rPr sz="1600" b="0">
                <a:solidFill>
                  <a:srgbClr val="1A365D"/>
                </a:solidFill>
                <a:latin typeface="Consolas"/>
              </a:rPr>
              <a:t>JOIN Class ON Student.ClassID = Class.ClassID;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SQL: changing data</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INSERT INTO ... VALUES adds a new record; list fields then matching values in order.</a:t>
            </a:r>
          </a:p>
          <a:p>
            <a:pPr/>
            <a:r>
              <a:rPr sz="2000" b="0">
                <a:solidFill>
                  <a:srgbClr val="222222"/>
                </a:solidFill>
                <a:latin typeface="Calibri"/>
              </a:rPr>
              <a:t>UPDATE ... SET ... WHERE changes values in the records matching the condition.</a:t>
            </a:r>
          </a:p>
          <a:p>
            <a:pPr/>
            <a:r>
              <a:rPr sz="2000" b="0">
                <a:solidFill>
                  <a:srgbClr val="222222"/>
                </a:solidFill>
                <a:latin typeface="Calibri"/>
              </a:rPr>
              <a:t>DELETE FROM ... WHERE removes the records matching the condition.</a:t>
            </a:r>
          </a:p>
          <a:p>
            <a:pPr/>
            <a:r>
              <a:rPr sz="2000" b="0">
                <a:solidFill>
                  <a:srgbClr val="222222"/>
                </a:solidFill>
                <a:latin typeface="Calibri"/>
              </a:rPr>
              <a:t>Omitting WHERE on UPDATE or DELETE changes or removes every record in the table.</a:t>
            </a:r>
          </a:p>
          <a:p>
            <a:pPr/>
            <a:r>
              <a:rPr sz="2000" b="0">
                <a:solidFill>
                  <a:srgbClr val="222222"/>
                </a:solidFill>
                <a:latin typeface="Calibri"/>
              </a:rPr>
              <a:t>CREATE TABLE defines a new table with field names, data types and the primary key.</a:t>
            </a:r>
          </a:p>
          <a:p>
            <a:pPr lvl="1"/>
            <a:r>
              <a:rPr sz="1600" b="0">
                <a:solidFill>
                  <a:srgbClr val="1A365D"/>
                </a:solidFill>
                <a:latin typeface="Consolas"/>
              </a:rPr>
              <a:t>INSERT INTO Student (StudentID, Surname, Forename, YearGroup)</a:t>
            </a:r>
          </a:p>
          <a:p>
            <a:pPr lvl="1"/>
            <a:r>
              <a:rPr sz="1600" b="0">
                <a:solidFill>
                  <a:srgbClr val="1A365D"/>
                </a:solidFill>
                <a:latin typeface="Consolas"/>
              </a:rPr>
              <a:t>VALUES (1024, 'Patel', 'Aisha', 12);</a:t>
            </a:r>
          </a:p>
          <a:p>
            <a:pPr lvl="1"/>
            <a:r>
              <a:rPr sz="1600" b="0">
                <a:solidFill>
                  <a:srgbClr val="1A365D"/>
                </a:solidFill>
                <a:latin typeface="Consolas"/>
              </a:rPr>
              <a:t> </a:t>
            </a:r>
          </a:p>
          <a:p>
            <a:pPr lvl="1"/>
            <a:r>
              <a:rPr sz="1600" b="0">
                <a:solidFill>
                  <a:srgbClr val="1A365D"/>
                </a:solidFill>
                <a:latin typeface="Consolas"/>
              </a:rPr>
              <a:t>UPDATE Student SET YearGroup = 13 WHERE StudentID = 1024;</a:t>
            </a:r>
          </a:p>
          <a:p>
            <a:pPr lvl="1"/>
            <a:r>
              <a:rPr sz="1600" b="0">
                <a:solidFill>
                  <a:srgbClr val="1A365D"/>
                </a:solidFill>
                <a:latin typeface="Consolas"/>
              </a:rPr>
              <a:t> </a:t>
            </a:r>
          </a:p>
          <a:p>
            <a:pPr lvl="1"/>
            <a:r>
              <a:rPr sz="1600" b="0">
                <a:solidFill>
                  <a:srgbClr val="1A365D"/>
                </a:solidFill>
                <a:latin typeface="Consolas"/>
              </a:rPr>
              <a:t>DELETE FROM Student WHERE StudentID = 1024;</a:t>
            </a:r>
          </a:p>
          <a:p>
            <a:pPr/>
            <a:r>
              <a:rPr sz="1800" b="1">
                <a:solidFill>
                  <a:srgbClr val="B76E00"/>
                </a:solidFill>
                <a:latin typeface="Calibri"/>
              </a:rPr>
              <a:t>UPDATE Student SET YearGroup = 13; with no WHERE would move the entire school up a year.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Referential integrity</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Referential integrity: every foreign key value must reference an existing primary key in the linked table, or be null.</a:t>
            </a:r>
          </a:p>
          <a:p>
            <a:pPr/>
            <a:r>
              <a:rPr sz="2000" b="0">
                <a:solidFill>
                  <a:srgbClr val="222222"/>
                </a:solidFill>
                <a:latin typeface="Calibri"/>
              </a:rPr>
              <a:t>It prevents orphaned records, e.g. a Loan for a MemberID that does not exist.</a:t>
            </a:r>
          </a:p>
          <a:p>
            <a:pPr/>
            <a:r>
              <a:rPr sz="2000" b="0">
                <a:solidFill>
                  <a:srgbClr val="222222"/>
                </a:solidFill>
                <a:latin typeface="Calibri"/>
              </a:rPr>
              <a:t>The DBMS enforces it: you cannot insert a foreign key value with no matching primary key.</a:t>
            </a:r>
          </a:p>
          <a:p>
            <a:pPr/>
            <a:r>
              <a:rPr sz="2000" b="0">
                <a:solidFill>
                  <a:srgbClr val="222222"/>
                </a:solidFill>
                <a:latin typeface="Calibri"/>
              </a:rPr>
              <a:t>You cannot delete a record while foreign keys elsewhere still reference it, e.g. a customer with outstanding orders.</a:t>
            </a:r>
          </a:p>
          <a:p>
            <a:pPr/>
            <a:r>
              <a:rPr sz="2000" b="0">
                <a:solidFill>
                  <a:srgbClr val="222222"/>
                </a:solidFill>
                <a:latin typeface="Calibri"/>
              </a:rPr>
              <a:t>Foreign keys are therefore the mechanism that keeps relationships between tables consistent.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Transactions, ACID and record locking</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 transaction is one logical operation, e.g. a money transfer; all steps commit or all roll back.</a:t>
            </a:r>
          </a:p>
          <a:p>
            <a:pPr/>
            <a:r>
              <a:rPr sz="2000" b="0">
                <a:solidFill>
                  <a:srgbClr val="222222"/>
                </a:solidFill>
                <a:latin typeface="Calibri"/>
              </a:rPr>
              <a:t>Atomicity: all-or-nothing. Consistency: rules and constraints hold before and after. Isolation: concurrent transactions cannot interfere. Durability: committed changes survive failure.</a:t>
            </a:r>
          </a:p>
          <a:p>
            <a:pPr/>
            <a:r>
              <a:rPr sz="2000" b="0">
                <a:solidFill>
                  <a:srgbClr val="222222"/>
                </a:solidFill>
                <a:latin typeface="Calibri"/>
              </a:rPr>
              <a:t>Record locking prevents the lost update problem when two users edit the same record concurrently.</a:t>
            </a:r>
          </a:p>
          <a:p>
            <a:pPr/>
            <a:r>
              <a:rPr sz="2000" b="0">
                <a:solidFill>
                  <a:srgbClr val="222222"/>
                </a:solidFill>
                <a:latin typeface="Calibri"/>
              </a:rPr>
              <a:t>Locking risks deadlock: two transactions each wait for a record the other has locked; the DBMS aborts one.</a:t>
            </a:r>
          </a:p>
          <a:p>
            <a:pPr/>
            <a:r>
              <a:rPr sz="2000" b="0">
                <a:solidFill>
                  <a:srgbClr val="222222"/>
                </a:solidFill>
                <a:latin typeface="Calibri"/>
              </a:rPr>
              <a:t>Redundancy here means duplicate hardware or copies of data (backups, mirrored servers) for reliability — unlike bad data redundancy.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Capturing, selecting, managing and exchanging data</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Capture methods: paper forms with OMR (multiple-choice sheets), OCR (scanned text), barcodes and QR codes, sensors, online forms.</a:t>
            </a:r>
          </a:p>
          <a:p>
            <a:pPr/>
            <a:r>
              <a:rPr sz="2000" b="0">
                <a:solidFill>
                  <a:srgbClr val="222222"/>
                </a:solidFill>
                <a:latin typeface="Calibri"/>
              </a:rPr>
              <a:t>Choose the method for the context: OMR for lottery slips and registers; barcodes for stock at tills.</a:t>
            </a:r>
          </a:p>
          <a:p>
            <a:pPr/>
            <a:r>
              <a:rPr sz="2000" b="0">
                <a:solidFill>
                  <a:srgbClr val="222222"/>
                </a:solidFill>
                <a:latin typeface="Calibri"/>
              </a:rPr>
              <a:t>Selecting and managing: captured data is validated, then SQL queries select the required subset from the database.</a:t>
            </a:r>
          </a:p>
          <a:p>
            <a:pPr/>
            <a:r>
              <a:rPr sz="2000" b="0">
                <a:solidFill>
                  <a:srgbClr val="222222"/>
                </a:solidFill>
                <a:latin typeface="Calibri"/>
              </a:rPr>
              <a:t>Exchange formats: CSV, JSON and XML move structured data between systems; EDI exchanges business documents computer-to-computer.</a:t>
            </a:r>
          </a:p>
          <a:p>
            <a:pPr/>
            <a:r>
              <a:rPr sz="2000" b="0">
                <a:solidFill>
                  <a:srgbClr val="222222"/>
                </a:solidFill>
                <a:latin typeface="Calibri"/>
              </a:rPr>
              <a:t>Well-chosen capture and exchange methods reduce manual entry, cost and transcription errors.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1</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Normalising school enrolments to 3NF</a:t>
            </a:r>
          </a:p>
          <a:p>
            <a:pPr lvl="1"/>
            <a:r>
              <a:rPr sz="1900" b="0">
                <a:solidFill>
                  <a:srgbClr val="222222"/>
                </a:solidFill>
                <a:latin typeface="Calibri"/>
              </a:rPr>
              <a:t>1. Unnormalised data: Student 101 Ada Lovelace, tutor group 12A, takes CS01 Computer Science with Mr Khan in room T5 and MA02 Maths with Mrs Cole in room T9. Student 102 Alan Turing, 12B, takes CS01 Computer Science with Mr Khan in T5.</a:t>
            </a:r>
          </a:p>
          <a:p>
            <a:pPr lvl="1"/>
            <a:r>
              <a:rPr sz="1900" b="0">
                <a:solidFill>
                  <a:srgbClr val="222222"/>
                </a:solidFill>
                <a:latin typeface="Calibri"/>
              </a:rPr>
              <a:t>2. 1NF — remove the repeating group of courses so every value is atomic: Enrolment(StudentID, Name, TutorGroup, CourseID, CourseName, Teacher, Room) with composite primary key (StudentID, CourseID). Three rows: 101/CS01, 101/MA02, 102/CS01.</a:t>
            </a:r>
          </a:p>
          <a:p>
            <a:pPr lvl="1"/>
            <a:r>
              <a:rPr sz="1900" b="0">
                <a:solidFill>
                  <a:srgbClr val="222222"/>
                </a:solidFill>
                <a:latin typeface="Calibri"/>
              </a:rPr>
              <a:t>3. Spot the redundancy: Ada's name and 12A appear twice; Computer Science, Mr Khan and T5 appear twice — an update anomaly waiting to happen.</a:t>
            </a:r>
          </a:p>
          <a:p>
            <a:pPr lvl="1"/>
            <a:r>
              <a:rPr sz="1900" b="0">
                <a:solidFill>
                  <a:srgbClr val="222222"/>
                </a:solidFill>
                <a:latin typeface="Calibri"/>
              </a:rPr>
              <a:t>4. 2NF — remove partial dependencies. Name and TutorGroup depend only on StudentID; CourseName, Teacher and Room depend only on CourseID. Each depends on part of the composite key, not the whole key.</a:t>
            </a:r>
          </a:p>
          <a:p>
            <a:pPr lvl="1"/>
            <a:r>
              <a:rPr sz="1900" b="0">
                <a:solidFill>
                  <a:srgbClr val="222222"/>
                </a:solidFill>
                <a:latin typeface="Calibri"/>
              </a:rPr>
              <a:t>5. 2NF tables: Student(StudentID, Name, TutorGroup), Course(CourseID, CourseName, Teacher, Room), Enrolment(StudentID, CourseID) with composite key of two foreign keys.</a:t>
            </a:r>
          </a:p>
          <a:p>
            <a:pPr lvl="1"/>
            <a:r>
              <a:rPr sz="1900" b="0">
                <a:solidFill>
                  <a:srgbClr val="222222"/>
                </a:solidFill>
                <a:latin typeface="Calibri"/>
              </a:rPr>
              <a:t>6. 3NF — remove the transitive dependency. In Course, Room depends on Teacher (a non-key attribute), not directly on CourseID: Mr Khan always teaches in T5.</a:t>
            </a:r>
          </a:p>
          <a:p>
            <a:pPr lvl="1"/>
            <a:r>
              <a:rPr sz="1900" b="0">
                <a:solidFill>
                  <a:srgbClr val="222222"/>
                </a:solidFill>
                <a:latin typeface="Calibri"/>
              </a:rPr>
              <a:t>7. 3NF tables: Student(StudentID, Name, TutorGroup), Course(CourseID, CourseName, TeacherID), Teacher(TeacherID, TeacherName, Room), Enrolment(StudentID, CourseID).</a:t>
            </a:r>
          </a:p>
          <a:p>
            <a:pPr lvl="1"/>
            <a:r>
              <a:rPr sz="1900" b="0">
                <a:solidFill>
                  <a:srgbClr val="222222"/>
                </a:solidFill>
                <a:latin typeface="Calibri"/>
              </a:rPr>
              <a:t>8. Check: every non-key attribute now depends on the key, the whole key, and nothing but the key; each fact is stored exactly once.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2</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Tracing a SQL JOIN on two tables</a:t>
            </a:r>
          </a:p>
          <a:p>
            <a:pPr lvl="1"/>
            <a:r>
              <a:rPr sz="1900" b="0">
                <a:solidFill>
                  <a:srgbClr val="222222"/>
                </a:solidFill>
                <a:latin typeface="Calibri"/>
              </a:rPr>
              <a:t>1. Tables with data — Member(MemberID, Name): (1, Asha), (2, Ben), (3, Cara). Loan(LoanID, MemberID, BookTitle): (10, 1, Dune), (11, 3, Emma), (12, 1, Holes).</a:t>
            </a:r>
          </a:p>
          <a:p>
            <a:pPr lvl="1"/>
            <a:r>
              <a:rPr sz="1900" b="0">
                <a:solidFill>
                  <a:srgbClr val="222222"/>
                </a:solidFill>
                <a:latin typeface="Calibri"/>
              </a:rPr>
              <a:t>2. MemberID in Loan is the foreign key linking to the primary key MemberID in Member.</a:t>
            </a:r>
          </a:p>
          <a:p>
            <a:pPr lvl="1"/>
            <a:r>
              <a:rPr sz="1900" b="0">
                <a:solidFill>
                  <a:srgbClr val="222222"/>
                </a:solidFill>
                <a:latin typeface="Calibri"/>
              </a:rPr>
              <a:t>3. Query: SELECT Member.Name, Loan.BookTitle FROM Member JOIN Loan ON Member.MemberID = Loan.MemberID ORDER BY Member.Name ASC;</a:t>
            </a:r>
          </a:p>
          <a:p>
            <a:pPr lvl="1"/>
            <a:r>
              <a:rPr sz="1900" b="0">
                <a:solidFill>
                  <a:srgbClr val="222222"/>
                </a:solidFill>
                <a:latin typeface="Calibri"/>
              </a:rPr>
              <a:t>4. Match each Loan row to the Member row with the same MemberID: loan 10 matches member 1 (Asha), loan 11 matches member 3 (Cara), loan 12 matches member 1 (Asha).</a:t>
            </a:r>
          </a:p>
          <a:p>
            <a:pPr lvl="1"/>
            <a:r>
              <a:rPr sz="1900" b="0">
                <a:solidFill>
                  <a:srgbClr val="222222"/>
                </a:solidFill>
                <a:latin typeface="Calibri"/>
              </a:rPr>
              <a:t>5. Apply ORDER BY Name ascending. Exact result, 3 rows: (Asha, Dune), (Asha, Holes), (Cara, Emma).</a:t>
            </a:r>
          </a:p>
          <a:p>
            <a:pPr lvl="1"/>
            <a:r>
              <a:rPr sz="1900" b="0">
                <a:solidFill>
                  <a:srgbClr val="222222"/>
                </a:solidFill>
                <a:latin typeface="Calibri"/>
              </a:rPr>
              <a:t>6. Ben (MemberID 2) appears in no result row: he has no loans, and a JOIN only returns rows where the keys match on both sides.</a:t>
            </a:r>
          </a:p>
          <a:p>
            <a:pPr lvl="1"/>
            <a:r>
              <a:rPr sz="1900" b="0">
                <a:solidFill>
                  <a:srgbClr val="222222"/>
                </a:solidFill>
                <a:latin typeface="Calibri"/>
              </a:rPr>
              <a:t>7. Referential integrity guarantees every Loan.MemberID exists in Member, so no loan is ever orphaned.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3</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ACID and the lost update: transferring 30 pounds</a:t>
            </a:r>
          </a:p>
          <a:p>
            <a:pPr lvl="1"/>
            <a:r>
              <a:rPr sz="1900" b="0">
                <a:solidFill>
                  <a:srgbClr val="222222"/>
                </a:solidFill>
                <a:latin typeface="Calibri"/>
              </a:rPr>
              <a:t>1. Accounts: A holds 50 pounds, B holds 20 pounds. Consistency rule: the total must always be 70 pounds.</a:t>
            </a:r>
          </a:p>
          <a:p>
            <a:pPr lvl="1"/>
            <a:r>
              <a:rPr sz="1900" b="0">
                <a:solidFill>
                  <a:srgbClr val="222222"/>
                </a:solidFill>
                <a:latin typeface="Calibri"/>
              </a:rPr>
              <a:t>2. Transaction: TRANSFER 30 from A to B = two steps: debit A (A becomes 20), credit B (B becomes 50).</a:t>
            </a:r>
          </a:p>
          <a:p>
            <a:pPr lvl="1"/>
            <a:r>
              <a:rPr sz="1900" b="0">
                <a:solidFill>
                  <a:srgbClr val="222222"/>
                </a:solidFill>
                <a:latin typeface="Calibri"/>
              </a:rPr>
              <a:t>3. Power failure after the debit but before the credit leaves A = 20, B = 20 — total 60, so 10 pounds has vanished and consistency is broken.</a:t>
            </a:r>
          </a:p>
          <a:p>
            <a:pPr lvl="1"/>
            <a:r>
              <a:rPr sz="1900" b="0">
                <a:solidFill>
                  <a:srgbClr val="222222"/>
                </a:solidFill>
                <a:latin typeface="Calibri"/>
              </a:rPr>
              <a:t>4. Atomicity fixes this: the whole transaction rolls back to A = 50, B = 20; either both steps commit or neither does.</a:t>
            </a:r>
          </a:p>
          <a:p>
            <a:pPr lvl="1"/>
            <a:r>
              <a:rPr sz="1900" b="0">
                <a:solidFill>
                  <a:srgbClr val="222222"/>
                </a:solidFill>
                <a:latin typeface="Calibri"/>
              </a:rPr>
              <a:t>5. Durability: once the successful transfer commits (A = 20, B = 50), it is stored permanently and survives any later crash.</a:t>
            </a:r>
          </a:p>
          <a:p>
            <a:pPr lvl="1"/>
            <a:r>
              <a:rPr sz="1900" b="0">
                <a:solidFill>
                  <a:srgbClr val="222222"/>
                </a:solidFill>
                <a:latin typeface="Calibri"/>
              </a:rPr>
              <a:t>6. Lost update without locking: two clerks both read A as 50. Clerk 1 withdraws 10 and writes 40; clerk 2 withdraws 20 and writes 30. Correct balance is 50 - 10 - 20 = 20, but the database shows 30 — clerk 1's update was lost.</a:t>
            </a:r>
          </a:p>
          <a:p>
            <a:pPr lvl="1"/>
            <a:r>
              <a:rPr sz="1900" b="0">
                <a:solidFill>
                  <a:srgbClr val="222222"/>
                </a:solidFill>
                <a:latin typeface="Calibri"/>
              </a:rPr>
              <a:t>7. Record locking (Isolation): clerk 2 must wait until clerk 1 commits, then reads 40 and writes 20 — the correct result.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1</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Normalisation card sort: from chaos to 3NF  (20 min)</a:t>
            </a:r>
          </a:p>
          <a:p>
            <a:pPr lvl="1"/>
            <a:r>
              <a:rPr sz="2000" b="0">
                <a:solidFill>
                  <a:srgbClr val="222222"/>
                </a:solidFill>
                <a:latin typeface="Calibri"/>
              </a:rPr>
              <a:t>In groups of 3-4, copy each field value of this record onto separate cards: Student 101 Ada Lovelace, 12A, takes CS01 Computer Science with Mr Khan in T5 and MA02 Maths with Mrs Cole in T9; Student 102 Alan Turing, 12B, takes CS01 with Mr Khan in T5.</a:t>
            </a:r>
          </a:p>
          <a:p>
            <a:pPr lvl="1"/>
            <a:r>
              <a:rPr sz="2000" b="0">
                <a:solidFill>
                  <a:srgbClr val="222222"/>
                </a:solidFill>
                <a:latin typeface="Calibri"/>
              </a:rPr>
              <a:t>To 1NF: lay the cards out as one flat table, one row per student-per-course, and agree a primary key. Which data appears more than once?</a:t>
            </a:r>
          </a:p>
          <a:p>
            <a:pPr lvl="1"/>
            <a:r>
              <a:rPr sz="2000" b="0">
                <a:solidFill>
                  <a:srgbClr val="222222"/>
                </a:solidFill>
                <a:latin typeface="Calibri"/>
              </a:rPr>
              <a:t>To 2NF: split into separate physical tables so no attribute depends on only part of the composite key. Does Name depend on CourseID? Does CourseName depend on StudentID?</a:t>
            </a:r>
          </a:p>
          <a:p>
            <a:pPr lvl="1"/>
            <a:r>
              <a:rPr sz="2000" b="0">
                <a:solidFill>
                  <a:srgbClr val="222222"/>
                </a:solidFill>
                <a:latin typeface="Calibri"/>
              </a:rPr>
              <a:t>To 3NF: hunt the transitive dependency — does Room depend on the course, or on the teacher? Split again.</a:t>
            </a:r>
          </a:p>
          <a:p>
            <a:pPr lvl="1"/>
            <a:r>
              <a:rPr sz="2000" b="0">
                <a:solidFill>
                  <a:srgbClr val="222222"/>
                </a:solidFill>
                <a:latin typeface="Calibri"/>
              </a:rPr>
              <a:t>Walk to another table and peer-check: every table has a primary key, and the key, the whole key, and nothing but the key.</a:t>
            </a:r>
          </a:p>
          <a:p>
            <a:pPr/>
            <a:r>
              <a:rPr sz="1800" b="0">
                <a:solidFill>
                  <a:srgbClr val="B76E00"/>
                </a:solidFill>
                <a:latin typeface="Calibri"/>
              </a:rPr>
              <a:t>Stretch: Add a card saying Student 101 also takes CS01 in a second lesson slot. Does the current primary key still work? What must join the key?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2</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SQL A and E: spot and fix  (12 min)</a:t>
            </a:r>
          </a:p>
          <a:p>
            <a:pPr lvl="1"/>
            <a:r>
              <a:rPr sz="2000" b="0">
                <a:solidFill>
                  <a:srgbClr val="222222"/>
                </a:solidFill>
                <a:latin typeface="Calibri"/>
              </a:rPr>
              <a:t>Schema on the board: Student(StudentID, Name, Age, TutorGroup). Work in pairs with mini-whiteboards.</a:t>
            </a:r>
          </a:p>
          <a:p>
            <a:pPr lvl="1"/>
            <a:r>
              <a:rPr sz="2000" b="0">
                <a:solidFill>
                  <a:srgbClr val="222222"/>
                </a:solidFill>
                <a:latin typeface="Calibri"/>
              </a:rPr>
              <a:t>Diagnose and correct each injured query as it is revealed: (a) SELECT Name, FROM Student WHERE Age &gt; 16 (b) SELECT * FROM Student WHERE Name = Amir (c) SELECT Name FROM Student ORDER BY Age WHERE Age &gt; 16 (d) DELETE Student WHERE StudentID = 12 (e) SELECT Name FROM Student WHERE Name LIKE '%S' when names beginning with S are wanted (f) UPDATE Student SET Age = 17 StudentID = 3 when only student 3 should change.</a:t>
            </a:r>
          </a:p>
          <a:p>
            <a:pPr lvl="1"/>
            <a:r>
              <a:rPr sz="2000" b="0">
                <a:solidFill>
                  <a:srgbClr val="222222"/>
                </a:solidFill>
                <a:latin typeface="Calibri"/>
              </a:rPr>
              <a:t>Hold up corrections on a count of three; one pair explains what the broken version would actually do if run.</a:t>
            </a:r>
          </a:p>
          <a:p>
            <a:pPr lvl="1"/>
            <a:r>
              <a:rPr sz="2000" b="0">
                <a:solidFill>
                  <a:srgbClr val="222222"/>
                </a:solidFill>
                <a:latin typeface="Calibri"/>
              </a:rPr>
              <a:t>Fixes to reach: (a) remove stray comma; (b) quotes around 'Amir'; (c) WHERE before ORDER BY; (d) DELETE FROM; (e) LIKE 'S%'; (f) add the WHERE keyword — without it every student becomes 17.</a:t>
            </a:r>
          </a:p>
          <a:p>
            <a:pPr/>
            <a:r>
              <a:rPr sz="1800" b="0">
                <a:solidFill>
                  <a:srgbClr val="B76E00"/>
                </a:solidFill>
                <a:latin typeface="Calibri"/>
              </a:rPr>
              <a:t>Stretch: Write one deliberately broken JOIN ... ON query for another pair to fix.</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3</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The 70 pound bank job: ACID role play  (15 min)</a:t>
            </a:r>
          </a:p>
          <a:p>
            <a:pPr lvl="1"/>
            <a:r>
              <a:rPr sz="2000" b="0">
                <a:solidFill>
                  <a:srgbClr val="222222"/>
                </a:solidFill>
                <a:latin typeface="Calibri"/>
              </a:rPr>
              <a:t>Two students are accounts: A holds 50 pounds and B holds 20 pounds in counters; total 70 pounds is the consistency rule on the board.</a:t>
            </a:r>
          </a:p>
          <a:p>
            <a:pPr lvl="1"/>
            <a:r>
              <a:rPr sz="2000" b="0">
                <a:solidFill>
                  <a:srgbClr val="222222"/>
                </a:solidFill>
                <a:latin typeface="Calibri"/>
              </a:rPr>
              <a:t>A teller performs TRANSFER 30 from A to B in two steps; the teacher shouts POWER CUT after the debit. Where is the money? The class decides what the database must do (rollback — atomicity).</a:t>
            </a:r>
          </a:p>
          <a:p>
            <a:pPr lvl="1"/>
            <a:r>
              <a:rPr sz="2000" b="0">
                <a:solidFill>
                  <a:srgbClr val="222222"/>
                </a:solidFill>
                <a:latin typeface="Calibri"/>
              </a:rPr>
              <a:t>Re-run successfully and record the committed balances on the board ledger; wipe all whiteboards to crash the room — the ledger survives (durability).</a:t>
            </a:r>
          </a:p>
          <a:p>
            <a:pPr lvl="1"/>
            <a:r>
              <a:rPr sz="2000" b="0">
                <a:solidFill>
                  <a:srgbClr val="222222"/>
                </a:solidFill>
                <a:latin typeface="Calibri"/>
              </a:rPr>
              <a:t>Lost update round: two tellers both read A as 50; teller 1 withdraws 10 and writes 40, teller 2 withdraws 20 and writes 30. What should A hold? What does it hold?</a:t>
            </a:r>
          </a:p>
          <a:p>
            <a:pPr lvl="1"/>
            <a:r>
              <a:rPr sz="2000" b="0">
                <a:solidFill>
                  <a:srgbClr val="222222"/>
                </a:solidFill>
                <a:latin typeface="Calibri"/>
              </a:rPr>
              <a:t>Re-run with record locking: teller 2 waits, arms crossed, until teller 1 commits. Debrief all four ACID letters, with isolation shown by the lock.</a:t>
            </a:r>
          </a:p>
          <a:p>
            <a:pPr/>
            <a:r>
              <a:rPr sz="1800" b="0">
                <a:solidFill>
                  <a:srgbClr val="B76E00"/>
                </a:solidFill>
                <a:latin typeface="Calibri"/>
              </a:rPr>
              <a:t>Stretch: Stage a deadlock: teller 1 locks account A and waits for B while teller 2 locks B and waits for A. How should the DBMS escape?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(1-4)</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State what is meant by a foreign key. (1)</a:t>
            </a:r>
          </a:p>
          <a:p>
            <a:r>
              <a:rPr sz="2000" b="1">
                <a:solidFill>
                  <a:srgbClr val="222222"/>
                </a:solidFill>
                <a:latin typeface="Calibri"/>
              </a:rPr>
              <a:t>2. Describe how a many-to-many relationship between Student and Course is implemented in a relational database. (3)</a:t>
            </a:r>
          </a:p>
          <a:p>
            <a:r>
              <a:rPr sz="2000" b="1">
                <a:solidFill>
                  <a:srgbClr val="222222"/>
                </a:solidFill>
                <a:latin typeface="Calibri"/>
              </a:rPr>
              <a:t>3. A table Order(OrderID, CustomerID, CustomerName, CustomerEmail) is in 2NF. Explain why it is not in 3NF and how to fix it. (3)</a:t>
            </a:r>
          </a:p>
          <a:p>
            <a:r>
              <a:rPr sz="2000" b="1">
                <a:solidFill>
                  <a:srgbClr val="222222"/>
                </a:solidFill>
                <a:latin typeface="Calibri"/>
              </a:rPr>
              <a:t>4. The table Member(MemberID, Forename, Surname, Town, Email) is used by a library. Write an SQL statement to display the Forename and Email of all members who live in Oxford, sorted by Forename in ascending order. (4)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 answers (1-4)</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State what is meant by a foreign key. (1)</a:t>
            </a:r>
          </a:p>
          <a:p>
            <a:pPr lvl="1"/>
            <a:r>
              <a:rPr sz="1800" i="1">
                <a:solidFill>
                  <a:srgbClr val="B76E00"/>
                </a:solidFill>
                <a:latin typeface="Calibri"/>
              </a:rPr>
              <a:t>Answer: An attribute in one table that is the primary key of another table, used to link the two tables.</a:t>
            </a:r>
          </a:p>
          <a:p>
            <a:r>
              <a:rPr sz="2000" b="1">
                <a:solidFill>
                  <a:srgbClr val="222222"/>
                </a:solidFill>
                <a:latin typeface="Calibri"/>
              </a:rPr>
              <a:t>2. Describe how a many-to-many relationship between Student and Course is implemented in a relational database. (3)</a:t>
            </a:r>
          </a:p>
          <a:p>
            <a:pPr lvl="1"/>
            <a:r>
              <a:rPr sz="1800" i="1">
                <a:solidFill>
                  <a:srgbClr val="B76E00"/>
                </a:solidFill>
                <a:latin typeface="Calibri"/>
              </a:rPr>
              <a:t>Answer: A linking (junction) table such as Enrolment is created (1); it contains the foreign keys StudentID and CourseID, together forming a composite primary key (1); this converts the many-to-many relationship into two one-to-many relationships (1).</a:t>
            </a:r>
          </a:p>
          <a:p>
            <a:r>
              <a:rPr sz="2000" b="1">
                <a:solidFill>
                  <a:srgbClr val="222222"/>
                </a:solidFill>
                <a:latin typeface="Calibri"/>
              </a:rPr>
              <a:t>3. A table Order(OrderID, CustomerID, CustomerName, CustomerEmail) is in 2NF. Explain why it is not in 3NF and how to fix it. (3)</a:t>
            </a:r>
          </a:p>
          <a:p>
            <a:pPr lvl="1"/>
            <a:r>
              <a:rPr sz="1800" i="1">
                <a:solidFill>
                  <a:srgbClr val="B76E00"/>
                </a:solidFill>
                <a:latin typeface="Calibri"/>
              </a:rPr>
              <a:t>Answer: CustomerName and CustomerEmail depend on CustomerID, a non-key attribute, not on the primary key OrderID — a transitive dependency (1), so the table is not in 3NF. Fix: move them into Customer(CustomerID, CustomerName, CustomerEmail) (1), leaving Order(OrderID, CustomerID) with CustomerID as a foreign key (1).</a:t>
            </a:r>
          </a:p>
          <a:p>
            <a:r>
              <a:rPr sz="2000" b="1">
                <a:solidFill>
                  <a:srgbClr val="222222"/>
                </a:solidFill>
                <a:latin typeface="Calibri"/>
              </a:rPr>
              <a:t>4. The table Member(MemberID, Forename, Surname, Town, Email) is used by a library. Write an SQL statement to display the Forename and Email of all members who live in Oxford, sorted by Forename in ascending order. (4)</a:t>
            </a:r>
          </a:p>
          <a:p>
            <a:pPr lvl="1"/>
            <a:r>
              <a:rPr sz="1800" i="1">
                <a:solidFill>
                  <a:srgbClr val="B76E00"/>
                </a:solidFill>
                <a:latin typeface="Calibri"/>
              </a:rPr>
              <a:t>Answer: SELECT Forename, Email FROM Member WHERE Town = 'Oxford' ORDER BY Forename ASC; — one mark each for SELECT with correct fields, FROM Member, WHERE Town = 'Oxford' with quotes, ORDER BY Forename ASC.</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(5-8)</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Write an SQL statement to add member 501, Leo Cole, from Bath, email leo@mail.com, to the Member table. (3)</a:t>
            </a:r>
          </a:p>
          <a:p>
            <a:r>
              <a:rPr sz="2000" b="1">
                <a:solidFill>
                  <a:srgbClr val="222222"/>
                </a:solidFill>
                <a:latin typeface="Calibri"/>
              </a:rPr>
              <a:t>2. Explain why the statement UPDATE Member SET Town = 'York'; is dangerous and correct it so only member 501 is changed. (2)</a:t>
            </a:r>
          </a:p>
          <a:p>
            <a:r>
              <a:rPr sz="2000" b="1">
                <a:solidFill>
                  <a:srgbClr val="222222"/>
                </a:solidFill>
                <a:latin typeface="Calibri"/>
              </a:rPr>
              <a:t>3. A bank transfers money between two accounts as a single transaction. Explain how atomicity and durability protect this transaction. (4)</a:t>
            </a:r>
          </a:p>
          <a:p>
            <a:r>
              <a:rPr sz="2000" b="1">
                <a:solidFill>
                  <a:srgbClr val="222222"/>
                </a:solidFill>
                <a:latin typeface="Calibri"/>
              </a:rPr>
              <a:t>4. Two employees open the same stock record at the same time. Describe the problem that could occur and how record locking prevents it. (3)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 answers (5-8)</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Write an SQL statement to add member 501, Leo Cole, from Bath, email leo@mail.com, to the Member table. (3)</a:t>
            </a:r>
          </a:p>
          <a:p>
            <a:pPr lvl="1"/>
            <a:r>
              <a:rPr sz="1800" i="1">
                <a:solidFill>
                  <a:srgbClr val="B76E00"/>
                </a:solidFill>
                <a:latin typeface="Calibri"/>
              </a:rPr>
              <a:t>Answer: INSERT INTO Member (MemberID, Forename, Surname, Town, Email) VALUES (501, 'Leo', 'Cole', 'Bath', 'leo@mail.com'); — marks for INSERT INTO Member with field list, VALUES keyword, and correct values in matching order with quotes around text.</a:t>
            </a:r>
          </a:p>
          <a:p>
            <a:r>
              <a:rPr sz="2000" b="1">
                <a:solidFill>
                  <a:srgbClr val="222222"/>
                </a:solidFill>
                <a:latin typeface="Calibri"/>
              </a:rPr>
              <a:t>2. Explain why the statement UPDATE Member SET Town = 'York'; is dangerous and correct it so only member 501 is changed. (2)</a:t>
            </a:r>
          </a:p>
          <a:p>
            <a:pPr lvl="1"/>
            <a:r>
              <a:rPr sz="1800" i="1">
                <a:solidFill>
                  <a:srgbClr val="B76E00"/>
                </a:solidFill>
                <a:latin typeface="Calibri"/>
              </a:rPr>
              <a:t>Answer: Without a WHERE clause the UPDATE changes the Town of every record in the table (1). Correct version: UPDATE Member SET Town = 'York' WHERE MemberID = 501; (1).</a:t>
            </a:r>
          </a:p>
          <a:p>
            <a:r>
              <a:rPr sz="2000" b="1">
                <a:solidFill>
                  <a:srgbClr val="222222"/>
                </a:solidFill>
                <a:latin typeface="Calibri"/>
              </a:rPr>
              <a:t>3. A bank transfers money between two accounts as a single transaction. Explain how atomicity and durability protect this transaction. (4)</a:t>
            </a:r>
          </a:p>
          <a:p>
            <a:pPr lvl="1"/>
            <a:r>
              <a:rPr sz="1800" i="1">
                <a:solidFill>
                  <a:srgbClr val="B76E00"/>
                </a:solidFill>
                <a:latin typeface="Calibri"/>
              </a:rPr>
              <a:t>Answer: Atomicity: the debit and credit are all-or-nothing (1); if any step fails the whole transaction is rolled back, so money is never taken without being deposited (1). Durability: once committed, the change is permanently stored (1) and survives a power or system failure, e.g. written to non-volatile storage (1).</a:t>
            </a:r>
          </a:p>
          <a:p>
            <a:r>
              <a:rPr sz="2000" b="1">
                <a:solidFill>
                  <a:srgbClr val="222222"/>
                </a:solidFill>
                <a:latin typeface="Calibri"/>
              </a:rPr>
              <a:t>4. Two employees open the same stock record at the same time. Describe the problem that could occur and how record locking prevents it. (3)</a:t>
            </a:r>
          </a:p>
          <a:p>
            <a:pPr lvl="1"/>
            <a:r>
              <a:rPr sz="1800" i="1">
                <a:solidFill>
                  <a:srgbClr val="B76E00"/>
                </a:solidFill>
                <a:latin typeface="Calibri"/>
              </a:rPr>
              <a:t>Answer: Both read the same starting value and each writes back an update, so the second write overwrites the first — the lost update problem (1). Record locking locks the record while the first transaction runs, so the second user must wait until it commits (1); the second update then starts from the committed value, so no update is lost (1).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Common misconceptions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 Students often think a primary key must be a single attribute, but a composite key of two or more attributes is common, e.g. in a linking table.</a:t>
            </a:r>
          </a:p>
          <a:p>
            <a:pPr/>
            <a:r>
              <a:rPr sz="2000" b="0">
                <a:solidFill>
                  <a:srgbClr val="222222"/>
                </a:solidFill>
                <a:latin typeface="Calibri"/>
              </a:rPr>
              <a:t>✗ Students often say a foreign key just links tables; the definition is that it is the primary key of another table — always name which one.</a:t>
            </a:r>
          </a:p>
          <a:p>
            <a:pPr/>
            <a:r>
              <a:rPr sz="2000" b="0">
                <a:solidFill>
                  <a:srgbClr val="222222"/>
                </a:solidFill>
                <a:latin typeface="Calibri"/>
              </a:rPr>
              <a:t>✗ Students often think normalisation means splitting into as many tables as possible, but each split must remove a named dependency: repeating group, partial or transitive.</a:t>
            </a:r>
          </a:p>
          <a:p>
            <a:pPr/>
            <a:r>
              <a:rPr sz="2000" b="0">
                <a:solidFill>
                  <a:srgbClr val="222222"/>
                </a:solidFill>
                <a:latin typeface="Calibri"/>
              </a:rPr>
              <a:t>✗ Students often believe a fully normalised database contains no repeated values anywhere, but foreign key values must repeat to create the links; only redundant duplication is removed.</a:t>
            </a:r>
          </a:p>
          <a:p>
            <a:pPr/>
            <a:r>
              <a:rPr sz="2000" b="0">
                <a:solidFill>
                  <a:srgbClr val="222222"/>
                </a:solidFill>
                <a:latin typeface="Calibri"/>
              </a:rPr>
              <a:t>✗ Students often treat all redundancy as bad: data redundancy causes anomalies, but hardware and backup redundancy is deliberately added for reliability.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How the exam asks this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Command words: State a definition (1 mark), Describe a process such as resolving M:N (2-3 marks), Explain with reasons for normalisation or ACID (3-4 marks).</a:t>
            </a:r>
          </a:p>
          <a:p>
            <a:pPr/>
            <a:r>
              <a:rPr sz="2000" b="0">
                <a:solidFill>
                  <a:srgbClr val="222222"/>
                </a:solidFill>
                <a:latin typeface="Calibri"/>
              </a:rPr>
              <a:t>SQL writing questions are typically 3-4 marks with one mark per correct clause; keep the order SELECT, FROM, WHERE, ORDER BY and quote text values.</a:t>
            </a:r>
          </a:p>
          <a:p>
            <a:pPr/>
            <a:r>
              <a:rPr sz="2000" b="0">
                <a:solidFill>
                  <a:srgbClr val="222222"/>
                </a:solidFill>
                <a:latin typeface="Calibri"/>
              </a:rPr>
              <a:t>Normalisation questions often give a 1NF table and ask you to produce 3NF tables, naming primary and foreign keys and the dependencies removed.</a:t>
            </a:r>
          </a:p>
          <a:p>
            <a:pPr/>
            <a:r>
              <a:rPr sz="2000" b="0">
                <a:solidFill>
                  <a:srgbClr val="222222"/>
                </a:solidFill>
                <a:latin typeface="Calibri"/>
              </a:rPr>
              <a:t>Example stem: A vet stores appointments in the single table Appointment(ApptID, PetID, PetName, OwnerName, Date). Explain why this design causes update anomalies and redesign it in 3NF. (6)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Your turn</a:t>
            </a:r>
          </a:p>
        </p:txBody>
      </p:sp>
      <p:sp>
        <p:nvSpPr>
          <p:cNvPr id="3" name="TextBox 2"/>
          <p:cNvSpPr txBox="1"/>
          <p:nvPr/>
        </p:nvSpPr>
        <p:spPr>
          <a:xfrm>
            <a:off x="640080" y="1280160"/>
            <a:ext cx="10881360" cy="5120640"/>
          </a:xfrm>
          <a:prstGeom prst="rect">
            <a:avLst/>
          </a:prstGeom>
          <a:noFill/>
        </p:spPr>
        <p:txBody>
          <a:bodyPr wrap="square">
            <a:spAutoFit/>
          </a:bodyPr>
          <a:lstStyle/>
          <a:p>
            <a:pPr/>
            <a:r>
              <a:rPr sz="2400" b="1">
                <a:solidFill>
                  <a:srgbClr val="2B6CB0"/>
                </a:solidFill>
                <a:latin typeface="Calibri"/>
              </a:rPr>
              <a:t>Task</a:t>
            </a:r>
          </a:p>
          <a:p>
            <a:pPr lvl="1"/>
            <a:r>
              <a:rPr sz="2200" b="0">
                <a:solidFill>
                  <a:srgbClr val="222222"/>
                </a:solidFill>
                <a:latin typeface="Calibri"/>
              </a:rPr>
              <a:t>For the tables Student(StudentID, Surname, Form) and Club(ClubID, ClubName) linked by Membership(StudentID, ClubID), draw the ER diagram, state why Membership exists and name its key, then write an SQL query using JOIN to list the Surname of every student in the club named 'Robotics'.</a:t>
            </a:r>
          </a:p>
          <a:p>
            <a:r>
              <a:rPr sz="2400" b="1">
                <a:solidFill>
                  <a:srgbClr val="B76E00"/>
                </a:solidFill>
                <a:latin typeface="Calibri"/>
              </a:rPr>
              <a:t>Challenge / stretch</a:t>
            </a:r>
          </a:p>
          <a:p>
            <a:pPr lvl="1"/>
            <a:r>
              <a:rPr sz="2200" b="0">
                <a:solidFill>
                  <a:srgbClr val="222222"/>
                </a:solidFill>
                <a:latin typeface="Calibri"/>
              </a:rPr>
              <a:t>A table Delivery(DeliveryID, DriverID, DriverName, VanReg, ParcelID, ParcelWeight, Postcode) is in 1NF with composite key (DeliveryID, ParcelID). Identify one partial and one transitive dependency, produce the full set of 3NF tables with primary and foreign keys, and state which anomaly each split prevents.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What must be removed to take a table from 2NF to 3NF?</a:t>
            </a:r>
          </a:p>
          <a:p>
            <a:r>
              <a:rPr sz="2200" b="1">
                <a:solidFill>
                  <a:srgbClr val="222222"/>
                </a:solidFill>
                <a:latin typeface="Calibri"/>
              </a:rPr>
              <a:t>2. Write the WHERE and ORDER BY clauses to find products whose Name starts with A, cheapest first, given Product(Name, Price).</a:t>
            </a:r>
          </a:p>
          <a:p>
            <a:r>
              <a:rPr sz="2200" b="1">
                <a:solidFill>
                  <a:srgbClr val="222222"/>
                </a:solidFill>
                <a:latin typeface="Calibri"/>
              </a:rPr>
              <a:t>3. State one benefit and one risk of record locking.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What must be removed to take a table from 2NF to 3NF?</a:t>
            </a:r>
          </a:p>
          <a:p>
            <a:pPr lvl="1"/>
            <a:r>
              <a:rPr sz="1800" i="1">
                <a:solidFill>
                  <a:srgbClr val="B76E00"/>
                </a:solidFill>
                <a:latin typeface="Calibri"/>
              </a:rPr>
              <a:t>Answer: Transitive dependencies — a non-key attribute depending on another non-key attribute is moved to its own table, so every non-key attribute depends only on the primary key.</a:t>
            </a:r>
          </a:p>
          <a:p>
            <a:r>
              <a:rPr sz="2200" b="1">
                <a:solidFill>
                  <a:srgbClr val="222222"/>
                </a:solidFill>
                <a:latin typeface="Calibri"/>
              </a:rPr>
              <a:t>2. Write the WHERE and ORDER BY clauses to find products whose Name starts with A, cheapest first, given Product(Name, Price).</a:t>
            </a:r>
          </a:p>
          <a:p>
            <a:pPr lvl="1"/>
            <a:r>
              <a:rPr sz="1800" i="1">
                <a:solidFill>
                  <a:srgbClr val="B76E00"/>
                </a:solidFill>
                <a:latin typeface="Calibri"/>
              </a:rPr>
              <a:t>Answer: WHERE Name LIKE 'A%' ORDER BY Price ASC — the % wildcard matches any characters after A and ASC sorts lowest price first.</a:t>
            </a:r>
          </a:p>
          <a:p>
            <a:r>
              <a:rPr sz="2200" b="1">
                <a:solidFill>
                  <a:srgbClr val="222222"/>
                </a:solidFill>
                <a:latin typeface="Calibri"/>
              </a:rPr>
              <a:t>3. State one benefit and one risk of record locking.</a:t>
            </a:r>
          </a:p>
          <a:p>
            <a:pPr lvl="1"/>
            <a:r>
              <a:rPr sz="1800" i="1">
                <a:solidFill>
                  <a:srgbClr val="B76E00"/>
                </a:solidFill>
                <a:latin typeface="Calibri"/>
              </a:rPr>
              <a:t>Answer: Benefit: it prevents the lost update problem, keeping concurrent transactions isolated. Risk: deadlock, where two transactions each wait forever for the record the other has locked.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