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65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1.2.4 Types of Programming Language</a:t>
            </a:r>
          </a:p>
          <a:p>
            <a:r>
              <a:rPr sz="2000" b="0" i="0">
                <a:solidFill>
                  <a:srgbClr val="BED3EC"/>
                </a:solidFill>
                <a:latin typeface="Calibri"/>
              </a:rPr>
              <a:t>OCR H446 — Component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9AB4D6"/>
                </a:solidFill>
                <a:latin typeface="Calibri"/>
              </a:rPr>
              <a:t>Week 09 (09 Nov)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By the end of this lesson you can: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Explain the need for programming paradigms and characterise procedural and object-oriented programming.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and trace short Little Man Computer programs using the standard instruction set.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Determine the value used by an instruction under immediate, direct, indirect and indexed addressing.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Define and apply class, object, method, attribute, inheritance, encapsulation and polymorphism.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retrieval starter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stage of compilation builds the parse tree and reports a missing bracket?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How do a compiler and an interpreter differ in reporting errors?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the three categories of test data and what the program should do with each.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the defining feature of the Agile methodology?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fixes the order of two steps when you decompose a problem?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Do Now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Which stage of compilation builds the parse tree and reports a missing bracket?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Syntax analysis: tokens are checked against the grammar rules and syntax errors are reported (1.2.2).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How do a compiler and an interpreter differ in reporting errors?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compiler reports all errors in a list at the end of translation; an interpreter stops at the first error it reaches (1.2.2).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the three categories of test data and what the program should do with each.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Normal, accepted; boundary, the exact range edges, accepted; erroneous, out of range, rejected gracefully (1.2.3).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4. What is the defining feature of the Agile methodology?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Iterative increments with continuous client feedback so changing requirements are absorbed (1.2.3).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5. What fixes the order of two steps when you decompose a problem?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data dependency: a step that consumes the output of an earlier step must run after it (2.1.3).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Key terminology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b="1" sz="2000">
                <a:solidFill>
                  <a:srgbClr val="1A365D"/>
                </a:solidFill>
                <a:latin typeface="Calibri"/>
              </a:rPr>
              <a:t>Paradigm</a:t>
            </a:r>
            <a:r>
              <a:rPr sz="1800">
                <a:solidFill>
                  <a:srgbClr val="222222"/>
                </a:solidFill>
                <a:latin typeface="Calibri"/>
              </a:rPr>
              <a:t> — A style or approach to writing programs; chosen to make a problem easier to solve and maintain.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Assembly language</a:t>
            </a:r>
            <a:r>
              <a:rPr sz="1800">
                <a:solidFill>
                  <a:srgbClr val="222222"/>
                </a:solidFill>
                <a:latin typeface="Calibri"/>
              </a:rPr>
              <a:t> — A low-level, processor-specific language using mnemonics, roughly one per machine instruction.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Immediate addressing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The operand itself is the value to be used, with no memory lookup.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Indirect addressing</a:t>
            </a:r>
            <a:r>
              <a:rPr sz="1800">
                <a:solidFill>
                  <a:srgbClr val="222222"/>
                </a:solidFill>
                <a:latin typeface="Calibri"/>
              </a:rPr>
              <a:t> — The operand is the address of a location that holds the address of the value.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Class</a:t>
            </a:r>
            <a:r>
              <a:rPr sz="1800">
                <a:solidFill>
                  <a:srgbClr val="222222"/>
                </a:solidFill>
                <a:latin typeface="Calibri"/>
              </a:rPr>
              <a:t> — A template or blueprint defining the attributes and methods of a type of object.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Object</a:t>
            </a:r>
            <a:r>
              <a:rPr sz="1800">
                <a:solidFill>
                  <a:srgbClr val="222222"/>
                </a:solidFill>
                <a:latin typeface="Calibri"/>
              </a:rPr>
              <a:t> — A specific instance of a class, created by instantiation, with its own attribute values.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Encapsulation</a:t>
            </a:r>
            <a:r>
              <a:rPr sz="1800">
                <a:solidFill>
                  <a:srgbClr val="222222"/>
                </a:solidFill>
                <a:latin typeface="Calibri"/>
              </a:rPr>
              <a:t> — Bundling data with its methods and making attributes private, accessible only through public methods.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Inheritance</a:t>
            </a:r>
            <a:r>
              <a:rPr sz="1800">
                <a:solidFill>
                  <a:srgbClr val="222222"/>
                </a:solidFill>
                <a:latin typeface="Calibri"/>
              </a:rPr>
              <a:t> — A subclass acquiring the attributes and methods of a superclass, then adding or overriding them.</a:t>
            </a:r>
          </a:p>
          <a:p>
            <a:r>
              <a:rPr b="1" sz="2000">
                <a:solidFill>
                  <a:srgbClr val="1A365D"/>
                </a:solidFill>
                <a:latin typeface="Calibri"/>
              </a:rPr>
              <a:t>Polymorphism</a:t>
            </a:r>
            <a:r>
              <a:rPr sz="1800">
                <a:solidFill>
                  <a:srgbClr val="222222"/>
                </a:solidFill>
                <a:latin typeface="Calibri"/>
              </a:rPr>
              <a:t> — The same method name behaving differently depending on the object it is called 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Why paradigms exist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paradigm is a style or approach to writing programs.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No single style suits every task, so languages are built around different paradigms.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Procedural code states how to solve a problem step by step.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Object-oriented code models the problem as interacting objects.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Low-level languages trade readability for direct control of the hardware.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Procedural programming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Built from sequence, selection and iteration, organised into procedures and functions.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program is an ordered set of instructions operating on data.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Suits problems that decompose naturally into a series of steps.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Examples include Python, C and Pascal used in a procedural style.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Assembly language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low-level language using mnemonics such as ADD and STA.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Each mnemonic corresponds to roughly one machine code instruction.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It is processor-specific: code written for one architecture will not run on another.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Chosen for speed, small size or direct hardware control: device drivers and embedded systems.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assembler translates it to machine code one to one.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The LMC instruction 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INP reads input into the accumulator; OUT outputs the accumulator.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LDA loads a mailbox into the accumulator; STA stores the accumulator into a mailbox.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 and SUB add or subtract a mailbox value to or from the accumulator.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BRA always branches; BRZ branches if the accumulator is zero; BRP if zero or positive.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DAT reserves a mailbox for data; HLT stops the program.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BRZ and BRP test the accumulator, never a mailbox.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Writing an LMC program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Plan the data flow first: what enters the accumulator and when it must be saved.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accumulator is overwritten by INP and LDA, so store values you need later with STA.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Labels name mailboxes so instructions can refer to data and branch targets.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program inputs two numbers and outputs their sum.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INP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STA FIRST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INP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ADD FIRST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OUT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HLT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FIRST DAT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Tracing LMC with branches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Trace instruction by instruction, recording the accumulator and any changed mailbox.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At each branch, evaluate the condition on the current accumulator before moving the program counter.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BRP is taken when the accumulator is zero or positive, so zero still loops.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This countdown outputs its input, then each value down to zero.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INP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LOOP  OUT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SUB ONE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BRP LOOP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HLT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ONE   DAT 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Addressing modes: immediate and direct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addressing mode determines how the operand is interpreted.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Immediate: the operand is the value itself, no memory access needed.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Direct: the operand is the address of the mailbox holding the value, one lookup.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Standard LMC instructions such as ADD 6 use direct addressing.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Addressing modes: indirect and indexed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Indirect: the operand is the address of a location holding the address of the value, two lookups.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Indirect addressing implements pointers.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Indexed: effective address equals the operand plus the index register contents.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Incrementing the index register steps through an array one element at a time.</a:t>
            </a:r>
          </a:p>
          <a:p>
            <a:pPr/>
            <a:r>
              <a:rPr sz="1800" b="1">
                <a:solidFill>
                  <a:srgbClr val="B76E00"/>
                </a:solidFill>
                <a:latin typeface="Calibri"/>
              </a:rPr>
              <a:t>Show the working in answers: immediate no lookup, direct one, indirect two, indexed base plus index.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OOP: classes, objects, attributes,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class is a template or blueprint; an object is an instance created from it by instantiation.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An attribute is a variable of the class, holding the object's state.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 method is a subroutine of the class, defining its behaviour.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The constructor, new, sets up an object's attributes when it is created.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class Vehicle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private speed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public procedure new(givenSpeed)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speed = givenSpeed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endprocedure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public function getSpeed()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return speed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endfunction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endclass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myCar = new Vehicle(30)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Encapsulation, inheritance and polymorphism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Encapsulation makes attributes private, accessed only through public methods, protecting the object's data.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Inheritance: a subclass acquires the superclass's attributes and methods, then adds or overrides.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Inheritance removes duplicated code shared by related classes.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Polymorphism: the same method call behaves differently per object, usually via overriding.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Class diagrams: name, attributes, methods; minus means private, plus public; the arrow points child to parent.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class ElectricCar inherits Vehicle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private charge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public procedure accelerate()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charge = charge - 1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   super.accelerate()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   endprocedure</a:t>
            </a:r>
          </a:p>
          <a:p>
            <a:pPr lvl="1"/>
            <a:r>
              <a:rPr sz="1600" b="0">
                <a:solidFill>
                  <a:srgbClr val="1A365D"/>
                </a:solidFill>
                <a:latin typeface="Consolas"/>
              </a:rPr>
              <a:t>endclass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an LMC sum program with inputs 5 and 7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Program: INP, STA FIRST, INP, ADD FIRST, OUT, HLT, FIRST DAT.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INP: the accumulator becomes 5, the first input.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STA FIRST: mailbox FIRST now holds 5; the accumulator still holds 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INP: the accumulator is overwritten with 7, the second input.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ADD FIRST: the accumulator becomes 7 + 5 = 12.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OUT: 12 is output.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HLT: the program stops; final state FIRST = 5, accumulator = 12, output 12.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Tracing the countdown loop with input 3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Program: INP, then LOOP OUT, SUB ONE, BRP LOOP, HLT, with ONE DAT 1.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INP: accumulator = 3. OUT prints 3. SUB ONE: accumulator = 2. BRP: 2 is positive, branch to LOOP.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OUT prints 2. SUB ONE: accumulator = 1. BRP: 1 is positive, branch to LOOP.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OUT prints 1. SUB ONE: accumulator = 0. BRP: 0 counts as positive, branch to LOOP.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OUT prints 0. SUB ONE: accumulator = -1. BRP: negative, so the branch is not taken.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HLT stops the program; the outputs were 3, 2, 1, 0.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7. Key point: 0 is printed because BRP branches while the accumulator is zero or positive.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Worked example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One instruction, four addressing modes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1. Setup: instruction LDA 6; address 6 holds 9; address 9 holds 4; address 8 holds 15; index register holds 2.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2. Immediate: the operand is the value, so the accumulator is loaded with 6.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3. Direct: one lookup at address 6, so the value loaded is 9.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4. Indirect: address 6 holds 9, so go to address 9; the value loaded is 4.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5. Indexed: effective address = 6 + 2 = 8; address 8 holds 15, so the value loaded is 15.</a:t>
            </a:r>
          </a:p>
          <a:p>
            <a:pPr lvl="1"/>
            <a:r>
              <a:rPr sz="1900" b="0">
                <a:solidFill>
                  <a:srgbClr val="222222"/>
                </a:solidFill>
                <a:latin typeface="Calibri"/>
              </a:rPr>
              <a:t>6. Check: no lookup, one lookup, two lookups, base plus index — four different values from one operand.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The human LMC  (15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Lay instruction cards at desks as mailboxes 0 to 5: INP; LOOP OUT; SUB ONE; BRP LOOP; HLT; ONE DAT 1.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Cast one student as the Little Man, one as the accumulator holding a whiteboard, one as the program counter; the class are verifiers logging every output and accumulator value.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Give input 3; the Little Man performs each fetch-decode-execute cycle aloud, with the program counter incrementing after each fetch.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At BRP the Little Man must ask the accumulator whether it is zero or positive before changing the program counter; the class predicts the answer first.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Run to HLT, then ask why 0 was output but -1 was not.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Ask what single change would stop the countdown at 1 instead of 0, and have the class trace their proposed fix to prove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Addressing modes four corners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Label the corners IMMEDIATE, DIRECT, INDIRECT, INDEXED and project the memory table: address 20 holds 35, address 35 holds 99, address 23 holds 7, index register 3.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Say: the instruction is LDA 20 and I want the value 20 in the accumulator; students move to the mode that delivers it. Repeat for wanting 35, then 99, then 7.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Minority corners argue their case before each reveal; the majority must state the rule, not just the answer.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Application round: which corner for traversing an array, and which for following a pointer?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Invent a memory state where direct and indirect load the same value, and explain what address 20 must then contain: an address that stores itself.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Activity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200" b="1">
                <a:solidFill>
                  <a:srgbClr val="2B6CB0"/>
                </a:solidFill>
                <a:latin typeface="Calibri"/>
              </a:rPr>
              <a:t>Whiteboard quick-draw: class diagram from spec  (10 min)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Read this spec aloud twice, without showing it: a Vehicle class has a private attribute speed and public methods accelerate() and getSpeed(); ElectricCar inherits from Vehicle, adds a private attribute charge, and overrides accelerate().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Students draw the full class diagram from the spoken spec only, then show boards for peer marking.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Everyone checks two details specifically: the inheritance arrow points from child to parent, and minus and plus mark private and public correctly.</a:t>
            </a:r>
          </a:p>
          <a:p>
            <a:pPr lvl="1"/>
            <a:r>
              <a:rPr sz="2000" b="0">
                <a:solidFill>
                  <a:srgbClr val="222222"/>
                </a:solidFill>
                <a:latin typeface="Calibri"/>
              </a:rPr>
              <a:t>Redraw from memory in 90 seconds and compare with the first attempt.</a:t>
            </a:r>
          </a:p>
          <a:p>
            <a:pPr/>
            <a:r>
              <a:rPr sz="1800" b="0">
                <a:solidFill>
                  <a:srgbClr val="B76E00"/>
                </a:solidFill>
                <a:latin typeface="Calibri"/>
              </a:rPr>
              <a:t>Stretch: Add a Bicycle subclass that makes accelerate() polymorphic across three classes, and annotate why encapsulation forces getSpeed() to exist at all.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Write an LMC program that inputs two numbers and outputs the first minus the second. (4)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An instruction has opcode ADD and operand 20. Memory address 20 holds 35, address 35 holds 99, address 23 holds 7 and the index register holds 3. State the value added under immediate, direct, indirect and indexed addressing. (4)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what the LMC instructions STA and BRZ do.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a device driver might be written in assembly language rather than a high-level language. (3)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Write an LMC program that inputs two numbers and outputs the first minus the second.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INP, STA FIRST, INP, STA SECOND, LDA FIRST, SUB SECOND, OUT, HLT, FIRST DAT, SECOND DAT. Marks: both inputs stored (1); values reloaded in the correct order (1); SUB SECOND applied to FIRST in the accumulator (1); OUT then HLT with DAT declarations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An instruction has opcode ADD and operand 20. Memory address 20 holds 35, address 35 holds 99, address 23 holds 7 and the index register holds 3. State the value added under immediate, direct, indirect and indexed addressing. (4)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Immediate: 20, the operand itself (1). Direct: 35, the value at address 20 (1). Indirect: 99, since address 20 holds 35 and address 35 holds 99 (1). Indexed: 7, since the effective address is 20 + 3 = 23 and address 23 holds 7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State what the LMC instructions STA and BRZ do.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STA stores the contents of the accumulator into the given mailbox (1); BRZ branches to the given label if the accumulator holds zero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Explain why a device driver might be written in assembly language rather than a high-level language.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Assembly gives direct control of specific hardware registers and instructions (1); it produces small, fast code with no translator overhead deciding instruction choice (1); a driver targets one known processor, so losing portability does not matter (1).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difference between a class and an object.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how encapsulation protects the data in an object. (3)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Shape class has subclasses Circle and Square, each with its own area() method. Explain how this is an example of polymorphism. (2)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The LMC program INP, STA X, INP, ADD X, ADD X, OUT, HLT (X DAT) runs with inputs 4 then 10. State the output and justify it with a trace. (3)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Practice — answers (5-8)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222222"/>
                </a:solidFill>
                <a:latin typeface="Calibri"/>
              </a:rPr>
              <a:t>1. Describe the difference between a class and an object.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 class is a template or blueprint defining attributes and methods (1); an object is a specific instance of the class created by instantiation, with its own attribute values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2. Explain how encapsulation protects the data in an object.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Attributes are declared private (1) so other code cannot read or change them directly (1); access happens only through public methods, which can validate changes and keep the object in a consistent state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3. A Shape class has subclasses Circle and Square, each with its own area() method. Explain how this is an example of polymorphism. (2)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Both subclasses override the same method name, area() (1); the same call behaves differently depending on whether the object is a Circle or a Square (1).</a:t>
            </a:r>
          </a:p>
          <a:p>
            <a:r>
              <a:rPr sz="2000" b="1">
                <a:solidFill>
                  <a:srgbClr val="222222"/>
                </a:solidFill>
                <a:latin typeface="Calibri"/>
              </a:rPr>
              <a:t>4. The LMC program INP, STA X, INP, ADD X, ADD X, OUT, HLT (X DAT) runs with inputs 4 then 10. State the output and justify it with a trace. (3)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Output 18 (1). Trace: accumulator 4, X = 4, accumulator overwritten with 10 (1); ADD X gives 14, ADD X gives 18, which OUT prints (1).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Common misconceptions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immediate and direct addressing are the same, but immediate uses the operand as the value while direct looks it up in memory.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BRZ or BRP tests a mailbox, but both test only the current accumulator value.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forget INP and LDA overwrite the accumulator, so unsaved values are lost without an STA.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think encapsulation and inheritance are interchangeable, but encapsulation hides data while inheritance shares members between classes.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✗ Students often draw the inheritance arrow from parent to child, but class diagrams point the arrow from the subclass to the superclass.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How the exam asks this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Command words: state for instruction meanings, 1 to 2 marks; write for LMC programs, 3 to 5 marks; explain for paradigms and OOP concepts, 2 to 4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Addressing mode questions give a memory table and one operand and expect the value under each mode with working, usually 4 marks.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OOP questions often supply a class diagram or short pseudocode and ask you to identify or apply inheritance, encapsulation or polymorphism.</a:t>
            </a:r>
          </a:p>
          <a:p>
            <a:pPr/>
            <a:r>
              <a:rPr sz="2000" b="0">
                <a:solidFill>
                  <a:srgbClr val="222222"/>
                </a:solidFill>
                <a:latin typeface="Calibri"/>
              </a:rPr>
              <a:t>Example stem: Write a Little Man Computer program that takes in two numbers and outputs the total. (4)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400" b="1">
                <a:solidFill>
                  <a:srgbClr val="2B6CB0"/>
                </a:solidFill>
                <a:latin typeface="Calibri"/>
              </a:rPr>
              <a:t>Task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an LMC program that inputs a number and outputs double the number, then produce a full instruction-by-instruction trace table for input 6, showing the accumulator after every instruction.</a:t>
            </a:r>
          </a:p>
          <a:p>
            <a:r>
              <a:rPr sz="2400" b="1">
                <a:solidFill>
                  <a:srgbClr val="B76E00"/>
                </a:solidFill>
                <a:latin typeface="Calibri"/>
              </a:rPr>
              <a:t>Challenge / stretch</a:t>
            </a:r>
          </a:p>
          <a:p>
            <a:pPr lvl="1"/>
            <a:r>
              <a:rPr sz="2200" b="0">
                <a:solidFill>
                  <a:srgbClr val="222222"/>
                </a:solidFill>
                <a:latin typeface="Calibri"/>
              </a:rPr>
              <a:t>Write an LMC program that inputs two numbers and outputs the larger one, using SUB and BRP to compare them; trace it with inputs 3, 8 and then 8, 3 to prove both paths work, then explain which addressing mode a version storing ten inputs in consecutive mailboxes would need.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The accumulator holds 7 and mailbox N holds 2. What does the accumulator hold after SUB N, and is BRP then taken?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Under indirect addressing, operand 12 points to address 12 which holds 30, and address 30 holds 8. What value is used?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the OOP feature: a subclass provides its own version of a method it acquired from its superclass.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B6CB0"/>
                </a:solidFill>
                <a:latin typeface="Calibri"/>
              </a:rPr>
              <a:t>Exit ticket —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222222"/>
                </a:solidFill>
                <a:latin typeface="Calibri"/>
              </a:rPr>
              <a:t>1. The accumulator holds 7 and mailbox N holds 2. What does the accumulator hold after SUB N, and is BRP then taken?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5; yes, BRP is taken because 5 is positive.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2. Under indirect addressing, operand 12 points to address 12 which holds 30, and address 30 holds 8. What value is used?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8: address 12 gives 30, and the value at address 30 is 8, two lookups.</a:t>
            </a:r>
          </a:p>
          <a:p>
            <a:r>
              <a:rPr sz="2200" b="1">
                <a:solidFill>
                  <a:srgbClr val="222222"/>
                </a:solidFill>
                <a:latin typeface="Calibri"/>
              </a:rPr>
              <a:t>3. Name the OOP feature: a subclass provides its own version of a method it acquired from its superclass.</a:t>
            </a:r>
          </a:p>
          <a:p>
            <a:pPr lvl="1"/>
            <a:r>
              <a:rPr sz="1800" i="1">
                <a:solidFill>
                  <a:srgbClr val="B76E00"/>
                </a:solidFill>
                <a:latin typeface="Calibri"/>
              </a:rPr>
              <a:t>Answer: Overriding, which enables polymorphism; the acquisition itself is inheritance.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