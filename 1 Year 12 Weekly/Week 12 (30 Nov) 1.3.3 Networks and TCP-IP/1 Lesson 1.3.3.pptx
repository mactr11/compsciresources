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65D"/>
        </a:solidFill>
        <a:effectLst/>
      </p:bgPr>
    </p:bg>
    <p:spTree>
      <p:nvGrpSpPr>
        <p:cNvPr id="1" name=""/>
        <p:cNvGrpSpPr/>
        <p:nvPr/>
      </p:nvGrpSpPr>
      <p:grpSpPr/>
      <p:sp>
        <p:nvSpPr>
          <p:cNvPr id="2" name="TextBox 1"/>
          <p:cNvSpPr txBox="1"/>
          <p:nvPr/>
        </p:nvSpPr>
        <p:spPr>
          <a:xfrm>
            <a:off x="731520" y="2194560"/>
            <a:ext cx="10698480" cy="1828800"/>
          </a:xfrm>
          <a:prstGeom prst="rect">
            <a:avLst/>
          </a:prstGeom>
          <a:noFill/>
        </p:spPr>
        <p:txBody>
          <a:bodyPr wrap="square">
            <a:spAutoFit/>
          </a:bodyPr>
          <a:lstStyle/>
          <a:p>
            <a:r>
              <a:rPr sz="4000" b="1" i="0">
                <a:solidFill>
                  <a:srgbClr val="FFFFFF"/>
                </a:solidFill>
                <a:latin typeface="Calibri"/>
              </a:rPr>
              <a:t>1.3.3 Networks</a:t>
            </a:r>
          </a:p>
          <a:p>
            <a:r>
              <a:rPr sz="2000" b="0" i="0">
                <a:solidFill>
                  <a:srgbClr val="BED3EC"/>
                </a:solidFill>
                <a:latin typeface="Calibri"/>
              </a:rPr>
              <a:t>OCR H446 — Component 01</a:t>
            </a:r>
          </a:p>
        </p:txBody>
      </p:sp>
      <p:sp>
        <p:nvSpPr>
          <p:cNvPr id="3" name="TextBox 2"/>
          <p:cNvSpPr txBox="1"/>
          <p:nvPr/>
        </p:nvSpPr>
        <p:spPr>
          <a:xfrm>
            <a:off x="731520" y="6035040"/>
            <a:ext cx="10698480" cy="548640"/>
          </a:xfrm>
          <a:prstGeom prst="rect">
            <a:avLst/>
          </a:prstGeom>
          <a:noFill/>
        </p:spPr>
        <p:txBody>
          <a:bodyPr wrap="square">
            <a:spAutoFit/>
          </a:bodyPr>
          <a:lstStyle/>
          <a:p>
            <a:r>
              <a:rPr sz="1400" b="0" i="1">
                <a:solidFill>
                  <a:srgbClr val="9AB4D6"/>
                </a:solidFill>
                <a:latin typeface="Calibri"/>
              </a:rPr>
              <a:t>Week 12 (30 Nov)</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Learning objectives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By the end of this lesson you can:</a:t>
            </a:r>
          </a:p>
          <a:p>
            <a:pPr lvl="1"/>
            <a:r>
              <a:rPr sz="2200" b="0">
                <a:solidFill>
                  <a:srgbClr val="222222"/>
                </a:solidFill>
                <a:latin typeface="Calibri"/>
              </a:rPr>
              <a:t>I can compare LANs and WANs, and client-server and peer-to-peer models, with examples and trade-offs.</a:t>
            </a:r>
          </a:p>
          <a:p>
            <a:pPr lvl="1"/>
            <a:r>
              <a:rPr sz="2200" b="0">
                <a:solidFill>
                  <a:srgbClr val="222222"/>
                </a:solidFill>
                <a:latin typeface="Calibri"/>
              </a:rPr>
              <a:t>I can explain the purpose of protocols and standards and describe the role of each TCP/IP layer, including encapsulation.</a:t>
            </a:r>
          </a:p>
          <a:p>
            <a:pPr lvl="1"/>
            <a:r>
              <a:rPr sz="2200" b="0">
                <a:solidFill>
                  <a:srgbClr val="222222"/>
                </a:solidFill>
                <a:latin typeface="Calibri"/>
              </a:rPr>
              <a:t>I can describe how DNS resolves a domain name to an IP address, including the hierarchy and caching.</a:t>
            </a:r>
          </a:p>
          <a:p>
            <a:pPr lvl="1"/>
            <a:r>
              <a:rPr sz="2200" b="0">
                <a:solidFill>
                  <a:srgbClr val="222222"/>
                </a:solidFill>
                <a:latin typeface="Calibri"/>
              </a:rPr>
              <a:t>I can compare packet and circuit switching and state the function of key network hardware.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retrieval starter</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Write an SQL statement to display the Surname of every student in the Student table whose YearGroup is 13.</a:t>
            </a:r>
          </a:p>
          <a:p>
            <a:r>
              <a:rPr sz="2200" b="1">
                <a:solidFill>
                  <a:srgbClr val="222222"/>
                </a:solidFill>
                <a:latin typeface="Calibri"/>
              </a:rPr>
              <a:t>2. What is the difference between a primary key and a foreign key?</a:t>
            </a:r>
          </a:p>
          <a:p>
            <a:r>
              <a:rPr sz="2200" b="1">
                <a:solidFill>
                  <a:srgbClr val="222222"/>
                </a:solidFill>
                <a:latin typeface="Calibri"/>
              </a:rPr>
              <a:t>3. Which dependency is removed when moving a table from 2NF to 3NF?</a:t>
            </a:r>
          </a:p>
          <a:p>
            <a:r>
              <a:rPr sz="2200" b="1">
                <a:solidFill>
                  <a:srgbClr val="222222"/>
                </a:solidFill>
                <a:latin typeface="Calibri"/>
              </a:rPr>
              <a:t>4. A Loan table contains StudentID 999 but no such student exists in the Student table. Which database rule has been broken?</a:t>
            </a:r>
          </a:p>
          <a:p>
            <a:r>
              <a:rPr sz="2200" b="1">
                <a:solidFill>
                  <a:srgbClr val="222222"/>
                </a:solidFill>
                <a:latin typeface="Calibri"/>
              </a:rPr>
              <a:t>5. An UPDATE statement is run without a WHERE clause. What happens, and how do you fix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Write an SQL statement to display the Surname of every student in the Student table whose YearGroup is 13.</a:t>
            </a:r>
          </a:p>
          <a:p>
            <a:pPr lvl="1"/>
            <a:r>
              <a:rPr sz="1800" i="1">
                <a:solidFill>
                  <a:srgbClr val="B76E00"/>
                </a:solidFill>
                <a:latin typeface="Calibri"/>
              </a:rPr>
              <a:t>Answer: SELECT Surname FROM Student WHERE YearGroup = 13</a:t>
            </a:r>
          </a:p>
          <a:p>
            <a:r>
              <a:rPr sz="2200" b="1">
                <a:solidFill>
                  <a:srgbClr val="222222"/>
                </a:solidFill>
                <a:latin typeface="Calibri"/>
              </a:rPr>
              <a:t>2. What is the difference between a primary key and a foreign key?</a:t>
            </a:r>
          </a:p>
          <a:p>
            <a:pPr lvl="1"/>
            <a:r>
              <a:rPr sz="1800" i="1">
                <a:solidFill>
                  <a:srgbClr val="B76E00"/>
                </a:solidFill>
                <a:latin typeface="Calibri"/>
              </a:rPr>
              <a:t>Answer: A primary key uniquely identifies each record in its own table; a foreign key is an attribute in one table that is the primary key of another table, used to link the tables.</a:t>
            </a:r>
          </a:p>
          <a:p>
            <a:r>
              <a:rPr sz="2200" b="1">
                <a:solidFill>
                  <a:srgbClr val="222222"/>
                </a:solidFill>
                <a:latin typeface="Calibri"/>
              </a:rPr>
              <a:t>3. Which dependency is removed when moving a table from 2NF to 3NF?</a:t>
            </a:r>
          </a:p>
          <a:p>
            <a:pPr lvl="1"/>
            <a:r>
              <a:rPr sz="1800" i="1">
                <a:solidFill>
                  <a:srgbClr val="B76E00"/>
                </a:solidFill>
                <a:latin typeface="Calibri"/>
              </a:rPr>
              <a:t>Answer: A transitive dependency — a non-key attribute must not depend on another non-key attribute.</a:t>
            </a:r>
          </a:p>
          <a:p>
            <a:r>
              <a:rPr sz="2200" b="1">
                <a:solidFill>
                  <a:srgbClr val="222222"/>
                </a:solidFill>
                <a:latin typeface="Calibri"/>
              </a:rPr>
              <a:t>4. A Loan table contains StudentID 999 but no such student exists in the Student table. Which database rule has been broken?</a:t>
            </a:r>
          </a:p>
          <a:p>
            <a:pPr lvl="1"/>
            <a:r>
              <a:rPr sz="1800" i="1">
                <a:solidFill>
                  <a:srgbClr val="B76E00"/>
                </a:solidFill>
                <a:latin typeface="Calibri"/>
              </a:rPr>
              <a:t>Answer: Referential integrity — every foreign key value must reference an existing primary key in the related table (999 is an orphaned record).</a:t>
            </a:r>
          </a:p>
          <a:p>
            <a:r>
              <a:rPr sz="2200" b="1">
                <a:solidFill>
                  <a:srgbClr val="222222"/>
                </a:solidFill>
                <a:latin typeface="Calibri"/>
              </a:rPr>
              <a:t>5. An UPDATE statement is run without a WHERE clause. What happens, and how do you fix it?</a:t>
            </a:r>
          </a:p>
          <a:p>
            <a:pPr lvl="1"/>
            <a:r>
              <a:rPr sz="1800" i="1">
                <a:solidFill>
                  <a:srgbClr val="B76E00"/>
                </a:solidFill>
                <a:latin typeface="Calibri"/>
              </a:rPr>
              <a:t>Answer: Every record in the table is updated, not just the intended one; add a WHERE clause to restrict the change to the correct record(s).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Key terminology</a:t>
            </a:r>
          </a:p>
        </p:txBody>
      </p:sp>
      <p:sp>
        <p:nvSpPr>
          <p:cNvPr id="3" name="TextBox 2"/>
          <p:cNvSpPr txBox="1"/>
          <p:nvPr/>
        </p:nvSpPr>
        <p:spPr>
          <a:xfrm>
            <a:off x="640080" y="1280160"/>
            <a:ext cx="10881360" cy="5120640"/>
          </a:xfrm>
          <a:prstGeom prst="rect">
            <a:avLst/>
          </a:prstGeom>
          <a:noFill/>
        </p:spPr>
        <p:txBody>
          <a:bodyPr wrap="square">
            <a:spAutoFit/>
          </a:bodyPr>
          <a:lstStyle/>
          <a:p/>
          <a:p>
            <a:r>
              <a:rPr b="1" sz="2000">
                <a:solidFill>
                  <a:srgbClr val="1A365D"/>
                </a:solidFill>
                <a:latin typeface="Calibri"/>
              </a:rPr>
              <a:t>LAN</a:t>
            </a:r>
            <a:r>
              <a:rPr sz="1800">
                <a:solidFill>
                  <a:srgbClr val="222222"/>
                </a:solidFill>
                <a:latin typeface="Calibri"/>
              </a:rPr>
              <a:t> — Local Area Network: covers a small geographical area on a single site, with hardware owned by one organisation.</a:t>
            </a:r>
          </a:p>
          <a:p>
            <a:r>
              <a:rPr b="1" sz="2000">
                <a:solidFill>
                  <a:srgbClr val="1A365D"/>
                </a:solidFill>
                <a:latin typeface="Calibri"/>
              </a:rPr>
              <a:t>WAN</a:t>
            </a:r>
            <a:r>
              <a:rPr sz="1800">
                <a:solidFill>
                  <a:srgbClr val="222222"/>
                </a:solidFill>
                <a:latin typeface="Calibri"/>
              </a:rPr>
              <a:t> — Wide Area Network: spans a large geographical area using third-party infrastructure; the internet is the largest WAN.</a:t>
            </a:r>
          </a:p>
          <a:p>
            <a:r>
              <a:rPr b="1" sz="2000">
                <a:solidFill>
                  <a:srgbClr val="1A365D"/>
                </a:solidFill>
                <a:latin typeface="Calibri"/>
              </a:rPr>
              <a:t>Protocol</a:t>
            </a:r>
            <a:r>
              <a:rPr sz="1800">
                <a:solidFill>
                  <a:srgbClr val="222222"/>
                </a:solidFill>
                <a:latin typeface="Calibri"/>
              </a:rPr>
              <a:t> — A set of rules governing how devices communicate, covering format, order, timing and error handling.</a:t>
            </a:r>
          </a:p>
          <a:p>
            <a:r>
              <a:rPr b="1" sz="2000">
                <a:solidFill>
                  <a:srgbClr val="1A365D"/>
                </a:solidFill>
                <a:latin typeface="Calibri"/>
              </a:rPr>
              <a:t>TCP/IP stack</a:t>
            </a:r>
            <a:r>
              <a:rPr sz="1800">
                <a:solidFill>
                  <a:srgbClr val="222222"/>
                </a:solidFill>
                <a:latin typeface="Calibri"/>
              </a:rPr>
              <a:t> — A four-layer model (application, transport, internet, link) where each layer has a defined role and adds or removes its own header.</a:t>
            </a:r>
          </a:p>
          <a:p>
            <a:r>
              <a:rPr b="1" sz="2000">
                <a:solidFill>
                  <a:srgbClr val="1A365D"/>
                </a:solidFill>
                <a:latin typeface="Calibri"/>
              </a:rPr>
              <a:t>Encapsulation</a:t>
            </a:r>
            <a:r>
              <a:rPr sz="1800">
                <a:solidFill>
                  <a:srgbClr val="222222"/>
                </a:solidFill>
                <a:latin typeface="Calibri"/>
              </a:rPr>
              <a:t> — The process of each layer wrapping the data from the layer above with its own header (and a trailer at the link layer) as data passes down the stack.</a:t>
            </a:r>
          </a:p>
          <a:p>
            <a:r>
              <a:rPr b="1" sz="2000">
                <a:solidFill>
                  <a:srgbClr val="1A365D"/>
                </a:solidFill>
                <a:latin typeface="Calibri"/>
              </a:rPr>
              <a:t>DNS</a:t>
            </a:r>
            <a:r>
              <a:rPr sz="1800">
                <a:solidFill>
                  <a:srgbClr val="222222"/>
                </a:solidFill>
                <a:latin typeface="Calibri"/>
              </a:rPr>
              <a:t> — Domain Name System: a hierarchical, cached system of servers that translates domain names into IP addresses.</a:t>
            </a:r>
          </a:p>
          <a:p>
            <a:r>
              <a:rPr b="1" sz="2000">
                <a:solidFill>
                  <a:srgbClr val="1A365D"/>
                </a:solidFill>
                <a:latin typeface="Calibri"/>
              </a:rPr>
              <a:t>Packet switching</a:t>
            </a:r>
            <a:r>
              <a:rPr sz="1800">
                <a:solidFill>
                  <a:srgbClr val="222222"/>
                </a:solidFill>
                <a:latin typeface="Calibri"/>
              </a:rPr>
              <a:t> — Data is split into packets that are routed independently across the network and reassembled in order at the destination.</a:t>
            </a:r>
          </a:p>
          <a:p>
            <a:r>
              <a:rPr b="1" sz="2000">
                <a:solidFill>
                  <a:srgbClr val="1A365D"/>
                </a:solidFill>
                <a:latin typeface="Calibri"/>
              </a:rPr>
              <a:t>Router</a:t>
            </a:r>
            <a:r>
              <a:rPr sz="1800">
                <a:solidFill>
                  <a:srgbClr val="222222"/>
                </a:solidFill>
                <a:latin typeface="Calibri"/>
              </a:rPr>
              <a:t> — A device that connects different networks together and forwards packets between them using IP addresses.</a:t>
            </a:r>
          </a:p>
          <a:p>
            <a:r>
              <a:rPr b="1" sz="2000">
                <a:solidFill>
                  <a:srgbClr val="1A365D"/>
                </a:solidFill>
                <a:latin typeface="Calibri"/>
              </a:rPr>
              <a:t>Peer-to-peer</a:t>
            </a:r>
            <a:r>
              <a:rPr sz="1800">
                <a:solidFill>
                  <a:srgbClr val="222222"/>
                </a:solidFill>
                <a:latin typeface="Calibri"/>
              </a:rPr>
              <a:t> — A network model where all devices have equal status, each acting as both client and server, with no central server.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LANs and WANs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LAN covers a small geographical area — one site or building, e.g. a school network.</a:t>
            </a:r>
          </a:p>
          <a:p>
            <a:pPr/>
            <a:r>
              <a:rPr sz="2000" b="0">
                <a:solidFill>
                  <a:srgbClr val="222222"/>
                </a:solidFill>
                <a:latin typeface="Calibri"/>
              </a:rPr>
              <a:t>The organisation owns and maintains the LAN's hardware and cabling, giving high speed and local control.</a:t>
            </a:r>
          </a:p>
          <a:p>
            <a:pPr/>
            <a:r>
              <a:rPr sz="2000" b="0">
                <a:solidFill>
                  <a:srgbClr val="222222"/>
                </a:solidFill>
                <a:latin typeface="Calibri"/>
              </a:rPr>
              <a:t>A WAN spans a large geographical area — between cities or countries — e.g. a bank's branch network.</a:t>
            </a:r>
          </a:p>
          <a:p>
            <a:pPr/>
            <a:r>
              <a:rPr sz="2000" b="0">
                <a:solidFill>
                  <a:srgbClr val="222222"/>
                </a:solidFill>
                <a:latin typeface="Calibri"/>
              </a:rPr>
              <a:t>A WAN uses third-party communication infrastructure such as leased lines, fibre and satellite links.</a:t>
            </a:r>
          </a:p>
          <a:p>
            <a:pPr/>
            <a:r>
              <a:rPr sz="2000" b="0">
                <a:solidFill>
                  <a:srgbClr val="222222"/>
                </a:solidFill>
                <a:latin typeface="Calibri"/>
              </a:rPr>
              <a:t>The internet is the largest WAN: a global network of interconnected networks.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Why protocols and standards matter</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protocol is a set of rules governing communication: format, order, timing and error handling.</a:t>
            </a:r>
          </a:p>
          <a:p>
            <a:pPr/>
            <a:r>
              <a:rPr sz="2000" b="0">
                <a:solidFill>
                  <a:srgbClr val="222222"/>
                </a:solidFill>
                <a:latin typeface="Calibri"/>
              </a:rPr>
              <a:t>A standard is an agreed specification that manufacturers implement in their products.</a:t>
            </a:r>
          </a:p>
          <a:p>
            <a:pPr/>
            <a:r>
              <a:rPr sz="2000" b="0">
                <a:solidFill>
                  <a:srgbClr val="222222"/>
                </a:solidFill>
                <a:latin typeface="Calibri"/>
              </a:rPr>
              <a:t>Shared protocols and standards let devices from different manufacturers communicate and interoperate.</a:t>
            </a:r>
          </a:p>
          <a:p>
            <a:pPr/>
            <a:r>
              <a:rPr sz="2000" b="0">
                <a:solidFill>
                  <a:srgbClr val="222222"/>
                </a:solidFill>
                <a:latin typeface="Calibri"/>
              </a:rPr>
              <a:t>Without them, a Dell laptop could not exchange data with a Cisco router or an Apple phone.</a:t>
            </a:r>
          </a:p>
          <a:p>
            <a:pPr/>
            <a:r>
              <a:rPr sz="2000" b="0">
                <a:solidFill>
                  <a:srgbClr val="222222"/>
                </a:solidFill>
                <a:latin typeface="Calibri"/>
              </a:rPr>
              <a:t>Standards also allow hardware and software to be developed independently yet still work together.</a:t>
            </a:r>
          </a:p>
          <a:p>
            <a:pPr/>
            <a:r>
              <a:rPr sz="1800" b="1">
                <a:solidFill>
                  <a:srgbClr val="B76E00"/>
                </a:solidFill>
                <a:latin typeface="Calibri"/>
              </a:rPr>
              <a:t>Exam phrasing: protocols and standards ensure compatibility and interoperability between devices from different manufacturers.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Common protocols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HTTP transfers web pages between server and browser; HTTPS is HTTP encrypted with TLS/SSL.</a:t>
            </a:r>
          </a:p>
          <a:p>
            <a:pPr/>
            <a:r>
              <a:rPr sz="2000" b="0">
                <a:solidFill>
                  <a:srgbClr val="222222"/>
                </a:solidFill>
                <a:latin typeface="Calibri"/>
              </a:rPr>
              <a:t>FTP transfers files between computers, e.g. uploading website files to a web server.</a:t>
            </a:r>
          </a:p>
          <a:p>
            <a:pPr/>
            <a:r>
              <a:rPr sz="2000" b="0">
                <a:solidFill>
                  <a:srgbClr val="222222"/>
                </a:solidFill>
                <a:latin typeface="Calibri"/>
              </a:rPr>
              <a:t>SMTP sends email from client to mail server and between mail servers.</a:t>
            </a:r>
          </a:p>
          <a:p>
            <a:pPr/>
            <a:r>
              <a:rPr sz="2000" b="0">
                <a:solidFill>
                  <a:srgbClr val="222222"/>
                </a:solidFill>
                <a:latin typeface="Calibri"/>
              </a:rPr>
              <a:t>POP3 retrieves email by downloading it and removing it from the server; IMAP keeps mail on the server and syncs across devices.</a:t>
            </a:r>
          </a:p>
          <a:p>
            <a:pPr/>
            <a:r>
              <a:rPr sz="2000" b="0">
                <a:solidFill>
                  <a:srgbClr val="222222"/>
                </a:solidFill>
                <a:latin typeface="Calibri"/>
              </a:rPr>
              <a:t>TCP provides reliable, ordered delivery; IP routes packets between networks; UDP is a faster, connectionless alternative to TCP with no delivery guarantee.</a:t>
            </a:r>
          </a:p>
          <a:p>
            <a:pPr/>
            <a:r>
              <a:rPr sz="1800" b="1">
                <a:solidFill>
                  <a:srgbClr val="B76E00"/>
                </a:solidFill>
                <a:latin typeface="Calibri"/>
              </a:rPr>
              <a:t>Discriminator: SMTP sends mail; POP3 and IMAP retrieve it. IMAP vs POP3 hinges on whether mail stays on the server.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The TCP/IP stack: four layers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Application layer: provides network services to user applications; protocols include HTTP, HTTPS, FTP, SMTP, POP3, IMAP, DNS.</a:t>
            </a:r>
          </a:p>
          <a:p>
            <a:pPr/>
            <a:r>
              <a:rPr sz="2000" b="0">
                <a:solidFill>
                  <a:srgbClr val="222222"/>
                </a:solidFill>
                <a:latin typeface="Calibri"/>
              </a:rPr>
              <a:t>Transport layer: splits data into packets, adds port numbers and sequence numbers, manages end-to-end delivery and reassembly; TCP and UDP.</a:t>
            </a:r>
          </a:p>
          <a:p>
            <a:pPr/>
            <a:r>
              <a:rPr sz="2000" b="0">
                <a:solidFill>
                  <a:srgbClr val="222222"/>
                </a:solidFill>
                <a:latin typeface="Calibri"/>
              </a:rPr>
              <a:t>Internet (network) layer: adds source and destination IP addresses and routes packets across networks; IP.</a:t>
            </a:r>
          </a:p>
          <a:p>
            <a:pPr/>
            <a:r>
              <a:rPr sz="2000" b="0">
                <a:solidFill>
                  <a:srgbClr val="222222"/>
                </a:solidFill>
                <a:latin typeface="Calibri"/>
              </a:rPr>
              <a:t>Link layer: handles the physical connection to the medium and addresses the next hop using MAC addresses; Ethernet, Wi-Fi.</a:t>
            </a:r>
          </a:p>
          <a:p>
            <a:pPr/>
            <a:r>
              <a:rPr sz="2000" b="0">
                <a:solidFill>
                  <a:srgbClr val="222222"/>
                </a:solidFill>
                <a:latin typeface="Calibri"/>
              </a:rPr>
              <a:t>Layering means one layer can be changed independently, provided its interface to adjacent layers stays the same.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Encapsulation down and up the stack</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Sending: data passes down the stack, and each layer wraps the data from above with its own header.</a:t>
            </a:r>
          </a:p>
          <a:p>
            <a:pPr/>
            <a:r>
              <a:rPr sz="2000" b="0">
                <a:solidFill>
                  <a:srgbClr val="222222"/>
                </a:solidFill>
                <a:latin typeface="Calibri"/>
              </a:rPr>
              <a:t>Transport adds ports and sequence numbers; internet adds source and destination IP addresses.</a:t>
            </a:r>
          </a:p>
          <a:p>
            <a:pPr/>
            <a:r>
              <a:rPr sz="2000" b="0">
                <a:solidFill>
                  <a:srgbClr val="222222"/>
                </a:solidFill>
                <a:latin typeface="Calibri"/>
              </a:rPr>
              <a:t>The link layer adds a MAC-address header and also a trailer containing an error check, forming a frame.</a:t>
            </a:r>
          </a:p>
          <a:p>
            <a:pPr/>
            <a:r>
              <a:rPr sz="2000" b="0">
                <a:solidFill>
                  <a:srgbClr val="222222"/>
                </a:solidFill>
                <a:latin typeface="Calibri"/>
              </a:rPr>
              <a:t>Receiving: data passes up the stack and each layer strips off its own header (de-encapsulation).</a:t>
            </a:r>
          </a:p>
          <a:p>
            <a:pPr/>
            <a:r>
              <a:rPr sz="2000" b="0">
                <a:solidFill>
                  <a:srgbClr val="222222"/>
                </a:solidFill>
                <a:latin typeface="Calibri"/>
              </a:rPr>
              <a:t>The destination IP address stays constant end-to-end, but the MAC address changes at every hop.</a:t>
            </a:r>
          </a:p>
          <a:p>
            <a:pPr/>
            <a:r>
              <a:rPr sz="1800" b="1">
                <a:solidFill>
                  <a:srgbClr val="B76E00"/>
                </a:solidFill>
                <a:latin typeface="Calibri"/>
              </a:rPr>
              <a:t>Only the link layer adds a trailer; every layer adds a header.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DNS: purpose and hierarchy</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Humans use memorable domain names; routers need numeric IP addresses — DNS translates names into IPs.</a:t>
            </a:r>
          </a:p>
          <a:p>
            <a:pPr/>
            <a:r>
              <a:rPr sz="2000" b="0">
                <a:solidFill>
                  <a:srgbClr val="222222"/>
                </a:solidFill>
                <a:latin typeface="Calibri"/>
              </a:rPr>
              <a:t>DNS is a hierarchy of servers: root servers, then top-level domain servers (.uk, .com), then authoritative name servers for the domain.</a:t>
            </a:r>
          </a:p>
          <a:p>
            <a:pPr/>
            <a:r>
              <a:rPr sz="2000" b="0">
                <a:solidFill>
                  <a:srgbClr val="222222"/>
                </a:solidFill>
                <a:latin typeface="Calibri"/>
              </a:rPr>
              <a:t>The client asks a resolver; on a cache miss the resolver queries the hierarchy level by level.</a:t>
            </a:r>
          </a:p>
          <a:p>
            <a:pPr/>
            <a:r>
              <a:rPr sz="2000" b="0">
                <a:solidFill>
                  <a:srgbClr val="222222"/>
                </a:solidFill>
                <a:latin typeface="Calibri"/>
              </a:rPr>
              <a:t>Results are cached by resolvers and browsers, so repeat lookups are far faster and load on DNS servers is reduced.</a:t>
            </a:r>
          </a:p>
          <a:p>
            <a:pPr/>
            <a:r>
              <a:rPr sz="2000" b="0">
                <a:solidFill>
                  <a:srgbClr val="222222"/>
                </a:solidFill>
                <a:latin typeface="Calibri"/>
              </a:rPr>
              <a:t>Without DNS you could still reach a site by typing its raw IP address.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Packet switching vs circuit switching</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Packet switching splits data into packets that are routed independently and may take different routes.</a:t>
            </a:r>
          </a:p>
          <a:p>
            <a:pPr/>
            <a:r>
              <a:rPr sz="2000" b="0">
                <a:solidFill>
                  <a:srgbClr val="222222"/>
                </a:solidFill>
                <a:latin typeface="Calibri"/>
              </a:rPr>
              <a:t>A packet header holds source and destination address, sequence number and a checksum; the payload holds the data.</a:t>
            </a:r>
          </a:p>
          <a:p>
            <a:pPr/>
            <a:r>
              <a:rPr sz="2000" b="0">
                <a:solidFill>
                  <a:srgbClr val="222222"/>
                </a:solidFill>
                <a:latin typeface="Calibri"/>
              </a:rPr>
              <a:t>Packets can arrive out of order and are reassembled by sequence number; the checksum detects errors so corrupt or lost packets are resent.</a:t>
            </a:r>
          </a:p>
          <a:p>
            <a:pPr/>
            <a:r>
              <a:rPr sz="2000" b="0">
                <a:solidFill>
                  <a:srgbClr val="222222"/>
                </a:solidFill>
                <a:latin typeface="Calibri"/>
              </a:rPr>
              <a:t>Circuit switching reserves one dedicated path for the whole communication, e.g. a traditional phone call.</a:t>
            </a:r>
          </a:p>
          <a:p>
            <a:pPr/>
            <a:r>
              <a:rPr sz="2000" b="0">
                <a:solidFill>
                  <a:srgbClr val="222222"/>
                </a:solidFill>
                <a:latin typeface="Calibri"/>
              </a:rPr>
              <a:t>Circuit switching guarantees bandwidth but wastes idle capacity; packet switching is efficient and resilient, routing around failures.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Network hardware</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NIC connects a device to the network and holds its unique 48-bit MAC address.</a:t>
            </a:r>
          </a:p>
          <a:p>
            <a:pPr/>
            <a:r>
              <a:rPr sz="2000" b="0">
                <a:solidFill>
                  <a:srgbClr val="222222"/>
                </a:solidFill>
                <a:latin typeface="Calibri"/>
              </a:rPr>
              <a:t>A hub broadcasts incoming data to every connected device; a switch learns MAC addresses and forwards frames only to the intended device, cutting traffic and improving security.</a:t>
            </a:r>
          </a:p>
          <a:p>
            <a:pPr/>
            <a:r>
              <a:rPr sz="2000" b="0">
                <a:solidFill>
                  <a:srgbClr val="222222"/>
                </a:solidFill>
                <a:latin typeface="Calibri"/>
              </a:rPr>
              <a:t>A router connects different networks and forwards packets between them using IP addresses.</a:t>
            </a:r>
          </a:p>
          <a:p>
            <a:pPr/>
            <a:r>
              <a:rPr sz="2000" b="0">
                <a:solidFill>
                  <a:srgbClr val="222222"/>
                </a:solidFill>
                <a:latin typeface="Calibri"/>
              </a:rPr>
              <a:t>A wireless access point lets wireless devices join a wired network.</a:t>
            </a:r>
          </a:p>
          <a:p>
            <a:pPr/>
            <a:r>
              <a:rPr sz="2000" b="0">
                <a:solidFill>
                  <a:srgbClr val="222222"/>
                </a:solidFill>
                <a:latin typeface="Calibri"/>
              </a:rPr>
              <a:t>A gateway translates between networks that use different protocols, converting data as it passes through.</a:t>
            </a:r>
          </a:p>
          <a:p>
            <a:pPr/>
            <a:r>
              <a:rPr sz="1800" b="1">
                <a:solidFill>
                  <a:srgbClr val="B76E00"/>
                </a:solidFill>
                <a:latin typeface="Calibri"/>
              </a:rPr>
              <a:t>Never swap them: switch = within a LAN using MAC; router = between networks using IP.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Client-server vs peer-to-peer</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Client-server: powerful servers provide services to clients that request them, e.g. a school network or online banking.</a:t>
            </a:r>
          </a:p>
          <a:p>
            <a:pPr/>
            <a:r>
              <a:rPr sz="2000" b="0">
                <a:solidFill>
                  <a:srgbClr val="222222"/>
                </a:solidFill>
                <a:latin typeface="Calibri"/>
              </a:rPr>
              <a:t>Advantages: central security, backup and user management; scales well. Disadvantages: server is a single point of failure and costs more.</a:t>
            </a:r>
          </a:p>
          <a:p>
            <a:pPr/>
            <a:r>
              <a:rPr sz="2000" b="0">
                <a:solidFill>
                  <a:srgbClr val="222222"/>
                </a:solidFill>
                <a:latin typeface="Calibri"/>
              </a:rPr>
              <a:t>Peer-to-peer: all devices are equal, each acting as client and server, e.g. home file sharing or some video distribution.</a:t>
            </a:r>
          </a:p>
          <a:p>
            <a:pPr/>
            <a:r>
              <a:rPr sz="2000" b="0">
                <a:solidFill>
                  <a:srgbClr val="222222"/>
                </a:solidFill>
                <a:latin typeface="Calibri"/>
              </a:rPr>
              <a:t>Advantages: cheap, easy to set up, no single point of failure. Disadvantages: harder to manage, back up and secure.</a:t>
            </a:r>
          </a:p>
          <a:p>
            <a:pPr/>
            <a:r>
              <a:rPr sz="2000" b="0">
                <a:solidFill>
                  <a:srgbClr val="222222"/>
                </a:solidFill>
                <a:latin typeface="Calibri"/>
              </a:rPr>
              <a:t>Choose by scenario: scale and security favour client-server; low cost and decentralisation favour peer-to-peer.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1</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Tracing a web page request through the TCP/IP stack</a:t>
            </a:r>
          </a:p>
          <a:p>
            <a:pPr lvl="1"/>
            <a:r>
              <a:rPr sz="1900" b="0">
                <a:solidFill>
                  <a:srgbClr val="222222"/>
                </a:solidFill>
                <a:latin typeface="Calibri"/>
              </a:rPr>
              <a:t>1. Application layer (client): the browser creates an HTTP GET request for the page.</a:t>
            </a:r>
          </a:p>
          <a:p>
            <a:pPr lvl="1"/>
            <a:r>
              <a:rPr sz="1900" b="0">
                <a:solidFill>
                  <a:srgbClr val="222222"/>
                </a:solidFill>
                <a:latin typeface="Calibri"/>
              </a:rPr>
              <a:t>2. Transport layer: the request is split into packets; each gets a header with source and destination port numbers and a sequence number (TCP).</a:t>
            </a:r>
          </a:p>
          <a:p>
            <a:pPr lvl="1"/>
            <a:r>
              <a:rPr sz="1900" b="0">
                <a:solidFill>
                  <a:srgbClr val="222222"/>
                </a:solidFill>
                <a:latin typeface="Calibri"/>
              </a:rPr>
              <a:t>3. Internet layer: each packet gains a header with the source and destination IP addresses so routers can route it.</a:t>
            </a:r>
          </a:p>
          <a:p>
            <a:pPr lvl="1"/>
            <a:r>
              <a:rPr sz="1900" b="0">
                <a:solidFill>
                  <a:srgbClr val="222222"/>
                </a:solidFill>
                <a:latin typeface="Calibri"/>
              </a:rPr>
              <a:t>4. Link layer: each packet is framed with the MAC address of the next hop plus a trailer for error checking, then transmitted.</a:t>
            </a:r>
          </a:p>
          <a:p>
            <a:pPr lvl="1"/>
            <a:r>
              <a:rPr sz="1900" b="0">
                <a:solidFill>
                  <a:srgbClr val="222222"/>
                </a:solidFill>
                <a:latin typeface="Calibri"/>
              </a:rPr>
              <a:t>5. At each router the link-layer frame is stripped and rebuilt with the next hop's MAC address; the IP addresses never change.</a:t>
            </a:r>
          </a:p>
          <a:p>
            <a:pPr lvl="1"/>
            <a:r>
              <a:rPr sz="1900" b="0">
                <a:solidFill>
                  <a:srgbClr val="222222"/>
                </a:solidFill>
                <a:latin typeface="Calibri"/>
              </a:rPr>
              <a:t>6. At the web server the data passes up the stack: link removes the frame, internet removes the IP header, transport reassembles the packets in sequence order, and the application layer hands the complete HTTP request to the web server software.</a:t>
            </a:r>
          </a:p>
          <a:p>
            <a:pPr lvl="1"/>
            <a:r>
              <a:rPr sz="1900" b="0">
                <a:solidFill>
                  <a:srgbClr val="222222"/>
                </a:solidFill>
                <a:latin typeface="Calibri"/>
              </a:rPr>
              <a:t>7. The server's response repeats the whole process in reverse direction.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2</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DNS resolution of www.example.co.uk</a:t>
            </a:r>
          </a:p>
          <a:p>
            <a:pPr lvl="1"/>
            <a:r>
              <a:rPr sz="1900" b="0">
                <a:solidFill>
                  <a:srgbClr val="222222"/>
                </a:solidFill>
                <a:latin typeface="Calibri"/>
              </a:rPr>
              <a:t>1. The user types www.example.co.uk; the browser first checks its own cache, then asks the local DNS resolver.</a:t>
            </a:r>
          </a:p>
          <a:p>
            <a:pPr lvl="1"/>
            <a:r>
              <a:rPr sz="1900" b="0">
                <a:solidFill>
                  <a:srgbClr val="222222"/>
                </a:solidFill>
                <a:latin typeface="Calibri"/>
              </a:rPr>
              <a:t>2. Cache miss: the resolver queries a root server, which replies with the address of the .uk top-level domain server.</a:t>
            </a:r>
          </a:p>
          <a:p>
            <a:pPr lvl="1"/>
            <a:r>
              <a:rPr sz="1900" b="0">
                <a:solidFill>
                  <a:srgbClr val="222222"/>
                </a:solidFill>
                <a:latin typeface="Calibri"/>
              </a:rPr>
              <a:t>3. The resolver queries the .uk TLD server, which replies with the address of the authoritative name server for example.co.uk.</a:t>
            </a:r>
          </a:p>
          <a:p>
            <a:pPr lvl="1"/>
            <a:r>
              <a:rPr sz="1900" b="0">
                <a:solidFill>
                  <a:srgbClr val="222222"/>
                </a:solidFill>
                <a:latin typeface="Calibri"/>
              </a:rPr>
              <a:t>4. The resolver queries that authoritative server, which returns the IP address, e.g. 93.184.216.34.</a:t>
            </a:r>
          </a:p>
          <a:p>
            <a:pPr lvl="1"/>
            <a:r>
              <a:rPr sz="1900" b="0">
                <a:solidFill>
                  <a:srgbClr val="222222"/>
                </a:solidFill>
                <a:latin typeface="Calibri"/>
              </a:rPr>
              <a:t>5. The resolver caches the result and returns the IP to the browser.</a:t>
            </a:r>
          </a:p>
          <a:p>
            <a:pPr lvl="1"/>
            <a:r>
              <a:rPr sz="1900" b="0">
                <a:solidFill>
                  <a:srgbClr val="222222"/>
                </a:solidFill>
                <a:latin typeface="Calibri"/>
              </a:rPr>
              <a:t>6. The browser now contacts 93.184.216.34 directly over HTTP or HTTPS; a second lookup of the same name is answered instantly from cache.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3</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Following a message through a packet-switched network</a:t>
            </a:r>
          </a:p>
          <a:p>
            <a:pPr lvl="1"/>
            <a:r>
              <a:rPr sz="1900" b="0">
                <a:solidFill>
                  <a:srgbClr val="222222"/>
                </a:solidFill>
                <a:latin typeface="Calibri"/>
              </a:rPr>
              <a:t>1. The message MEET ME AT NOON is split into 4 packets, one word each; each header carries source address, destination address, sequence number (e.g. 2 of 4) and a checksum.</a:t>
            </a:r>
          </a:p>
          <a:p>
            <a:pPr lvl="1"/>
            <a:r>
              <a:rPr sz="1900" b="0">
                <a:solidFill>
                  <a:srgbClr val="222222"/>
                </a:solidFill>
                <a:latin typeface="Calibri"/>
              </a:rPr>
              <a:t>2. Each packet is sent independently; routers read only the destination address and forward each packet along whichever route is currently best.</a:t>
            </a:r>
          </a:p>
          <a:p>
            <a:pPr lvl="1"/>
            <a:r>
              <a:rPr sz="1900" b="0">
                <a:solidFill>
                  <a:srgbClr val="222222"/>
                </a:solidFill>
                <a:latin typeface="Calibri"/>
              </a:rPr>
              <a:t>3. A congested router delays packet 2, so the receiver gets packets in the order 1, 3, 4, then 2.</a:t>
            </a:r>
          </a:p>
          <a:p>
            <a:pPr lvl="1"/>
            <a:r>
              <a:rPr sz="1900" b="0">
                <a:solidFill>
                  <a:srgbClr val="222222"/>
                </a:solidFill>
                <a:latin typeface="Calibri"/>
              </a:rPr>
              <a:t>4. The receiver holds the packets and reassembles them by sequence number, so the message still reads correctly.</a:t>
            </a:r>
          </a:p>
          <a:p>
            <a:pPr lvl="1"/>
            <a:r>
              <a:rPr sz="1900" b="0">
                <a:solidFill>
                  <a:srgbClr val="222222"/>
                </a:solidFill>
                <a:latin typeface="Calibri"/>
              </a:rPr>
              <a:t>5. If packet 3 never arrives, the gap in sequence numbers is detected and a resend request is sent — TCP-style reliable delivery.</a:t>
            </a:r>
          </a:p>
          <a:p>
            <a:pPr lvl="1"/>
            <a:r>
              <a:rPr sz="1900" b="0">
                <a:solidFill>
                  <a:srgbClr val="222222"/>
                </a:solidFill>
                <a:latin typeface="Calibri"/>
              </a:rPr>
              <a:t>6. Contrast with circuit switching: one reserved end-to-end path would guarantee order and bandwidth, but the links sit idle between words and a broken link kills the whole call.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1</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Packet Post: packet-switching role play  (20 min)</a:t>
            </a:r>
          </a:p>
          <a:p>
            <a:pPr lvl="1"/>
            <a:r>
              <a:rPr sz="2000" b="0">
                <a:solidFill>
                  <a:srgbClr val="222222"/>
                </a:solidFill>
                <a:latin typeface="Calibri"/>
              </a:rPr>
              <a:t>Cast one sender and one receiver in opposite corners, with 4-5 router students between them arranged so there are at least two routes.</a:t>
            </a:r>
          </a:p>
          <a:p>
            <a:pPr lvl="1"/>
            <a:r>
              <a:rPr sz="2000" b="0">
                <a:solidFill>
                  <a:srgbClr val="222222"/>
                </a:solidFill>
                <a:latin typeface="Calibri"/>
              </a:rPr>
              <a:t>The sender splits the message MEET ME AT NOON across 4 envelopes, one word each, writing destination address, source address and sequence number (e.g. 2 of 4) on each — the header.</a:t>
            </a:r>
          </a:p>
          <a:p>
            <a:pPr lvl="1"/>
            <a:r>
              <a:rPr sz="2000" b="0">
                <a:solidFill>
                  <a:srgbClr val="222222"/>
                </a:solidFill>
                <a:latin typeface="Calibri"/>
              </a:rPr>
              <a:t>The sender passes envelopes one at a time to any adjacent router; each router reads only the destination and forwards to whichever neighbour is free — packets may take different routes.</a:t>
            </a:r>
          </a:p>
          <a:p>
            <a:pPr lvl="1"/>
            <a:r>
              <a:rPr sz="2000" b="0">
                <a:solidFill>
                  <a:srgbClr val="222222"/>
                </a:solidFill>
                <a:latin typeface="Calibri"/>
              </a:rPr>
              <a:t>Secretly instruct one router to sit on packet 2 for 20 seconds (congestion); packets arrive out of order and the receiver must reassemble by sequence number before reading the message aloud.</a:t>
            </a:r>
          </a:p>
          <a:p>
            <a:pPr lvl="1"/>
            <a:r>
              <a:rPr sz="2000" b="0">
                <a:solidFill>
                  <a:srgbClr val="222222"/>
                </a:solidFill>
                <a:latin typeface="Calibri"/>
              </a:rPr>
              <a:t>Round 2: confiscate a packet entirely (packet loss); the receiver spots the gap in sequence numbers and sends a resend slip back — retransmission.</a:t>
            </a:r>
          </a:p>
          <a:p>
            <a:pPr lvl="1"/>
            <a:r>
              <a:rPr sz="2000" b="0">
                <a:solidFill>
                  <a:srgbClr val="222222"/>
                </a:solidFill>
                <a:latin typeface="Calibri"/>
              </a:rPr>
              <a:t>Debrief, then contrast circuit switching: 4 students hold hands forming one reserved path that nobody else may use until the call ends.</a:t>
            </a:r>
          </a:p>
          <a:p>
            <a:pPr/>
            <a:r>
              <a:rPr sz="1800" b="0">
                <a:solidFill>
                  <a:srgbClr val="B76E00"/>
                </a:solidFill>
                <a:latin typeface="Calibri"/>
              </a:rPr>
              <a:t>Stretch: Add a second sender-receiver pair transmitting simultaneously through the same routers — packet switching interleaves both conversations on shared links; circuit switching cannot.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2</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The TCP/IP Post Office jigsaw  (20 min)</a:t>
            </a:r>
          </a:p>
          <a:p>
            <a:pPr lvl="1"/>
            <a:r>
              <a:rPr sz="2000" b="0">
                <a:solidFill>
                  <a:srgbClr val="222222"/>
                </a:solidFill>
                <a:latin typeface="Calibri"/>
              </a:rPr>
              <a:t>Expert phase: four stations, one per TCP/IP layer; each station decides what its layer is in a postal system and which protocols live there.</a:t>
            </a:r>
          </a:p>
          <a:p>
            <a:pPr lvl="1"/>
            <a:r>
              <a:rPr sz="2000" b="0">
                <a:solidFill>
                  <a:srgbClr val="222222"/>
                </a:solidFill>
                <a:latin typeface="Calibri"/>
              </a:rPr>
              <a:t>Jigsaw phase: re-form into groups of four (one expert per layer) and build the full post-office analogy on sugar paper, tracing one letter down the stack at the sender and up at the receiver.</a:t>
            </a:r>
          </a:p>
          <a:p>
            <a:pPr lvl="1"/>
            <a:r>
              <a:rPr sz="2000" b="0">
                <a:solidFill>
                  <a:srgbClr val="222222"/>
                </a:solidFill>
                <a:latin typeface="Calibri"/>
              </a:rPr>
              <a:t>Posters must show what is added at each layer going down and removed going up: conventions for writing the letter (application), numbered envelopes and re-send requests (transport), building addresses and route choice (internet), the van between adjacent sorting offices (link).</a:t>
            </a:r>
          </a:p>
          <a:p>
            <a:pPr lvl="1"/>
            <a:r>
              <a:rPr sz="2000" b="0">
                <a:solidFill>
                  <a:srgbClr val="222222"/>
                </a:solidFill>
                <a:latin typeface="Calibri"/>
              </a:rPr>
              <a:t>Critique phase: each group finds and presents at least two places where the analogy breaks down.</a:t>
            </a:r>
          </a:p>
          <a:p>
            <a:pPr lvl="1"/>
            <a:r>
              <a:rPr sz="2000" b="0">
                <a:solidFill>
                  <a:srgbClr val="222222"/>
                </a:solidFill>
                <a:latin typeface="Calibri"/>
              </a:rPr>
              <a:t>Gallery walk and vote for the most accurate poster; draw out that the IP address stays constant end-to-end while the MAC address changes at every hop.</a:t>
            </a:r>
          </a:p>
          <a:p>
            <a:pPr/>
            <a:r>
              <a:rPr sz="1800" b="0">
                <a:solidFill>
                  <a:srgbClr val="B76E00"/>
                </a:solidFill>
                <a:latin typeface="Calibri"/>
              </a:rPr>
              <a:t>Stretch: Groups annotate where a firewall and a proxy server would sit in the postal analogy.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3</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DNS Detectives  (12 min)</a:t>
            </a:r>
          </a:p>
          <a:p>
            <a:pPr lvl="1"/>
            <a:r>
              <a:rPr sz="2000" b="0">
                <a:solidFill>
                  <a:srgbClr val="222222"/>
                </a:solidFill>
                <a:latin typeface="Calibri"/>
              </a:rPr>
              <a:t>Cast a browser student, a resolver student holding a blank cache whiteboard, a directory student across the room holding the master list (schoolsite.co.uk = 93.184.216.34), and a web server student wearing the IP number.</a:t>
            </a:r>
          </a:p>
          <a:p>
            <a:pPr lvl="1"/>
            <a:r>
              <a:rPr sz="2000" b="0">
                <a:solidFill>
                  <a:srgbClr val="222222"/>
                </a:solidFill>
                <a:latin typeface="Calibri"/>
              </a:rPr>
              <a:t>The browser asks the resolver for schoolsite.co.uk; the cache is empty so the resolver walks across the room to query the directory — narrate that in reality this walk is a hierarchy: root, then .uk TLD, then the domain's authoritative server.</a:t>
            </a:r>
          </a:p>
          <a:p>
            <a:pPr lvl="1"/>
            <a:r>
              <a:rPr sz="2000" b="0">
                <a:solidFill>
                  <a:srgbClr val="222222"/>
                </a:solidFill>
                <a:latin typeface="Calibri"/>
              </a:rPr>
              <a:t>The resolver writes the answer into its cache and returns the IP; the browser contacts the web server directly. Time the lookup dramatically with a stopwatch.</a:t>
            </a:r>
          </a:p>
          <a:p>
            <a:pPr lvl="1"/>
            <a:r>
              <a:rPr sz="2000" b="0">
                <a:solidFill>
                  <a:srgbClr val="222222"/>
                </a:solidFill>
                <a:latin typeface="Calibri"/>
              </a:rPr>
              <a:t>A second browser student requests the same site; the resolver answers instantly from cache — compare the times.</a:t>
            </a:r>
          </a:p>
          <a:p>
            <a:pPr lvl="1"/>
            <a:r>
              <a:rPr sz="2000" b="0">
                <a:solidFill>
                  <a:srgbClr val="222222"/>
                </a:solidFill>
                <a:latin typeface="Calibri"/>
              </a:rPr>
              <a:t>Debrief: why have DNS at all, why cache, and what breaks if the DNS server is down?</a:t>
            </a:r>
          </a:p>
          <a:p>
            <a:pPr/>
            <a:r>
              <a:rPr sz="1800" b="0">
                <a:solidFill>
                  <a:srgbClr val="B76E00"/>
                </a:solidFill>
                <a:latin typeface="Calibri"/>
              </a:rPr>
              <a:t>Stretch: Poison the cache (the resolver secretly writes the wrong IP) and discuss why the browser trusts it and what that implies for security.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(1-4)</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State two differences between a LAN and a WAN. (2 marks)</a:t>
            </a:r>
          </a:p>
          <a:p>
            <a:r>
              <a:rPr sz="2000" b="1">
                <a:solidFill>
                  <a:srgbClr val="222222"/>
                </a:solidFill>
                <a:latin typeface="Calibri"/>
              </a:rPr>
              <a:t>2. Explain why protocols and standards are needed on a network. (2 marks)</a:t>
            </a:r>
          </a:p>
          <a:p>
            <a:r>
              <a:rPr sz="2000" b="1">
                <a:solidFill>
                  <a:srgbClr val="222222"/>
                </a:solidFill>
                <a:latin typeface="Calibri"/>
              </a:rPr>
              <a:t>3. Describe the role of each of the four layers of the TCP/IP stack when data is sent. (4 marks)</a:t>
            </a:r>
          </a:p>
          <a:p>
            <a:r>
              <a:rPr sz="2000" b="1">
                <a:solidFill>
                  <a:srgbClr val="222222"/>
                </a:solidFill>
                <a:latin typeface="Calibri"/>
              </a:rPr>
              <a:t>4. A user types a website address into a browser. Describe how DNS is used to load the page. (4 marks)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 answers (1-4)</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State two differences between a LAN and a WAN. (2 marks)</a:t>
            </a:r>
          </a:p>
          <a:p>
            <a:pPr lvl="1"/>
            <a:r>
              <a:rPr sz="1800" i="1">
                <a:solidFill>
                  <a:srgbClr val="B76E00"/>
                </a:solidFill>
                <a:latin typeface="Calibri"/>
              </a:rPr>
              <a:t>Answer: A LAN covers a small geographical area / single site while a WAN covers a large area such as between cities (1). A LAN's hardware is owned by the organisation while a WAN uses third-party communication infrastructure (1).</a:t>
            </a:r>
          </a:p>
          <a:p>
            <a:r>
              <a:rPr sz="2000" b="1">
                <a:solidFill>
                  <a:srgbClr val="222222"/>
                </a:solidFill>
                <a:latin typeface="Calibri"/>
              </a:rPr>
              <a:t>2. Explain why protocols and standards are needed on a network. (2 marks)</a:t>
            </a:r>
          </a:p>
          <a:p>
            <a:pPr lvl="1"/>
            <a:r>
              <a:rPr sz="1800" i="1">
                <a:solidFill>
                  <a:srgbClr val="B76E00"/>
                </a:solidFill>
                <a:latin typeface="Calibri"/>
              </a:rPr>
              <a:t>Answer: Protocols provide an agreed set of rules governing how data is formatted and transmitted (1), so that devices and software from different manufacturers can communicate / are compatible and interoperable (1).</a:t>
            </a:r>
          </a:p>
          <a:p>
            <a:r>
              <a:rPr sz="2000" b="1">
                <a:solidFill>
                  <a:srgbClr val="222222"/>
                </a:solidFill>
                <a:latin typeface="Calibri"/>
              </a:rPr>
              <a:t>3. Describe the role of each of the four layers of the TCP/IP stack when data is sent. (4 marks)</a:t>
            </a:r>
          </a:p>
          <a:p>
            <a:pPr lvl="1"/>
            <a:r>
              <a:rPr sz="1800" i="1">
                <a:solidFill>
                  <a:srgbClr val="B76E00"/>
                </a:solidFill>
                <a:latin typeface="Calibri"/>
              </a:rPr>
              <a:t>Answer: Application: provides network services to applications and prepares data using protocols such as HTTP or SMTP (1). Transport: splits the data into packets, adds port and sequence numbers and manages end-to-end delivery (1). Internet/network: adds source and destination IP addresses and routes the packets (1). Link: handles the physical connection and adds MAC addresses for the next hop (1).</a:t>
            </a:r>
          </a:p>
          <a:p>
            <a:r>
              <a:rPr sz="2000" b="1">
                <a:solidFill>
                  <a:srgbClr val="222222"/>
                </a:solidFill>
                <a:latin typeface="Calibri"/>
              </a:rPr>
              <a:t>4. A user types a website address into a browser. Describe how DNS is used to load the page. (4 marks)</a:t>
            </a:r>
          </a:p>
          <a:p>
            <a:pPr lvl="1"/>
            <a:r>
              <a:rPr sz="1800" i="1">
                <a:solidFill>
                  <a:srgbClr val="B76E00"/>
                </a:solidFill>
                <a:latin typeface="Calibri"/>
              </a:rPr>
              <a:t>Answer: The browser/resolver checks its cache for the domain name (1); on a miss the resolver queries the DNS hierarchy — root server, then TLD server, then the authoritative name server for the domain (1); the authoritative server returns the IP address, which is cached for future lookups (1); the browser then sends the page request directly to that IP address (1).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(5-8)</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Identify three items found in the header of a packet. (3 marks)</a:t>
            </a:r>
          </a:p>
          <a:p>
            <a:r>
              <a:rPr sz="2000" b="1">
                <a:solidFill>
                  <a:srgbClr val="222222"/>
                </a:solidFill>
                <a:latin typeface="Calibri"/>
              </a:rPr>
              <a:t>2. Compare packet switching and circuit switching. (4 marks)</a:t>
            </a:r>
          </a:p>
          <a:p>
            <a:r>
              <a:rPr sz="2000" b="1">
                <a:solidFill>
                  <a:srgbClr val="222222"/>
                </a:solidFill>
                <a:latin typeface="Calibri"/>
              </a:rPr>
              <a:t>3. A small office is deciding between a switch and a hub to connect its computers. Explain one advantage of choosing the switch. (2 marks)</a:t>
            </a:r>
          </a:p>
          <a:p>
            <a:r>
              <a:rPr sz="2000" b="1">
                <a:solidFill>
                  <a:srgbClr val="222222"/>
                </a:solidFill>
                <a:latin typeface="Calibri"/>
              </a:rPr>
              <a:t>4. A start-up with six employees wants to share files cheaply without buying a server. Discuss whether a peer-to-peer network is appropriate. (6 marks)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 answers (5-8)</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Identify three items found in the header of a packet. (3 marks)</a:t>
            </a:r>
          </a:p>
          <a:p>
            <a:pPr lvl="1"/>
            <a:r>
              <a:rPr sz="1800" i="1">
                <a:solidFill>
                  <a:srgbClr val="B76E00"/>
                </a:solidFill>
                <a:latin typeface="Calibri"/>
              </a:rPr>
              <a:t>Answer: Any three of: source address (1), destination address (1), sequence/packet number (1), checksum / error-checking data (1). Max 3.</a:t>
            </a:r>
          </a:p>
          <a:p>
            <a:r>
              <a:rPr sz="2000" b="1">
                <a:solidFill>
                  <a:srgbClr val="222222"/>
                </a:solidFill>
                <a:latin typeface="Calibri"/>
              </a:rPr>
              <a:t>2. Compare packet switching and circuit switching. (4 marks)</a:t>
            </a:r>
          </a:p>
          <a:p>
            <a:pPr lvl="1"/>
            <a:r>
              <a:rPr sz="1800" i="1">
                <a:solidFill>
                  <a:srgbClr val="B76E00"/>
                </a:solidFill>
                <a:latin typeface="Calibri"/>
              </a:rPr>
              <a:t>Answer: Circuit switching reserves one dedicated path for the whole communication whereas packet switching sends packets independently, possibly by different routes (1). Packets can arrive out of order and are reassembled using sequence numbers (1). Packet switching uses the network more efficiently as no capacity sits idle/reserved (1). Packet switching is more resilient as packets can be routed around failed nodes, while circuit switching guarantees bandwidth but the call fails if the path breaks (1).</a:t>
            </a:r>
          </a:p>
          <a:p>
            <a:r>
              <a:rPr sz="2000" b="1">
                <a:solidFill>
                  <a:srgbClr val="222222"/>
                </a:solidFill>
                <a:latin typeface="Calibri"/>
              </a:rPr>
              <a:t>3. A small office is deciding between a switch and a hub to connect its computers. Explain one advantage of choosing the switch. (2 marks)</a:t>
            </a:r>
          </a:p>
          <a:p>
            <a:pPr lvl="1"/>
            <a:r>
              <a:rPr sz="1800" i="1">
                <a:solidFill>
                  <a:srgbClr val="B76E00"/>
                </a:solidFill>
                <a:latin typeface="Calibri"/>
              </a:rPr>
              <a:t>Answer: A hub broadcasts all data to every connected device, whereas a switch learns MAC addresses and forwards data only to the intended device (1), reducing unnecessary traffic/collisions and improving performance and security (1).</a:t>
            </a:r>
          </a:p>
          <a:p>
            <a:r>
              <a:rPr sz="2000" b="1">
                <a:solidFill>
                  <a:srgbClr val="222222"/>
                </a:solidFill>
                <a:latin typeface="Calibri"/>
              </a:rPr>
              <a:t>4. A start-up with six employees wants to share files cheaply without buying a server. Discuss whether a peer-to-peer network is appropriate. (6 marks)</a:t>
            </a:r>
          </a:p>
          <a:p>
            <a:pPr lvl="1"/>
            <a:r>
              <a:rPr sz="1800" i="1">
                <a:solidFill>
                  <a:srgbClr val="B76E00"/>
                </a:solidFill>
                <a:latin typeface="Calibri"/>
              </a:rPr>
              <a:t>Answer: For: P2P needs no dedicated server so it is cheap and simple to set up (1); no single point of failure — if one peer is off, others still share (1); adequate for a small number of users (1). Against: no central security or user management — each machine must be secured individually (1); backup is harder as files are scattered across peers (1); scales poorly, so growth would justify moving to client-server for central management and backup (1). Award a justified conclusion within the 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Common misconceptions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 Students often think the switch and router do the same job, but a switch connects devices within one LAN using MAC addresses while a router connects different networks using IP addresses.</a:t>
            </a:r>
          </a:p>
          <a:p>
            <a:pPr/>
            <a:r>
              <a:rPr sz="2000" b="0">
                <a:solidFill>
                  <a:srgbClr val="222222"/>
                </a:solidFill>
                <a:latin typeface="Calibri"/>
              </a:rPr>
              <a:t>✗ Students often think DNS stores or hosts websites, but it only translates domain names into IP addresses — the website itself lives on a web server.</a:t>
            </a:r>
          </a:p>
          <a:p>
            <a:pPr/>
            <a:r>
              <a:rPr sz="2000" b="0">
                <a:solidFill>
                  <a:srgbClr val="222222"/>
                </a:solidFill>
                <a:latin typeface="Calibri"/>
              </a:rPr>
              <a:t>✗ Students often think packets always arrive in order, but they are routed independently and may arrive out of order; sequence numbers in the header allow reassembly.</a:t>
            </a:r>
          </a:p>
          <a:p>
            <a:pPr/>
            <a:r>
              <a:rPr sz="2000" b="0">
                <a:solidFill>
                  <a:srgbClr val="222222"/>
                </a:solidFill>
                <a:latin typeface="Calibri"/>
              </a:rPr>
              <a:t>✗ Students often think every layer adds both a header and a trailer, but only the link layer adds a trailer (for error checking); all layers add a header.</a:t>
            </a:r>
          </a:p>
          <a:p>
            <a:pPr/>
            <a:r>
              <a:rPr sz="2000" b="0">
                <a:solidFill>
                  <a:srgbClr val="222222"/>
                </a:solidFill>
                <a:latin typeface="Calibri"/>
              </a:rPr>
              <a:t>✗ Students often think SMTP retrieves email, but SMTP only sends it; POP3 and IMAP retrieve it, differing in whether mail stays on the server.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How the exam asks this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Command words: state/identify for hardware and header contents (1-2 marks), describe/explain for the TCP/IP layers and DNS (3-4 marks), compare for packet vs circuit switching, discuss/evaluate for client-server vs peer-to-peer scenarios (6+ marks).</a:t>
            </a:r>
          </a:p>
          <a:p>
            <a:pPr/>
            <a:r>
              <a:rPr sz="2000" b="0">
                <a:solidFill>
                  <a:srgbClr val="222222"/>
                </a:solidFill>
                <a:latin typeface="Calibri"/>
              </a:rPr>
              <a:t>The four TCP/IP layers is a classic 4-marker: one mark per layer, and you must name the layer and its job (what it adds).</a:t>
            </a:r>
          </a:p>
          <a:p>
            <a:pPr/>
            <a:r>
              <a:rPr sz="2000" b="0">
                <a:solidFill>
                  <a:srgbClr val="222222"/>
                </a:solidFill>
                <a:latin typeface="Calibri"/>
              </a:rPr>
              <a:t>Example stem: A company is expanding from one office to three sites across the country. Describe the changes needed to its network and explain the roles of the hardware and protocols involved.</a:t>
            </a:r>
          </a:p>
          <a:p>
            <a:pPr/>
            <a:r>
              <a:rPr sz="2000" b="0">
                <a:solidFill>
                  <a:srgbClr val="222222"/>
                </a:solidFill>
                <a:latin typeface="Calibri"/>
              </a:rPr>
              <a:t>Scenario 6-9 markers (client-server vs P2P, packet vs circuit) are levelled: give both sides, apply to the scenario, and finish with a justified conclusion.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Your turn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400" b="1">
                <a:solidFill>
                  <a:srgbClr val="2B6CB0"/>
                </a:solidFill>
                <a:latin typeface="Calibri"/>
              </a:rPr>
              <a:t>Task</a:t>
            </a:r>
          </a:p>
          <a:p>
            <a:pPr lvl="1"/>
            <a:r>
              <a:rPr sz="2200" b="0">
                <a:solidFill>
                  <a:srgbClr val="222222"/>
                </a:solidFill>
                <a:latin typeface="Calibri"/>
              </a:rPr>
              <a:t>Trace an email from a sender clicking Send to the recipient reading it on their phone: name the protocol used at each stage (SMTP to the server, SMTP server-to-server, IMAP retrieval), then show what happens to the message at each TCP/IP layer on the sending device, including what each layer adds during encapsulation.</a:t>
            </a:r>
          </a:p>
          <a:p>
            <a:r>
              <a:rPr sz="2400" b="1">
                <a:solidFill>
                  <a:srgbClr val="B76E00"/>
                </a:solidFill>
                <a:latin typeface="Calibri"/>
              </a:rPr>
              <a:t>Challenge / stretch</a:t>
            </a:r>
          </a:p>
          <a:p>
            <a:pPr lvl="1"/>
            <a:r>
              <a:rPr sz="2200" b="0">
                <a:solidFill>
                  <a:srgbClr val="222222"/>
                </a:solidFill>
                <a:latin typeface="Calibri"/>
              </a:rPr>
              <a:t>A video-calling app is being designed. Argue whether it should run over TCP or UDP at the transport layer, using reliability, retransmission delay and the effect of a few lost packets on live video; then explain why the same company's file-download feature makes the opposite choice.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Explain the difference between a switch and a router.</a:t>
            </a:r>
          </a:p>
          <a:p>
            <a:r>
              <a:rPr sz="2200" b="1">
                <a:solidFill>
                  <a:srgbClr val="222222"/>
                </a:solidFill>
                <a:latin typeface="Calibri"/>
              </a:rPr>
              <a:t>2. Put these in the order a sending device uses them and state what each adds: internet layer, application layer, link layer, transport layer.</a:t>
            </a:r>
          </a:p>
          <a:p>
            <a:r>
              <a:rPr sz="2200" b="1">
                <a:solidFill>
                  <a:srgbClr val="222222"/>
                </a:solidFill>
                <a:latin typeface="Calibri"/>
              </a:rPr>
              <a:t>3. Give one reason DNS responses are cached.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Explain the difference between a switch and a router.</a:t>
            </a:r>
          </a:p>
          <a:p>
            <a:pPr lvl="1"/>
            <a:r>
              <a:rPr sz="1800" i="1">
                <a:solidFill>
                  <a:srgbClr val="B76E00"/>
                </a:solidFill>
                <a:latin typeface="Calibri"/>
              </a:rPr>
              <a:t>Answer: A switch connects devices within a single LAN and forwards frames using MAC addresses; a router connects different networks and forwards packets using IP addresses.</a:t>
            </a:r>
          </a:p>
          <a:p>
            <a:r>
              <a:rPr sz="2200" b="1">
                <a:solidFill>
                  <a:srgbClr val="222222"/>
                </a:solidFill>
                <a:latin typeface="Calibri"/>
              </a:rPr>
              <a:t>2. Put these in the order a sending device uses them and state what each adds: internet layer, application layer, link layer, transport layer.</a:t>
            </a:r>
          </a:p>
          <a:p>
            <a:pPr lvl="1"/>
            <a:r>
              <a:rPr sz="1800" i="1">
                <a:solidFill>
                  <a:srgbClr val="B76E00"/>
                </a:solidFill>
                <a:latin typeface="Calibri"/>
              </a:rPr>
              <a:t>Answer: Application (prepares data with a protocol such as HTTP), transport (splits into packets, adds ports and sequence numbers), internet (adds source and destination IP addresses), link (adds MAC addresses and an error-check trailer).</a:t>
            </a:r>
          </a:p>
          <a:p>
            <a:r>
              <a:rPr sz="2200" b="1">
                <a:solidFill>
                  <a:srgbClr val="222222"/>
                </a:solidFill>
                <a:latin typeface="Calibri"/>
              </a:rPr>
              <a:t>3. Give one reason DNS responses are cached.</a:t>
            </a:r>
          </a:p>
          <a:p>
            <a:pPr lvl="1"/>
            <a:r>
              <a:rPr sz="1800" i="1">
                <a:solidFill>
                  <a:srgbClr val="B76E00"/>
                </a:solidFill>
                <a:latin typeface="Calibri"/>
              </a:rPr>
              <a:t>Answer: So repeat lookups are answered much faster without querying the hierarchy again, reducing load on DNS servers.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