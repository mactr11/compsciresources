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2.1.2 Thinking Ahead</a:t>
            </a:r>
          </a:p>
          <a:p>
            <a:r>
              <a:rPr sz="2000" b="0" i="0">
                <a:solidFill>
                  <a:srgbClr val="BED3EC"/>
                </a:solidFill>
                <a:latin typeface="Calibri"/>
              </a:rPr>
              <a:t>OCR H446 — Component 02</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06 (05 Oct)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identify the inputs and outputs of a routine, distinguishing them from internal processes.</a:t>
            </a:r>
          </a:p>
          <a:p>
            <a:pPr lvl="1"/>
            <a:r>
              <a:rPr sz="2200" b="0">
                <a:solidFill>
                  <a:srgbClr val="222222"/>
                </a:solidFill>
                <a:latin typeface="Calibri"/>
              </a:rPr>
              <a:t>I can state preconditions for a routine and explain the consequences of not meeting them.</a:t>
            </a:r>
          </a:p>
          <a:p>
            <a:pPr lvl="1"/>
            <a:r>
              <a:rPr sz="2200" b="0">
                <a:solidFill>
                  <a:srgbClr val="222222"/>
                </a:solidFill>
                <a:latin typeface="Calibri"/>
              </a:rPr>
              <a:t>I can explain caching and prefetching, pairing each benefit with its trade-off.</a:t>
            </a:r>
          </a:p>
          <a:p>
            <a:pPr lvl="1"/>
            <a:r>
              <a:rPr sz="2200" b="0">
                <a:solidFill>
                  <a:srgbClr val="222222"/>
                </a:solidFill>
                <a:latin typeface="Calibri"/>
              </a:rPr>
              <a:t>I can justify the use of reusable program components in a given scenario.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2.1.1: define abstraction.</a:t>
            </a:r>
          </a:p>
          <a:p>
            <a:r>
              <a:rPr sz="2200" b="1">
                <a:solidFill>
                  <a:srgbClr val="222222"/>
                </a:solidFill>
                <a:latin typeface="Calibri"/>
              </a:rPr>
              <a:t>2. From 2.1.1: what is the difference between representational abstraction and generalisation?</a:t>
            </a:r>
          </a:p>
          <a:p>
            <a:r>
              <a:rPr sz="2200" b="1">
                <a:solidFill>
                  <a:srgbClr val="222222"/>
                </a:solidFill>
                <a:latin typeface="Calibri"/>
              </a:rPr>
              <a:t>3. From 1.2.1: describe round robin scheduling in one sentence.</a:t>
            </a:r>
          </a:p>
          <a:p>
            <a:r>
              <a:rPr sz="2200" b="1">
                <a:solidFill>
                  <a:srgbClr val="222222"/>
                </a:solidFill>
                <a:latin typeface="Calibri"/>
              </a:rPr>
              <a:t>4. From 1.2.1: state the difference between paging and segmentation.</a:t>
            </a:r>
          </a:p>
          <a:p>
            <a:r>
              <a:rPr sz="2200" b="1">
                <a:solidFill>
                  <a:srgbClr val="222222"/>
                </a:solidFill>
                <a:latin typeface="Calibri"/>
              </a:rPr>
              <a:t>5. From 1.2.1: why does the OS push register contents onto a stack when servicing an interrupt?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2.1.1: define abstraction.</a:t>
            </a:r>
          </a:p>
          <a:p>
            <a:pPr lvl="1"/>
            <a:r>
              <a:rPr sz="1800" i="1">
                <a:solidFill>
                  <a:srgbClr val="B76E00"/>
                </a:solidFill>
                <a:latin typeface="Calibri"/>
              </a:rPr>
              <a:t>Answer: Removing or hiding unnecessary detail so only information relevant to the problem remains.</a:t>
            </a:r>
          </a:p>
          <a:p>
            <a:r>
              <a:rPr sz="2200" b="1">
                <a:solidFill>
                  <a:srgbClr val="222222"/>
                </a:solidFill>
                <a:latin typeface="Calibri"/>
              </a:rPr>
              <a:t>2. From 2.1.1: what is the difference between representational abstraction and generalisation?</a:t>
            </a:r>
          </a:p>
          <a:p>
            <a:pPr lvl="1"/>
            <a:r>
              <a:rPr sz="1800" i="1">
                <a:solidFill>
                  <a:srgbClr val="B76E00"/>
                </a:solidFill>
                <a:latin typeface="Calibri"/>
              </a:rPr>
              <a:t>Answer: Representational abstraction removes detail from one specific thing; generalisation groups many things by shared characteristics.</a:t>
            </a:r>
          </a:p>
          <a:p>
            <a:r>
              <a:rPr sz="2200" b="1">
                <a:solidFill>
                  <a:srgbClr val="222222"/>
                </a:solidFill>
                <a:latin typeface="Calibri"/>
              </a:rPr>
              <a:t>3. From 1.2.1: describe round robin scheduling in one sentence.</a:t>
            </a:r>
          </a:p>
          <a:p>
            <a:pPr lvl="1"/>
            <a:r>
              <a:rPr sz="1800" i="1">
                <a:solidFill>
                  <a:srgbClr val="B76E00"/>
                </a:solidFill>
                <a:latin typeface="Calibri"/>
              </a:rPr>
              <a:t>Answer: Each process gets a fixed time slice (quantum) of CPU time in turn, pre-emptively, so all are treated fairly.</a:t>
            </a:r>
          </a:p>
          <a:p>
            <a:r>
              <a:rPr sz="2200" b="1">
                <a:solidFill>
                  <a:srgbClr val="222222"/>
                </a:solidFill>
                <a:latin typeface="Calibri"/>
              </a:rPr>
              <a:t>4. From 1.2.1: state the difference between paging and segmentation.</a:t>
            </a:r>
          </a:p>
          <a:p>
            <a:pPr lvl="1"/>
            <a:r>
              <a:rPr sz="1800" i="1">
                <a:solidFill>
                  <a:srgbClr val="B76E00"/>
                </a:solidFill>
                <a:latin typeface="Calibri"/>
              </a:rPr>
              <a:t>Answer: Paging uses fixed-size physical blocks; segmentation uses variable-size logical blocks matching the program's structure.</a:t>
            </a:r>
          </a:p>
          <a:p>
            <a:r>
              <a:rPr sz="2200" b="1">
                <a:solidFill>
                  <a:srgbClr val="222222"/>
                </a:solidFill>
                <a:latin typeface="Calibri"/>
              </a:rPr>
              <a:t>5. From 1.2.1: why does the OS push register contents onto a stack when servicing an interrupt?</a:t>
            </a:r>
          </a:p>
          <a:p>
            <a:pPr lvl="1"/>
            <a:r>
              <a:rPr sz="1800" i="1">
                <a:solidFill>
                  <a:srgbClr val="B76E00"/>
                </a:solidFill>
                <a:latin typeface="Calibri"/>
              </a:rPr>
              <a:t>Answer: To save the interrupted program's state so it can be popped back and resumed; LIFO order supports nested interrupts.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Input</a:t>
            </a:r>
            <a:r>
              <a:rPr sz="1800">
                <a:solidFill>
                  <a:srgbClr val="222222"/>
                </a:solidFill>
                <a:latin typeface="Calibri"/>
              </a:rPr>
              <a:t> — Data supplied to a routine, such as the number of seats requested by a customer.</a:t>
            </a:r>
          </a:p>
          <a:p>
            <a:r>
              <a:rPr b="1" sz="2000">
                <a:solidFill>
                  <a:srgbClr val="1A365D"/>
                </a:solidFill>
                <a:latin typeface="Calibri"/>
              </a:rPr>
              <a:t>Output</a:t>
            </a:r>
            <a:r>
              <a:rPr sz="1800">
                <a:solidFill>
                  <a:srgbClr val="222222"/>
                </a:solidFill>
                <a:latin typeface="Calibri"/>
              </a:rPr>
              <a:t> — A result produced by a routine, such as a booking confirmation reference.</a:t>
            </a:r>
          </a:p>
          <a:p>
            <a:r>
              <a:rPr b="1" sz="2000">
                <a:solidFill>
                  <a:srgbClr val="1A365D"/>
                </a:solidFill>
                <a:latin typeface="Calibri"/>
              </a:rPr>
              <a:t>Process</a:t>
            </a:r>
            <a:r>
              <a:rPr sz="1800">
                <a:solidFill>
                  <a:srgbClr val="222222"/>
                </a:solidFill>
                <a:latin typeface="Calibri"/>
              </a:rPr>
              <a:t> — A step that transforms data inside a routine; it is neither an input nor an output.</a:t>
            </a:r>
          </a:p>
          <a:p>
            <a:r>
              <a:rPr b="1" sz="2000">
                <a:solidFill>
                  <a:srgbClr val="1A365D"/>
                </a:solidFill>
                <a:latin typeface="Calibri"/>
              </a:rPr>
              <a:t>Precondition</a:t>
            </a:r>
            <a:r>
              <a:rPr sz="1800">
                <a:solidFill>
                  <a:srgbClr val="222222"/>
                </a:solidFill>
                <a:latin typeface="Calibri"/>
              </a:rPr>
              <a:t> — A condition that must be true before a routine can run correctly.</a:t>
            </a:r>
          </a:p>
          <a:p>
            <a:r>
              <a:rPr b="1" sz="2000">
                <a:solidFill>
                  <a:srgbClr val="1A365D"/>
                </a:solidFill>
                <a:latin typeface="Calibri"/>
              </a:rPr>
              <a:t>Caching</a:t>
            </a:r>
            <a:r>
              <a:rPr sz="1800">
                <a:solidFill>
                  <a:srgbClr val="222222"/>
                </a:solidFill>
                <a:latin typeface="Calibri"/>
              </a:rPr>
              <a:t> — Storing expensive or frequently used results in fast storage so they can be reused quickly.</a:t>
            </a:r>
          </a:p>
          <a:p>
            <a:r>
              <a:rPr b="1" sz="2000">
                <a:solidFill>
                  <a:srgbClr val="1A365D"/>
                </a:solidFill>
                <a:latin typeface="Calibri"/>
              </a:rPr>
              <a:t>Prefetching</a:t>
            </a:r>
            <a:r>
              <a:rPr sz="1800">
                <a:solidFill>
                  <a:srgbClr val="222222"/>
                </a:solidFill>
                <a:latin typeface="Calibri"/>
              </a:rPr>
              <a:t> — Fetching data or instructions into fast storage before they are requested, anticipating they will be needed.</a:t>
            </a:r>
          </a:p>
          <a:p>
            <a:r>
              <a:rPr b="1" sz="2000">
                <a:solidFill>
                  <a:srgbClr val="1A365D"/>
                </a:solidFill>
                <a:latin typeface="Calibri"/>
              </a:rPr>
              <a:t>Stale data</a:t>
            </a:r>
            <a:r>
              <a:rPr sz="1800">
                <a:solidFill>
                  <a:srgbClr val="222222"/>
                </a:solidFill>
                <a:latin typeface="Calibri"/>
              </a:rPr>
              <a:t> — Cached data that is out of date because the original source has changed.</a:t>
            </a:r>
          </a:p>
          <a:p>
            <a:r>
              <a:rPr b="1" sz="2000">
                <a:solidFill>
                  <a:srgbClr val="1A365D"/>
                </a:solidFill>
                <a:latin typeface="Calibri"/>
              </a:rPr>
              <a:t>Cache invalidation</a:t>
            </a:r>
            <a:r>
              <a:rPr sz="1800">
                <a:solidFill>
                  <a:srgbClr val="222222"/>
                </a:solidFill>
                <a:latin typeface="Calibri"/>
              </a:rPr>
              <a:t> — Refreshing or discarding cached data so stale values are not served.</a:t>
            </a:r>
          </a:p>
          <a:p>
            <a:r>
              <a:rPr b="1" sz="2000">
                <a:solidFill>
                  <a:srgbClr val="1A365D"/>
                </a:solidFill>
                <a:latin typeface="Calibri"/>
              </a:rPr>
              <a:t>Reusable component</a:t>
            </a:r>
            <a:r>
              <a:rPr sz="1800">
                <a:solidFill>
                  <a:srgbClr val="222222"/>
                </a:solidFill>
                <a:latin typeface="Calibri"/>
              </a:rPr>
              <a:t> — A self-contained, generalised, pre-tested module that can be used in many programs.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What thinking ahead means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Planning a solution before writing any code.</a:t>
            </a:r>
          </a:p>
          <a:p>
            <a:pPr/>
            <a:r>
              <a:rPr sz="2000" b="0">
                <a:solidFill>
                  <a:srgbClr val="222222"/>
                </a:solidFill>
                <a:latin typeface="Calibri"/>
              </a:rPr>
              <a:t>Identify the inputs, outputs and preconditions of each routine.</a:t>
            </a:r>
          </a:p>
          <a:p>
            <a:pPr/>
            <a:r>
              <a:rPr sz="2000" b="0">
                <a:solidFill>
                  <a:srgbClr val="222222"/>
                </a:solidFill>
                <a:latin typeface="Calibri"/>
              </a:rPr>
              <a:t>Decide what is worth caching and which existing components to reuse.</a:t>
            </a:r>
          </a:p>
          <a:p>
            <a:pPr/>
            <a:r>
              <a:rPr sz="2000" b="0">
                <a:solidFill>
                  <a:srgbClr val="222222"/>
                </a:solidFill>
                <a:latin typeface="Calibri"/>
              </a:rPr>
              <a:t>Planning reduces wasted work and catches design problems early.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Inputs and outputs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Inputs are data flowing into a routine.</a:t>
            </a:r>
          </a:p>
          <a:p>
            <a:pPr/>
            <a:r>
              <a:rPr sz="2000" b="0">
                <a:solidFill>
                  <a:srgbClr val="222222"/>
                </a:solidFill>
                <a:latin typeface="Calibri"/>
              </a:rPr>
              <a:t>Outputs are results flowing out of it.</a:t>
            </a:r>
          </a:p>
          <a:p>
            <a:pPr/>
            <a:r>
              <a:rPr sz="2000" b="0">
                <a:solidFill>
                  <a:srgbClr val="222222"/>
                </a:solidFill>
                <a:latin typeface="Calibri"/>
              </a:rPr>
              <a:t>Example: a ticket-price routine takes age and time; it returns a price.</a:t>
            </a:r>
          </a:p>
          <a:p>
            <a:pPr/>
            <a:r>
              <a:rPr sz="2000" b="0">
                <a:solidFill>
                  <a:srgbClr val="222222"/>
                </a:solidFill>
                <a:latin typeface="Calibri"/>
              </a:rPr>
              <a:t>Listing real inputs and outputs first shapes the whole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process trap</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Actions like validating, sorting and calculating are processes, not inputs or outputs.</a:t>
            </a:r>
          </a:p>
          <a:p>
            <a:pPr/>
            <a:r>
              <a:rPr sz="2000" b="0">
                <a:solidFill>
                  <a:srgbClr val="222222"/>
                </a:solidFill>
                <a:latin typeface="Calibri"/>
              </a:rPr>
              <a:t>The card number is the input; validating it is a process.</a:t>
            </a:r>
          </a:p>
          <a:p>
            <a:pPr/>
            <a:r>
              <a:rPr sz="2000" b="0">
                <a:solidFill>
                  <a:srgbClr val="222222"/>
                </a:solidFill>
                <a:latin typeface="Calibri"/>
              </a:rPr>
              <a:t>Test each item: is it data going in, or a result coming out?</a:t>
            </a:r>
          </a:p>
          <a:p>
            <a:pPr/>
            <a:r>
              <a:rPr sz="2000" b="0">
                <a:solidFill>
                  <a:srgbClr val="222222"/>
                </a:solidFill>
                <a:latin typeface="Calibri"/>
              </a:rPr>
              <a:t>Examiners regularly penalise processes listed as inputs or outputs.</a:t>
            </a:r>
          </a:p>
          <a:p>
            <a:pPr/>
            <a:r>
              <a:rPr sz="1800" b="1">
                <a:solidFill>
                  <a:srgbClr val="B76E00"/>
                </a:solidFill>
                <a:latin typeface="Calibri"/>
              </a:rPr>
              <a:t>If it is a verb, it is almost certainly a 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Preconditions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condition that must be true before a routine runs correctly.</a:t>
            </a:r>
          </a:p>
          <a:p>
            <a:pPr/>
            <a:r>
              <a:rPr sz="2000" b="0">
                <a:solidFill>
                  <a:srgbClr val="222222"/>
                </a:solidFill>
                <a:latin typeface="Calibri"/>
              </a:rPr>
              <a:t>A list must be sorted before a binary search will work.</a:t>
            </a:r>
          </a:p>
          <a:p>
            <a:pPr/>
            <a:r>
              <a:rPr sz="2000" b="0">
                <a:solidFill>
                  <a:srgbClr val="222222"/>
                </a:solidFill>
                <a:latin typeface="Calibri"/>
              </a:rPr>
              <a:t>A divisor must be non-zero before dividing.</a:t>
            </a:r>
          </a:p>
          <a:p>
            <a:pPr/>
            <a:r>
              <a:rPr sz="2000" b="0">
                <a:solidFill>
                  <a:srgbClr val="222222"/>
                </a:solidFill>
                <a:latin typeface="Calibri"/>
              </a:rPr>
              <a:t>A user must be logged in before their account page loads.</a:t>
            </a:r>
          </a:p>
          <a:p>
            <a:pPr/>
            <a:r>
              <a:rPr sz="2000" b="0">
                <a:solidFill>
                  <a:srgbClr val="222222"/>
                </a:solidFill>
                <a:latin typeface="Calibri"/>
              </a:rPr>
              <a:t>State a precondition as something checkable before the routine starts.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Handling preconditions in practice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Option 1: check the condition inside the routine and fail safely.</a:t>
            </a:r>
          </a:p>
          <a:p>
            <a:pPr/>
            <a:r>
              <a:rPr sz="2000" b="0">
                <a:solidFill>
                  <a:srgbClr val="222222"/>
                </a:solidFill>
                <a:latin typeface="Calibri"/>
              </a:rPr>
              <a:t>Option 2: state the precondition in documentation, so the caller must guarantee it.</a:t>
            </a:r>
          </a:p>
          <a:p>
            <a:pPr/>
            <a:r>
              <a:rPr sz="2000" b="0">
                <a:solidFill>
                  <a:srgbClr val="222222"/>
                </a:solidFill>
                <a:latin typeface="Calibri"/>
              </a:rPr>
              <a:t>Documented preconditions keep routines shorter and faster.</a:t>
            </a:r>
          </a:p>
          <a:p>
            <a:pPr/>
            <a:r>
              <a:rPr sz="2000" b="0">
                <a:solidFill>
                  <a:srgbClr val="222222"/>
                </a:solidFill>
                <a:latin typeface="Calibri"/>
              </a:rPr>
              <a:t>Checked preconditions make routines safer to reuse anywhere.</a:t>
            </a:r>
          </a:p>
          <a:p>
            <a:pPr lvl="1"/>
            <a:r>
              <a:rPr sz="1600" b="0">
                <a:solidFill>
                  <a:srgbClr val="1A365D"/>
                </a:solidFill>
                <a:latin typeface="Consolas"/>
              </a:rPr>
              <a:t>function divide(a, b)</a:t>
            </a:r>
          </a:p>
          <a:p>
            <a:pPr lvl="1"/>
            <a:r>
              <a:rPr sz="1600" b="0">
                <a:solidFill>
                  <a:srgbClr val="1A365D"/>
                </a:solidFill>
                <a:latin typeface="Consolas"/>
              </a:rPr>
              <a:t>  if b == 0 then</a:t>
            </a:r>
          </a:p>
          <a:p>
            <a:pPr lvl="1"/>
            <a:r>
              <a:rPr sz="1600" b="0">
                <a:solidFill>
                  <a:srgbClr val="1A365D"/>
                </a:solidFill>
                <a:latin typeface="Consolas"/>
              </a:rPr>
              <a:t>    return "error: divisor is zero"</a:t>
            </a:r>
          </a:p>
          <a:p>
            <a:pPr lvl="1"/>
            <a:r>
              <a:rPr sz="1600" b="0">
                <a:solidFill>
                  <a:srgbClr val="1A365D"/>
                </a:solidFill>
                <a:latin typeface="Consolas"/>
              </a:rPr>
              <a:t>  endif</a:t>
            </a:r>
          </a:p>
          <a:p>
            <a:pPr lvl="1"/>
            <a:r>
              <a:rPr sz="1600" b="0">
                <a:solidFill>
                  <a:srgbClr val="1A365D"/>
                </a:solidFill>
                <a:latin typeface="Consolas"/>
              </a:rPr>
              <a:t>  return a / b</a:t>
            </a:r>
          </a:p>
          <a:p>
            <a:pPr lvl="1"/>
            <a:r>
              <a:rPr sz="1600" b="0">
                <a:solidFill>
                  <a:srgbClr val="1A365D"/>
                </a:solidFill>
                <a:latin typeface="Consolas"/>
              </a:rPr>
              <a:t>endfunction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Caching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Store expensive or frequently used results in faster storage for reuse.</a:t>
            </a:r>
          </a:p>
          <a:p>
            <a:pPr/>
            <a:r>
              <a:rPr sz="2000" b="0">
                <a:solidFill>
                  <a:srgbClr val="222222"/>
                </a:solidFill>
                <a:latin typeface="Calibri"/>
              </a:rPr>
              <a:t>Avoids recomputing values or repeating slow network and database requests.</a:t>
            </a:r>
          </a:p>
          <a:p>
            <a:pPr/>
            <a:r>
              <a:rPr sz="2000" b="0">
                <a:solidFill>
                  <a:srgbClr val="222222"/>
                </a:solidFill>
                <a:latin typeface="Calibri"/>
              </a:rPr>
              <a:t>Examples: browser caching images, CPU cache, DNS lookups, a seat map.</a:t>
            </a:r>
          </a:p>
          <a:p>
            <a:pPr/>
            <a:r>
              <a:rPr sz="2000" b="0">
                <a:solidFill>
                  <a:srgbClr val="222222"/>
                </a:solidFill>
                <a:latin typeface="Calibri"/>
              </a:rPr>
              <a:t>Benefit: faster responses and less load on the source.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Caching trade-offs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Caches consume extra memory or storage.</a:t>
            </a:r>
          </a:p>
          <a:p>
            <a:pPr/>
            <a:r>
              <a:rPr sz="2000" b="0">
                <a:solidFill>
                  <a:srgbClr val="222222"/>
                </a:solidFill>
                <a:latin typeface="Calibri"/>
              </a:rPr>
              <a:t>Cached data goes stale when the source changes.</a:t>
            </a:r>
          </a:p>
          <a:p>
            <a:pPr/>
            <a:r>
              <a:rPr sz="2000" b="0">
                <a:solidFill>
                  <a:srgbClr val="222222"/>
                </a:solidFill>
                <a:latin typeface="Calibri"/>
              </a:rPr>
              <a:t>Stale data must be invalidated: refreshed or discarded.</a:t>
            </a:r>
          </a:p>
          <a:p>
            <a:pPr/>
            <a:r>
              <a:rPr sz="2000" b="0">
                <a:solidFill>
                  <a:srgbClr val="222222"/>
                </a:solidFill>
                <a:latin typeface="Calibri"/>
              </a:rPr>
              <a:t>Deciding what to cache, and when to refresh it, is difficult.</a:t>
            </a:r>
          </a:p>
          <a:p>
            <a:pPr/>
            <a:r>
              <a:rPr sz="2000" b="0">
                <a:solidFill>
                  <a:srgbClr val="222222"/>
                </a:solidFill>
                <a:latin typeface="Calibri"/>
              </a:rPr>
              <a:t>Rapidly changing data, like live scores, is a poor caching candidate.</a:t>
            </a:r>
          </a:p>
          <a:p>
            <a:pPr/>
            <a:r>
              <a:rPr sz="1800" b="1">
                <a:solidFill>
                  <a:srgbClr val="B76E00"/>
                </a:solidFill>
                <a:latin typeface="Calibri"/>
              </a:rPr>
              <a:t>Exam rule: always pair a caching benefit with its trade-off.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Prefetching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Fetching data or instructions before they are actually requested.</a:t>
            </a:r>
          </a:p>
          <a:p>
            <a:pPr/>
            <a:r>
              <a:rPr sz="2000" b="0">
                <a:solidFill>
                  <a:srgbClr val="222222"/>
                </a:solidFill>
                <a:latin typeface="Calibri"/>
              </a:rPr>
              <a:t>The system anticipates what will be needed next and loads it early.</a:t>
            </a:r>
          </a:p>
          <a:p>
            <a:pPr/>
            <a:r>
              <a:rPr sz="2000" b="0">
                <a:solidFill>
                  <a:srgbClr val="222222"/>
                </a:solidFill>
                <a:latin typeface="Calibri"/>
              </a:rPr>
              <a:t>Example: a browser fetching a linked page while you read the current one.</a:t>
            </a:r>
          </a:p>
          <a:p>
            <a:pPr/>
            <a:r>
              <a:rPr sz="2000" b="0">
                <a:solidFill>
                  <a:srgbClr val="222222"/>
                </a:solidFill>
                <a:latin typeface="Calibri"/>
              </a:rPr>
              <a:t>Benefit: no waiting when the request arrives.</a:t>
            </a:r>
          </a:p>
          <a:p>
            <a:pPr/>
            <a:r>
              <a:rPr sz="2000" b="0">
                <a:solidFill>
                  <a:srgbClr val="222222"/>
                </a:solidFill>
                <a:latin typeface="Calibri"/>
              </a:rPr>
              <a:t>Trade-off: a wrong guess wastes memory, bandwidth and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Reusable components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Self-contained, generalised modules usable across many programs.</a:t>
            </a:r>
          </a:p>
          <a:p>
            <a:pPr/>
            <a:r>
              <a:rPr sz="2000" b="0">
                <a:solidFill>
                  <a:srgbClr val="222222"/>
                </a:solidFill>
                <a:latin typeface="Calibri"/>
              </a:rPr>
              <a:t>Examples: payment processing, login and authentication, date validation.</a:t>
            </a:r>
          </a:p>
          <a:p>
            <a:pPr/>
            <a:r>
              <a:rPr sz="2000" b="0">
                <a:solidFill>
                  <a:srgbClr val="222222"/>
                </a:solidFill>
                <a:latin typeface="Calibri"/>
              </a:rPr>
              <a:t>Benefits: faster development and fewer bugs, because they are already tested.</a:t>
            </a:r>
          </a:p>
          <a:p>
            <a:pPr/>
            <a:r>
              <a:rPr sz="2000" b="0">
                <a:solidFill>
                  <a:srgbClr val="222222"/>
                </a:solidFill>
                <a:latin typeface="Calibri"/>
              </a:rPr>
              <a:t>They also give consistency and easier maintenance: fix once, everyone benefits.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Trade-offs of reuse and exam application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ready-made component may not fit the exact requirements.</a:t>
            </a:r>
          </a:p>
          <a:p>
            <a:pPr/>
            <a:r>
              <a:rPr sz="2000" b="0">
                <a:solidFill>
                  <a:srgbClr val="222222"/>
                </a:solidFill>
                <a:latin typeface="Calibri"/>
              </a:rPr>
              <a:t>Integrating and learning someone else's code takes effort.</a:t>
            </a:r>
          </a:p>
          <a:p>
            <a:pPr/>
            <a:r>
              <a:rPr sz="2000" b="0">
                <a:solidFill>
                  <a:srgbClr val="222222"/>
                </a:solidFill>
                <a:latin typeface="Calibri"/>
              </a:rPr>
              <a:t>An update to a shared component can break every program using it.</a:t>
            </a:r>
          </a:p>
          <a:p>
            <a:pPr/>
            <a:r>
              <a:rPr sz="2000" b="0">
                <a:solidFill>
                  <a:srgbClr val="222222"/>
                </a:solidFill>
                <a:latin typeface="Calibri"/>
              </a:rPr>
              <a:t>In exams, apply everything to the scenario: name its actual inputs, outputs, precondition, cache target and reusable modules.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Planning an online cinema booking system before coding</a:t>
            </a:r>
          </a:p>
          <a:p>
            <a:pPr lvl="1"/>
            <a:r>
              <a:rPr sz="1900" b="0">
                <a:solidFill>
                  <a:srgbClr val="222222"/>
                </a:solidFill>
                <a:latin typeface="Calibri"/>
              </a:rPr>
              <a:t>1. Inputs: film choice, date and time, number of seats, seat selection, payment details.</a:t>
            </a:r>
          </a:p>
          <a:p>
            <a:pPr lvl="1"/>
            <a:r>
              <a:rPr sz="1900" b="0">
                <a:solidFill>
                  <a:srgbClr val="222222"/>
                </a:solidFill>
                <a:latin typeface="Calibri"/>
              </a:rPr>
              <a:t>2. Outputs: seat allocation, booking confirmation and reference, updated seat map. Note that validating card details is a process, not an input or output.</a:t>
            </a:r>
          </a:p>
          <a:p>
            <a:pPr lvl="1"/>
            <a:r>
              <a:rPr sz="1900" b="0">
                <a:solidFill>
                  <a:srgbClr val="222222"/>
                </a:solidFill>
                <a:latin typeface="Calibri"/>
              </a:rPr>
              <a:t>3. Precondition: the requested seats must still be available before the booking is confirmed, checkable as seatsRequested &lt;= seatsAvailable.</a:t>
            </a:r>
          </a:p>
          <a:p>
            <a:pPr lvl="1"/>
            <a:r>
              <a:rPr sz="1900" b="0">
                <a:solidFill>
                  <a:srgbClr val="222222"/>
                </a:solidFill>
                <a:latin typeface="Calibri"/>
              </a:rPr>
              <a:t>4. Caching: cache the seat map and showtimes so repeated page loads do not re-query the database every time.</a:t>
            </a:r>
          </a:p>
          <a:p>
            <a:pPr lvl="1"/>
            <a:r>
              <a:rPr sz="1900" b="0">
                <a:solidFill>
                  <a:srgbClr val="222222"/>
                </a:solidFill>
                <a:latin typeface="Calibri"/>
              </a:rPr>
              <a:t>5. Invalidation: when any booking is made, the cached seat map must be refreshed or it will show sold seats as free (stale data).</a:t>
            </a:r>
          </a:p>
          <a:p>
            <a:pPr lvl="1"/>
            <a:r>
              <a:rPr sz="1900" b="0">
                <a:solidFill>
                  <a:srgbClr val="222222"/>
                </a:solidFill>
                <a:latin typeface="Calibri"/>
              </a:rPr>
              <a:t>6. Reusable components: an existing payment module and date-validation routine, already tested elsewhere, speed development and reduce bugs.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Why a sorted list is a precondition for binary search</a:t>
            </a:r>
          </a:p>
          <a:p>
            <a:pPr lvl="1"/>
            <a:r>
              <a:rPr sz="1900" b="0">
                <a:solidFill>
                  <a:srgbClr val="222222"/>
                </a:solidFill>
                <a:latin typeface="Calibri"/>
              </a:rPr>
              <a:t>1. Binary search assumes the list is sorted: it compares the middle item and discards half the list each time.</a:t>
            </a:r>
          </a:p>
          <a:p>
            <a:pPr lvl="1"/>
            <a:r>
              <a:rPr sz="1900" b="0">
                <a:solidFill>
                  <a:srgbClr val="222222"/>
                </a:solidFill>
                <a:latin typeface="Calibri"/>
              </a:rPr>
              <a:t>2. Take the unsorted list [12, 3, 41, 7, 20] and search for 7 (indices 0 to 4).</a:t>
            </a:r>
          </a:p>
          <a:p>
            <a:pPr lvl="1"/>
            <a:r>
              <a:rPr sz="1900" b="0">
                <a:solidFill>
                  <a:srgbClr val="222222"/>
                </a:solidFill>
                <a:latin typeface="Calibri"/>
              </a:rPr>
              <a:t>3. First pass: low = 0, high = 4, mid = 2, item = 41. Since 7 &lt; 41, search the left half: high becomes 1.</a:t>
            </a:r>
          </a:p>
          <a:p>
            <a:pPr lvl="1"/>
            <a:r>
              <a:rPr sz="1900" b="0">
                <a:solidFill>
                  <a:srgbClr val="222222"/>
                </a:solidFill>
                <a:latin typeface="Calibri"/>
              </a:rPr>
              <a:t>4. Second pass: low = 0, high = 1, mid = 0, item = 12. Since 7 &lt; 12, high becomes -1.</a:t>
            </a:r>
          </a:p>
          <a:p>
            <a:pPr lvl="1"/>
            <a:r>
              <a:rPr sz="1900" b="0">
                <a:solidFill>
                  <a:srgbClr val="222222"/>
                </a:solidFill>
                <a:latin typeface="Calibri"/>
              </a:rPr>
              <a:t>5. Now low &gt; high, so the search reports not found, yet 7 is in the list at index 3.</a:t>
            </a:r>
          </a:p>
          <a:p>
            <a:pPr lvl="1"/>
            <a:r>
              <a:rPr sz="1900" b="0">
                <a:solidFill>
                  <a:srgbClr val="222222"/>
                </a:solidFill>
                <a:latin typeface="Calibri"/>
              </a:rPr>
              <a:t>6. The routine ran without crashing but gave a wrong answer: this is why the precondition (list is sorted) must be guaranteed or checked before the routine runs.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 caching decision for a live sports website</a:t>
            </a:r>
          </a:p>
          <a:p>
            <a:pPr lvl="1"/>
            <a:r>
              <a:rPr sz="1900" b="0">
                <a:solidFill>
                  <a:srgbClr val="222222"/>
                </a:solidFill>
                <a:latin typeface="Calibri"/>
              </a:rPr>
              <a:t>1. The site serves live match scores, club history pages, and the site logo and layout files.</a:t>
            </a:r>
          </a:p>
          <a:p>
            <a:pPr lvl="1"/>
            <a:r>
              <a:rPr sz="1900" b="0">
                <a:solidFill>
                  <a:srgbClr val="222222"/>
                </a:solidFill>
                <a:latin typeface="Calibri"/>
              </a:rPr>
              <a:t>2. Live scores: a poor caching candidate. They change constantly, so cached copies go stale within seconds and would show wrong scores.</a:t>
            </a:r>
          </a:p>
          <a:p>
            <a:pPr lvl="1"/>
            <a:r>
              <a:rPr sz="1900" b="0">
                <a:solidFill>
                  <a:srgbClr val="222222"/>
                </a:solidFill>
                <a:latin typeface="Calibri"/>
              </a:rPr>
              <a:t>3. Club history pages: a good candidate. They are requested often, rarely change, and are expensive to build from the database.</a:t>
            </a:r>
          </a:p>
          <a:p>
            <a:pPr lvl="1"/>
            <a:r>
              <a:rPr sz="1900" b="0">
                <a:solidFill>
                  <a:srgbClr val="222222"/>
                </a:solidFill>
                <a:latin typeface="Calibri"/>
              </a:rPr>
              <a:t>4. Logo and layout: an excellent candidate. Identical for every visitor and request.</a:t>
            </a:r>
          </a:p>
          <a:p>
            <a:pPr lvl="1"/>
            <a:r>
              <a:rPr sz="1900" b="0">
                <a:solidFill>
                  <a:srgbClr val="222222"/>
                </a:solidFill>
                <a:latin typeface="Calibri"/>
              </a:rPr>
              <a:t>5. Policy written as benefit plus trade-off: cache history pages for 24 hours to cut database load (benefit), accepting a day-old page at worst and refreshing on edit (managed trade-off).</a:t>
            </a:r>
          </a:p>
          <a:p>
            <a:pPr lvl="1"/>
            <a:r>
              <a:rPr sz="1900" b="0">
                <a:solidFill>
                  <a:srgbClr val="222222"/>
                </a:solidFill>
                <a:latin typeface="Calibri"/>
              </a:rPr>
              <a:t>6. Conclusion: caching is selective. Decide per item using how often it changes versus how often and how expensively it is fetched.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Library Runner: a human cache  (20 min)</a:t>
            </a:r>
          </a:p>
          <a:p>
            <a:pPr lvl="1"/>
            <a:r>
              <a:rPr sz="2000" b="0">
                <a:solidFill>
                  <a:srgbClr val="222222"/>
                </a:solidFill>
                <a:latin typeface="Calibri"/>
              </a:rPr>
              <a:t>Set up a library table at the far end of the room with 8 fact cards (capital cities) and a CPU desk at the front with a cache tray that holds only 3 cards; one student is the runner.</a:t>
            </a:r>
          </a:p>
          <a:p>
            <a:pPr lvl="1"/>
            <a:r>
              <a:rPr sz="2000" b="0">
                <a:solidFill>
                  <a:srgbClr val="222222"/>
                </a:solidFill>
                <a:latin typeface="Calibri"/>
              </a:rPr>
              <a:t>Round 1, no cache: call requests one at a time from a list where some facts repeat (France, Japan, France, Brazil, France, Japan, Egypt, France); the runner jogs to the library each time. Time 8 requests.</a:t>
            </a:r>
          </a:p>
          <a:p>
            <a:pPr lvl="1"/>
            <a:r>
              <a:rPr sz="2000" b="0">
                <a:solidFill>
                  <a:srgbClr val="222222"/>
                </a:solidFill>
                <a:latin typeface="Calibri"/>
              </a:rPr>
              <a:t>Round 2, with cache: same list, but the runner may keep up to 3 cards in the tray, checking it first (a hit is instant) and choosing a card to evict when full. Time 8 requests and compare.</a:t>
            </a:r>
          </a:p>
          <a:p>
            <a:pPr lvl="1"/>
            <a:r>
              <a:rPr sz="2000" b="0">
                <a:solidFill>
                  <a:srgbClr val="222222"/>
                </a:solidFill>
                <a:latin typeface="Calibri"/>
              </a:rPr>
              <a:t>Round 3, stale data: secretly swap the France card in the library for one reading 'capital: Marseille (updated!)'; serve a France request from cache and let the class spot the out-of-date answer. Name it stale data and discuss invalidation.</a:t>
            </a:r>
          </a:p>
          <a:p>
            <a:pPr lvl="1"/>
            <a:r>
              <a:rPr sz="2000" b="0">
                <a:solidFill>
                  <a:srgbClr val="222222"/>
                </a:solidFill>
                <a:latin typeface="Calibri"/>
              </a:rPr>
              <a:t>Debrief into notes: caching stores expensive or frequent results in faster storage; benefits are speed and less traffic; trade-offs are limited capacity (eviction) and staleness.</a:t>
            </a:r>
          </a:p>
          <a:p>
            <a:pPr/>
            <a:r>
              <a:rPr sz="1800" b="0">
                <a:solidFill>
                  <a:srgbClr val="B76E00"/>
                </a:solidFill>
                <a:latin typeface="Calibri"/>
              </a:rPr>
              <a:t>Stretch: Give the runner a written eviction policy (least recently used versus evict newest) and re-run; can students craft a request list where the other policy wins?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Spec it before you build it  (15 min)</a:t>
            </a:r>
          </a:p>
          <a:p>
            <a:pPr lvl="1"/>
            <a:r>
              <a:rPr sz="2000" b="0">
                <a:solidFill>
                  <a:srgbClr val="222222"/>
                </a:solidFill>
                <a:latin typeface="Calibri"/>
              </a:rPr>
              <a:t>Give each pair a scenario: cinema seat-booking system, vending machine, penalty-shootout game or school attendance app, plus a grid with four boxes: Inputs, Outputs, Preconditions, What we would cache.</a:t>
            </a:r>
          </a:p>
          <a:p>
            <a:pPr lvl="1"/>
            <a:r>
              <a:rPr sz="2000" b="0">
                <a:solidFill>
                  <a:srgbClr val="222222"/>
                </a:solidFill>
                <a:latin typeface="Calibri"/>
              </a:rPr>
              <a:t>Think (3 minutes, silent): each student fills the grid alone.</a:t>
            </a:r>
          </a:p>
          <a:p>
            <a:pPr lvl="1"/>
            <a:r>
              <a:rPr sz="2000" b="0">
                <a:solidFill>
                  <a:srgbClr val="222222"/>
                </a:solidFill>
                <a:latin typeface="Calibri"/>
              </a:rPr>
              <a:t>Pair (5 minutes): merge grids using two audit rules: is each input really data going in, or a process? Is each precondition checkable before the routine runs?</a:t>
            </a:r>
          </a:p>
          <a:p>
            <a:pPr lvl="1"/>
            <a:r>
              <a:rPr sz="2000" b="0">
                <a:solidFill>
                  <a:srgbClr val="222222"/>
                </a:solidFill>
                <a:latin typeface="Calibri"/>
              </a:rPr>
              <a:t>Share: pairs read one item per box while the class plays process police, challenging anything like 'validate the card number' listed as an input (the card number is the input).</a:t>
            </a:r>
          </a:p>
          <a:p>
            <a:pPr lvl="1"/>
            <a:r>
              <a:rPr sz="2000" b="0">
                <a:solidFill>
                  <a:srgbClr val="222222"/>
                </a:solidFill>
                <a:latin typeface="Calibri"/>
              </a:rPr>
              <a:t>Model answer for cinema: inputs film, time, seats, payment; outputs confirmation, e-ticket, updated seat map; preconditions screening exists and seats requested &lt;= seats available; cache the seat map of popular screenings.</a:t>
            </a:r>
          </a:p>
          <a:p>
            <a:pPr/>
            <a:r>
              <a:rPr sz="1800" b="0">
                <a:solidFill>
                  <a:srgbClr val="B76E00"/>
                </a:solidFill>
                <a:latin typeface="Calibri"/>
              </a:rPr>
              <a:t>Stretch: Pairs name one reusable component their system should import rather than write (payment, login, date picker) with two benefits: pre-tested so fewer bugs, and faster development.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Thinking-ahead element sort  (15 min)</a:t>
            </a:r>
          </a:p>
          <a:p>
            <a:pPr lvl="1"/>
            <a:r>
              <a:rPr sz="2000" b="0">
                <a:solidFill>
                  <a:srgbClr val="222222"/>
                </a:solidFill>
                <a:latin typeface="Calibri"/>
              </a:rPr>
              <a:t>Give trios header cards (Input, Output, Precondition, Caching decision, Reusable component) and about 18 item cards from one food-delivery app scenario: customer's postcode, estimated delivery time shown to user, the restaurant list for a postcode searched five times tonight, driver must be logged in before accepting jobs, payment-processing module, basket must not be empty before checkout, order confirmation email, map and geocoding library, 'validate the postcode' (trap), tonight's surge-pricing multiplier (trap), basket contents, receipt PDF.</a:t>
            </a:r>
          </a:p>
          <a:p>
            <a:pPr lvl="1"/>
            <a:r>
              <a:rPr sz="2000" b="0">
                <a:solidFill>
                  <a:srgbClr val="222222"/>
                </a:solidFill>
                <a:latin typeface="Calibri"/>
              </a:rPr>
              <a:t>Trios sort all cards; every Caching decision card needs a scribbled benefit and risk, and every Precondition must be rewritten as a checkable condition such as basketSize &gt; 0.</a:t>
            </a:r>
          </a:p>
          <a:p>
            <a:pPr lvl="1"/>
            <a:r>
              <a:rPr sz="2000" b="0">
                <a:solidFill>
                  <a:srgbClr val="222222"/>
                </a:solidFill>
                <a:latin typeface="Calibri"/>
              </a:rPr>
              <a:t>Compare with a neighbouring trio and resolve differences before the whole-class check.</a:t>
            </a:r>
          </a:p>
          <a:p>
            <a:pPr lvl="1"/>
            <a:r>
              <a:rPr sz="2000" b="0">
                <a:solidFill>
                  <a:srgbClr val="222222"/>
                </a:solidFill>
                <a:latin typeface="Calibri"/>
              </a:rPr>
              <a:t>Key answers: 'validate the postcode' fits no header because it is a process; the surge multiplier is a poor caching candidate (changes rapidly, goes stale fast), unlike the popular restaurant list; payment, login and maps are reusable components.</a:t>
            </a:r>
          </a:p>
          <a:p>
            <a:pPr/>
            <a:r>
              <a:rPr sz="1800" b="0">
                <a:solidFill>
                  <a:srgbClr val="B76E00"/>
                </a:solidFill>
                <a:latin typeface="Calibri"/>
              </a:rPr>
              <a:t>Stretch: Trios add an invalidation rule for each cached item, e.g. refresh the restaurant list when a restaurant changes status, or expire after 10 minutes.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vending machine program dispenses drinks. Identify two inputs to and two outputs from the program. [4]</a:t>
            </a:r>
          </a:p>
          <a:p>
            <a:r>
              <a:rPr sz="2000" b="1">
                <a:solidFill>
                  <a:srgbClr val="222222"/>
                </a:solidFill>
                <a:latin typeface="Calibri"/>
              </a:rPr>
              <a:t>2. State one precondition of a binary search function and explain what may happen if it is not met. [3]</a:t>
            </a:r>
          </a:p>
          <a:p>
            <a:r>
              <a:rPr sz="2000" b="1">
                <a:solidFill>
                  <a:srgbClr val="222222"/>
                </a:solidFill>
                <a:latin typeface="Calibri"/>
              </a:rPr>
              <a:t>3. A news website stores a copy of its homepage in a cache. Explain one benefit and one drawback of doing this. [4]</a:t>
            </a:r>
          </a:p>
          <a:p>
            <a:r>
              <a:rPr sz="2000" b="1">
                <a:solidFill>
                  <a:srgbClr val="222222"/>
                </a:solidFill>
                <a:latin typeface="Calibri"/>
              </a:rPr>
              <a:t>4. Describe what is meant by prefetching.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vending machine program dispenses drinks. Identify two inputs to and two outputs from the program. [4]</a:t>
            </a:r>
          </a:p>
          <a:p>
            <a:pPr lvl="1"/>
            <a:r>
              <a:rPr sz="1800" i="1">
                <a:solidFill>
                  <a:srgbClr val="B76E00"/>
                </a:solidFill>
                <a:latin typeface="Calibri"/>
              </a:rPr>
              <a:t>Answer: Inputs: the money inserted and the drink selection (1 each). Outputs: the drink dispensed and the change given (a display message is also acceptable) (1 each).</a:t>
            </a:r>
          </a:p>
          <a:p>
            <a:r>
              <a:rPr sz="2000" b="1">
                <a:solidFill>
                  <a:srgbClr val="222222"/>
                </a:solidFill>
                <a:latin typeface="Calibri"/>
              </a:rPr>
              <a:t>2. State one precondition of a binary search function and explain what may happen if it is not met. [3]</a:t>
            </a:r>
          </a:p>
          <a:p>
            <a:pPr lvl="1"/>
            <a:r>
              <a:rPr sz="1800" i="1">
                <a:solidFill>
                  <a:srgbClr val="B76E00"/>
                </a:solidFill>
                <a:latin typeface="Calibri"/>
              </a:rPr>
              <a:t>Answer: The list must be sorted before the search runs (1). If not, half the list may be discarded while it still contains the target (1), so the function can report not found even though the value is present (1).</a:t>
            </a:r>
          </a:p>
          <a:p>
            <a:r>
              <a:rPr sz="2000" b="1">
                <a:solidFill>
                  <a:srgbClr val="222222"/>
                </a:solidFill>
                <a:latin typeface="Calibri"/>
              </a:rPr>
              <a:t>3. A news website stores a copy of its homepage in a cache. Explain one benefit and one drawback of doing this. [4]</a:t>
            </a:r>
          </a:p>
          <a:p>
            <a:pPr lvl="1"/>
            <a:r>
              <a:rPr sz="1800" i="1">
                <a:solidFill>
                  <a:srgbClr val="B76E00"/>
                </a:solidFill>
                <a:latin typeface="Calibri"/>
              </a:rPr>
              <a:t>Answer: Benefit: the page is served from fast storage without rebuilding it (1), giving quicker responses and less server and database load (1). Drawback: when a story is edited the cached copy becomes stale (1), so out-of-date news is shown unless the cache is invalidated (1).</a:t>
            </a:r>
          </a:p>
          <a:p>
            <a:r>
              <a:rPr sz="2000" b="1">
                <a:solidFill>
                  <a:srgbClr val="222222"/>
                </a:solidFill>
                <a:latin typeface="Calibri"/>
              </a:rPr>
              <a:t>4. Describe what is meant by prefetching. [2]</a:t>
            </a:r>
          </a:p>
          <a:p>
            <a:pPr lvl="1"/>
            <a:r>
              <a:rPr sz="1800" i="1">
                <a:solidFill>
                  <a:srgbClr val="B76E00"/>
                </a:solidFill>
                <a:latin typeface="Calibri"/>
              </a:rPr>
              <a:t>Answer: Data or instructions are fetched into faster storage before they are requested (1), anticipating that they will be needed next so there is no wait when the request arrives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developer uses a pre-written, pre-tested payment module rather than writing their own. Give two benefits of using this reusable component. [2]</a:t>
            </a:r>
          </a:p>
          <a:p>
            <a:r>
              <a:rPr sz="2000" b="1">
                <a:solidFill>
                  <a:srgbClr val="222222"/>
                </a:solidFill>
                <a:latin typeface="Calibri"/>
              </a:rPr>
              <a:t>2. A student lists 'validate the password' as an input to a login routine. Explain why this is incorrect and state a correct input. [2]</a:t>
            </a:r>
          </a:p>
          <a:p>
            <a:r>
              <a:rPr sz="2000" b="1">
                <a:solidFill>
                  <a:srgbClr val="222222"/>
                </a:solidFill>
                <a:latin typeface="Calibri"/>
              </a:rPr>
              <a:t>3. A weather app caches forecast data on the phone. Explain why this cache must be invalidated regularly. [2]</a:t>
            </a:r>
          </a:p>
          <a:p>
            <a:r>
              <a:rPr sz="2000" b="1">
                <a:solidFill>
                  <a:srgbClr val="222222"/>
                </a:solidFill>
                <a:latin typeface="Calibri"/>
              </a:rPr>
              <a:t>4. State two things a programmer should determine about a routine when thinking ahead, before writing it.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developer uses a pre-written, pre-tested payment module rather than writing their own. Give two benefits of using this reusable component. [2]</a:t>
            </a:r>
          </a:p>
          <a:p>
            <a:pPr lvl="1"/>
            <a:r>
              <a:rPr sz="1800" i="1">
                <a:solidFill>
                  <a:srgbClr val="B76E00"/>
                </a:solidFill>
                <a:latin typeface="Calibri"/>
              </a:rPr>
              <a:t>Answer: Any two: development is faster because the code already exists; fewer bugs because it is already tested; consistency across programs; easier maintenance since a fix benefits every program using it (1 each).</a:t>
            </a:r>
          </a:p>
          <a:p>
            <a:r>
              <a:rPr sz="2000" b="1">
                <a:solidFill>
                  <a:srgbClr val="222222"/>
                </a:solidFill>
                <a:latin typeface="Calibri"/>
              </a:rPr>
              <a:t>2. A student lists 'validate the password' as an input to a login routine. Explain why this is incorrect and state a correct input. [2]</a:t>
            </a:r>
          </a:p>
          <a:p>
            <a:pPr lvl="1"/>
            <a:r>
              <a:rPr sz="1800" i="1">
                <a:solidFill>
                  <a:srgbClr val="B76E00"/>
                </a:solidFill>
                <a:latin typeface="Calibri"/>
              </a:rPr>
              <a:t>Answer: Validating is a process that transforms or checks data inside the routine, not data flowing in (1). A correct input is the password (or username) entered by the user (1).</a:t>
            </a:r>
          </a:p>
          <a:p>
            <a:r>
              <a:rPr sz="2000" b="1">
                <a:solidFill>
                  <a:srgbClr val="222222"/>
                </a:solidFill>
                <a:latin typeface="Calibri"/>
              </a:rPr>
              <a:t>3. A weather app caches forecast data on the phone. Explain why this cache must be invalidated regularly. [2]</a:t>
            </a:r>
          </a:p>
          <a:p>
            <a:pPr lvl="1"/>
            <a:r>
              <a:rPr sz="1800" i="1">
                <a:solidFill>
                  <a:srgbClr val="B76E00"/>
                </a:solidFill>
                <a:latin typeface="Calibri"/>
              </a:rPr>
              <a:t>Answer: The forecast at the source changes frequently, so the cached copy becomes stale (1); without refreshing or discarding it, the app would keep displaying an out-of-date forecast (1).</a:t>
            </a:r>
          </a:p>
          <a:p>
            <a:r>
              <a:rPr sz="2000" b="1">
                <a:solidFill>
                  <a:srgbClr val="222222"/>
                </a:solidFill>
                <a:latin typeface="Calibri"/>
              </a:rPr>
              <a:t>4. State two things a programmer should determine about a routine when thinking ahead, before writing it. [2]</a:t>
            </a:r>
          </a:p>
          <a:p>
            <a:pPr lvl="1"/>
            <a:r>
              <a:rPr sz="1800" i="1">
                <a:solidFill>
                  <a:srgbClr val="B76E00"/>
                </a:solidFill>
                <a:latin typeface="Calibri"/>
              </a:rPr>
              <a:t>Answer: Any two: its inputs, its outputs, its preconditions, what data is worth caching, which reusable components could be used instead of new code (1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list processes (validate, sort, calculate) as inputs or outputs; inputs and outputs are data, and if the item is a verb it is a process.</a:t>
            </a:r>
          </a:p>
          <a:p>
            <a:pPr/>
            <a:r>
              <a:rPr sz="2000" b="0">
                <a:solidFill>
                  <a:srgbClr val="222222"/>
                </a:solidFill>
                <a:latin typeface="Calibri"/>
              </a:rPr>
              <a:t>✗ Students often give only the benefit of caching; examiners expect the benefit paired with the trade-off of storage cost and stale data needing invalidation.</a:t>
            </a:r>
          </a:p>
          <a:p>
            <a:pPr/>
            <a:r>
              <a:rPr sz="2000" b="0">
                <a:solidFill>
                  <a:srgbClr val="222222"/>
                </a:solidFill>
                <a:latin typeface="Calibri"/>
              </a:rPr>
              <a:t>✗ Students often think a precondition is a check performed during the routine; it is a condition that must already be true before the routine starts.</a:t>
            </a:r>
          </a:p>
          <a:p>
            <a:pPr/>
            <a:r>
              <a:rPr sz="2000" b="0">
                <a:solidFill>
                  <a:srgbClr val="222222"/>
                </a:solidFill>
                <a:latin typeface="Calibri"/>
              </a:rPr>
              <a:t>✗ Students often confuse prefetching with caching; caching keeps results already fetched, while prefetching loads data early, before it has been requested.</a:t>
            </a:r>
          </a:p>
          <a:p>
            <a:pPr/>
            <a:r>
              <a:rPr sz="2000" b="0">
                <a:solidFill>
                  <a:srgbClr val="222222"/>
                </a:solidFill>
                <a:latin typeface="Calibri"/>
              </a:rPr>
              <a:t>✗ Students often treat reuse as copy-and-paste; a reusable component is a self-contained, generalised, tested module, and pasted copies must each be fixed separately.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identify and state for inputs, outputs and preconditions (1-2 marks); explain and describe for caching and prefetching (2-4 marks); discuss for reuse decisions.</a:t>
            </a:r>
          </a:p>
          <a:p>
            <a:pPr/>
            <a:r>
              <a:rPr sz="2000" b="0">
                <a:solidFill>
                  <a:srgbClr val="222222"/>
                </a:solidFill>
                <a:latin typeface="Calibri"/>
              </a:rPr>
              <a:t>Questions are scenario-based: marks come from naming the scenario's actual inputs, outputs, precondition and cache target, not generic definitions.</a:t>
            </a:r>
          </a:p>
          <a:p>
            <a:pPr/>
            <a:r>
              <a:rPr sz="2000" b="0">
                <a:solidFill>
                  <a:srgbClr val="222222"/>
                </a:solidFill>
                <a:latin typeface="Calibri"/>
              </a:rPr>
              <a:t>Caching questions typically award 2 for the benefit and 2 for the trade-off; one-sided answers cap at half marks.</a:t>
            </a:r>
          </a:p>
          <a:p>
            <a:pPr/>
            <a:r>
              <a:rPr sz="2000" b="0">
                <a:solidFill>
                  <a:srgbClr val="222222"/>
                </a:solidFill>
                <a:latin typeface="Calibri"/>
              </a:rPr>
              <a:t>Example stem: 'An online store is being designed. Identify two inputs to the checkout routine and state one precondition that must be met before payment is taken.'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A flight-booking website is being planned. For its 'calculate total price' routine: identify three inputs and one output, state one checkable precondition, choose one value worth caching with a paired benefit and trade-off plus its invalidation trigger, and name one reusable component the site should import rather than write, with a justification.</a:t>
            </a:r>
          </a:p>
          <a:p>
            <a:r>
              <a:rPr sz="2400" b="1">
                <a:solidFill>
                  <a:srgbClr val="B76E00"/>
                </a:solidFill>
                <a:latin typeface="Calibri"/>
              </a:rPr>
              <a:t>Challenge / stretch</a:t>
            </a:r>
          </a:p>
          <a:p>
            <a:pPr lvl="1"/>
            <a:r>
              <a:rPr sz="2200" b="0">
                <a:solidFill>
                  <a:srgbClr val="222222"/>
                </a:solidFill>
                <a:latin typeface="Calibri"/>
              </a:rPr>
              <a:t>A company builds three apps that all need date validation. Justify writing it once as a reusable component rather than three copies, explain one situation where the shared component becomes a disadvantage, then extend the argument to caching: describe one piece of data all three apps could share from one cache and the staleness risk that creates.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an online shop's 'place order' routine, classify these: the customer's address, the confirmation email, validating the card number.</a:t>
            </a:r>
          </a:p>
          <a:p>
            <a:r>
              <a:rPr sz="2200" b="1">
                <a:solidFill>
                  <a:srgbClr val="222222"/>
                </a:solidFill>
                <a:latin typeface="Calibri"/>
              </a:rPr>
              <a:t>2. State one benefit and one trade-off of caching currency exchange rates on a booking site.</a:t>
            </a:r>
          </a:p>
          <a:p>
            <a:r>
              <a:rPr sz="2200" b="1">
                <a:solidFill>
                  <a:srgbClr val="222222"/>
                </a:solidFill>
                <a:latin typeface="Calibri"/>
              </a:rPr>
              <a:t>3. What is the difference between caching and prefetching?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an online shop's 'place order' routine, classify these: the customer's address, the confirmation email, validating the card number.</a:t>
            </a:r>
          </a:p>
          <a:p>
            <a:pPr lvl="1"/>
            <a:r>
              <a:rPr sz="1800" i="1">
                <a:solidFill>
                  <a:srgbClr val="B76E00"/>
                </a:solidFill>
                <a:latin typeface="Calibri"/>
              </a:rPr>
              <a:t>Answer: Address is an input; confirmation email is an output; validating the card number is a process, neither input nor output.</a:t>
            </a:r>
          </a:p>
          <a:p>
            <a:r>
              <a:rPr sz="2200" b="1">
                <a:solidFill>
                  <a:srgbClr val="222222"/>
                </a:solidFill>
                <a:latin typeface="Calibri"/>
              </a:rPr>
              <a:t>2. State one benefit and one trade-off of caching currency exchange rates on a booking site.</a:t>
            </a:r>
          </a:p>
          <a:p>
            <a:pPr lvl="1"/>
            <a:r>
              <a:rPr sz="1800" i="1">
                <a:solidFill>
                  <a:srgbClr val="B76E00"/>
                </a:solidFill>
                <a:latin typeface="Calibri"/>
              </a:rPr>
              <a:t>Answer: Benefit: rates load instantly from local storage, reducing traffic. Trade-off: rates go stale and quote wrong prices unless the cache is invalidated regularly.</a:t>
            </a:r>
          </a:p>
          <a:p>
            <a:r>
              <a:rPr sz="2200" b="1">
                <a:solidFill>
                  <a:srgbClr val="222222"/>
                </a:solidFill>
                <a:latin typeface="Calibri"/>
              </a:rPr>
              <a:t>3. What is the difference between caching and prefetching?</a:t>
            </a:r>
          </a:p>
          <a:p>
            <a:pPr lvl="1"/>
            <a:r>
              <a:rPr sz="1800" i="1">
                <a:solidFill>
                  <a:srgbClr val="B76E00"/>
                </a:solidFill>
                <a:latin typeface="Calibri"/>
              </a:rPr>
              <a:t>Answer: Caching stores results that have already been fetched or computed for reuse; prefetching loads data before it is requested, anticipating it will be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