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A365D"/>
        </a:solidFill>
        <a:effectLst/>
      </p:bgPr>
    </p:bg>
    <p:spTree>
      <p:nvGrpSpPr>
        <p:cNvPr id="1" name=""/>
        <p:cNvGrpSpPr/>
        <p:nvPr/>
      </p:nvGrpSpPr>
      <p:grpSpPr/>
      <p:sp>
        <p:nvSpPr>
          <p:cNvPr id="2" name="TextBox 1"/>
          <p:cNvSpPr txBox="1"/>
          <p:nvPr/>
        </p:nvSpPr>
        <p:spPr>
          <a:xfrm>
            <a:off x="731520" y="2194560"/>
            <a:ext cx="10698480" cy="1828800"/>
          </a:xfrm>
          <a:prstGeom prst="rect">
            <a:avLst/>
          </a:prstGeom>
          <a:noFill/>
        </p:spPr>
        <p:txBody>
          <a:bodyPr wrap="square">
            <a:spAutoFit/>
          </a:bodyPr>
          <a:lstStyle/>
          <a:p>
            <a:r>
              <a:rPr sz="4000" b="1" i="0">
                <a:solidFill>
                  <a:srgbClr val="FFFFFF"/>
                </a:solidFill>
                <a:latin typeface="Calibri"/>
              </a:rPr>
              <a:t>1.3.1 Compression, Encryption and Hashing</a:t>
            </a:r>
          </a:p>
          <a:p>
            <a:r>
              <a:rPr sz="2000" b="0" i="0">
                <a:solidFill>
                  <a:srgbClr val="BED3EC"/>
                </a:solidFill>
                <a:latin typeface="Calibri"/>
              </a:rPr>
              <a:t>OCR H446 — Component 01</a:t>
            </a:r>
          </a:p>
        </p:txBody>
      </p:sp>
      <p:sp>
        <p:nvSpPr>
          <p:cNvPr id="3" name="TextBox 2"/>
          <p:cNvSpPr txBox="1"/>
          <p:nvPr/>
        </p:nvSpPr>
        <p:spPr>
          <a:xfrm>
            <a:off x="731520" y="6035040"/>
            <a:ext cx="10698480" cy="548640"/>
          </a:xfrm>
          <a:prstGeom prst="rect">
            <a:avLst/>
          </a:prstGeom>
          <a:noFill/>
        </p:spPr>
        <p:txBody>
          <a:bodyPr wrap="square">
            <a:spAutoFit/>
          </a:bodyPr>
          <a:lstStyle/>
          <a:p>
            <a:r>
              <a:rPr sz="1400" b="0" i="1">
                <a:solidFill>
                  <a:srgbClr val="9AB4D6"/>
                </a:solidFill>
                <a:latin typeface="Calibri"/>
              </a:rPr>
              <a:t>Week 10 (16 Nov)</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Learning objectives</a:t>
            </a:r>
          </a:p>
        </p:txBody>
      </p:sp>
      <p:sp>
        <p:nvSpPr>
          <p:cNvPr id="3" name="TextBox 2"/>
          <p:cNvSpPr txBox="1"/>
          <p:nvPr/>
        </p:nvSpPr>
        <p:spPr>
          <a:xfrm>
            <a:off x="640080" y="1280160"/>
            <a:ext cx="10881360" cy="5120640"/>
          </a:xfrm>
          <a:prstGeom prst="rect">
            <a:avLst/>
          </a:prstGeom>
          <a:noFill/>
        </p:spPr>
        <p:txBody>
          <a:bodyPr wrap="square">
            <a:spAutoFit/>
          </a:bodyPr>
          <a:lstStyle/>
          <a:p>
            <a:pPr/>
            <a:r>
              <a:rPr sz="2200" b="1">
                <a:solidFill>
                  <a:srgbClr val="2B6CB0"/>
                </a:solidFill>
                <a:latin typeface="Calibri"/>
              </a:rPr>
              <a:t>By the end of this lesson you can:</a:t>
            </a:r>
          </a:p>
          <a:p>
            <a:pPr lvl="1"/>
            <a:r>
              <a:rPr sz="2200" b="0">
                <a:solidFill>
                  <a:srgbClr val="222222"/>
                </a:solidFill>
                <a:latin typeface="Calibri"/>
              </a:rPr>
              <a:t>Explain why files are compressed and compare lossy with lossless compression for given scenarios.</a:t>
            </a:r>
          </a:p>
          <a:p>
            <a:pPr lvl="1"/>
            <a:r>
              <a:rPr sz="2200" b="0">
                <a:solidFill>
                  <a:srgbClr val="222222"/>
                </a:solidFill>
                <a:latin typeface="Calibri"/>
              </a:rPr>
              <a:t>Encode and decode data using run length encoding and dictionary coding, and evaluate the saving.</a:t>
            </a:r>
          </a:p>
          <a:p>
            <a:pPr lvl="1"/>
            <a:r>
              <a:rPr sz="2200" b="0">
                <a:solidFill>
                  <a:srgbClr val="222222"/>
                </a:solidFill>
                <a:latin typeface="Calibri"/>
              </a:rPr>
              <a:t>Compare symmetric and asymmetric encryption, including keys, speed and the key distribution problem.</a:t>
            </a:r>
          </a:p>
          <a:p>
            <a:pPr lvl="1"/>
            <a:r>
              <a:rPr sz="2200" b="0">
                <a:solidFill>
                  <a:srgbClr val="222222"/>
                </a:solidFill>
                <a:latin typeface="Calibri"/>
              </a:rPr>
              <a:t>Describe the properties of hashing and justify its use for passwords and fast lookup.</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Do Now — retrieval starter</a:t>
            </a:r>
          </a:p>
        </p:txBody>
      </p:sp>
      <p:sp>
        <p:nvSpPr>
          <p:cNvPr id="3" name="TextBox 2"/>
          <p:cNvSpPr txBox="1"/>
          <p:nvPr/>
        </p:nvSpPr>
        <p:spPr>
          <a:xfrm>
            <a:off x="640080" y="1280160"/>
            <a:ext cx="10881360" cy="5120640"/>
          </a:xfrm>
          <a:prstGeom prst="rect">
            <a:avLst/>
          </a:prstGeom>
          <a:noFill/>
        </p:spPr>
        <p:txBody>
          <a:bodyPr wrap="square">
            <a:spAutoFit/>
          </a:bodyPr>
          <a:lstStyle/>
          <a:p>
            <a:r>
              <a:rPr sz="2200" b="1">
                <a:solidFill>
                  <a:srgbClr val="222222"/>
                </a:solidFill>
                <a:latin typeface="Calibri"/>
              </a:rPr>
              <a:t>1. An LMC program runs LDA NUM, ADD NUM, OUT, HLT with NUM DAT 6. What is output?</a:t>
            </a:r>
          </a:p>
          <a:p>
            <a:r>
              <a:rPr sz="2200" b="1">
                <a:solidFill>
                  <a:srgbClr val="222222"/>
                </a:solidFill>
                <a:latin typeface="Calibri"/>
              </a:rPr>
              <a:t>2. What is the difference between immediate and direct addressing?</a:t>
            </a:r>
          </a:p>
          <a:p>
            <a:r>
              <a:rPr sz="2200" b="1">
                <a:solidFill>
                  <a:srgbClr val="222222"/>
                </a:solidFill>
                <a:latin typeface="Calibri"/>
              </a:rPr>
              <a:t>3. Under indirect addressing, what does the operand hold?</a:t>
            </a:r>
          </a:p>
          <a:p>
            <a:r>
              <a:rPr sz="2200" b="1">
                <a:solidFill>
                  <a:srgbClr val="222222"/>
                </a:solidFill>
                <a:latin typeface="Calibri"/>
              </a:rPr>
              <a:t>4. Define encapsulation.</a:t>
            </a:r>
          </a:p>
          <a:p>
            <a:r>
              <a:rPr sz="2200" b="1">
                <a:solidFill>
                  <a:srgbClr val="222222"/>
                </a:solidFill>
                <a:latin typeface="Calibri"/>
              </a:rPr>
              <a:t>5. What is the difference between a class and an object?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Do Now — answers</a:t>
            </a:r>
          </a:p>
        </p:txBody>
      </p:sp>
      <p:sp>
        <p:nvSpPr>
          <p:cNvPr id="3" name="TextBox 2"/>
          <p:cNvSpPr txBox="1"/>
          <p:nvPr/>
        </p:nvSpPr>
        <p:spPr>
          <a:xfrm>
            <a:off x="640080" y="1280160"/>
            <a:ext cx="10881360" cy="5120640"/>
          </a:xfrm>
          <a:prstGeom prst="rect">
            <a:avLst/>
          </a:prstGeom>
          <a:noFill/>
        </p:spPr>
        <p:txBody>
          <a:bodyPr wrap="square">
            <a:spAutoFit/>
          </a:bodyPr>
          <a:lstStyle/>
          <a:p>
            <a:r>
              <a:rPr sz="2200" b="1">
                <a:solidFill>
                  <a:srgbClr val="222222"/>
                </a:solidFill>
                <a:latin typeface="Calibri"/>
              </a:rPr>
              <a:t>1. An LMC program runs LDA NUM, ADD NUM, OUT, HLT with NUM DAT 6. What is output?</a:t>
            </a:r>
          </a:p>
          <a:p>
            <a:pPr lvl="1"/>
            <a:r>
              <a:rPr sz="1800" i="1">
                <a:solidFill>
                  <a:srgbClr val="B76E00"/>
                </a:solidFill>
                <a:latin typeface="Calibri"/>
              </a:rPr>
              <a:t>Answer: 12: LDA loads 6 into the accumulator, ADD NUM adds 6 giving 12, OUT prints it (1.2.4).</a:t>
            </a:r>
          </a:p>
          <a:p>
            <a:r>
              <a:rPr sz="2200" b="1">
                <a:solidFill>
                  <a:srgbClr val="222222"/>
                </a:solidFill>
                <a:latin typeface="Calibri"/>
              </a:rPr>
              <a:t>2. What is the difference between immediate and direct addressing?</a:t>
            </a:r>
          </a:p>
          <a:p>
            <a:pPr lvl="1"/>
            <a:r>
              <a:rPr sz="1800" i="1">
                <a:solidFill>
                  <a:srgbClr val="B76E00"/>
                </a:solidFill>
                <a:latin typeface="Calibri"/>
              </a:rPr>
              <a:t>Answer: Immediate uses the operand itself as the value; direct treats the operand as the address of the value, one lookup (1.2.4).</a:t>
            </a:r>
          </a:p>
          <a:p>
            <a:r>
              <a:rPr sz="2200" b="1">
                <a:solidFill>
                  <a:srgbClr val="222222"/>
                </a:solidFill>
                <a:latin typeface="Calibri"/>
              </a:rPr>
              <a:t>3. Under indirect addressing, what does the operand hold?</a:t>
            </a:r>
          </a:p>
          <a:p>
            <a:pPr lvl="1"/>
            <a:r>
              <a:rPr sz="1800" i="1">
                <a:solidFill>
                  <a:srgbClr val="B76E00"/>
                </a:solidFill>
                <a:latin typeface="Calibri"/>
              </a:rPr>
              <a:t>Answer: The address of a location that holds the address of the value, so two lookups; it implements pointers (1.2.4).</a:t>
            </a:r>
          </a:p>
          <a:p>
            <a:r>
              <a:rPr sz="2200" b="1">
                <a:solidFill>
                  <a:srgbClr val="222222"/>
                </a:solidFill>
                <a:latin typeface="Calibri"/>
              </a:rPr>
              <a:t>4. Define encapsulation.</a:t>
            </a:r>
          </a:p>
          <a:p>
            <a:pPr lvl="1"/>
            <a:r>
              <a:rPr sz="1800" i="1">
                <a:solidFill>
                  <a:srgbClr val="B76E00"/>
                </a:solidFill>
                <a:latin typeface="Calibri"/>
              </a:rPr>
              <a:t>Answer: Bundling data with its methods and making attributes private so they are accessed only through public methods (1.2.4).</a:t>
            </a:r>
          </a:p>
          <a:p>
            <a:r>
              <a:rPr sz="2200" b="1">
                <a:solidFill>
                  <a:srgbClr val="222222"/>
                </a:solidFill>
                <a:latin typeface="Calibri"/>
              </a:rPr>
              <a:t>5. What is the difference between a class and an object?</a:t>
            </a:r>
          </a:p>
          <a:p>
            <a:pPr lvl="1"/>
            <a:r>
              <a:rPr sz="1800" i="1">
                <a:solidFill>
                  <a:srgbClr val="B76E00"/>
                </a:solidFill>
                <a:latin typeface="Calibri"/>
              </a:rPr>
              <a:t>Answer: A class is the template or blueprint; an object is an instance of it created by instantiation (1.2.4).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Key terminology</a:t>
            </a:r>
          </a:p>
        </p:txBody>
      </p:sp>
      <p:sp>
        <p:nvSpPr>
          <p:cNvPr id="3" name="TextBox 2"/>
          <p:cNvSpPr txBox="1"/>
          <p:nvPr/>
        </p:nvSpPr>
        <p:spPr>
          <a:xfrm>
            <a:off x="640080" y="1280160"/>
            <a:ext cx="10881360" cy="5120640"/>
          </a:xfrm>
          <a:prstGeom prst="rect">
            <a:avLst/>
          </a:prstGeom>
          <a:noFill/>
        </p:spPr>
        <p:txBody>
          <a:bodyPr wrap="square">
            <a:spAutoFit/>
          </a:bodyPr>
          <a:lstStyle/>
          <a:p/>
          <a:p>
            <a:r>
              <a:rPr b="1" sz="2000">
                <a:solidFill>
                  <a:srgbClr val="1A365D"/>
                </a:solidFill>
                <a:latin typeface="Calibri"/>
              </a:rPr>
              <a:t>Lossless compression</a:t>
            </a:r>
            <a:r>
              <a:rPr sz="1800">
                <a:solidFill>
                  <a:srgbClr val="222222"/>
                </a:solidFill>
                <a:latin typeface="Calibri"/>
              </a:rPr>
              <a:t> — Reduces file size with no permanent data loss; the exact original can be recovered.</a:t>
            </a:r>
          </a:p>
          <a:p>
            <a:r>
              <a:rPr b="1" sz="2000">
                <a:solidFill>
                  <a:srgbClr val="1A365D"/>
                </a:solidFill>
                <a:latin typeface="Calibri"/>
              </a:rPr>
              <a:t>Lossy compression</a:t>
            </a:r>
            <a:r>
              <a:rPr sz="1800">
                <a:solidFill>
                  <a:srgbClr val="222222"/>
                </a:solidFill>
                <a:latin typeface="Calibri"/>
              </a:rPr>
              <a:t> — Permanently removes data to shrink files much further; the original cannot be recovered.</a:t>
            </a:r>
          </a:p>
          <a:p>
            <a:r>
              <a:rPr b="1" sz="2000">
                <a:solidFill>
                  <a:srgbClr val="1A365D"/>
                </a:solidFill>
                <a:latin typeface="Calibri"/>
              </a:rPr>
              <a:t>Run length encoding</a:t>
            </a:r>
            <a:r>
              <a:rPr sz="1800">
                <a:solidFill>
                  <a:srgbClr val="222222"/>
                </a:solidFill>
                <a:latin typeface="Calibri"/>
              </a:rPr>
              <a:t> — Lossless technique replacing runs of repeated values with one value and a count.</a:t>
            </a:r>
          </a:p>
          <a:p>
            <a:r>
              <a:rPr b="1" sz="2000">
                <a:solidFill>
                  <a:srgbClr val="1A365D"/>
                </a:solidFill>
                <a:latin typeface="Calibri"/>
              </a:rPr>
              <a:t>Dictionary coding</a:t>
            </a:r>
            <a:r>
              <a:rPr sz="1800">
                <a:solidFill>
                  <a:srgbClr val="222222"/>
                </a:solidFill>
                <a:latin typeface="Calibri"/>
              </a:rPr>
              <a:t> — Lossless technique storing repeated patterns once in a dictionary and replacing each with a short reference.</a:t>
            </a:r>
          </a:p>
          <a:p>
            <a:r>
              <a:rPr b="1" sz="2000">
                <a:solidFill>
                  <a:srgbClr val="1A365D"/>
                </a:solidFill>
                <a:latin typeface="Calibri"/>
              </a:rPr>
              <a:t>Symmetric encryption</a:t>
            </a:r>
            <a:r>
              <a:rPr sz="1800">
                <a:solidFill>
                  <a:srgbClr val="222222"/>
                </a:solidFill>
                <a:latin typeface="Calibri"/>
              </a:rPr>
              <a:t> — The same shared key both encrypts and decrypts; fast but the key must be exchanged securely.</a:t>
            </a:r>
          </a:p>
          <a:p>
            <a:r>
              <a:rPr b="1" sz="2000">
                <a:solidFill>
                  <a:srgbClr val="1A365D"/>
                </a:solidFill>
                <a:latin typeface="Calibri"/>
              </a:rPr>
              <a:t>Asymmetric encryption</a:t>
            </a:r>
            <a:r>
              <a:rPr sz="1800">
                <a:solidFill>
                  <a:srgbClr val="222222"/>
                </a:solidFill>
                <a:latin typeface="Calibri"/>
              </a:rPr>
              <a:t> — A public and private key pair; data encrypted with one key is decrypted only by the other.</a:t>
            </a:r>
          </a:p>
          <a:p>
            <a:r>
              <a:rPr b="1" sz="2000">
                <a:solidFill>
                  <a:srgbClr val="1A365D"/>
                </a:solidFill>
                <a:latin typeface="Calibri"/>
              </a:rPr>
              <a:t>Digital signature</a:t>
            </a:r>
            <a:r>
              <a:rPr sz="1800">
                <a:solidFill>
                  <a:srgbClr val="222222"/>
                </a:solidFill>
                <a:latin typeface="Calibri"/>
              </a:rPr>
              <a:t> — A hash of a message encrypted with the sender's private key, proving origin and integrity.</a:t>
            </a:r>
          </a:p>
          <a:p>
            <a:r>
              <a:rPr b="1" sz="2000">
                <a:solidFill>
                  <a:srgbClr val="1A365D"/>
                </a:solidFill>
                <a:latin typeface="Calibri"/>
              </a:rPr>
              <a:t>Hashing</a:t>
            </a:r>
            <a:r>
              <a:rPr sz="1800">
                <a:solidFill>
                  <a:srgbClr val="222222"/>
                </a:solidFill>
                <a:latin typeface="Calibri"/>
              </a:rPr>
              <a:t> — A one-way function turning an input into a fixed-length digest that cannot be reversed.</a:t>
            </a:r>
          </a:p>
          <a:p>
            <a:r>
              <a:rPr b="1" sz="2000">
                <a:solidFill>
                  <a:srgbClr val="1A365D"/>
                </a:solidFill>
                <a:latin typeface="Calibri"/>
              </a:rPr>
              <a:t>Collision</a:t>
            </a:r>
            <a:r>
              <a:rPr sz="1800">
                <a:solidFill>
                  <a:srgbClr val="222222"/>
                </a:solidFill>
                <a:latin typeface="Calibri"/>
              </a:rPr>
              <a:t> — Two different inputs producing the same hash value; good hash functions make this rare.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Why compress data</a:t>
            </a:r>
          </a:p>
        </p:txBody>
      </p:sp>
      <p:sp>
        <p:nvSpPr>
          <p:cNvPr id="3" name="TextBox 2"/>
          <p:cNvSpPr txBox="1"/>
          <p:nvPr/>
        </p:nvSpPr>
        <p:spPr>
          <a:xfrm>
            <a:off x="640080" y="1280160"/>
            <a:ext cx="10881360" cy="5120640"/>
          </a:xfrm>
          <a:prstGeom prst="rect">
            <a:avLst/>
          </a:prstGeom>
          <a:noFill/>
        </p:spPr>
        <p:txBody>
          <a:bodyPr wrap="square">
            <a:spAutoFit/>
          </a:bodyPr>
          <a:lstStyle/>
          <a:p>
            <a:pPr/>
            <a:r>
              <a:rPr sz="2000" b="0">
                <a:solidFill>
                  <a:srgbClr val="222222"/>
                </a:solidFill>
                <a:latin typeface="Calibri"/>
              </a:rPr>
              <a:t>Compression reduces the number of bits needed to represent a file.</a:t>
            </a:r>
          </a:p>
          <a:p>
            <a:pPr/>
            <a:r>
              <a:rPr sz="2000" b="0">
                <a:solidFill>
                  <a:srgbClr val="222222"/>
                </a:solidFill>
                <a:latin typeface="Calibri"/>
              </a:rPr>
              <a:t>Smaller files need less storage space.</a:t>
            </a:r>
          </a:p>
          <a:p>
            <a:pPr/>
            <a:r>
              <a:rPr sz="2000" b="0">
                <a:solidFill>
                  <a:srgbClr val="222222"/>
                </a:solidFill>
                <a:latin typeface="Calibri"/>
              </a:rPr>
              <a:t>They transfer faster and use less bandwidth, so downloads and streaming work on slower connections.</a:t>
            </a:r>
          </a:p>
          <a:p>
            <a:pPr/>
            <a:r>
              <a:rPr sz="2000" b="0">
                <a:solidFill>
                  <a:srgbClr val="222222"/>
                </a:solidFill>
                <a:latin typeface="Calibri"/>
              </a:rPr>
              <a:t>The trade-off is processing time to compress and decompress.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Lossless compression</a:t>
            </a:r>
          </a:p>
        </p:txBody>
      </p:sp>
      <p:sp>
        <p:nvSpPr>
          <p:cNvPr id="3" name="TextBox 2"/>
          <p:cNvSpPr txBox="1"/>
          <p:nvPr/>
        </p:nvSpPr>
        <p:spPr>
          <a:xfrm>
            <a:off x="640080" y="1280160"/>
            <a:ext cx="10881360" cy="5120640"/>
          </a:xfrm>
          <a:prstGeom prst="rect">
            <a:avLst/>
          </a:prstGeom>
          <a:noFill/>
        </p:spPr>
        <p:txBody>
          <a:bodyPr wrap="square">
            <a:spAutoFit/>
          </a:bodyPr>
          <a:lstStyle/>
          <a:p>
            <a:pPr/>
            <a:r>
              <a:rPr sz="2000" b="0">
                <a:solidFill>
                  <a:srgbClr val="222222"/>
                </a:solidFill>
                <a:latin typeface="Calibri"/>
              </a:rPr>
              <a:t>No data is permanently removed: decompression rebuilds the exact original file.</a:t>
            </a:r>
          </a:p>
          <a:p>
            <a:pPr/>
            <a:r>
              <a:rPr sz="2000" b="0">
                <a:solidFill>
                  <a:srgbClr val="222222"/>
                </a:solidFill>
                <a:latin typeface="Calibri"/>
              </a:rPr>
              <a:t>Works by re-encoding redundancy, such as repeated values or patterns.</a:t>
            </a:r>
          </a:p>
          <a:p>
            <a:pPr/>
            <a:r>
              <a:rPr sz="2000" b="0">
                <a:solidFill>
                  <a:srgbClr val="222222"/>
                </a:solidFill>
                <a:latin typeface="Calibri"/>
              </a:rPr>
              <a:t>Essential for text, program code, spreadsheets and archives, where any change corrupts the file.</a:t>
            </a:r>
          </a:p>
          <a:p>
            <a:pPr/>
            <a:r>
              <a:rPr sz="2000" b="0">
                <a:solidFill>
                  <a:srgbClr val="222222"/>
                </a:solidFill>
                <a:latin typeface="Calibri"/>
              </a:rPr>
              <a:t>Examples: ZIP archives and PNG images; RLE and dictionary coding are lossless techniques.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Lossy compression</a:t>
            </a:r>
          </a:p>
        </p:txBody>
      </p:sp>
      <p:sp>
        <p:nvSpPr>
          <p:cNvPr id="3" name="TextBox 2"/>
          <p:cNvSpPr txBox="1"/>
          <p:nvPr/>
        </p:nvSpPr>
        <p:spPr>
          <a:xfrm>
            <a:off x="640080" y="1280160"/>
            <a:ext cx="10881360" cy="5120640"/>
          </a:xfrm>
          <a:prstGeom prst="rect">
            <a:avLst/>
          </a:prstGeom>
          <a:noFill/>
        </p:spPr>
        <p:txBody>
          <a:bodyPr wrap="square">
            <a:spAutoFit/>
          </a:bodyPr>
          <a:lstStyle/>
          <a:p>
            <a:pPr/>
            <a:r>
              <a:rPr sz="2000" b="0">
                <a:solidFill>
                  <a:srgbClr val="222222"/>
                </a:solidFill>
                <a:latin typeface="Calibri"/>
              </a:rPr>
              <a:t>Permanently removes data the human eye or ear barely notices.</a:t>
            </a:r>
          </a:p>
          <a:p>
            <a:pPr/>
            <a:r>
              <a:rPr sz="2000" b="0">
                <a:solidFill>
                  <a:srgbClr val="222222"/>
                </a:solidFill>
                <a:latin typeface="Calibri"/>
              </a:rPr>
              <a:t>Achieves much bigger savings than lossless, at the cost of some quality.</a:t>
            </a:r>
          </a:p>
          <a:p>
            <a:pPr/>
            <a:r>
              <a:rPr sz="2000" b="0">
                <a:solidFill>
                  <a:srgbClr val="222222"/>
                </a:solidFill>
                <a:latin typeface="Calibri"/>
              </a:rPr>
              <a:t>The original can never be recovered from the compressed file.</a:t>
            </a:r>
          </a:p>
          <a:p>
            <a:pPr/>
            <a:r>
              <a:rPr sz="2000" b="0">
                <a:solidFill>
                  <a:srgbClr val="222222"/>
                </a:solidFill>
                <a:latin typeface="Calibri"/>
              </a:rPr>
              <a:t>Examples: JPEG images, MP3 audio and streamed video.</a:t>
            </a:r>
          </a:p>
          <a:p>
            <a:pPr/>
            <a:r>
              <a:rPr sz="2000" b="0">
                <a:solidFill>
                  <a:srgbClr val="222222"/>
                </a:solidFill>
                <a:latin typeface="Calibri"/>
              </a:rPr>
              <a:t>Choose by scenario: photos for a web page tolerate loss; source code never does.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Run length encoding</a:t>
            </a:r>
          </a:p>
        </p:txBody>
      </p:sp>
      <p:sp>
        <p:nvSpPr>
          <p:cNvPr id="3" name="TextBox 2"/>
          <p:cNvSpPr txBox="1"/>
          <p:nvPr/>
        </p:nvSpPr>
        <p:spPr>
          <a:xfrm>
            <a:off x="640080" y="1280160"/>
            <a:ext cx="10881360" cy="5120640"/>
          </a:xfrm>
          <a:prstGeom prst="rect">
            <a:avLst/>
          </a:prstGeom>
          <a:noFill/>
        </p:spPr>
        <p:txBody>
          <a:bodyPr wrap="square">
            <a:spAutoFit/>
          </a:bodyPr>
          <a:lstStyle/>
          <a:p>
            <a:pPr/>
            <a:r>
              <a:rPr sz="2000" b="0">
                <a:solidFill>
                  <a:srgbClr val="222222"/>
                </a:solidFill>
                <a:latin typeface="Calibri"/>
              </a:rPr>
              <a:t>RLE replaces each run of identical values with the value and a count.</a:t>
            </a:r>
          </a:p>
          <a:p>
            <a:pPr/>
            <a:r>
              <a:rPr sz="2000" b="0">
                <a:solidFill>
                  <a:srgbClr val="222222"/>
                </a:solidFill>
                <a:latin typeface="Calibri"/>
              </a:rPr>
              <a:t>AAAABBB becomes 4A 3B: two pairs instead of seven characters.</a:t>
            </a:r>
          </a:p>
          <a:p>
            <a:pPr/>
            <a:r>
              <a:rPr sz="2000" b="0">
                <a:solidFill>
                  <a:srgbClr val="222222"/>
                </a:solidFill>
                <a:latin typeface="Calibri"/>
              </a:rPr>
              <a:t>It is lossless: expanding the counts rebuilds the data exactly.</a:t>
            </a:r>
          </a:p>
          <a:p>
            <a:pPr/>
            <a:r>
              <a:rPr sz="2000" b="0">
                <a:solidFill>
                  <a:srgbClr val="222222"/>
                </a:solidFill>
                <a:latin typeface="Calibri"/>
              </a:rPr>
              <a:t>Best on data with long runs, such as simple graphics with blocks of identical pixels.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When RLE fails</a:t>
            </a:r>
          </a:p>
        </p:txBody>
      </p:sp>
      <p:sp>
        <p:nvSpPr>
          <p:cNvPr id="3" name="TextBox 2"/>
          <p:cNvSpPr txBox="1"/>
          <p:nvPr/>
        </p:nvSpPr>
        <p:spPr>
          <a:xfrm>
            <a:off x="640080" y="1280160"/>
            <a:ext cx="10881360" cy="5120640"/>
          </a:xfrm>
          <a:prstGeom prst="rect">
            <a:avLst/>
          </a:prstGeom>
          <a:noFill/>
        </p:spPr>
        <p:txBody>
          <a:bodyPr wrap="square">
            <a:spAutoFit/>
          </a:bodyPr>
          <a:lstStyle/>
          <a:p>
            <a:pPr/>
            <a:r>
              <a:rPr sz="2000" b="0">
                <a:solidFill>
                  <a:srgbClr val="222222"/>
                </a:solidFill>
                <a:latin typeface="Calibri"/>
              </a:rPr>
              <a:t>With few or short runs there is nothing to shorten.</a:t>
            </a:r>
          </a:p>
          <a:p>
            <a:pPr/>
            <a:r>
              <a:rPr sz="2000" b="0">
                <a:solidFill>
                  <a:srgbClr val="222222"/>
                </a:solidFill>
                <a:latin typeface="Calibri"/>
              </a:rPr>
              <a:t>ABABAB becomes 1A 1B 1A 1B 1A 1B: six characters have become twelve.</a:t>
            </a:r>
          </a:p>
          <a:p>
            <a:pPr/>
            <a:r>
              <a:rPr sz="2000" b="0">
                <a:solidFill>
                  <a:srgbClr val="222222"/>
                </a:solidFill>
                <a:latin typeface="Calibri"/>
              </a:rPr>
              <a:t>Alternating or highly varied data can double in size under RLE.</a:t>
            </a:r>
          </a:p>
          <a:p>
            <a:pPr/>
            <a:r>
              <a:rPr sz="2000" b="0">
                <a:solidFill>
                  <a:srgbClr val="222222"/>
                </a:solidFill>
                <a:latin typeface="Calibri"/>
              </a:rPr>
              <a:t>Always state in answers that RLE only helps when long runs exist.</a:t>
            </a:r>
          </a:p>
          <a:p>
            <a:pPr/>
            <a:r>
              <a:rPr sz="1800" b="1">
                <a:solidFill>
                  <a:srgbClr val="B76E00"/>
                </a:solidFill>
                <a:latin typeface="Calibri"/>
              </a:rPr>
              <a:t>RLE does not always make a file smaller: a favourite examiner follow-up.</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Dictionary coding</a:t>
            </a:r>
          </a:p>
        </p:txBody>
      </p:sp>
      <p:sp>
        <p:nvSpPr>
          <p:cNvPr id="3" name="TextBox 2"/>
          <p:cNvSpPr txBox="1"/>
          <p:nvPr/>
        </p:nvSpPr>
        <p:spPr>
          <a:xfrm>
            <a:off x="640080" y="1280160"/>
            <a:ext cx="10881360" cy="5120640"/>
          </a:xfrm>
          <a:prstGeom prst="rect">
            <a:avLst/>
          </a:prstGeom>
          <a:noFill/>
        </p:spPr>
        <p:txBody>
          <a:bodyPr wrap="square">
            <a:spAutoFit/>
          </a:bodyPr>
          <a:lstStyle/>
          <a:p>
            <a:pPr/>
            <a:r>
              <a:rPr sz="2000" b="0">
                <a:solidFill>
                  <a:srgbClr val="222222"/>
                </a:solidFill>
                <a:latin typeface="Calibri"/>
              </a:rPr>
              <a:t>Recurring patterns or words are stored once in a dictionary.</a:t>
            </a:r>
          </a:p>
          <a:p>
            <a:pPr/>
            <a:r>
              <a:rPr sz="2000" b="0">
                <a:solidFill>
                  <a:srgbClr val="222222"/>
                </a:solidFill>
                <a:latin typeface="Calibri"/>
              </a:rPr>
              <a:t>Each occurrence in the data is replaced by a short reference to its dictionary entry.</a:t>
            </a:r>
          </a:p>
          <a:p>
            <a:pPr/>
            <a:r>
              <a:rPr sz="2000" b="0">
                <a:solidFill>
                  <a:srgbClr val="222222"/>
                </a:solidFill>
                <a:latin typeface="Calibri"/>
              </a:rPr>
              <a:t>The dictionary must be stored or sent with the compressed file.</a:t>
            </a:r>
          </a:p>
          <a:p>
            <a:pPr/>
            <a:r>
              <a:rPr sz="2000" b="0">
                <a:solidFill>
                  <a:srgbClr val="222222"/>
                </a:solidFill>
                <a:latin typeface="Calibri"/>
              </a:rPr>
              <a:t>Lossless: substituting entries back for references rebuilds the original exactly.</a:t>
            </a:r>
          </a:p>
          <a:p>
            <a:pPr/>
            <a:r>
              <a:rPr sz="2000" b="0">
                <a:solidFill>
                  <a:srgbClr val="222222"/>
                </a:solidFill>
                <a:latin typeface="Calibri"/>
              </a:rPr>
              <a:t>Suits text, where the same words repeat; LZW and ZIP use dictionary methods.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Symmetric encryption</a:t>
            </a:r>
          </a:p>
        </p:txBody>
      </p:sp>
      <p:sp>
        <p:nvSpPr>
          <p:cNvPr id="3" name="TextBox 2"/>
          <p:cNvSpPr txBox="1"/>
          <p:nvPr/>
        </p:nvSpPr>
        <p:spPr>
          <a:xfrm>
            <a:off x="640080" y="1280160"/>
            <a:ext cx="10881360" cy="5120640"/>
          </a:xfrm>
          <a:prstGeom prst="rect">
            <a:avLst/>
          </a:prstGeom>
          <a:noFill/>
        </p:spPr>
        <p:txBody>
          <a:bodyPr wrap="square">
            <a:spAutoFit/>
          </a:bodyPr>
          <a:lstStyle/>
          <a:p>
            <a:pPr/>
            <a:r>
              <a:rPr sz="2000" b="0">
                <a:solidFill>
                  <a:srgbClr val="222222"/>
                </a:solidFill>
                <a:latin typeface="Calibri"/>
              </a:rPr>
              <a:t>Encryption scrambles plaintext into ciphertext using an algorithm and a key.</a:t>
            </a:r>
          </a:p>
          <a:p>
            <a:pPr/>
            <a:r>
              <a:rPr sz="2000" b="0">
                <a:solidFill>
                  <a:srgbClr val="222222"/>
                </a:solidFill>
                <a:latin typeface="Calibri"/>
              </a:rPr>
              <a:t>Symmetric encryption uses the same key to encrypt and decrypt.</a:t>
            </a:r>
          </a:p>
          <a:p>
            <a:pPr/>
            <a:r>
              <a:rPr sz="2000" b="0">
                <a:solidFill>
                  <a:srgbClr val="222222"/>
                </a:solidFill>
                <a:latin typeface="Calibri"/>
              </a:rPr>
              <a:t>It is fast, so it suits bulk data.</a:t>
            </a:r>
          </a:p>
          <a:p>
            <a:pPr/>
            <a:r>
              <a:rPr sz="2000" b="0">
                <a:solidFill>
                  <a:srgbClr val="222222"/>
                </a:solidFill>
                <a:latin typeface="Calibri"/>
              </a:rPr>
              <a:t>Weakness: both parties need the key, and sending it risks interception, the key distribution problem.</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Asymmetric encryption</a:t>
            </a:r>
          </a:p>
        </p:txBody>
      </p:sp>
      <p:sp>
        <p:nvSpPr>
          <p:cNvPr id="3" name="TextBox 2"/>
          <p:cNvSpPr txBox="1"/>
          <p:nvPr/>
        </p:nvSpPr>
        <p:spPr>
          <a:xfrm>
            <a:off x="640080" y="1280160"/>
            <a:ext cx="10881360" cy="5120640"/>
          </a:xfrm>
          <a:prstGeom prst="rect">
            <a:avLst/>
          </a:prstGeom>
          <a:noFill/>
        </p:spPr>
        <p:txBody>
          <a:bodyPr wrap="square">
            <a:spAutoFit/>
          </a:bodyPr>
          <a:lstStyle/>
          <a:p>
            <a:pPr/>
            <a:r>
              <a:rPr sz="2000" b="0">
                <a:solidFill>
                  <a:srgbClr val="222222"/>
                </a:solidFill>
                <a:latin typeface="Calibri"/>
              </a:rPr>
              <a:t>Each user has a key pair: a public key shared openly and a private key kept secret.</a:t>
            </a:r>
          </a:p>
          <a:p>
            <a:pPr/>
            <a:r>
              <a:rPr sz="2000" b="0">
                <a:solidFill>
                  <a:srgbClr val="222222"/>
                </a:solidFill>
                <a:latin typeface="Calibri"/>
              </a:rPr>
              <a:t>A message encrypted with the recipient's public key can only be decrypted with their private key.</a:t>
            </a:r>
          </a:p>
          <a:p>
            <a:pPr/>
            <a:r>
              <a:rPr sz="2000" b="0">
                <a:solidFill>
                  <a:srgbClr val="222222"/>
                </a:solidFill>
                <a:latin typeface="Calibri"/>
              </a:rPr>
              <a:t>Anyone may encrypt to you, but only you can decrypt: distribution is solved.</a:t>
            </a:r>
          </a:p>
          <a:p>
            <a:pPr/>
            <a:r>
              <a:rPr sz="2000" b="0">
                <a:solidFill>
                  <a:srgbClr val="222222"/>
                </a:solidFill>
                <a:latin typeface="Calibri"/>
              </a:rPr>
              <a:t>It is slower than symmetric encryption, so it is used sparingly.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Digital signatures and hybrid systems</a:t>
            </a:r>
          </a:p>
        </p:txBody>
      </p:sp>
      <p:sp>
        <p:nvSpPr>
          <p:cNvPr id="3" name="TextBox 2"/>
          <p:cNvSpPr txBox="1"/>
          <p:nvPr/>
        </p:nvSpPr>
        <p:spPr>
          <a:xfrm>
            <a:off x="640080" y="1280160"/>
            <a:ext cx="10881360" cy="5120640"/>
          </a:xfrm>
          <a:prstGeom prst="rect">
            <a:avLst/>
          </a:prstGeom>
          <a:noFill/>
        </p:spPr>
        <p:txBody>
          <a:bodyPr wrap="square">
            <a:spAutoFit/>
          </a:bodyPr>
          <a:lstStyle/>
          <a:p>
            <a:pPr/>
            <a:r>
              <a:rPr sz="2000" b="0">
                <a:solidFill>
                  <a:srgbClr val="222222"/>
                </a:solidFill>
                <a:latin typeface="Calibri"/>
              </a:rPr>
              <a:t>To sign, the sender hashes the message and encrypts the hash with their private key.</a:t>
            </a:r>
          </a:p>
          <a:p>
            <a:pPr/>
            <a:r>
              <a:rPr sz="2000" b="0">
                <a:solidFill>
                  <a:srgbClr val="222222"/>
                </a:solidFill>
                <a:latin typeface="Calibri"/>
              </a:rPr>
              <a:t>The receiver decrypts the hash with the sender's public key, rehashes the message and compares.</a:t>
            </a:r>
          </a:p>
          <a:p>
            <a:pPr/>
            <a:r>
              <a:rPr sz="2000" b="0">
                <a:solidFill>
                  <a:srgbClr val="222222"/>
                </a:solidFill>
                <a:latin typeface="Calibri"/>
              </a:rPr>
              <a:t>A match proves who sent it and that it was not altered.</a:t>
            </a:r>
          </a:p>
          <a:p>
            <a:pPr/>
            <a:r>
              <a:rPr sz="2000" b="0">
                <a:solidFill>
                  <a:srgbClr val="222222"/>
                </a:solidFill>
                <a:latin typeface="Calibri"/>
              </a:rPr>
              <a:t>HTTPS uses asymmetric encryption to exchange a symmetric session key, then symmetric for the bulk data.</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Hashing and its uses</a:t>
            </a:r>
          </a:p>
        </p:txBody>
      </p:sp>
      <p:sp>
        <p:nvSpPr>
          <p:cNvPr id="3" name="TextBox 2"/>
          <p:cNvSpPr txBox="1"/>
          <p:nvPr/>
        </p:nvSpPr>
        <p:spPr>
          <a:xfrm>
            <a:off x="640080" y="1280160"/>
            <a:ext cx="10881360" cy="5120640"/>
          </a:xfrm>
          <a:prstGeom prst="rect">
            <a:avLst/>
          </a:prstGeom>
          <a:noFill/>
        </p:spPr>
        <p:txBody>
          <a:bodyPr wrap="square">
            <a:spAutoFit/>
          </a:bodyPr>
          <a:lstStyle/>
          <a:p>
            <a:pPr/>
            <a:r>
              <a:rPr sz="2000" b="0">
                <a:solidFill>
                  <a:srgbClr val="222222"/>
                </a:solidFill>
                <a:latin typeface="Calibri"/>
              </a:rPr>
              <a:t>A hash function turns an input into a fixed-length digest.</a:t>
            </a:r>
          </a:p>
          <a:p>
            <a:pPr/>
            <a:r>
              <a:rPr sz="2000" b="0">
                <a:solidFill>
                  <a:srgbClr val="222222"/>
                </a:solidFill>
                <a:latin typeface="Calibri"/>
              </a:rPr>
              <a:t>It is one-way: the input cannot be recovered from the hash.</a:t>
            </a:r>
          </a:p>
          <a:p>
            <a:pPr/>
            <a:r>
              <a:rPr sz="2000" b="0">
                <a:solidFill>
                  <a:srgbClr val="222222"/>
                </a:solidFill>
                <a:latin typeface="Calibri"/>
              </a:rPr>
              <a:t>It is deterministic, fast, and good functions make collisions rare.</a:t>
            </a:r>
          </a:p>
          <a:p>
            <a:pPr/>
            <a:r>
              <a:rPr sz="2000" b="0">
                <a:solidFill>
                  <a:srgbClr val="222222"/>
                </a:solidFill>
                <a:latin typeface="Calibri"/>
              </a:rPr>
              <a:t>Passwords are stored as hashes; at login the entered password is hashed and the hashes compared.</a:t>
            </a:r>
          </a:p>
          <a:p>
            <a:pPr/>
            <a:r>
              <a:rPr sz="2000" b="0">
                <a:solidFill>
                  <a:srgbClr val="222222"/>
                </a:solidFill>
                <a:latin typeface="Calibri"/>
              </a:rPr>
              <a:t>Hash tables use the hash of a key as an address, giving near constant time lookup.</a:t>
            </a:r>
          </a:p>
          <a:p>
            <a:pPr/>
            <a:r>
              <a:rPr sz="1800" b="1">
                <a:solidFill>
                  <a:srgbClr val="B76E00"/>
                </a:solidFill>
                <a:latin typeface="Calibri"/>
              </a:rPr>
              <a:t>Hashing is not encryption: there is no key and no way back.</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Worked example 1</a:t>
            </a:r>
          </a:p>
        </p:txBody>
      </p:sp>
      <p:sp>
        <p:nvSpPr>
          <p:cNvPr id="3" name="TextBox 2"/>
          <p:cNvSpPr txBox="1"/>
          <p:nvPr/>
        </p:nvSpPr>
        <p:spPr>
          <a:xfrm>
            <a:off x="640080" y="1280160"/>
            <a:ext cx="10881360" cy="5120640"/>
          </a:xfrm>
          <a:prstGeom prst="rect">
            <a:avLst/>
          </a:prstGeom>
          <a:noFill/>
        </p:spPr>
        <p:txBody>
          <a:bodyPr wrap="square">
            <a:spAutoFit/>
          </a:bodyPr>
          <a:lstStyle/>
          <a:p>
            <a:pPr/>
            <a:r>
              <a:rPr sz="2200" b="1">
                <a:solidFill>
                  <a:srgbClr val="2B6CB0"/>
                </a:solidFill>
                <a:latin typeface="Calibri"/>
              </a:rPr>
              <a:t>Run length encoding AAAABBBCCDAA</a:t>
            </a:r>
          </a:p>
          <a:p>
            <a:pPr lvl="1"/>
            <a:r>
              <a:rPr sz="1900" b="0">
                <a:solidFill>
                  <a:srgbClr val="222222"/>
                </a:solidFill>
                <a:latin typeface="Calibri"/>
              </a:rPr>
              <a:t>1. Scan for runs: AAAA is 4 As, BBB is 3 Bs, CC is 2 Cs, D is 1 D, AA is 2 As.</a:t>
            </a:r>
          </a:p>
          <a:p>
            <a:pPr lvl="1"/>
            <a:r>
              <a:rPr sz="1900" b="0">
                <a:solidFill>
                  <a:srgbClr val="222222"/>
                </a:solidFill>
                <a:latin typeface="Calibri"/>
              </a:rPr>
              <a:t>2. Check the counts cover the original: 4 + 3 + 2 + 1 + 2 = 12 characters, matching the input length.</a:t>
            </a:r>
          </a:p>
          <a:p>
            <a:pPr lvl="1"/>
            <a:r>
              <a:rPr sz="1900" b="0">
                <a:solidFill>
                  <a:srgbClr val="222222"/>
                </a:solidFill>
                <a:latin typeface="Calibri"/>
              </a:rPr>
              <a:t>3. Encode each run as count then value: 4A 3B 2C 1D 2A.</a:t>
            </a:r>
          </a:p>
          <a:p>
            <a:pPr lvl="1"/>
            <a:r>
              <a:rPr sz="1900" b="0">
                <a:solidFill>
                  <a:srgbClr val="222222"/>
                </a:solidFill>
                <a:latin typeface="Calibri"/>
              </a:rPr>
              <a:t>4. Compressed size: 5 pairs of two characters each = 10 characters, against 12 originally.</a:t>
            </a:r>
          </a:p>
          <a:p>
            <a:pPr lvl="1"/>
            <a:r>
              <a:rPr sz="1900" b="0">
                <a:solidFill>
                  <a:srgbClr val="222222"/>
                </a:solidFill>
                <a:latin typeface="Calibri"/>
              </a:rPr>
              <a:t>5. Saving: 2 characters, one sixth of the file; modest because two runs had length 1 and 2.</a:t>
            </a:r>
          </a:p>
          <a:p>
            <a:pPr lvl="1"/>
            <a:r>
              <a:rPr sz="1900" b="0">
                <a:solidFill>
                  <a:srgbClr val="222222"/>
                </a:solidFill>
                <a:latin typeface="Calibri"/>
              </a:rPr>
              <a:t>6. Contrast: ABABAB would encode as 1A 1B 1A 1B 1A 1B, growing from 6 to 12 characters.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Worked example 2</a:t>
            </a:r>
          </a:p>
        </p:txBody>
      </p:sp>
      <p:sp>
        <p:nvSpPr>
          <p:cNvPr id="3" name="TextBox 2"/>
          <p:cNvSpPr txBox="1"/>
          <p:nvPr/>
        </p:nvSpPr>
        <p:spPr>
          <a:xfrm>
            <a:off x="640080" y="1280160"/>
            <a:ext cx="10881360" cy="5120640"/>
          </a:xfrm>
          <a:prstGeom prst="rect">
            <a:avLst/>
          </a:prstGeom>
          <a:noFill/>
        </p:spPr>
        <p:txBody>
          <a:bodyPr wrap="square">
            <a:spAutoFit/>
          </a:bodyPr>
          <a:lstStyle/>
          <a:p>
            <a:pPr/>
            <a:r>
              <a:rPr sz="2200" b="1">
                <a:solidFill>
                  <a:srgbClr val="2B6CB0"/>
                </a:solidFill>
                <a:latin typeface="Calibri"/>
              </a:rPr>
              <a:t>Dictionary coding the cat and the dog and the rat</a:t>
            </a:r>
          </a:p>
          <a:p>
            <a:pPr lvl="1"/>
            <a:r>
              <a:rPr sz="1900" b="0">
                <a:solidFill>
                  <a:srgbClr val="222222"/>
                </a:solidFill>
                <a:latin typeface="Calibri"/>
              </a:rPr>
              <a:t>1. Original text: the cat and the dog and the rat, which is 24 letters plus 7 spaces = 31 characters.</a:t>
            </a:r>
          </a:p>
          <a:p>
            <a:pPr lvl="1"/>
            <a:r>
              <a:rPr sz="1900" b="0">
                <a:solidFill>
                  <a:srgbClr val="222222"/>
                </a:solidFill>
                <a:latin typeface="Calibri"/>
              </a:rPr>
              <a:t>2. Build the dictionary of distinct words: 1 = the, 2 = cat, 3 = and, 4 = dog, 5 = rat.</a:t>
            </a:r>
          </a:p>
          <a:p>
            <a:pPr lvl="1"/>
            <a:r>
              <a:rPr sz="1900" b="0">
                <a:solidFill>
                  <a:srgbClr val="222222"/>
                </a:solidFill>
                <a:latin typeface="Calibri"/>
              </a:rPr>
              <a:t>3. Replace each word with its reference: the token stream is 1 2 3 1 4 3 1 5.</a:t>
            </a:r>
          </a:p>
          <a:p>
            <a:pPr lvl="1"/>
            <a:r>
              <a:rPr sz="1900" b="0">
                <a:solidFill>
                  <a:srgbClr val="222222"/>
                </a:solidFill>
                <a:latin typeface="Calibri"/>
              </a:rPr>
              <a:t>4. Check by decoding: the, cat, and, the, dog, and, the, rat matches the original exactly.</a:t>
            </a:r>
          </a:p>
          <a:p>
            <a:pPr lvl="1"/>
            <a:r>
              <a:rPr sz="1900" b="0">
                <a:solidFill>
                  <a:srgbClr val="222222"/>
                </a:solidFill>
                <a:latin typeface="Calibri"/>
              </a:rPr>
              <a:t>5. Assuming one character per token, the stream is 8 characters, but the 5-entry dictionary must also be stored.</a:t>
            </a:r>
          </a:p>
          <a:p>
            <a:pPr lvl="1"/>
            <a:r>
              <a:rPr sz="1900" b="0">
                <a:solidFill>
                  <a:srgbClr val="222222"/>
                </a:solidFill>
                <a:latin typeface="Calibri"/>
              </a:rPr>
              <a:t>6. Conclusion: overhead makes savings small on tiny files, but references pay off as repeated words multiply.</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Worked example 3</a:t>
            </a:r>
          </a:p>
        </p:txBody>
      </p:sp>
      <p:sp>
        <p:nvSpPr>
          <p:cNvPr id="3" name="TextBox 2"/>
          <p:cNvSpPr txBox="1"/>
          <p:nvPr/>
        </p:nvSpPr>
        <p:spPr>
          <a:xfrm>
            <a:off x="640080" y="1280160"/>
            <a:ext cx="10881360" cy="5120640"/>
          </a:xfrm>
          <a:prstGeom prst="rect">
            <a:avLst/>
          </a:prstGeom>
          <a:noFill/>
        </p:spPr>
        <p:txBody>
          <a:bodyPr wrap="square">
            <a:spAutoFit/>
          </a:bodyPr>
          <a:lstStyle/>
          <a:p>
            <a:pPr/>
            <a:r>
              <a:rPr sz="2200" b="1">
                <a:solidFill>
                  <a:srgbClr val="2B6CB0"/>
                </a:solidFill>
                <a:latin typeface="Calibri"/>
              </a:rPr>
              <a:t>Asymmetric encryption and a digital signature between Alia and Ben</a:t>
            </a:r>
          </a:p>
          <a:p>
            <a:pPr lvl="1"/>
            <a:r>
              <a:rPr sz="1900" b="0">
                <a:solidFill>
                  <a:srgbClr val="222222"/>
                </a:solidFill>
                <a:latin typeface="Calibri"/>
              </a:rPr>
              <a:t>1. Alia wants to send Ben a confidential contract that Ben can trust came from her.</a:t>
            </a:r>
          </a:p>
          <a:p>
            <a:pPr lvl="1"/>
            <a:r>
              <a:rPr sz="1900" b="0">
                <a:solidFill>
                  <a:srgbClr val="222222"/>
                </a:solidFill>
                <a:latin typeface="Calibri"/>
              </a:rPr>
              <a:t>2. Confidentiality: Alia encrypts the contract with Ben's public key, which anyone may hold.</a:t>
            </a:r>
          </a:p>
          <a:p>
            <a:pPr lvl="1"/>
            <a:r>
              <a:rPr sz="1900" b="0">
                <a:solidFill>
                  <a:srgbClr val="222222"/>
                </a:solidFill>
                <a:latin typeface="Calibri"/>
              </a:rPr>
              <a:t>3. Only Ben's private key can decrypt it, so interceptors see only ciphertext.</a:t>
            </a:r>
          </a:p>
          <a:p>
            <a:pPr lvl="1"/>
            <a:r>
              <a:rPr sz="1900" b="0">
                <a:solidFill>
                  <a:srgbClr val="222222"/>
                </a:solidFill>
                <a:latin typeface="Calibri"/>
              </a:rPr>
              <a:t>4. Signature: Alia hashes the contract and encrypts that hash with her own private key, attaching the result.</a:t>
            </a:r>
          </a:p>
          <a:p>
            <a:pPr lvl="1"/>
            <a:r>
              <a:rPr sz="1900" b="0">
                <a:solidFill>
                  <a:srgbClr val="222222"/>
                </a:solidFill>
                <a:latin typeface="Calibri"/>
              </a:rPr>
              <a:t>5. Ben decrypts the signature with Alia's public key, rehashes the received contract and compares the two hashes.</a:t>
            </a:r>
          </a:p>
          <a:p>
            <a:pPr lvl="1"/>
            <a:r>
              <a:rPr sz="1900" b="0">
                <a:solidFill>
                  <a:srgbClr val="222222"/>
                </a:solidFill>
                <a:latin typeface="Calibri"/>
              </a:rPr>
              <a:t>6. Matching hashes prove the message came from Alia's private key and was not altered in transit.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Activity 1</a:t>
            </a:r>
          </a:p>
        </p:txBody>
      </p:sp>
      <p:sp>
        <p:nvSpPr>
          <p:cNvPr id="3" name="TextBox 2"/>
          <p:cNvSpPr txBox="1"/>
          <p:nvPr/>
        </p:nvSpPr>
        <p:spPr>
          <a:xfrm>
            <a:off x="640080" y="1280160"/>
            <a:ext cx="10881360" cy="5120640"/>
          </a:xfrm>
          <a:prstGeom prst="rect">
            <a:avLst/>
          </a:prstGeom>
          <a:noFill/>
        </p:spPr>
        <p:txBody>
          <a:bodyPr wrap="square">
            <a:spAutoFit/>
          </a:bodyPr>
          <a:lstStyle/>
          <a:p>
            <a:pPr/>
            <a:r>
              <a:rPr sz="2200" b="1">
                <a:solidFill>
                  <a:srgbClr val="2B6CB0"/>
                </a:solidFill>
                <a:latin typeface="Calibri"/>
              </a:rPr>
              <a:t>Human run length encoding  (10 min)</a:t>
            </a:r>
          </a:p>
          <a:p>
            <a:pPr lvl="1"/>
            <a:r>
              <a:rPr sz="2000" b="0">
                <a:solidFill>
                  <a:srgbClr val="222222"/>
                </a:solidFill>
                <a:latin typeface="Calibri"/>
              </a:rPr>
              <a:t>Line up 17 students as a row of pixels: 6 holding A, then 3 holding B, then 8 holding C.</a:t>
            </a:r>
          </a:p>
          <a:p>
            <a:pPr lvl="1"/>
            <a:r>
              <a:rPr sz="2000" b="0">
                <a:solidFill>
                  <a:srgbClr val="222222"/>
                </a:solidFill>
                <a:latin typeface="Calibri"/>
              </a:rPr>
              <a:t>Ask how to describe the row to someone next door in the fewest characters; steer suggestions to RLE.</a:t>
            </a:r>
          </a:p>
          <a:p>
            <a:pPr lvl="1"/>
            <a:r>
              <a:rPr sz="2000" b="0">
                <a:solidFill>
                  <a:srgbClr val="222222"/>
                </a:solidFill>
                <a:latin typeface="Calibri"/>
              </a:rPr>
              <a:t>One student walks the line calling the encoding while a scribe writes it: A6 B3 C8, 17 characters described in 6.</a:t>
            </a:r>
          </a:p>
          <a:p>
            <a:pPr lvl="1"/>
            <a:r>
              <a:rPr sz="2000" b="0">
                <a:solidFill>
                  <a:srgbClr val="222222"/>
                </a:solidFill>
                <a:latin typeface="Calibri"/>
              </a:rPr>
              <a:t>Rearrange the same students into A B C A B C repeating and encode again.</a:t>
            </a:r>
          </a:p>
          <a:p>
            <a:pPr lvl="1"/>
            <a:r>
              <a:rPr sz="2000" b="0">
                <a:solidFill>
                  <a:srgbClr val="222222"/>
                </a:solidFill>
                <a:latin typeface="Calibri"/>
              </a:rPr>
              <a:t>Debrief: when does RLE shrink data and when does it inflate it?</a:t>
            </a:r>
          </a:p>
          <a:p>
            <a:pPr/>
            <a:r>
              <a:rPr sz="1800" b="0">
                <a:solidFill>
                  <a:srgbClr val="B76E00"/>
                </a:solidFill>
                <a:latin typeface="Calibri"/>
              </a:rPr>
              <a:t>Stretch: Encode the alternating row with dictionary coding instead, storing the pattern ABC once and referencing it, and compare which technique wins on each row.</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Activity 2</a:t>
            </a:r>
          </a:p>
        </p:txBody>
      </p:sp>
      <p:sp>
        <p:nvSpPr>
          <p:cNvPr id="3" name="TextBox 2"/>
          <p:cNvSpPr txBox="1"/>
          <p:nvPr/>
        </p:nvSpPr>
        <p:spPr>
          <a:xfrm>
            <a:off x="640080" y="1280160"/>
            <a:ext cx="10881360" cy="5120640"/>
          </a:xfrm>
          <a:prstGeom prst="rect">
            <a:avLst/>
          </a:prstGeom>
          <a:noFill/>
        </p:spPr>
        <p:txBody>
          <a:bodyPr wrap="square">
            <a:spAutoFit/>
          </a:bodyPr>
          <a:lstStyle/>
          <a:p>
            <a:pPr/>
            <a:r>
              <a:rPr sz="2200" b="1">
                <a:solidFill>
                  <a:srgbClr val="2B6CB0"/>
                </a:solidFill>
                <a:latin typeface="Calibri"/>
              </a:rPr>
              <a:t>Padlocks and Caesar wheels: symmetric vs asymmetric  (15 min)</a:t>
            </a:r>
          </a:p>
          <a:p>
            <a:pPr lvl="1"/>
            <a:r>
              <a:rPr sz="2000" b="0">
                <a:solidFill>
                  <a:srgbClr val="222222"/>
                </a:solidFill>
                <a:latin typeface="Calibri"/>
              </a:rPr>
              <a:t>Symmetric round: Alia and Ben share the key shift plus 3; Alia encrypts REVISE to UHYLVH on a whiteboard and passes it through interceptor students, and Ben shifts back to decrypt.</a:t>
            </a:r>
          </a:p>
          <a:p>
            <a:pPr lvl="1"/>
            <a:r>
              <a:rPr sz="2000" b="0">
                <a:solidFill>
                  <a:srgbClr val="222222"/>
                </a:solidFill>
                <a:latin typeface="Calibri"/>
              </a:rPr>
              <a:t>Ask the interceptors what they saw, then the killer question: how could Alia and Ben have agreed the key without the interceptors hearing? Name the key distribution problem.</a:t>
            </a:r>
          </a:p>
          <a:p>
            <a:pPr lvl="1"/>
            <a:r>
              <a:rPr sz="2000" b="0">
                <a:solidFill>
                  <a:srgbClr val="222222"/>
                </a:solidFill>
                <a:latin typeface="Calibri"/>
              </a:rPr>
              <a:t>Asymmetric round: Ben hands out open padlocked boxes labelled his public key but keeps the only key in his pocket; Alia locks her message in a box and sends it through the same interceptors.</a:t>
            </a:r>
          </a:p>
          <a:p>
            <a:pPr lvl="1"/>
            <a:r>
              <a:rPr sz="2000" b="0">
                <a:solidFill>
                  <a:srgbClr val="222222"/>
                </a:solidFill>
                <a:latin typeface="Calibri"/>
              </a:rPr>
              <a:t>Debrief: same key both ways is symmetric, fast but with the distribution problem; public key locks and private key unlocks is asymmetric, slower but distribution is solved.</a:t>
            </a:r>
          </a:p>
          <a:p>
            <a:pPr lvl="1"/>
            <a:r>
              <a:rPr sz="2000" b="0">
                <a:solidFill>
                  <a:srgbClr val="222222"/>
                </a:solidFill>
                <a:latin typeface="Calibri"/>
              </a:rPr>
              <a:t>Finish by explaining HTTPS: asymmetric encryption shares a symmetric session key, then symmetric handles the bulk data for speed.</a:t>
            </a:r>
          </a:p>
          <a:p>
            <a:pPr/>
            <a:r>
              <a:rPr sz="1800" b="0">
                <a:solidFill>
                  <a:srgbClr val="B76E00"/>
                </a:solidFill>
                <a:latin typeface="Calibri"/>
              </a:rPr>
              <a:t>Stretch: Ask how Ben could prove a message really came from him: sign with his private key so anyone can verify with his public key, a digital signature.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Activity 3</a:t>
            </a:r>
          </a:p>
        </p:txBody>
      </p:sp>
      <p:sp>
        <p:nvSpPr>
          <p:cNvPr id="3" name="TextBox 2"/>
          <p:cNvSpPr txBox="1"/>
          <p:nvPr/>
        </p:nvSpPr>
        <p:spPr>
          <a:xfrm>
            <a:off x="640080" y="1280160"/>
            <a:ext cx="10881360" cy="5120640"/>
          </a:xfrm>
          <a:prstGeom prst="rect">
            <a:avLst/>
          </a:prstGeom>
          <a:noFill/>
        </p:spPr>
        <p:txBody>
          <a:bodyPr wrap="square">
            <a:spAutoFit/>
          </a:bodyPr>
          <a:lstStyle/>
          <a:p>
            <a:pPr/>
            <a:r>
              <a:rPr sz="2200" b="1">
                <a:solidFill>
                  <a:srgbClr val="2B6CB0"/>
                </a:solidFill>
                <a:latin typeface="Calibri"/>
              </a:rPr>
              <a:t>One-way street: human hash function  (10 min)</a:t>
            </a:r>
          </a:p>
          <a:p>
            <a:pPr lvl="1"/>
            <a:r>
              <a:rPr sz="2000" b="0">
                <a:solidFill>
                  <a:srgbClr val="222222"/>
                </a:solidFill>
                <a:latin typeface="Calibri"/>
              </a:rPr>
              <a:t>Define a toy hash on the board: hash(word) = number of letters MOD 5.</a:t>
            </a:r>
          </a:p>
          <a:p>
            <a:pPr lvl="1"/>
            <a:r>
              <a:rPr sz="2000" b="0">
                <a:solidFill>
                  <a:srgbClr val="222222"/>
                </a:solidFill>
                <a:latin typeface="Calibri"/>
              </a:rPr>
              <a:t>Students hash their own first name on mini-whiteboards and hold up the digit.</a:t>
            </a:r>
          </a:p>
          <a:p>
            <a:pPr lvl="1"/>
            <a:r>
              <a:rPr sz="2000" b="0">
                <a:solidFill>
                  <a:srgbClr val="222222"/>
                </a:solidFill>
                <a:latin typeface="Calibri"/>
              </a:rPr>
              <a:t>Ask: I am thinking of a word whose hash is 1; what was my word? Impossible: hashing is one-way.</a:t>
            </a:r>
          </a:p>
          <a:p>
            <a:pPr lvl="1"/>
            <a:r>
              <a:rPr sz="2000" b="0">
                <a:solidFill>
                  <a:srgbClr val="222222"/>
                </a:solidFill>
                <a:latin typeface="Calibri"/>
              </a:rPr>
              <a:t>Find two students with the same hash but different names and name it a collision.</a:t>
            </a:r>
          </a:p>
          <a:p>
            <a:pPr lvl="1"/>
            <a:r>
              <a:rPr sz="2000" b="0">
                <a:solidFill>
                  <a:srgbClr val="222222"/>
                </a:solidFill>
                <a:latin typeface="Calibri"/>
              </a:rPr>
              <a:t>Debrief which properties of a good hash the toy has, deterministic, fixed output, fast, and which it lacks, far too many collisions; link to password storage and hash tables.</a:t>
            </a:r>
          </a:p>
          <a:p>
            <a:pPr/>
            <a:r>
              <a:rPr sz="1800" b="0">
                <a:solidFill>
                  <a:srgbClr val="B76E00"/>
                </a:solidFill>
                <a:latin typeface="Calibri"/>
              </a:rPr>
              <a:t>Stretch: Ask why systems hash passwords rather than encrypting them: there is no key to steal and even an administrator with the database cannot reverse the hashes.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Practice (1-4)</a:t>
            </a:r>
          </a:p>
        </p:txBody>
      </p:sp>
      <p:sp>
        <p:nvSpPr>
          <p:cNvPr id="3" name="TextBox 2"/>
          <p:cNvSpPr txBox="1"/>
          <p:nvPr/>
        </p:nvSpPr>
        <p:spPr>
          <a:xfrm>
            <a:off x="640080" y="1280160"/>
            <a:ext cx="10881360" cy="5120640"/>
          </a:xfrm>
          <a:prstGeom prst="rect">
            <a:avLst/>
          </a:prstGeom>
          <a:noFill/>
        </p:spPr>
        <p:txBody>
          <a:bodyPr wrap="square">
            <a:spAutoFit/>
          </a:bodyPr>
          <a:lstStyle/>
          <a:p>
            <a:r>
              <a:rPr sz="2000" b="1">
                <a:solidFill>
                  <a:srgbClr val="222222"/>
                </a:solidFill>
                <a:latin typeface="Calibri"/>
              </a:rPr>
              <a:t>1. A pixel row reads WWWWWBBWWWWWW. Show the result of run length encoding it and state the saving. (3)</a:t>
            </a:r>
          </a:p>
          <a:p>
            <a:r>
              <a:rPr sz="2000" b="1">
                <a:solidFill>
                  <a:srgbClr val="222222"/>
                </a:solidFill>
                <a:latin typeface="Calibri"/>
              </a:rPr>
              <a:t>2. Explain why run length encoding could increase the size of some files. (2)</a:t>
            </a:r>
          </a:p>
          <a:p>
            <a:r>
              <a:rPr sz="2000" b="1">
                <a:solidFill>
                  <a:srgbClr val="222222"/>
                </a:solidFill>
                <a:latin typeface="Calibri"/>
              </a:rPr>
              <a:t>3. A photographer emails proof images to clients, and a developer backs up source code. Justify a suitable compression type for each. (4)</a:t>
            </a:r>
          </a:p>
          <a:p>
            <a:r>
              <a:rPr sz="2000" b="1">
                <a:solidFill>
                  <a:srgbClr val="222222"/>
                </a:solidFill>
                <a:latin typeface="Calibri"/>
              </a:rPr>
              <a:t>4. Describe how dictionary coding compresses a text file. (3)</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Practice — answers (1-4)</a:t>
            </a:r>
          </a:p>
        </p:txBody>
      </p:sp>
      <p:sp>
        <p:nvSpPr>
          <p:cNvPr id="3" name="TextBox 2"/>
          <p:cNvSpPr txBox="1"/>
          <p:nvPr/>
        </p:nvSpPr>
        <p:spPr>
          <a:xfrm>
            <a:off x="640080" y="1280160"/>
            <a:ext cx="10881360" cy="5120640"/>
          </a:xfrm>
          <a:prstGeom prst="rect">
            <a:avLst/>
          </a:prstGeom>
          <a:noFill/>
        </p:spPr>
        <p:txBody>
          <a:bodyPr wrap="square">
            <a:spAutoFit/>
          </a:bodyPr>
          <a:lstStyle/>
          <a:p>
            <a:r>
              <a:rPr sz="2000" b="1">
                <a:solidFill>
                  <a:srgbClr val="222222"/>
                </a:solidFill>
                <a:latin typeface="Calibri"/>
              </a:rPr>
              <a:t>1. A pixel row reads WWWWWBBWWWWWW. Show the result of run length encoding it and state the saving. (3)</a:t>
            </a:r>
          </a:p>
          <a:p>
            <a:pPr lvl="1"/>
            <a:r>
              <a:rPr sz="1800" i="1">
                <a:solidFill>
                  <a:srgbClr val="B76E00"/>
                </a:solidFill>
                <a:latin typeface="Calibri"/>
              </a:rPr>
              <a:t>Answer: Runs are 5 W, 2 B, 6 W (1); encoded as 5W 2B 6W (1); 6 characters instead of 13, saving 7 characters (1).</a:t>
            </a:r>
          </a:p>
          <a:p>
            <a:r>
              <a:rPr sz="2000" b="1">
                <a:solidFill>
                  <a:srgbClr val="222222"/>
                </a:solidFill>
                <a:latin typeface="Calibri"/>
              </a:rPr>
              <a:t>2. Explain why run length encoding could increase the size of some files. (2)</a:t>
            </a:r>
          </a:p>
          <a:p>
            <a:pPr lvl="1"/>
            <a:r>
              <a:rPr sz="1800" i="1">
                <a:solidFill>
                  <a:srgbClr val="B76E00"/>
                </a:solidFill>
                <a:latin typeface="Calibri"/>
              </a:rPr>
              <a:t>Answer: RLE stores a count and value for every run (1); if runs are mostly length one, each single character becomes a two-character pair, up to doubling the file (1).</a:t>
            </a:r>
          </a:p>
          <a:p>
            <a:r>
              <a:rPr sz="2000" b="1">
                <a:solidFill>
                  <a:srgbClr val="222222"/>
                </a:solidFill>
                <a:latin typeface="Calibri"/>
              </a:rPr>
              <a:t>3. A photographer emails proof images to clients, and a developer backs up source code. Justify a suitable compression type for each. (4)</a:t>
            </a:r>
          </a:p>
          <a:p>
            <a:pPr lvl="1"/>
            <a:r>
              <a:rPr sz="1800" i="1">
                <a:solidFill>
                  <a:srgbClr val="B76E00"/>
                </a:solidFill>
                <a:latin typeface="Calibri"/>
              </a:rPr>
              <a:t>Answer: Photos: lossy (1), because large savings speed the email and small quality losses are invisible to clients (1). Source code: lossless (1), because every character must be recovered exactly or the program will not run (1).</a:t>
            </a:r>
          </a:p>
          <a:p>
            <a:r>
              <a:rPr sz="2000" b="1">
                <a:solidFill>
                  <a:srgbClr val="222222"/>
                </a:solidFill>
                <a:latin typeface="Calibri"/>
              </a:rPr>
              <a:t>4. Describe how dictionary coding compresses a text file. (3)</a:t>
            </a:r>
          </a:p>
          <a:p>
            <a:pPr lvl="1"/>
            <a:r>
              <a:rPr sz="1800" i="1">
                <a:solidFill>
                  <a:srgbClr val="B76E00"/>
                </a:solidFill>
                <a:latin typeface="Calibri"/>
              </a:rPr>
              <a:t>Answer: Repeated words or patterns are stored once in a dictionary (1); each occurrence is replaced by a short reference to its entry (1); the dictionary is stored with the file so decompression can substitute entries back exactly (1).</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Practice (5-8)</a:t>
            </a:r>
          </a:p>
        </p:txBody>
      </p:sp>
      <p:sp>
        <p:nvSpPr>
          <p:cNvPr id="3" name="TextBox 2"/>
          <p:cNvSpPr txBox="1"/>
          <p:nvPr/>
        </p:nvSpPr>
        <p:spPr>
          <a:xfrm>
            <a:off x="640080" y="1280160"/>
            <a:ext cx="10881360" cy="5120640"/>
          </a:xfrm>
          <a:prstGeom prst="rect">
            <a:avLst/>
          </a:prstGeom>
          <a:noFill/>
        </p:spPr>
        <p:txBody>
          <a:bodyPr wrap="square">
            <a:spAutoFit/>
          </a:bodyPr>
          <a:lstStyle/>
          <a:p>
            <a:r>
              <a:rPr sz="2000" b="1">
                <a:solidFill>
                  <a:srgbClr val="222222"/>
                </a:solidFill>
                <a:latin typeface="Calibri"/>
              </a:rPr>
              <a:t>1. Compare symmetric and asymmetric encryption. (4)</a:t>
            </a:r>
          </a:p>
          <a:p>
            <a:r>
              <a:rPr sz="2000" b="1">
                <a:solidFill>
                  <a:srgbClr val="222222"/>
                </a:solidFill>
                <a:latin typeface="Calibri"/>
              </a:rPr>
              <a:t>2. Ben receives a message with a digital signature. Explain how he verifies who sent it and that it is unchanged. (3)</a:t>
            </a:r>
          </a:p>
          <a:p>
            <a:r>
              <a:rPr sz="2000" b="1">
                <a:solidFill>
                  <a:srgbClr val="222222"/>
                </a:solidFill>
                <a:latin typeface="Calibri"/>
              </a:rPr>
              <a:t>3. Explain why an online store should hash rather than encrypt its customers' passwords. (3)</a:t>
            </a:r>
          </a:p>
          <a:p>
            <a:r>
              <a:rPr sz="2000" b="1">
                <a:solidFill>
                  <a:srgbClr val="222222"/>
                </a:solidFill>
                <a:latin typeface="Calibri"/>
              </a:rPr>
              <a:t>4. State two properties of a good hash function. (2)</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Practice — answers (5-8)</a:t>
            </a:r>
          </a:p>
        </p:txBody>
      </p:sp>
      <p:sp>
        <p:nvSpPr>
          <p:cNvPr id="3" name="TextBox 2"/>
          <p:cNvSpPr txBox="1"/>
          <p:nvPr/>
        </p:nvSpPr>
        <p:spPr>
          <a:xfrm>
            <a:off x="640080" y="1280160"/>
            <a:ext cx="10881360" cy="5120640"/>
          </a:xfrm>
          <a:prstGeom prst="rect">
            <a:avLst/>
          </a:prstGeom>
          <a:noFill/>
        </p:spPr>
        <p:txBody>
          <a:bodyPr wrap="square">
            <a:spAutoFit/>
          </a:bodyPr>
          <a:lstStyle/>
          <a:p>
            <a:r>
              <a:rPr sz="2000" b="1">
                <a:solidFill>
                  <a:srgbClr val="222222"/>
                </a:solidFill>
                <a:latin typeface="Calibri"/>
              </a:rPr>
              <a:t>1. Compare symmetric and asymmetric encryption. (4)</a:t>
            </a:r>
          </a:p>
          <a:p>
            <a:pPr lvl="1"/>
            <a:r>
              <a:rPr sz="1800" i="1">
                <a:solidFill>
                  <a:srgbClr val="B76E00"/>
                </a:solidFill>
                <a:latin typeface="Calibri"/>
              </a:rPr>
              <a:t>Answer: Symmetric uses one shared key for encryption and decryption; asymmetric uses a public and private key pair (1). Symmetric is faster and suits bulk data (1) but the shared key must be exchanged securely, the key distribution problem (1); asymmetric solves distribution because the public key is shared openly, though it is slower (1).</a:t>
            </a:r>
          </a:p>
          <a:p>
            <a:r>
              <a:rPr sz="2000" b="1">
                <a:solidFill>
                  <a:srgbClr val="222222"/>
                </a:solidFill>
                <a:latin typeface="Calibri"/>
              </a:rPr>
              <a:t>2. Ben receives a message with a digital signature. Explain how he verifies who sent it and that it is unchanged. (3)</a:t>
            </a:r>
          </a:p>
          <a:p>
            <a:pPr lvl="1"/>
            <a:r>
              <a:rPr sz="1800" i="1">
                <a:solidFill>
                  <a:srgbClr val="B76E00"/>
                </a:solidFill>
                <a:latin typeface="Calibri"/>
              </a:rPr>
              <a:t>Answer: He decrypts the signature with the sender's public key to recover the original hash (1); he hashes the received message himself (1); matching hashes prove the sender's private key signed it and the content was not altered (1).</a:t>
            </a:r>
          </a:p>
          <a:p>
            <a:r>
              <a:rPr sz="2000" b="1">
                <a:solidFill>
                  <a:srgbClr val="222222"/>
                </a:solidFill>
                <a:latin typeface="Calibri"/>
              </a:rPr>
              <a:t>3. Explain why an online store should hash rather than encrypt its customers' passwords. (3)</a:t>
            </a:r>
          </a:p>
          <a:p>
            <a:pPr lvl="1"/>
            <a:r>
              <a:rPr sz="1800" i="1">
                <a:solidFill>
                  <a:srgbClr val="B76E00"/>
                </a:solidFill>
                <a:latin typeface="Calibri"/>
              </a:rPr>
              <a:t>Answer: Hashing is one-way, so the password cannot be recovered even if the database is stolen (1); encryption is reversible, so a stolen key would expose every password (1); logins still work by hashing the entered password and comparing hashes (1).</a:t>
            </a:r>
          </a:p>
          <a:p>
            <a:r>
              <a:rPr sz="2000" b="1">
                <a:solidFill>
                  <a:srgbClr val="222222"/>
                </a:solidFill>
                <a:latin typeface="Calibri"/>
              </a:rPr>
              <a:t>4. State two properties of a good hash function. (2)</a:t>
            </a:r>
          </a:p>
          <a:p>
            <a:pPr lvl="1"/>
            <a:r>
              <a:rPr sz="1800" i="1">
                <a:solidFill>
                  <a:srgbClr val="B76E00"/>
                </a:solidFill>
                <a:latin typeface="Calibri"/>
              </a:rPr>
              <a:t>Answer: Any two of: one-way, so the input cannot be recovered (1); deterministic, with the same input always giving the same hash (1); quick to compute, or a low chance of collisions (1).</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Common misconceptions</a:t>
            </a:r>
          </a:p>
        </p:txBody>
      </p:sp>
      <p:sp>
        <p:nvSpPr>
          <p:cNvPr id="3" name="TextBox 2"/>
          <p:cNvSpPr txBox="1"/>
          <p:nvPr/>
        </p:nvSpPr>
        <p:spPr>
          <a:xfrm>
            <a:off x="640080" y="1280160"/>
            <a:ext cx="10881360" cy="5120640"/>
          </a:xfrm>
          <a:prstGeom prst="rect">
            <a:avLst/>
          </a:prstGeom>
          <a:noFill/>
        </p:spPr>
        <p:txBody>
          <a:bodyPr wrap="square">
            <a:spAutoFit/>
          </a:bodyPr>
          <a:lstStyle/>
          <a:p>
            <a:pPr/>
            <a:r>
              <a:rPr sz="2000" b="0">
                <a:solidFill>
                  <a:srgbClr val="222222"/>
                </a:solidFill>
                <a:latin typeface="Calibri"/>
              </a:rPr>
              <a:t>✗ Students often think hashed data can be decrypted with the right key, but hashing is one-way and has no key at all.</a:t>
            </a:r>
          </a:p>
          <a:p>
            <a:pPr/>
            <a:r>
              <a:rPr sz="2000" b="0">
                <a:solidFill>
                  <a:srgbClr val="222222"/>
                </a:solidFill>
                <a:latin typeface="Calibri"/>
              </a:rPr>
              <a:t>✗ Students often think lossy just means lower quality, but the defining point is that removed data can never be recovered.</a:t>
            </a:r>
          </a:p>
          <a:p>
            <a:pPr/>
            <a:r>
              <a:rPr sz="2000" b="0">
                <a:solidFill>
                  <a:srgbClr val="222222"/>
                </a:solidFill>
                <a:latin typeface="Calibri"/>
              </a:rPr>
              <a:t>✗ Students often think RLE always shrinks files, but data without long runs can grow, even double.</a:t>
            </a:r>
          </a:p>
          <a:p>
            <a:pPr/>
            <a:r>
              <a:rPr sz="2000" b="0">
                <a:solidFill>
                  <a:srgbClr val="222222"/>
                </a:solidFill>
                <a:latin typeface="Calibri"/>
              </a:rPr>
              <a:t>✗ Students often think the private key is shared between both parties, but only the public key is distributed; the private key never leaves its owner.</a:t>
            </a:r>
          </a:p>
          <a:p>
            <a:pPr/>
            <a:r>
              <a:rPr sz="2000" b="0">
                <a:solidFill>
                  <a:srgbClr val="222222"/>
                </a:solidFill>
                <a:latin typeface="Calibri"/>
              </a:rPr>
              <a:t>✗ Students often think lossless means no compression happened, but it re-encodes redundancy while keeping the original exactly recoverable.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How the exam asks this</a:t>
            </a:r>
          </a:p>
        </p:txBody>
      </p:sp>
      <p:sp>
        <p:nvSpPr>
          <p:cNvPr id="3" name="TextBox 2"/>
          <p:cNvSpPr txBox="1"/>
          <p:nvPr/>
        </p:nvSpPr>
        <p:spPr>
          <a:xfrm>
            <a:off x="640080" y="1280160"/>
            <a:ext cx="10881360" cy="5120640"/>
          </a:xfrm>
          <a:prstGeom prst="rect">
            <a:avLst/>
          </a:prstGeom>
          <a:noFill/>
        </p:spPr>
        <p:txBody>
          <a:bodyPr wrap="square">
            <a:spAutoFit/>
          </a:bodyPr>
          <a:lstStyle/>
          <a:p>
            <a:pPr/>
            <a:r>
              <a:rPr sz="2000" b="0">
                <a:solidFill>
                  <a:srgbClr val="222222"/>
                </a:solidFill>
                <a:latin typeface="Calibri"/>
              </a:rPr>
              <a:t>Command words: state and describe for definitions and techniques, 2 to 3 marks; explain, compare and justify for scenarios, 3 to 4 marks.</a:t>
            </a:r>
          </a:p>
          <a:p>
            <a:pPr/>
            <a:r>
              <a:rPr sz="2000" b="0">
                <a:solidFill>
                  <a:srgbClr val="222222"/>
                </a:solidFill>
                <a:latin typeface="Calibri"/>
              </a:rPr>
              <a:t>Compression questions often supply raw data to encode with RLE, or a scenario asking you to choose and justify lossy or lossless.</a:t>
            </a:r>
          </a:p>
          <a:p>
            <a:pPr/>
            <a:r>
              <a:rPr sz="2000" b="0">
                <a:solidFill>
                  <a:srgbClr val="222222"/>
                </a:solidFill>
                <a:latin typeface="Calibri"/>
              </a:rPr>
              <a:t>Encryption questions reward precise key language: who holds which key, and which key performs each operation.</a:t>
            </a:r>
          </a:p>
          <a:p>
            <a:pPr/>
            <a:r>
              <a:rPr sz="2000" b="0">
                <a:solidFill>
                  <a:srgbClr val="222222"/>
                </a:solidFill>
                <a:latin typeface="Calibri"/>
              </a:rPr>
              <a:t>Example stem: A company sends confidential designs to a partner over the internet. Explain how asymmetric encryption keeps the designs secure. (4)</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Your turn</a:t>
            </a:r>
          </a:p>
        </p:txBody>
      </p:sp>
      <p:sp>
        <p:nvSpPr>
          <p:cNvPr id="3" name="TextBox 2"/>
          <p:cNvSpPr txBox="1"/>
          <p:nvPr/>
        </p:nvSpPr>
        <p:spPr>
          <a:xfrm>
            <a:off x="640080" y="1280160"/>
            <a:ext cx="10881360" cy="5120640"/>
          </a:xfrm>
          <a:prstGeom prst="rect">
            <a:avLst/>
          </a:prstGeom>
          <a:noFill/>
        </p:spPr>
        <p:txBody>
          <a:bodyPr wrap="square">
            <a:spAutoFit/>
          </a:bodyPr>
          <a:lstStyle/>
          <a:p>
            <a:pPr/>
            <a:r>
              <a:rPr sz="2400" b="1">
                <a:solidFill>
                  <a:srgbClr val="2B6CB0"/>
                </a:solidFill>
                <a:latin typeface="Calibri"/>
              </a:rPr>
              <a:t>Task</a:t>
            </a:r>
          </a:p>
          <a:p>
            <a:pPr lvl="1"/>
            <a:r>
              <a:rPr sz="2200" b="0">
                <a:solidFill>
                  <a:srgbClr val="222222"/>
                </a:solidFill>
                <a:latin typeface="Calibri"/>
              </a:rPr>
              <a:t>Produce a one-page comparison chart of RLE, dictionary coding, symmetric encryption, asymmetric encryption and hashing: what each does, whether it is reversible, one strength, one weakness and one real use.</a:t>
            </a:r>
          </a:p>
          <a:p>
            <a:r>
              <a:rPr sz="2400" b="1">
                <a:solidFill>
                  <a:srgbClr val="B76E00"/>
                </a:solidFill>
                <a:latin typeface="Calibri"/>
              </a:rPr>
              <a:t>Challenge / stretch</a:t>
            </a:r>
          </a:p>
          <a:p>
            <a:pPr lvl="1"/>
            <a:r>
              <a:rPr sz="2200" b="0">
                <a:solidFill>
                  <a:srgbClr val="222222"/>
                </a:solidFill>
                <a:latin typeface="Calibri"/>
              </a:rPr>
              <a:t>A hospital must transmit patient scan images quickly to consultants and store staff passwords safely. Recommend and justify a compression choice for the scans, discussing the danger of lossy artefacts in diagnosis, then design the full login storage scheme naming where hashing is used and why encryption alone would be worse.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Exit ticket</a:t>
            </a:r>
          </a:p>
        </p:txBody>
      </p:sp>
      <p:sp>
        <p:nvSpPr>
          <p:cNvPr id="3" name="TextBox 2"/>
          <p:cNvSpPr txBox="1"/>
          <p:nvPr/>
        </p:nvSpPr>
        <p:spPr>
          <a:xfrm>
            <a:off x="640080" y="1280160"/>
            <a:ext cx="10881360" cy="5120640"/>
          </a:xfrm>
          <a:prstGeom prst="rect">
            <a:avLst/>
          </a:prstGeom>
          <a:noFill/>
        </p:spPr>
        <p:txBody>
          <a:bodyPr wrap="square">
            <a:spAutoFit/>
          </a:bodyPr>
          <a:lstStyle/>
          <a:p>
            <a:r>
              <a:rPr sz="2200" b="1">
                <a:solidFill>
                  <a:srgbClr val="222222"/>
                </a:solidFill>
                <a:latin typeface="Calibri"/>
              </a:rPr>
              <a:t>1. Encode BBBBBBWWB with run length encoding.</a:t>
            </a:r>
          </a:p>
          <a:p>
            <a:r>
              <a:rPr sz="2200" b="1">
                <a:solidFill>
                  <a:srgbClr val="222222"/>
                </a:solidFill>
                <a:latin typeface="Calibri"/>
              </a:rPr>
              <a:t>2. Which key does Alia use so only Ben can read her message, and which key opens it?</a:t>
            </a:r>
          </a:p>
          <a:p>
            <a:r>
              <a:rPr sz="2200" b="1">
                <a:solidFill>
                  <a:srgbClr val="222222"/>
                </a:solidFill>
                <a:latin typeface="Calibri"/>
              </a:rPr>
              <a:t>3. Give two reasons hashing suits password storage.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Exit ticket — answers</a:t>
            </a:r>
          </a:p>
        </p:txBody>
      </p:sp>
      <p:sp>
        <p:nvSpPr>
          <p:cNvPr id="3" name="TextBox 2"/>
          <p:cNvSpPr txBox="1"/>
          <p:nvPr/>
        </p:nvSpPr>
        <p:spPr>
          <a:xfrm>
            <a:off x="640080" y="1280160"/>
            <a:ext cx="10881360" cy="5120640"/>
          </a:xfrm>
          <a:prstGeom prst="rect">
            <a:avLst/>
          </a:prstGeom>
          <a:noFill/>
        </p:spPr>
        <p:txBody>
          <a:bodyPr wrap="square">
            <a:spAutoFit/>
          </a:bodyPr>
          <a:lstStyle/>
          <a:p>
            <a:r>
              <a:rPr sz="2200" b="1">
                <a:solidFill>
                  <a:srgbClr val="222222"/>
                </a:solidFill>
                <a:latin typeface="Calibri"/>
              </a:rPr>
              <a:t>1. Encode BBBBBBWWB with run length encoding.</a:t>
            </a:r>
          </a:p>
          <a:p>
            <a:pPr lvl="1"/>
            <a:r>
              <a:rPr sz="1800" i="1">
                <a:solidFill>
                  <a:srgbClr val="B76E00"/>
                </a:solidFill>
                <a:latin typeface="Calibri"/>
              </a:rPr>
              <a:t>Answer: 6B 2W 1B: runs of 6, 2 and 1 covering all 9 characters.</a:t>
            </a:r>
          </a:p>
          <a:p>
            <a:r>
              <a:rPr sz="2200" b="1">
                <a:solidFill>
                  <a:srgbClr val="222222"/>
                </a:solidFill>
                <a:latin typeface="Calibri"/>
              </a:rPr>
              <a:t>2. Which key does Alia use so only Ben can read her message, and which key opens it?</a:t>
            </a:r>
          </a:p>
          <a:p>
            <a:pPr lvl="1"/>
            <a:r>
              <a:rPr sz="1800" i="1">
                <a:solidFill>
                  <a:srgbClr val="B76E00"/>
                </a:solidFill>
                <a:latin typeface="Calibri"/>
              </a:rPr>
              <a:t>Answer: She encrypts with Ben's public key; only Ben's private key can decrypt it.</a:t>
            </a:r>
          </a:p>
          <a:p>
            <a:r>
              <a:rPr sz="2200" b="1">
                <a:solidFill>
                  <a:srgbClr val="222222"/>
                </a:solidFill>
                <a:latin typeface="Calibri"/>
              </a:rPr>
              <a:t>3. Give two reasons hashing suits password storage.</a:t>
            </a:r>
          </a:p>
          <a:p>
            <a:pPr lvl="1"/>
            <a:r>
              <a:rPr sz="1800" i="1">
                <a:solidFill>
                  <a:srgbClr val="B76E00"/>
                </a:solidFill>
                <a:latin typeface="Calibri"/>
              </a:rPr>
              <a:t>Answer: It is one-way, so stored hashes cannot be turned back into passwords; login comparison still works by hashing the attempt and comparing digests.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