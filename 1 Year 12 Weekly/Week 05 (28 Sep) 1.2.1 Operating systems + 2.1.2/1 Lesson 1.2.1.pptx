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365D"/>
        </a:solidFill>
        <a:effectLst/>
      </p:bgPr>
    </p:bg>
    <p:spTree>
      <p:nvGrpSpPr>
        <p:cNvPr id="1" name=""/>
        <p:cNvGrpSpPr/>
        <p:nvPr/>
      </p:nvGrpSpPr>
      <p:grpSpPr/>
      <p:sp>
        <p:nvSpPr>
          <p:cNvPr id="2" name="TextBox 1"/>
          <p:cNvSpPr txBox="1"/>
          <p:nvPr/>
        </p:nvSpPr>
        <p:spPr>
          <a:xfrm>
            <a:off x="731520" y="2194560"/>
            <a:ext cx="10698480" cy="1828800"/>
          </a:xfrm>
          <a:prstGeom prst="rect">
            <a:avLst/>
          </a:prstGeom>
          <a:noFill/>
        </p:spPr>
        <p:txBody>
          <a:bodyPr wrap="square">
            <a:spAutoFit/>
          </a:bodyPr>
          <a:lstStyle/>
          <a:p>
            <a:r>
              <a:rPr sz="4000" b="1" i="0">
                <a:solidFill>
                  <a:srgbClr val="FFFFFF"/>
                </a:solidFill>
                <a:latin typeface="Calibri"/>
              </a:rPr>
              <a:t>1.2.1 Operating Systems (part 1)</a:t>
            </a:r>
          </a:p>
          <a:p>
            <a:r>
              <a:rPr sz="2000" b="0" i="0">
                <a:solidFill>
                  <a:srgbClr val="BED3EC"/>
                </a:solidFill>
                <a:latin typeface="Calibri"/>
              </a:rPr>
              <a:t>OCR H446 — Component 01</a:t>
            </a:r>
          </a:p>
        </p:txBody>
      </p:sp>
      <p:sp>
        <p:nvSpPr>
          <p:cNvPr id="3" name="TextBox 2"/>
          <p:cNvSpPr txBox="1"/>
          <p:nvPr/>
        </p:nvSpPr>
        <p:spPr>
          <a:xfrm>
            <a:off x="731520" y="6035040"/>
            <a:ext cx="10698480" cy="548640"/>
          </a:xfrm>
          <a:prstGeom prst="rect">
            <a:avLst/>
          </a:prstGeom>
          <a:noFill/>
        </p:spPr>
        <p:txBody>
          <a:bodyPr wrap="square">
            <a:spAutoFit/>
          </a:bodyPr>
          <a:lstStyle/>
          <a:p>
            <a:r>
              <a:rPr sz="1400" b="0" i="1">
                <a:solidFill>
                  <a:srgbClr val="9AB4D6"/>
                </a:solidFill>
                <a:latin typeface="Calibri"/>
              </a:rPr>
              <a:t>Week 05 (28 Sep)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Learning objectives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By the end of this lesson you can:</a:t>
            </a:r>
          </a:p>
          <a:p>
            <a:pPr lvl="1"/>
            <a:r>
              <a:rPr sz="2200" b="0">
                <a:solidFill>
                  <a:srgbClr val="222222"/>
                </a:solidFill>
                <a:latin typeface="Calibri"/>
              </a:rPr>
              <a:t>I can describe the purpose of an operating system and the resources it manages.</a:t>
            </a:r>
          </a:p>
          <a:p>
            <a:pPr lvl="1"/>
            <a:r>
              <a:rPr sz="2200" b="0">
                <a:solidFill>
                  <a:srgbClr val="222222"/>
                </a:solidFill>
                <a:latin typeface="Calibri"/>
              </a:rPr>
              <a:t>I can explain memory management using paging, segmentation and virtual memory, including their drawbacks.</a:t>
            </a:r>
          </a:p>
          <a:p>
            <a:pPr lvl="1"/>
            <a:r>
              <a:rPr sz="2200" b="0">
                <a:solidFill>
                  <a:srgbClr val="222222"/>
                </a:solidFill>
                <a:latin typeface="Calibri"/>
              </a:rPr>
              <a:t>I can describe the full sequence the OS follows when servicing an interrupt, including the role of the stack.</a:t>
            </a:r>
          </a:p>
          <a:p>
            <a:pPr lvl="1"/>
            <a:r>
              <a:rPr sz="2200" b="0">
                <a:solidFill>
                  <a:srgbClr val="222222"/>
                </a:solidFill>
                <a:latin typeface="Calibri"/>
              </a:rPr>
              <a:t>I can compare round robin, FIFO, shortest job first, shortest remaining time and multilevel feedback queue scheduling.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Do Now — retrieval starter</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From 1.1.1: which register holds the address of the next instruction to be fetched?</a:t>
            </a:r>
          </a:p>
          <a:p>
            <a:r>
              <a:rPr sz="2200" b="1">
                <a:solidFill>
                  <a:srgbClr val="222222"/>
                </a:solidFill>
                <a:latin typeface="Calibri"/>
              </a:rPr>
              <a:t>2. From 1.1.1: state the three stages of the fetch-decode-execute cycle in order.</a:t>
            </a:r>
          </a:p>
          <a:p>
            <a:r>
              <a:rPr sz="2200" b="1">
                <a:solidFill>
                  <a:srgbClr val="222222"/>
                </a:solidFill>
                <a:latin typeface="Calibri"/>
              </a:rPr>
              <a:t>3. From 1.1.3: give two differences between RAM and ROM.</a:t>
            </a:r>
          </a:p>
          <a:p>
            <a:r>
              <a:rPr sz="2200" b="1">
                <a:solidFill>
                  <a:srgbClr val="222222"/>
                </a:solidFill>
                <a:latin typeface="Calibri"/>
              </a:rPr>
              <a:t>4. From 1.1.3: why is an SSD more durable and portable than a magnetic hard disk?</a:t>
            </a:r>
          </a:p>
          <a:p>
            <a:r>
              <a:rPr sz="2200" b="1">
                <a:solidFill>
                  <a:srgbClr val="222222"/>
                </a:solidFill>
                <a:latin typeface="Calibri"/>
              </a:rPr>
              <a:t>5. From 2.1.1: define abstraction and give one everyday example.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Do Now — answers</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From 1.1.1: which register holds the address of the next instruction to be fetched?</a:t>
            </a:r>
          </a:p>
          <a:p>
            <a:pPr lvl="1"/>
            <a:r>
              <a:rPr sz="1800" i="1">
                <a:solidFill>
                  <a:srgbClr val="B76E00"/>
                </a:solidFill>
                <a:latin typeface="Calibri"/>
              </a:rPr>
              <a:t>Answer: The Program Counter (PC).</a:t>
            </a:r>
          </a:p>
          <a:p>
            <a:r>
              <a:rPr sz="2200" b="1">
                <a:solidFill>
                  <a:srgbClr val="222222"/>
                </a:solidFill>
                <a:latin typeface="Calibri"/>
              </a:rPr>
              <a:t>2. From 1.1.1: state the three stages of the fetch-decode-execute cycle in order.</a:t>
            </a:r>
          </a:p>
          <a:p>
            <a:pPr lvl="1"/>
            <a:r>
              <a:rPr sz="1800" i="1">
                <a:solidFill>
                  <a:srgbClr val="B76E00"/>
                </a:solidFill>
                <a:latin typeface="Calibri"/>
              </a:rPr>
              <a:t>Answer: Fetch the instruction from memory, decode it in the control unit, then execute it.</a:t>
            </a:r>
          </a:p>
          <a:p>
            <a:r>
              <a:rPr sz="2200" b="1">
                <a:solidFill>
                  <a:srgbClr val="222222"/>
                </a:solidFill>
                <a:latin typeface="Calibri"/>
              </a:rPr>
              <a:t>3. From 1.1.3: give two differences between RAM and ROM.</a:t>
            </a:r>
          </a:p>
          <a:p>
            <a:pPr lvl="1"/>
            <a:r>
              <a:rPr sz="1800" i="1">
                <a:solidFill>
                  <a:srgbClr val="B76E00"/>
                </a:solidFill>
                <a:latin typeface="Calibri"/>
              </a:rPr>
              <a:t>Answer: RAM is volatile and read-write, holding running programs; ROM is non-volatile and read-only, holding firmware.</a:t>
            </a:r>
          </a:p>
          <a:p>
            <a:r>
              <a:rPr sz="2200" b="1">
                <a:solidFill>
                  <a:srgbClr val="222222"/>
                </a:solidFill>
                <a:latin typeface="Calibri"/>
              </a:rPr>
              <a:t>4. From 1.1.3: why is an SSD more durable and portable than a magnetic hard disk?</a:t>
            </a:r>
          </a:p>
          <a:p>
            <a:pPr lvl="1"/>
            <a:r>
              <a:rPr sz="1800" i="1">
                <a:solidFill>
                  <a:srgbClr val="B76E00"/>
                </a:solidFill>
                <a:latin typeface="Calibri"/>
              </a:rPr>
              <a:t>Answer: It has no moving parts, so it is shock-resistant, as well as faster, silent and lower power.</a:t>
            </a:r>
          </a:p>
          <a:p>
            <a:r>
              <a:rPr sz="2200" b="1">
                <a:solidFill>
                  <a:srgbClr val="222222"/>
                </a:solidFill>
                <a:latin typeface="Calibri"/>
              </a:rPr>
              <a:t>5. From 2.1.1: define abstraction and give one everyday example.</a:t>
            </a:r>
          </a:p>
          <a:p>
            <a:pPr lvl="1"/>
            <a:r>
              <a:rPr sz="1800" i="1">
                <a:solidFill>
                  <a:srgbClr val="B76E00"/>
                </a:solidFill>
                <a:latin typeface="Calibri"/>
              </a:rPr>
              <a:t>Answer: Removing or hiding unnecessary detail so only problem-relevant information remains, e.g. the London Underground map.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Key terminology</a:t>
            </a:r>
          </a:p>
        </p:txBody>
      </p:sp>
      <p:sp>
        <p:nvSpPr>
          <p:cNvPr id="3" name="TextBox 2"/>
          <p:cNvSpPr txBox="1"/>
          <p:nvPr/>
        </p:nvSpPr>
        <p:spPr>
          <a:xfrm>
            <a:off x="640080" y="1280160"/>
            <a:ext cx="10881360" cy="5120640"/>
          </a:xfrm>
          <a:prstGeom prst="rect">
            <a:avLst/>
          </a:prstGeom>
          <a:noFill/>
        </p:spPr>
        <p:txBody>
          <a:bodyPr wrap="square">
            <a:spAutoFit/>
          </a:bodyPr>
          <a:lstStyle/>
          <a:p/>
          <a:p>
            <a:r>
              <a:rPr b="1" sz="2000">
                <a:solidFill>
                  <a:srgbClr val="1A365D"/>
                </a:solidFill>
                <a:latin typeface="Calibri"/>
              </a:rPr>
              <a:t>Operating system</a:t>
            </a:r>
            <a:r>
              <a:rPr sz="1800">
                <a:solidFill>
                  <a:srgbClr val="222222"/>
                </a:solidFill>
                <a:latin typeface="Calibri"/>
              </a:rPr>
              <a:t> — Software that manages hardware resources and provides a platform for applications, hiding complexity through abstraction.</a:t>
            </a:r>
          </a:p>
          <a:p>
            <a:r>
              <a:rPr b="1" sz="2000">
                <a:solidFill>
                  <a:srgbClr val="1A365D"/>
                </a:solidFill>
                <a:latin typeface="Calibri"/>
              </a:rPr>
              <a:t>Paging</a:t>
            </a:r>
            <a:r>
              <a:rPr sz="1800">
                <a:solidFill>
                  <a:srgbClr val="222222"/>
                </a:solidFill>
                <a:latin typeface="Calibri"/>
              </a:rPr>
              <a:t> — Splitting memory into fixed-size physical blocks called pages, mapped to frames using a page table.</a:t>
            </a:r>
          </a:p>
          <a:p>
            <a:r>
              <a:rPr b="1" sz="2000">
                <a:solidFill>
                  <a:srgbClr val="1A365D"/>
                </a:solidFill>
                <a:latin typeface="Calibri"/>
              </a:rPr>
              <a:t>Segmentation</a:t>
            </a:r>
            <a:r>
              <a:rPr sz="1800">
                <a:solidFill>
                  <a:srgbClr val="222222"/>
                </a:solidFill>
                <a:latin typeface="Calibri"/>
              </a:rPr>
              <a:t> — Splitting memory into variable-size logical blocks that match the program's structure, such as subroutines.</a:t>
            </a:r>
          </a:p>
          <a:p>
            <a:r>
              <a:rPr b="1" sz="2000">
                <a:solidFill>
                  <a:srgbClr val="1A365D"/>
                </a:solidFill>
                <a:latin typeface="Calibri"/>
              </a:rPr>
              <a:t>Virtual memory</a:t>
            </a:r>
            <a:r>
              <a:rPr sz="1800">
                <a:solidFill>
                  <a:srgbClr val="222222"/>
                </a:solidFill>
                <a:latin typeface="Calibri"/>
              </a:rPr>
              <a:t> — Using an area of secondary storage as if it were RAM when physical RAM is full.</a:t>
            </a:r>
          </a:p>
          <a:p>
            <a:r>
              <a:rPr b="1" sz="2000">
                <a:solidFill>
                  <a:srgbClr val="1A365D"/>
                </a:solidFill>
                <a:latin typeface="Calibri"/>
              </a:rPr>
              <a:t>Disk thrashing</a:t>
            </a:r>
            <a:r>
              <a:rPr sz="1800">
                <a:solidFill>
                  <a:srgbClr val="222222"/>
                </a:solidFill>
                <a:latin typeface="Calibri"/>
              </a:rPr>
              <a:t> — Excessive swapping of pages between RAM and disk, leaving little time for useful processing.</a:t>
            </a:r>
          </a:p>
          <a:p>
            <a:r>
              <a:rPr b="1" sz="2000">
                <a:solidFill>
                  <a:srgbClr val="1A365D"/>
                </a:solidFill>
                <a:latin typeface="Calibri"/>
              </a:rPr>
              <a:t>Interrupt</a:t>
            </a:r>
            <a:r>
              <a:rPr sz="1800">
                <a:solidFill>
                  <a:srgbClr val="222222"/>
                </a:solidFill>
                <a:latin typeface="Calibri"/>
              </a:rPr>
              <a:t> — A signal from hardware or software telling the processor it needs attention.</a:t>
            </a:r>
          </a:p>
          <a:p>
            <a:r>
              <a:rPr b="1" sz="2000">
                <a:solidFill>
                  <a:srgbClr val="1A365D"/>
                </a:solidFill>
                <a:latin typeface="Calibri"/>
              </a:rPr>
              <a:t>Interrupt service routine (ISR)</a:t>
            </a:r>
            <a:r>
              <a:rPr sz="1800">
                <a:solidFill>
                  <a:srgbClr val="222222"/>
                </a:solidFill>
                <a:latin typeface="Calibri"/>
              </a:rPr>
              <a:t> — The operating system code that runs to deal with a particular interrupt.</a:t>
            </a:r>
          </a:p>
          <a:p>
            <a:r>
              <a:rPr b="1" sz="2000">
                <a:solidFill>
                  <a:srgbClr val="1A365D"/>
                </a:solidFill>
                <a:latin typeface="Calibri"/>
              </a:rPr>
              <a:t>Scheduling</a:t>
            </a:r>
            <a:r>
              <a:rPr sz="1800">
                <a:solidFill>
                  <a:srgbClr val="222222"/>
                </a:solidFill>
                <a:latin typeface="Calibri"/>
              </a:rPr>
              <a:t> — The OS deciding which process uses the CPU next, to maximise throughput and fairness.</a:t>
            </a:r>
          </a:p>
          <a:p>
            <a:r>
              <a:rPr b="1" sz="2000">
                <a:solidFill>
                  <a:srgbClr val="1A365D"/>
                </a:solidFill>
                <a:latin typeface="Calibri"/>
              </a:rPr>
              <a:t>Pre-emptive</a:t>
            </a:r>
            <a:r>
              <a:rPr sz="1800">
                <a:solidFill>
                  <a:srgbClr val="222222"/>
                </a:solidFill>
                <a:latin typeface="Calibri"/>
              </a:rPr>
              <a:t> — A scheduling approach where the OS can suspend a running process before it finishes.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The purpose of an operating system</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Provides a platform on which applications can run.</a:t>
            </a:r>
          </a:p>
          <a:p>
            <a:pPr/>
            <a:r>
              <a:rPr sz="2000" b="0">
                <a:solidFill>
                  <a:srgbClr val="222222"/>
                </a:solidFill>
                <a:latin typeface="Calibri"/>
              </a:rPr>
              <a:t>Manages hardware resources: processor time, memory, input/output devices and storage.</a:t>
            </a:r>
          </a:p>
          <a:p>
            <a:pPr/>
            <a:r>
              <a:rPr sz="2000" b="0">
                <a:solidFill>
                  <a:srgbClr val="222222"/>
                </a:solidFill>
                <a:latin typeface="Calibri"/>
              </a:rPr>
              <a:t>Hides hardware complexity from users and programs through abstraction.</a:t>
            </a:r>
          </a:p>
          <a:p>
            <a:pPr/>
            <a:r>
              <a:rPr sz="2000" b="0">
                <a:solidFill>
                  <a:srgbClr val="222222"/>
                </a:solidFill>
                <a:latin typeface="Calibri"/>
              </a:rPr>
              <a:t>Also provides the user interface, security and file management.</a:t>
            </a:r>
          </a:p>
          <a:p>
            <a:pPr/>
            <a:r>
              <a:rPr sz="1800" b="1">
                <a:solidFill>
                  <a:srgbClr val="B76E00"/>
                </a:solidFill>
                <a:latin typeface="Calibri"/>
              </a:rPr>
              <a:t>One-mark definition: software that manages the hardware and provides a platform for applications.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Why memory must be managed</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Many programs share RAM at the same time.</a:t>
            </a:r>
          </a:p>
          <a:p>
            <a:pPr/>
            <a:r>
              <a:rPr sz="2000" b="0">
                <a:solidFill>
                  <a:srgbClr val="222222"/>
                </a:solidFill>
                <a:latin typeface="Calibri"/>
              </a:rPr>
              <a:t>The OS decides where each program and its data are placed.</a:t>
            </a:r>
          </a:p>
          <a:p>
            <a:pPr/>
            <a:r>
              <a:rPr sz="2000" b="0">
                <a:solidFill>
                  <a:srgbClr val="222222"/>
                </a:solidFill>
                <a:latin typeface="Calibri"/>
              </a:rPr>
              <a:t>It must protect each program's memory from being overwritten by others.</a:t>
            </a:r>
          </a:p>
          <a:p>
            <a:pPr/>
            <a:r>
              <a:rPr sz="2000" b="0">
                <a:solidFill>
                  <a:srgbClr val="222222"/>
                </a:solidFill>
                <a:latin typeface="Calibri"/>
              </a:rPr>
              <a:t>It converts logical addresses used by programs into physical locations.</a:t>
            </a:r>
          </a:p>
          <a:p>
            <a:pPr/>
            <a:r>
              <a:rPr sz="2000" b="0">
                <a:solidFill>
                  <a:srgbClr val="222222"/>
                </a:solidFill>
                <a:latin typeface="Calibri"/>
              </a:rPr>
              <a:t>When RAM runs low, it must swap data out to secondary storage.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Paging</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Memory is divided into equal, fixed-size blocks called pages.</a:t>
            </a:r>
          </a:p>
          <a:p>
            <a:pPr/>
            <a:r>
              <a:rPr sz="2000" b="0">
                <a:solidFill>
                  <a:srgbClr val="222222"/>
                </a:solidFill>
                <a:latin typeface="Calibri"/>
              </a:rPr>
              <a:t>Pages map onto physical frames in RAM through a page table.</a:t>
            </a:r>
          </a:p>
          <a:p>
            <a:pPr/>
            <a:r>
              <a:rPr sz="2000" b="0">
                <a:solidFill>
                  <a:srgbClr val="222222"/>
                </a:solidFill>
                <a:latin typeface="Calibri"/>
              </a:rPr>
              <a:t>Pages are a physical division, ignoring the program's structure.</a:t>
            </a:r>
          </a:p>
          <a:p>
            <a:pPr/>
            <a:r>
              <a:rPr sz="2000" b="0">
                <a:solidFill>
                  <a:srgbClr val="222222"/>
                </a:solidFill>
                <a:latin typeface="Calibri"/>
              </a:rPr>
              <a:t>A page rarely fills exactly, wasting space inside pages (internal fragmentation).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Segmentation</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Memory is divided into variable-size logical blocks called segments.</a:t>
            </a:r>
          </a:p>
          <a:p>
            <a:pPr/>
            <a:r>
              <a:rPr sz="2000" b="0">
                <a:solidFill>
                  <a:srgbClr val="222222"/>
                </a:solidFill>
                <a:latin typeface="Calibri"/>
              </a:rPr>
              <a:t>Segments follow the program's structure: subroutines, functions, data blocks.</a:t>
            </a:r>
          </a:p>
          <a:p>
            <a:pPr/>
            <a:r>
              <a:rPr sz="2000" b="0">
                <a:solidFill>
                  <a:srgbClr val="222222"/>
                </a:solidFill>
                <a:latin typeface="Calibri"/>
              </a:rPr>
              <a:t>Gaps of unusable free space appear between segments (external fragmentation).</a:t>
            </a:r>
          </a:p>
          <a:p>
            <a:pPr/>
            <a:r>
              <a:rPr sz="2000" b="0">
                <a:solidFill>
                  <a:srgbClr val="222222"/>
                </a:solidFill>
                <a:latin typeface="Calibri"/>
              </a:rPr>
              <a:t>Discriminator for marks: fixed-size physical (paging) versus variable-size logical (segmentation).</a:t>
            </a:r>
          </a:p>
          <a:p>
            <a:pPr/>
            <a:r>
              <a:rPr sz="1800" b="1">
                <a:solidFill>
                  <a:srgbClr val="B76E00"/>
                </a:solidFill>
                <a:latin typeface="Calibri"/>
              </a:rPr>
              <a:t>Both allow programs to be split up and held non-contiguously in memory.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Virtual memory</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Uses part of secondary storage (a page file) as if it were RAM.</a:t>
            </a:r>
          </a:p>
          <a:p>
            <a:pPr/>
            <a:r>
              <a:rPr sz="2000" b="0">
                <a:solidFill>
                  <a:srgbClr val="222222"/>
                </a:solidFill>
                <a:latin typeface="Calibri"/>
              </a:rPr>
              <a:t>Least recently used pages are swapped out until needed again.</a:t>
            </a:r>
          </a:p>
          <a:p>
            <a:pPr/>
            <a:r>
              <a:rPr sz="2000" b="0">
                <a:solidFill>
                  <a:srgbClr val="222222"/>
                </a:solidFill>
                <a:latin typeface="Calibri"/>
              </a:rPr>
              <a:t>Lets a computer run more, or larger, programs than physical RAM allows.</a:t>
            </a:r>
          </a:p>
          <a:p>
            <a:pPr/>
            <a:r>
              <a:rPr sz="2000" b="0">
                <a:solidFill>
                  <a:srgbClr val="222222"/>
                </a:solidFill>
                <a:latin typeface="Calibri"/>
              </a:rPr>
              <a:t>A page fault occurs when a needed page is on disk, forcing a swap.</a:t>
            </a:r>
          </a:p>
          <a:p>
            <a:pPr/>
            <a:r>
              <a:rPr sz="2000" b="0">
                <a:solidFill>
                  <a:srgbClr val="222222"/>
                </a:solidFill>
                <a:latin typeface="Calibri"/>
              </a:rPr>
              <a:t>Disk access is far slower than RAM, so performance suffers.</a:t>
            </a:r>
          </a:p>
          <a:p>
            <a:pPr/>
            <a:r>
              <a:rPr sz="1800" b="1">
                <a:solidFill>
                  <a:srgbClr val="B76E00"/>
                </a:solidFill>
                <a:latin typeface="Calibri"/>
              </a:rPr>
              <a:t>Virtual memory never increases the amount of RAM; excessive swapping causes disk thrashing.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Interrupts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A signal that a device or process needs the processor's attention.</a:t>
            </a:r>
          </a:p>
          <a:p>
            <a:pPr/>
            <a:r>
              <a:rPr sz="2000" b="0">
                <a:solidFill>
                  <a:srgbClr val="222222"/>
                </a:solidFill>
                <a:latin typeface="Calibri"/>
              </a:rPr>
              <a:t>Hardware examples: printer out of paper, key pressed, timer tick.</a:t>
            </a:r>
          </a:p>
          <a:p>
            <a:pPr/>
            <a:r>
              <a:rPr sz="2000" b="0">
                <a:solidFill>
                  <a:srgbClr val="222222"/>
                </a:solidFill>
                <a:latin typeface="Calibri"/>
              </a:rPr>
              <a:t>Software examples: division by zero, a program requesting an OS service.</a:t>
            </a:r>
          </a:p>
          <a:p>
            <a:pPr/>
            <a:r>
              <a:rPr sz="2000" b="0">
                <a:solidFill>
                  <a:srgbClr val="222222"/>
                </a:solidFill>
                <a:latin typeface="Calibri"/>
              </a:rPr>
              <a:t>Each interrupt has a priority, held in an interrupt register or queue.</a:t>
            </a:r>
          </a:p>
          <a:p>
            <a:pPr/>
            <a:r>
              <a:rPr sz="2000" b="0">
                <a:solidFill>
                  <a:srgbClr val="222222"/>
                </a:solidFill>
                <a:latin typeface="Calibri"/>
              </a:rPr>
              <a:t>Interrupts avoid polling, so the CPU never wastes time repeatedly checking devices.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The ISR sequence</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At the end of each fetch-decode-execute cycle the CPU checks the interrupt register.</a:t>
            </a:r>
          </a:p>
          <a:p>
            <a:pPr/>
            <a:r>
              <a:rPr sz="2000" b="0">
                <a:solidFill>
                  <a:srgbClr val="222222"/>
                </a:solidFill>
                <a:latin typeface="Calibri"/>
              </a:rPr>
              <a:t>If the interrupt outranks the current task, the current instruction is completed first.</a:t>
            </a:r>
          </a:p>
          <a:p>
            <a:pPr/>
            <a:r>
              <a:rPr sz="2000" b="0">
                <a:solidFill>
                  <a:srgbClr val="222222"/>
                </a:solidFill>
                <a:latin typeface="Calibri"/>
              </a:rPr>
              <a:t>Register contents such as the PC and ACC are pushed onto the stack.</a:t>
            </a:r>
          </a:p>
          <a:p>
            <a:pPr/>
            <a:r>
              <a:rPr sz="2000" b="0">
                <a:solidFill>
                  <a:srgbClr val="222222"/>
                </a:solidFill>
                <a:latin typeface="Calibri"/>
              </a:rPr>
              <a:t>The address of the matching interrupt service routine is loaded and the ISR runs.</a:t>
            </a:r>
          </a:p>
          <a:p>
            <a:pPr/>
            <a:r>
              <a:rPr sz="2000" b="0">
                <a:solidFill>
                  <a:srgbClr val="222222"/>
                </a:solidFill>
                <a:latin typeface="Calibri"/>
              </a:rPr>
              <a:t>Afterwards the saved values are popped off the stack and the process resumes.</a:t>
            </a:r>
          </a:p>
          <a:p>
            <a:pPr/>
            <a:r>
              <a:rPr sz="1800" b="1">
                <a:solidFill>
                  <a:srgbClr val="B76E00"/>
                </a:solidFill>
                <a:latin typeface="Calibri"/>
              </a:rPr>
              <a:t>The stack is LIFO, so nested interrupts always resume in the correct order.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Why the OS schedules processes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A single core can only execute one process at a time.</a:t>
            </a:r>
          </a:p>
          <a:p>
            <a:pPr/>
            <a:r>
              <a:rPr sz="2000" b="0">
                <a:solidFill>
                  <a:srgbClr val="222222"/>
                </a:solidFill>
                <a:latin typeface="Calibri"/>
              </a:rPr>
              <a:t>Rapid switching between processes creates the illusion of simultaneous execution.</a:t>
            </a:r>
          </a:p>
          <a:p>
            <a:pPr/>
            <a:r>
              <a:rPr sz="2000" b="0">
                <a:solidFill>
                  <a:srgbClr val="222222"/>
                </a:solidFill>
                <a:latin typeface="Calibri"/>
              </a:rPr>
              <a:t>Goals: maximum CPU use and throughput, fairness, acceptable response times.</a:t>
            </a:r>
          </a:p>
          <a:p>
            <a:pPr/>
            <a:r>
              <a:rPr sz="2000" b="0">
                <a:solidFill>
                  <a:srgbClr val="222222"/>
                </a:solidFill>
                <a:latin typeface="Calibri"/>
              </a:rPr>
              <a:t>Pre-emptive algorithms can suspend a running process; non-pre-emptive ones cannot.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Round robin and first come first served</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Round robin: each process gets a fixed time slice (quantum) in turn.</a:t>
            </a:r>
          </a:p>
          <a:p>
            <a:pPr/>
            <a:r>
              <a:rPr sz="2000" b="0">
                <a:solidFill>
                  <a:srgbClr val="222222"/>
                </a:solidFill>
                <a:latin typeface="Calibri"/>
              </a:rPr>
              <a:t>Round robin is pre-emptive and fair, so no process starves.</a:t>
            </a:r>
          </a:p>
          <a:p>
            <a:pPr/>
            <a:r>
              <a:rPr sz="2000" b="0">
                <a:solidFill>
                  <a:srgbClr val="222222"/>
                </a:solidFill>
                <a:latin typeface="Calibri"/>
              </a:rPr>
              <a:t>Long jobs need many cycles, and frequent switching adds overhead.</a:t>
            </a:r>
          </a:p>
          <a:p>
            <a:pPr/>
            <a:r>
              <a:rPr sz="2000" b="0">
                <a:solidFill>
                  <a:srgbClr val="222222"/>
                </a:solidFill>
                <a:latin typeface="Calibri"/>
              </a:rPr>
              <a:t>FIFO / first come first served runs jobs to completion in arrival order.</a:t>
            </a:r>
          </a:p>
          <a:p>
            <a:pPr/>
            <a:r>
              <a:rPr sz="2000" b="0">
                <a:solidFill>
                  <a:srgbClr val="222222"/>
                </a:solidFill>
                <a:latin typeface="Calibri"/>
              </a:rPr>
              <a:t>FIFO is simple but non-pre-emptive: one long job delays everything behind 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SJF, SRT and multilevel feedback queues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Shortest job first picks the process with the shortest total burst time next.</a:t>
            </a:r>
          </a:p>
          <a:p>
            <a:pPr/>
            <a:r>
              <a:rPr sz="2000" b="0">
                <a:solidFill>
                  <a:srgbClr val="222222"/>
                </a:solidFill>
                <a:latin typeface="Calibri"/>
              </a:rPr>
              <a:t>Shortest remaining time is its pre-emptive version: a shorter arrival interrupts the current job.</a:t>
            </a:r>
          </a:p>
          <a:p>
            <a:pPr/>
            <a:r>
              <a:rPr sz="2000" b="0">
                <a:solidFill>
                  <a:srgbClr val="222222"/>
                </a:solidFill>
                <a:latin typeface="Calibri"/>
              </a:rPr>
              <a:t>Both minimise average waiting time but can starve long jobs.</a:t>
            </a:r>
          </a:p>
          <a:p>
            <a:pPr/>
            <a:r>
              <a:rPr sz="2000" b="0">
                <a:solidFill>
                  <a:srgbClr val="222222"/>
                </a:solidFill>
                <a:latin typeface="Calibri"/>
              </a:rPr>
              <a:t>Both need burst times estimated in advance, which is difficult.</a:t>
            </a:r>
          </a:p>
          <a:p>
            <a:pPr/>
            <a:r>
              <a:rPr sz="2000" b="0">
                <a:solidFill>
                  <a:srgbClr val="222222"/>
                </a:solidFill>
                <a:latin typeface="Calibri"/>
              </a:rPr>
              <a:t>Multilevel feedback queues hold several priority queues, demoting CPU-hungry jobs and favouring interactive ones.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Worked example 1</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Tracing the OS servicing a printer interrupt</a:t>
            </a:r>
          </a:p>
          <a:p>
            <a:pPr lvl="1"/>
            <a:r>
              <a:rPr sz="1900" b="0">
                <a:solidFill>
                  <a:srgbClr val="222222"/>
                </a:solidFill>
                <a:latin typeface="Calibri"/>
              </a:rPr>
              <a:t>1. A user program is mid-execution when the printer raises an interrupt to say it is ready.</a:t>
            </a:r>
          </a:p>
          <a:p>
            <a:pPr lvl="1"/>
            <a:r>
              <a:rPr sz="1900" b="0">
                <a:solidFill>
                  <a:srgbClr val="222222"/>
                </a:solidFill>
                <a:latin typeface="Calibri"/>
              </a:rPr>
              <a:t>2. At the end of the current fetch-decode-execute cycle the CPU checks the interrupt register and finds the flag set.</a:t>
            </a:r>
          </a:p>
          <a:p>
            <a:pPr lvl="1"/>
            <a:r>
              <a:rPr sz="1900" b="0">
                <a:solidFill>
                  <a:srgbClr val="222222"/>
                </a:solidFill>
                <a:latin typeface="Calibri"/>
              </a:rPr>
              <a:t>3. The OS compares the interrupt's priority with the current task; the printer interrupt is higher, so it will be serviced.</a:t>
            </a:r>
          </a:p>
          <a:p>
            <a:pPr lvl="1"/>
            <a:r>
              <a:rPr sz="1900" b="0">
                <a:solidFill>
                  <a:srgbClr val="222222"/>
                </a:solidFill>
                <a:latin typeface="Calibri"/>
              </a:rPr>
              <a:t>4. The current instruction finishes, then register contents (PC, ACC) are pushed onto the stack to save the program's state.</a:t>
            </a:r>
          </a:p>
          <a:p>
            <a:pPr lvl="1"/>
            <a:r>
              <a:rPr sz="1900" b="0">
                <a:solidFill>
                  <a:srgbClr val="222222"/>
                </a:solidFill>
                <a:latin typeface="Calibri"/>
              </a:rPr>
              <a:t>5. The address of the printer's interrupt service routine is loaded into the PC and the ISR executes.</a:t>
            </a:r>
          </a:p>
          <a:p>
            <a:pPr lvl="1"/>
            <a:r>
              <a:rPr sz="1900" b="0">
                <a:solidFill>
                  <a:srgbClr val="222222"/>
                </a:solidFill>
                <a:latin typeface="Calibri"/>
              </a:rPr>
              <a:t>6. When the ISR completes, the saved values are popped off the stack back into the registers.</a:t>
            </a:r>
          </a:p>
          <a:p>
            <a:pPr lvl="1"/>
            <a:r>
              <a:rPr sz="1900" b="0">
                <a:solidFill>
                  <a:srgbClr val="222222"/>
                </a:solidFill>
                <a:latin typeface="Calibri"/>
              </a:rPr>
              <a:t>7. The user program resumes from exactly where it left off, unaware it was interrupted.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Worked example 2</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FIFO versus SJF: average waiting time for A=4, B=1, C=2, D=3 (all arrive at t=0, order A,B,C,D)</a:t>
            </a:r>
          </a:p>
          <a:p>
            <a:pPr lvl="1"/>
            <a:r>
              <a:rPr sz="1900" b="0">
                <a:solidFill>
                  <a:srgbClr val="222222"/>
                </a:solidFill>
                <a:latin typeface="Calibri"/>
              </a:rPr>
              <a:t>1. FIFO runs in arrival order: A occupies 0-4, B 4-5, C 5-7, D 7-10.</a:t>
            </a:r>
          </a:p>
          <a:p>
            <a:pPr lvl="1"/>
            <a:r>
              <a:rPr sz="1900" b="0">
                <a:solidFill>
                  <a:srgbClr val="222222"/>
                </a:solidFill>
                <a:latin typeface="Calibri"/>
              </a:rPr>
              <a:t>2. Waiting time is start time minus arrival: A waits 0, B waits 4, C waits 5, D waits 7.</a:t>
            </a:r>
          </a:p>
          <a:p>
            <a:pPr lvl="1"/>
            <a:r>
              <a:rPr sz="1900" b="0">
                <a:solidFill>
                  <a:srgbClr val="222222"/>
                </a:solidFill>
                <a:latin typeface="Calibri"/>
              </a:rPr>
              <a:t>3. FIFO average wait = (0 + 4 + 5 + 7) / 4 = 16 / 4 = 4.0 units.</a:t>
            </a:r>
          </a:p>
          <a:p>
            <a:pPr lvl="1"/>
            <a:r>
              <a:rPr sz="1900" b="0">
                <a:solidFill>
                  <a:srgbClr val="222222"/>
                </a:solidFill>
                <a:latin typeface="Calibri"/>
              </a:rPr>
              <a:t>4. SJF picks shortest first: B (1) runs 0-1, C (2) runs 1-3, D (3) runs 3-6, A (4) runs 6-10.</a:t>
            </a:r>
          </a:p>
          <a:p>
            <a:pPr lvl="1"/>
            <a:r>
              <a:rPr sz="1900" b="0">
                <a:solidFill>
                  <a:srgbClr val="222222"/>
                </a:solidFill>
                <a:latin typeface="Calibri"/>
              </a:rPr>
              <a:t>5. Waits: B 0, C 1, D 3, A 6.</a:t>
            </a:r>
          </a:p>
          <a:p>
            <a:pPr lvl="1"/>
            <a:r>
              <a:rPr sz="1900" b="0">
                <a:solidFill>
                  <a:srgbClr val="222222"/>
                </a:solidFill>
                <a:latin typeface="Calibri"/>
              </a:rPr>
              <a:t>6. SJF average wait = (0 + 1 + 3 + 6) / 4 = 10 / 4 = 2.5 units.</a:t>
            </a:r>
          </a:p>
          <a:p>
            <a:pPr lvl="1"/>
            <a:r>
              <a:rPr sz="1900" b="0">
                <a:solidFill>
                  <a:srgbClr val="222222"/>
                </a:solidFill>
                <a:latin typeface="Calibri"/>
              </a:rPr>
              <a:t>7. Conclusion: SJF cuts the average wait, but the longest job (A) always goes last and risks starvation if short jobs keep arriving.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Worked example 3</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Round robin with quantum 1 on the same four jobs</a:t>
            </a:r>
          </a:p>
          <a:p>
            <a:pPr lvl="1"/>
            <a:r>
              <a:rPr sz="1900" b="0">
                <a:solidFill>
                  <a:srgbClr val="222222"/>
                </a:solidFill>
                <a:latin typeface="Calibri"/>
              </a:rPr>
              <a:t>1. Queue starts A, B, C, D; an unfinished process rejoins the back after its slice.</a:t>
            </a:r>
          </a:p>
          <a:p>
            <a:pPr lvl="1"/>
            <a:r>
              <a:rPr sz="1900" b="0">
                <a:solidFill>
                  <a:srgbClr val="222222"/>
                </a:solidFill>
                <a:latin typeface="Calibri"/>
              </a:rPr>
              <a:t>2. Timeline: A(0-1), B(1-2, done), C(2-3), D(3-4), A(4-5), C(5-6, done), D(6-7), A(7-8), D(8-9, done), A(9-10, done).</a:t>
            </a:r>
          </a:p>
          <a:p>
            <a:pPr lvl="1"/>
            <a:r>
              <a:rPr sz="1900" b="0">
                <a:solidFill>
                  <a:srgbClr val="222222"/>
                </a:solidFill>
                <a:latin typeface="Calibri"/>
              </a:rPr>
              <a:t>3. Completion times: B=2, C=6, D=9, A=10.</a:t>
            </a:r>
          </a:p>
          <a:p>
            <a:pPr lvl="1"/>
            <a:r>
              <a:rPr sz="1900" b="0">
                <a:solidFill>
                  <a:srgbClr val="222222"/>
                </a:solidFill>
                <a:latin typeface="Calibri"/>
              </a:rPr>
              <a:t>4. Waiting time = turnaround minus burst: A = 10-4 = 6, B = 2-1 = 1, C = 6-2 = 4, D = 9-3 = 6.</a:t>
            </a:r>
          </a:p>
          <a:p>
            <a:pPr lvl="1"/>
            <a:r>
              <a:rPr sz="1900" b="0">
                <a:solidFill>
                  <a:srgbClr val="222222"/>
                </a:solidFill>
                <a:latin typeface="Calibri"/>
              </a:rPr>
              <a:t>5. Average wait = (6 + 1 + 4 + 6) / 4 = 17 / 4 = 4.25 units, worse than SJF on average.</a:t>
            </a:r>
          </a:p>
          <a:p>
            <a:pPr lvl="1"/>
            <a:r>
              <a:rPr sz="1900" b="0">
                <a:solidFill>
                  <a:srgbClr val="222222"/>
                </a:solidFill>
                <a:latin typeface="Calibri"/>
              </a:rPr>
              <a:t>6. However every process gets CPU time early and regularly: round robin trades raw efficiency for fairness and responsiveness.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Activity 1</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The Interrupted Classroom (interrupt role-play)  (12 min)</a:t>
            </a:r>
          </a:p>
          <a:p>
            <a:pPr lvl="1"/>
            <a:r>
              <a:rPr sz="2000" b="0">
                <a:solidFill>
                  <a:srgbClr val="222222"/>
                </a:solidFill>
                <a:latin typeface="Calibri"/>
              </a:rPr>
              <a:t>Set students copying a passage neatly; this is their current process and accuracy matters.</a:t>
            </a:r>
          </a:p>
          <a:p>
            <a:pPr lvl="1"/>
            <a:r>
              <a:rPr sz="2000" b="0">
                <a:solidFill>
                  <a:srgbClr val="222222"/>
                </a:solidFill>
                <a:latin typeface="Calibri"/>
              </a:rPr>
              <a:t>Ring a bell mid-sentence: students write their exact position on a sticky note (pushing registers to the stack), then service the interrupt with a quick board task such as writing today's date in binary.</a:t>
            </a:r>
          </a:p>
          <a:p>
            <a:pPr lvl="1"/>
            <a:r>
              <a:rPr sz="2000" b="0">
                <a:solidFill>
                  <a:srgbClr val="222222"/>
                </a:solidFill>
                <a:latin typeface="Calibri"/>
              </a:rPr>
              <a:t>Ring a double bell (higher priority) during that task: push a second sticky note, do a new quick task, then pop back in strict reverse order.</a:t>
            </a:r>
          </a:p>
          <a:p>
            <a:pPr lvl="1"/>
            <a:r>
              <a:rPr sz="2000" b="0">
                <a:solidFill>
                  <a:srgbClr val="222222"/>
                </a:solidFill>
                <a:latin typeface="Calibri"/>
              </a:rPr>
              <a:t>Debrief by mapping every action to theory: bell = interrupt signal, sticky note = pushing PC and ACC, board task = ISR, resuming from the note = popping the stack.</a:t>
            </a:r>
          </a:p>
          <a:p>
            <a:pPr lvl="1"/>
            <a:r>
              <a:rPr sz="2000" b="0">
                <a:solidFill>
                  <a:srgbClr val="222222"/>
                </a:solidFill>
                <a:latin typeface="Calibri"/>
              </a:rPr>
              <a:t>Trap question: in CPU terms, when was the teacher allowed to ring the bell? (Only checked at the end of each fetch-decode-execute cycle.)</a:t>
            </a:r>
          </a:p>
          <a:p>
            <a:pPr/>
            <a:r>
              <a:rPr sz="1800" b="0">
                <a:solidFill>
                  <a:srgbClr val="B76E00"/>
                </a:solidFill>
                <a:latin typeface="Calibri"/>
              </a:rPr>
              <a:t>Stretch: What if interrupts arrive faster than ISRs complete? Link to interrupt priorities and to the polling alternative interrupts replace.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Activity 2</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The Photocopier Queue: human scheduling  (15 min)</a:t>
            </a:r>
          </a:p>
          <a:p>
            <a:pPr lvl="1"/>
            <a:r>
              <a:rPr sz="2000" b="0">
                <a:solidFill>
                  <a:srgbClr val="222222"/>
                </a:solidFill>
                <a:latin typeface="Calibri"/>
              </a:rPr>
              <a:t>Four job cards: A = 4 units, B = 1, C = 2, D = 3 (units are star jumps or tally marks); one student is the CPU; the class tallies waiting times on the board.</a:t>
            </a:r>
          </a:p>
          <a:p>
            <a:pPr lvl="1"/>
            <a:r>
              <a:rPr sz="2000" b="0">
                <a:solidFill>
                  <a:srgbClr val="222222"/>
                </a:solidFill>
                <a:latin typeface="Calibri"/>
              </a:rPr>
              <a:t>Round 1, FIFO: processes queue in order A, B, C, D and run to completion; record each waiting time.</a:t>
            </a:r>
          </a:p>
          <a:p>
            <a:pPr lvl="1"/>
            <a:r>
              <a:rPr sz="2000" b="0">
                <a:solidFill>
                  <a:srgbClr val="222222"/>
                </a:solidFill>
                <a:latin typeface="Calibri"/>
              </a:rPr>
              <a:t>Round 2, round robin with quantum 1: unfinished processes rejoin the back of the queue; the class calls out the queue order.</a:t>
            </a:r>
          </a:p>
          <a:p>
            <a:pPr lvl="1"/>
            <a:r>
              <a:rPr sz="2000" b="0">
                <a:solidFill>
                  <a:srgbClr val="222222"/>
                </a:solidFill>
                <a:latin typeface="Calibri"/>
              </a:rPr>
              <a:t>Round 3, SJF: the CPU picks the shortest total job next.</a:t>
            </a:r>
          </a:p>
          <a:p>
            <a:pPr lvl="1"/>
            <a:r>
              <a:rPr sz="2000" b="0">
                <a:solidFill>
                  <a:srgbClr val="222222"/>
                </a:solidFill>
                <a:latin typeface="Calibri"/>
              </a:rPr>
              <a:t>Compare the three average waits (4.0, 4.25, 2.5); ask B which scheduler it prefers and A which one it fears, leading into starvation.</a:t>
            </a:r>
          </a:p>
          <a:p>
            <a:pPr lvl="1"/>
            <a:r>
              <a:rPr sz="2000" b="0">
                <a:solidFill>
                  <a:srgbClr val="222222"/>
                </a:solidFill>
                <a:latin typeface="Calibri"/>
              </a:rPr>
              <a:t>Close: which algorithms are pre-emptive, and what does round robin need that FIFO does not? (A timer interrupt: link back to the bell.)</a:t>
            </a:r>
          </a:p>
          <a:p>
            <a:pPr/>
            <a:r>
              <a:rPr sz="1800" b="0">
                <a:solidFill>
                  <a:srgbClr val="B76E00"/>
                </a:solidFill>
                <a:latin typeface="Calibri"/>
              </a:rPr>
              <a:t>Stretch: Re-run with D arriving at t=2 under shortest remaining time and have the class spot the pre-emption point.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Activity 3</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Always-Sometimes-Never: memory and scheduling edition  (10 min)</a:t>
            </a:r>
          </a:p>
          <a:p>
            <a:pPr lvl="1"/>
            <a:r>
              <a:rPr sz="2000" b="0">
                <a:solidFill>
                  <a:srgbClr val="222222"/>
                </a:solidFill>
                <a:latin typeface="Calibri"/>
              </a:rPr>
              <a:t>Pairs judge statements on mini-whiteboards as Always, Sometimes or Never, then defend on request.</a:t>
            </a:r>
          </a:p>
          <a:p>
            <a:pPr lvl="1"/>
            <a:r>
              <a:rPr sz="2000" b="0">
                <a:solidFill>
                  <a:srgbClr val="222222"/>
                </a:solidFill>
                <a:latin typeface="Calibri"/>
              </a:rPr>
              <a:t>Statements: virtual memory increases the amount of RAM; paging divides memory into fixed-size blocks; a pre-emptive scheduler can stop a running process; FIFO is the fairest algorithm; an interrupt is serviced the instant it arrives.</a:t>
            </a:r>
          </a:p>
          <a:p>
            <a:pPr lvl="1"/>
            <a:r>
              <a:rPr sz="2000" b="0">
                <a:solidFill>
                  <a:srgbClr val="222222"/>
                </a:solidFill>
                <a:latin typeface="Calibri"/>
              </a:rPr>
              <a:t>For every Sometimes, the pair states the condition; for every Never, the corrected version.</a:t>
            </a:r>
          </a:p>
          <a:p>
            <a:pPr lvl="1"/>
            <a:r>
              <a:rPr sz="2000" b="0">
                <a:solidFill>
                  <a:srgbClr val="222222"/>
                </a:solidFill>
                <a:latin typeface="Calibri"/>
              </a:rPr>
              <a:t>Answers: Never (secondary storage used as if RAM, and slower); Always (that is the paging discriminator); Always (the definition of pre-emptive); Sometimes (no starvation, but the convoy effect delays short jobs); Never (checked at the end of the cycle and priority-dependent).</a:t>
            </a:r>
          </a:p>
          <a:p>
            <a:pPr/>
            <a:r>
              <a:rPr sz="1800" b="0">
                <a:solidFill>
                  <a:srgbClr val="B76E00"/>
                </a:solidFill>
                <a:latin typeface="Calibri"/>
              </a:rPr>
              <a:t>Stretch: Pairs write one new Sometimes statement about scheduling and test it on a neighbouring pair.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(1-4)</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Describe what is meant by virtual memory and explain one drawback of a computer relying on it heavily. [3]</a:t>
            </a:r>
          </a:p>
          <a:p>
            <a:r>
              <a:rPr sz="2000" b="1">
                <a:solidFill>
                  <a:srgbClr val="222222"/>
                </a:solidFill>
                <a:latin typeface="Calibri"/>
              </a:rPr>
              <a:t>2. Explain the difference between paging and segmentation. [3]</a:t>
            </a:r>
          </a:p>
          <a:p>
            <a:r>
              <a:rPr sz="2000" b="1">
                <a:solidFill>
                  <a:srgbClr val="222222"/>
                </a:solidFill>
                <a:latin typeface="Calibri"/>
              </a:rPr>
              <a:t>3. Describe the steps the operating system follows when a high-priority interrupt is received during the execution of a program. [4]</a:t>
            </a:r>
          </a:p>
          <a:p>
            <a:r>
              <a:rPr sz="2000" b="1">
                <a:solidFill>
                  <a:srgbClr val="222222"/>
                </a:solidFill>
                <a:latin typeface="Calibri"/>
              </a:rPr>
              <a:t>4. State what is meant by a time slice in round robin scheduling and give one benefit of this approach. [2]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 answers (1-4)</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Describe what is meant by virtual memory and explain one drawback of a computer relying on it heavily. [3]</a:t>
            </a:r>
          </a:p>
          <a:p>
            <a:pPr lvl="1"/>
            <a:r>
              <a:rPr sz="1800" i="1">
                <a:solidFill>
                  <a:srgbClr val="B76E00"/>
                </a:solidFill>
                <a:latin typeface="Calibri"/>
              </a:rPr>
              <a:t>Answer: An area of secondary storage is used as if it were RAM when physical RAM is full (1); pages are swapped between RAM and disk as needed (1). Drawback: disk is much slower than RAM, and excessive swapping causes disk thrashing, slowing the system (1).</a:t>
            </a:r>
          </a:p>
          <a:p>
            <a:r>
              <a:rPr sz="2000" b="1">
                <a:solidFill>
                  <a:srgbClr val="222222"/>
                </a:solidFill>
                <a:latin typeface="Calibri"/>
              </a:rPr>
              <a:t>2. Explain the difference between paging and segmentation. [3]</a:t>
            </a:r>
          </a:p>
          <a:p>
            <a:pPr lvl="1"/>
            <a:r>
              <a:rPr sz="1800" i="1">
                <a:solidFill>
                  <a:srgbClr val="B76E00"/>
                </a:solidFill>
                <a:latin typeface="Calibri"/>
              </a:rPr>
              <a:t>Answer: Paging divides memory into fixed-size physical blocks (1) while segmentation divides it into variable-size blocks (1) that reflect the logical structure of the program, such as subroutines (1).</a:t>
            </a:r>
          </a:p>
          <a:p>
            <a:r>
              <a:rPr sz="2000" b="1">
                <a:solidFill>
                  <a:srgbClr val="222222"/>
                </a:solidFill>
                <a:latin typeface="Calibri"/>
              </a:rPr>
              <a:t>3. Describe the steps the operating system follows when a high-priority interrupt is received during the execution of a program. [4]</a:t>
            </a:r>
          </a:p>
          <a:p>
            <a:pPr lvl="1"/>
            <a:r>
              <a:rPr sz="1800" i="1">
                <a:solidFill>
                  <a:srgbClr val="B76E00"/>
                </a:solidFill>
                <a:latin typeface="Calibri"/>
              </a:rPr>
              <a:t>Answer: The interrupt register is checked at the end of the current fetch-decode-execute cycle (1); the priority is compared with the current task and found higher (1); register contents such as the PC and ACC are pushed onto the stack (1); the relevant ISR is loaded and executed, after which the saved values are popped and the program resumes (1).</a:t>
            </a:r>
          </a:p>
          <a:p>
            <a:r>
              <a:rPr sz="2000" b="1">
                <a:solidFill>
                  <a:srgbClr val="222222"/>
                </a:solidFill>
                <a:latin typeface="Calibri"/>
              </a:rPr>
              <a:t>4. State what is meant by a time slice in round robin scheduling and give one benefit of this approach. [2]</a:t>
            </a:r>
          </a:p>
          <a:p>
            <a:pPr lvl="1"/>
            <a:r>
              <a:rPr sz="1800" i="1">
                <a:solidFill>
                  <a:srgbClr val="B76E00"/>
                </a:solidFill>
                <a:latin typeface="Calibri"/>
              </a:rPr>
              <a:t>Answer: A fixed amount of CPU time (a quantum) given to each process in turn (1). Benefit: every process gets regular CPU time, so it is fair and no process starves (1).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(5-8)</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Processes P (8 ms), Q (2 ms) and R (4 ms) arrive together in the order P, Q, R. Calculate the average waiting time using first come first served. Show your working. [2]</a:t>
            </a:r>
          </a:p>
          <a:p>
            <a:r>
              <a:rPr sz="2000" b="1">
                <a:solidFill>
                  <a:srgbClr val="222222"/>
                </a:solidFill>
                <a:latin typeface="Calibri"/>
              </a:rPr>
              <a:t>2. Explain one advantage and one disadvantage of shortest job first scheduling. [2]</a:t>
            </a:r>
          </a:p>
          <a:p>
            <a:r>
              <a:rPr sz="2000" b="1">
                <a:solidFill>
                  <a:srgbClr val="222222"/>
                </a:solidFill>
                <a:latin typeface="Calibri"/>
              </a:rPr>
              <a:t>3. Explain how a multilevel feedback queue treats a process that keeps using its full time slice. [2]</a:t>
            </a:r>
          </a:p>
          <a:p>
            <a:r>
              <a:rPr sz="2000" b="1">
                <a:solidFill>
                  <a:srgbClr val="222222"/>
                </a:solidFill>
                <a:latin typeface="Calibri"/>
              </a:rPr>
              <a:t>4. Explain why register contents are saved on a stack, rather than in a single fixed memory location, when interrupts are serviced. [2]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 answers (5-8)</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Processes P (8 ms), Q (2 ms) and R (4 ms) arrive together in the order P, Q, R. Calculate the average waiting time using first come first served. Show your working. [2]</a:t>
            </a:r>
          </a:p>
          <a:p>
            <a:pPr lvl="1"/>
            <a:r>
              <a:rPr sz="1800" i="1">
                <a:solidFill>
                  <a:srgbClr val="B76E00"/>
                </a:solidFill>
                <a:latin typeface="Calibri"/>
              </a:rPr>
              <a:t>Answer: P starts at 0 (waits 0), Q waits 8 ms, R waits 8 + 2 = 10 ms (1). Average = (0 + 8 + 10) / 3 = 18 / 3 = 6 ms (1).</a:t>
            </a:r>
          </a:p>
          <a:p>
            <a:r>
              <a:rPr sz="2000" b="1">
                <a:solidFill>
                  <a:srgbClr val="222222"/>
                </a:solidFill>
                <a:latin typeface="Calibri"/>
              </a:rPr>
              <a:t>2. Explain one advantage and one disadvantage of shortest job first scheduling. [2]</a:t>
            </a:r>
          </a:p>
          <a:p>
            <a:pPr lvl="1"/>
            <a:r>
              <a:rPr sz="1800" i="1">
                <a:solidFill>
                  <a:srgbClr val="B76E00"/>
                </a:solidFill>
                <a:latin typeface="Calibri"/>
              </a:rPr>
              <a:t>Answer: Advantage: it minimises average waiting time because short jobs are cleared quickly (1). Disadvantage: long jobs can starve if short jobs keep arriving, and burst times must be estimated in advance (1).</a:t>
            </a:r>
          </a:p>
          <a:p>
            <a:r>
              <a:rPr sz="2000" b="1">
                <a:solidFill>
                  <a:srgbClr val="222222"/>
                </a:solidFill>
                <a:latin typeface="Calibri"/>
              </a:rPr>
              <a:t>3. Explain how a multilevel feedback queue treats a process that keeps using its full time slice. [2]</a:t>
            </a:r>
          </a:p>
          <a:p>
            <a:pPr lvl="1"/>
            <a:r>
              <a:rPr sz="1800" i="1">
                <a:solidFill>
                  <a:srgbClr val="B76E00"/>
                </a:solidFill>
                <a:latin typeface="Calibri"/>
              </a:rPr>
              <a:t>Answer: The process is demoted to a lower-priority queue (1) so interactive or shorter jobs in higher queues are favoured, approximating shortest job first while limiting starvation (1).</a:t>
            </a:r>
          </a:p>
          <a:p>
            <a:r>
              <a:rPr sz="2000" b="1">
                <a:solidFill>
                  <a:srgbClr val="222222"/>
                </a:solidFill>
                <a:latin typeface="Calibri"/>
              </a:rPr>
              <a:t>4. Explain why register contents are saved on a stack, rather than in a single fixed memory location, when interrupts are serviced. [2]</a:t>
            </a:r>
          </a:p>
          <a:p>
            <a:pPr lvl="1"/>
            <a:r>
              <a:rPr sz="1800" i="1">
                <a:solidFill>
                  <a:srgbClr val="B76E00"/>
                </a:solidFill>
                <a:latin typeface="Calibri"/>
              </a:rPr>
              <a:t>Answer: A second, higher-priority interrupt may occur during an ISR, so several saved states may be held at once (1); the stack's LIFO order guarantees each interrupted task resumes in the correct reverse order (1).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Common misconceptions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 Students often think virtual memory adds RAM to the computer; it only uses secondary storage as if it were RAM, and it is much slower.</a:t>
            </a:r>
          </a:p>
          <a:p>
            <a:pPr/>
            <a:r>
              <a:rPr sz="2000" b="0">
                <a:solidFill>
                  <a:srgbClr val="222222"/>
                </a:solidFill>
                <a:latin typeface="Calibri"/>
              </a:rPr>
              <a:t>✗ Students often think an interrupt is serviced the instant it occurs; the CPU only checks the interrupt register at the end of the current fetch-decode-execute cycle, and priority decides whether it is serviced.</a:t>
            </a:r>
          </a:p>
          <a:p>
            <a:pPr/>
            <a:r>
              <a:rPr sz="2000" b="0">
                <a:solidFill>
                  <a:srgbClr val="222222"/>
                </a:solidFill>
                <a:latin typeface="Calibri"/>
              </a:rPr>
              <a:t>✗ Students often mix up paging and segmentation; the discriminator is fixed-size physical blocks (paging) versus variable-size logical blocks (segmentation).</a:t>
            </a:r>
          </a:p>
          <a:p>
            <a:pPr/>
            <a:r>
              <a:rPr sz="2000" b="0">
                <a:solidFill>
                  <a:srgbClr val="222222"/>
                </a:solidFill>
                <a:latin typeface="Calibri"/>
              </a:rPr>
              <a:t>✗ Students often think FIFO is fair because it is first come first served; a single long job delays every job behind it (the convoy effect).</a:t>
            </a:r>
          </a:p>
          <a:p>
            <a:pPr/>
            <a:r>
              <a:rPr sz="2000" b="0">
                <a:solidFill>
                  <a:srgbClr val="222222"/>
                </a:solidFill>
                <a:latin typeface="Calibri"/>
              </a:rPr>
              <a:t>✗ Students often think shortest job first is simply the best algorithm; it minimises average wait but starves long jobs and needs burst times known in advance.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How the exam asks this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Command words seen here: state and define for OS purpose (1-2 marks), describe for the ISR sequence (4-6 marks), explain and compare for scheduling and memory management (2-6 marks).</a:t>
            </a:r>
          </a:p>
          <a:p>
            <a:pPr/>
            <a:r>
              <a:rPr sz="2000" b="0">
                <a:solidFill>
                  <a:srgbClr val="222222"/>
                </a:solidFill>
                <a:latin typeface="Calibri"/>
              </a:rPr>
              <a:t>The interrupt sequence is a classic 4-6 mark describe question; omitting the stack, or the end-of-cycle check, loses marks every year.</a:t>
            </a:r>
          </a:p>
          <a:p>
            <a:pPr/>
            <a:r>
              <a:rPr sz="2000" b="0">
                <a:solidFill>
                  <a:srgbClr val="222222"/>
                </a:solidFill>
                <a:latin typeface="Calibri"/>
              </a:rPr>
              <a:t>Scheduling appears both as short comparisons (2-3 marks) and inside 9-mark extended responses weighing algorithms for a given system.</a:t>
            </a:r>
          </a:p>
          <a:p>
            <a:pPr/>
            <a:r>
              <a:rPr sz="2000" b="0">
                <a:solidFill>
                  <a:srgbClr val="222222"/>
                </a:solidFill>
                <a:latin typeface="Calibri"/>
              </a:rPr>
              <a:t>Example stem: 'A computer appears to run several programs simultaneously. Describe how the operating system uses scheduling to achieve this.' [4]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Your turn</a:t>
            </a:r>
          </a:p>
        </p:txBody>
      </p:sp>
      <p:sp>
        <p:nvSpPr>
          <p:cNvPr id="3" name="TextBox 2"/>
          <p:cNvSpPr txBox="1"/>
          <p:nvPr/>
        </p:nvSpPr>
        <p:spPr>
          <a:xfrm>
            <a:off x="640080" y="1280160"/>
            <a:ext cx="10881360" cy="5120640"/>
          </a:xfrm>
          <a:prstGeom prst="rect">
            <a:avLst/>
          </a:prstGeom>
          <a:noFill/>
        </p:spPr>
        <p:txBody>
          <a:bodyPr wrap="square">
            <a:spAutoFit/>
          </a:bodyPr>
          <a:lstStyle/>
          <a:p>
            <a:pPr/>
            <a:r>
              <a:rPr sz="2400" b="1">
                <a:solidFill>
                  <a:srgbClr val="2B6CB0"/>
                </a:solidFill>
                <a:latin typeface="Calibri"/>
              </a:rPr>
              <a:t>Task</a:t>
            </a:r>
          </a:p>
          <a:p>
            <a:pPr lvl="1"/>
            <a:r>
              <a:rPr sz="2200" b="0">
                <a:solidFill>
                  <a:srgbClr val="222222"/>
                </a:solidFill>
                <a:latin typeface="Calibri"/>
              </a:rPr>
              <a:t>Produce a comparison table of the five scheduling algorithms (round robin, FIFO, SJF, SRT, multilevel feedback queues): how each chooses the next process, whether it is pre-emptive, one strength and one weakness. Then, below the table, run FIFO and SJF on jobs X = 6, Y = 2, Z = 4 (all arriving at t = 0, order X, Y, Z) and calculate both average waiting times. (FIFO: waits 0, 6, 8, average 14/3 = 4.67; SJF: order Y, Z, X, waits 0, 2, 6, average 8/3 = 2.67.)</a:t>
            </a:r>
          </a:p>
          <a:p>
            <a:r>
              <a:rPr sz="2400" b="1">
                <a:solidFill>
                  <a:srgbClr val="B76E00"/>
                </a:solidFill>
                <a:latin typeface="Calibri"/>
              </a:rPr>
              <a:t>Challenge / stretch</a:t>
            </a:r>
          </a:p>
          <a:p>
            <a:pPr lvl="1"/>
            <a:r>
              <a:rPr sz="2200" b="0">
                <a:solidFill>
                  <a:srgbClr val="222222"/>
                </a:solidFill>
                <a:latin typeface="Calibri"/>
              </a:rPr>
              <a:t>A tablet with 4 GB of RAM regularly runs a photo editor, a browser with many tabs and a video call at once. Explain, using paging and virtual memory, how the OS makes this possible, why the tablet slows dramatically when all three are active, and why adding physical RAM fixes the problem while a bigger page file does not.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Exit ticket</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In interrupt handling, why are the PC and ACC pushed onto a stack rather than simply overwritten?</a:t>
            </a:r>
          </a:p>
          <a:p>
            <a:r>
              <a:rPr sz="2200" b="1">
                <a:solidFill>
                  <a:srgbClr val="222222"/>
                </a:solidFill>
                <a:latin typeface="Calibri"/>
              </a:rPr>
              <a:t>2. Give one similarity and one difference between paging and segmentation.</a:t>
            </a:r>
          </a:p>
          <a:p>
            <a:r>
              <a:rPr sz="2200" b="1">
                <a:solidFill>
                  <a:srgbClr val="222222"/>
                </a:solidFill>
                <a:latin typeface="Calibri"/>
              </a:rPr>
              <a:t>3. Why does round robin need a timer interrupt but first come first served does not?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Exit ticket — answers</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In interrupt handling, why are the PC and ACC pushed onto a stack rather than simply overwritten?</a:t>
            </a:r>
          </a:p>
          <a:p>
            <a:pPr lvl="1"/>
            <a:r>
              <a:rPr sz="1800" i="1">
                <a:solidFill>
                  <a:srgbClr val="B76E00"/>
                </a:solidFill>
                <a:latin typeface="Calibri"/>
              </a:rPr>
              <a:t>Answer: So the interrupted task's state is saved and can be popped back to resume correctly; LIFO order also supports nested interrupts.</a:t>
            </a:r>
          </a:p>
          <a:p>
            <a:r>
              <a:rPr sz="2200" b="1">
                <a:solidFill>
                  <a:srgbClr val="222222"/>
                </a:solidFill>
                <a:latin typeface="Calibri"/>
              </a:rPr>
              <a:t>2. Give one similarity and one difference between paging and segmentation.</a:t>
            </a:r>
          </a:p>
          <a:p>
            <a:pPr lvl="1"/>
            <a:r>
              <a:rPr sz="1800" i="1">
                <a:solidFill>
                  <a:srgbClr val="B76E00"/>
                </a:solidFill>
                <a:latin typeface="Calibri"/>
              </a:rPr>
              <a:t>Answer: Both divide memory so programs need not be stored contiguously; paging uses fixed-size physical blocks while segmentation uses variable-size logical blocks.</a:t>
            </a:r>
          </a:p>
          <a:p>
            <a:r>
              <a:rPr sz="2200" b="1">
                <a:solidFill>
                  <a:srgbClr val="222222"/>
                </a:solidFill>
                <a:latin typeface="Calibri"/>
              </a:rPr>
              <a:t>3. Why does round robin need a timer interrupt but first come first served does not?</a:t>
            </a:r>
          </a:p>
          <a:p>
            <a:pPr lvl="1"/>
            <a:r>
              <a:rPr sz="1800" i="1">
                <a:solidFill>
                  <a:srgbClr val="B76E00"/>
                </a:solidFill>
                <a:latin typeface="Calibri"/>
              </a:rPr>
              <a:t>Answer: Round robin is pre-emptive: the timer signals the end of each quantum so the OS can suspend the process; FIFO lets each job run to completion.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