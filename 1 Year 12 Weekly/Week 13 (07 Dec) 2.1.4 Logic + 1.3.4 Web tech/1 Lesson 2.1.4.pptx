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365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194560"/>
            <a:ext cx="106984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 i="0">
                <a:solidFill>
                  <a:srgbClr val="FFFFFF"/>
                </a:solidFill>
                <a:latin typeface="Calibri"/>
              </a:rPr>
              <a:t>2.1.4 Thinking Logically</a:t>
            </a:r>
          </a:p>
          <a:p>
            <a:r>
              <a:rPr sz="2000" b="0" i="0">
                <a:solidFill>
                  <a:srgbClr val="BED3EC"/>
                </a:solidFill>
                <a:latin typeface="Calibri"/>
              </a:rPr>
              <a:t>OCR H446 — Component 02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03504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1">
                <a:solidFill>
                  <a:srgbClr val="9AB4D6"/>
                </a:solidFill>
                <a:latin typeface="Calibri"/>
              </a:rPr>
              <a:t>Lesson deck — editable skeleton: adapt freely.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Learning objectives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200" b="1">
                <a:solidFill>
                  <a:srgbClr val="2B6CB0"/>
                </a:solidFill>
                <a:latin typeface="Calibri"/>
              </a:rPr>
              <a:t>By the end of this lesson you can:</a:t>
            </a:r>
          </a:p>
          <a:p>
            <a:pPr lvl="1"/>
            <a:r>
              <a:rPr sz="2200" b="0">
                <a:solidFill>
                  <a:srgbClr val="222222"/>
                </a:solidFill>
                <a:latin typeface="Calibri"/>
              </a:rPr>
              <a:t>Identify decision points where the flow of control branches on a condition.</a:t>
            </a:r>
          </a:p>
          <a:p>
            <a:pPr lvl="1"/>
            <a:r>
              <a:rPr sz="2200" b="0">
                <a:solidFill>
                  <a:srgbClr val="222222"/>
                </a:solidFill>
                <a:latin typeface="Calibri"/>
              </a:rPr>
              <a:t>Write exact Boolean conditions, including the correct comparison operator and logical operators.</a:t>
            </a:r>
          </a:p>
          <a:p>
            <a:pPr lvl="1"/>
            <a:r>
              <a:rPr sz="2200" b="0">
                <a:solidFill>
                  <a:srgbClr val="222222"/>
                </a:solidFill>
                <a:latin typeface="Calibri"/>
              </a:rPr>
              <a:t>Apply logical thinking to an unseen scenario, stating the outcome of both branches of each decision.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Do Now — retrieval starter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222222"/>
                </a:solidFill>
                <a:latin typeface="Calibri"/>
              </a:rPr>
              <a:t>1. What is a decision point?</a:t>
            </a:r>
          </a:p>
          <a:p>
            <a:r>
              <a:rPr sz="2200" b="1">
                <a:solidFill>
                  <a:srgbClr val="222222"/>
                </a:solidFill>
                <a:latin typeface="Calibri"/>
              </a:rPr>
              <a:t>2. What is flow of control?</a:t>
            </a:r>
          </a:p>
          <a:p>
            <a:r>
              <a:rPr sz="2200" b="1">
                <a:solidFill>
                  <a:srgbClr val="222222"/>
                </a:solidFill>
                <a:latin typeface="Calibri"/>
              </a:rPr>
              <a:t>3. How many branches does a single IF/ELSE decision have?</a:t>
            </a:r>
          </a:p>
          <a:p>
            <a:r>
              <a:rPr sz="2200" b="1">
                <a:solidFill>
                  <a:srgbClr val="222222"/>
                </a:solidFill>
                <a:latin typeface="Calibri"/>
              </a:rPr>
              <a:t>4. Write the condition for 'lock the account after 3 failed attempts'.</a:t>
            </a:r>
          </a:p>
          <a:p>
            <a:r>
              <a:rPr sz="2200" b="1">
                <a:solidFill>
                  <a:srgbClr val="222222"/>
                </a:solidFill>
                <a:latin typeface="Calibri"/>
              </a:rPr>
              <a:t>5. Interleaving (2.1.3): how does a decision point relate to a sub-procedure's order?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Do Now — answers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222222"/>
                </a:solidFill>
                <a:latin typeface="Calibri"/>
              </a:rPr>
              <a:t>1. What is a decision point?</a:t>
            </a:r>
          </a:p>
          <a:p>
            <a:pPr lvl="1"/>
            <a:r>
              <a:rPr sz="1800" i="1">
                <a:solidFill>
                  <a:srgbClr val="B76E00"/>
                </a:solidFill>
                <a:latin typeface="Calibri"/>
              </a:rPr>
              <a:t>Answer: A place where the flow of control branches depending on whether a condition is true or false.</a:t>
            </a:r>
          </a:p>
          <a:p>
            <a:r>
              <a:rPr sz="2200" b="1">
                <a:solidFill>
                  <a:srgbClr val="222222"/>
                </a:solidFill>
                <a:latin typeface="Calibri"/>
              </a:rPr>
              <a:t>2. What is flow of control?</a:t>
            </a:r>
          </a:p>
          <a:p>
            <a:pPr lvl="1"/>
            <a:r>
              <a:rPr sz="1800" i="1">
                <a:solidFill>
                  <a:srgbClr val="B76E00"/>
                </a:solidFill>
                <a:latin typeface="Calibri"/>
              </a:rPr>
              <a:t>Answer: The order in which a program's statements execute, shaped by its decision points.</a:t>
            </a:r>
          </a:p>
          <a:p>
            <a:r>
              <a:rPr sz="2200" b="1">
                <a:solidFill>
                  <a:srgbClr val="222222"/>
                </a:solidFill>
                <a:latin typeface="Calibri"/>
              </a:rPr>
              <a:t>3. How many branches does a single IF/ELSE decision have?</a:t>
            </a:r>
          </a:p>
          <a:p>
            <a:pPr lvl="1"/>
            <a:r>
              <a:rPr sz="1800" i="1">
                <a:solidFill>
                  <a:srgbClr val="B76E00"/>
                </a:solidFill>
                <a:latin typeface="Calibri"/>
              </a:rPr>
              <a:t>Answer: Two — one for the condition being true and one for it being false.</a:t>
            </a:r>
          </a:p>
          <a:p>
            <a:r>
              <a:rPr sz="2200" b="1">
                <a:solidFill>
                  <a:srgbClr val="222222"/>
                </a:solidFill>
                <a:latin typeface="Calibri"/>
              </a:rPr>
              <a:t>4. Write the condition for 'lock the account after 3 failed attempts'.</a:t>
            </a:r>
          </a:p>
          <a:p>
            <a:pPr lvl="1"/>
            <a:r>
              <a:rPr sz="1800" i="1">
                <a:solidFill>
                  <a:srgbClr val="B76E00"/>
                </a:solidFill>
                <a:latin typeface="Calibri"/>
              </a:rPr>
              <a:t>Answer: IF attempts &gt;= 3.</a:t>
            </a:r>
          </a:p>
          <a:p>
            <a:r>
              <a:rPr sz="2200" b="1">
                <a:solidFill>
                  <a:srgbClr val="222222"/>
                </a:solidFill>
                <a:latin typeface="Calibri"/>
              </a:rPr>
              <a:t>5. Interleaving (2.1.3): how does a decision point relate to a sub-procedure's order?</a:t>
            </a:r>
          </a:p>
          <a:p>
            <a:pPr lvl="1"/>
            <a:r>
              <a:rPr sz="1800" i="1">
                <a:solidFill>
                  <a:srgbClr val="B76E00"/>
                </a:solidFill>
                <a:latin typeface="Calibri"/>
              </a:rPr>
              <a:t>Answer: Decision points steer which steps run, while sequencing fixes order by data dependency; both control execution flow.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Key terminology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r>
              <a:rPr b="1" sz="2000">
                <a:solidFill>
                  <a:srgbClr val="1A365D"/>
                </a:solidFill>
                <a:latin typeface="Calibri"/>
              </a:rPr>
              <a:t>Thinking logically</a:t>
            </a:r>
            <a:r>
              <a:rPr sz="1800">
                <a:solidFill>
                  <a:srgbClr val="222222"/>
                </a:solidFill>
                <a:latin typeface="Calibri"/>
              </a:rPr>
              <a:t> — Identifying decision points where flow of control branches on a condition.</a:t>
            </a:r>
          </a:p>
          <a:p>
            <a:r>
              <a:rPr b="1" sz="2000">
                <a:solidFill>
                  <a:srgbClr val="1A365D"/>
                </a:solidFill>
                <a:latin typeface="Calibri"/>
              </a:rPr>
              <a:t>Decision point</a:t>
            </a:r>
            <a:r>
              <a:rPr sz="1800">
                <a:solidFill>
                  <a:srgbClr val="222222"/>
                </a:solidFill>
                <a:latin typeface="Calibri"/>
              </a:rPr>
              <a:t> — A place where flow branches on a condition, e.g. an IF, CASE or loop test.</a:t>
            </a:r>
          </a:p>
          <a:p>
            <a:r>
              <a:rPr b="1" sz="2000">
                <a:solidFill>
                  <a:srgbClr val="1A365D"/>
                </a:solidFill>
                <a:latin typeface="Calibri"/>
              </a:rPr>
              <a:t>Boolean condition</a:t>
            </a:r>
            <a:r>
              <a:rPr sz="1800">
                <a:solidFill>
                  <a:srgbClr val="222222"/>
                </a:solidFill>
                <a:latin typeface="Calibri"/>
              </a:rPr>
              <a:t> — An expression that evaluates to true or false, e.g. score &gt;= 1000.</a:t>
            </a:r>
          </a:p>
          <a:p>
            <a:r>
              <a:rPr b="1" sz="2000">
                <a:solidFill>
                  <a:srgbClr val="1A365D"/>
                </a:solidFill>
                <a:latin typeface="Calibri"/>
              </a:rPr>
              <a:t>Flow of control</a:t>
            </a:r>
            <a:r>
              <a:rPr sz="1800">
                <a:solidFill>
                  <a:srgbClr val="222222"/>
                </a:solidFill>
                <a:latin typeface="Calibri"/>
              </a:rPr>
              <a:t> — The order in which statements execute, altered by decision points.</a:t>
            </a:r>
          </a:p>
          <a:p>
            <a:r>
              <a:rPr b="1" sz="2000">
                <a:solidFill>
                  <a:srgbClr val="1A365D"/>
                </a:solidFill>
                <a:latin typeface="Calibri"/>
              </a:rPr>
              <a:t>Branch</a:t>
            </a:r>
            <a:r>
              <a:rPr sz="1800">
                <a:solidFill>
                  <a:srgbClr val="222222"/>
                </a:solidFill>
                <a:latin typeface="Calibri"/>
              </a:rPr>
              <a:t> — One of the paths taken from a decision point; each decision has a true and a false branch.</a:t>
            </a:r>
          </a:p>
          <a:p>
            <a:r>
              <a:rPr b="1" sz="2000">
                <a:solidFill>
                  <a:srgbClr val="1A365D"/>
                </a:solidFill>
                <a:latin typeface="Calibri"/>
              </a:rPr>
              <a:t>Comparison operator</a:t>
            </a:r>
            <a:r>
              <a:rPr sz="1800">
                <a:solidFill>
                  <a:srgbClr val="222222"/>
                </a:solidFill>
                <a:latin typeface="Calibri"/>
              </a:rPr>
              <a:t> — A symbol such as &lt;, &lt;=, &gt;, &gt;=, = used to build a condition.</a:t>
            </a:r>
          </a:p>
          <a:p>
            <a:r>
              <a:rPr b="1" sz="2000">
                <a:solidFill>
                  <a:srgbClr val="1A365D"/>
                </a:solidFill>
                <a:latin typeface="Calibri"/>
              </a:rPr>
              <a:t>Logical operator</a:t>
            </a:r>
            <a:r>
              <a:rPr sz="1800">
                <a:solidFill>
                  <a:srgbClr val="222222"/>
                </a:solidFill>
                <a:latin typeface="Calibri"/>
              </a:rPr>
              <a:t> — AND, OR or NOT, used to combine conditions, e.g. ticketValid AND feePaid.</a:t>
            </a:r>
          </a:p>
          <a:p>
            <a:r>
              <a:rPr b="1" sz="2000">
                <a:solidFill>
                  <a:srgbClr val="1A365D"/>
                </a:solidFill>
                <a:latin typeface="Calibri"/>
              </a:rPr>
              <a:t>Nested condition</a:t>
            </a:r>
            <a:r>
              <a:rPr sz="1800">
                <a:solidFill>
                  <a:srgbClr val="222222"/>
                </a:solidFill>
                <a:latin typeface="Calibri"/>
              </a:rPr>
              <a:t> — A decision inside another, used when one test must take priority over another.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Decision points and flow of control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200" b="0">
                <a:solidFill>
                  <a:srgbClr val="222222"/>
                </a:solidFill>
                <a:latin typeface="Calibri"/>
              </a:rPr>
              <a:t>A decision point branches the flow of control on a condition.</a:t>
            </a:r>
          </a:p>
          <a:p>
            <a:pPr/>
            <a:r>
              <a:rPr sz="2200" b="0">
                <a:solidFill>
                  <a:srgbClr val="222222"/>
                </a:solidFill>
                <a:latin typeface="Calibri"/>
              </a:rPr>
              <a:t>Flow of control is the order statements execute.</a:t>
            </a:r>
          </a:p>
          <a:p>
            <a:pPr/>
            <a:r>
              <a:rPr sz="2200" b="0">
                <a:solidFill>
                  <a:srgbClr val="222222"/>
                </a:solidFill>
                <a:latin typeface="Calibri"/>
              </a:rPr>
              <a:t>IF, CASE and loop tests are all decision points.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Writing exact Boolean conditions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200" b="0">
                <a:solidFill>
                  <a:srgbClr val="222222"/>
                </a:solidFill>
                <a:latin typeface="Calibri"/>
              </a:rPr>
              <a:t>'Under 16' is age &lt; 16, not &lt;= 16.</a:t>
            </a:r>
          </a:p>
          <a:p>
            <a:pPr/>
            <a:r>
              <a:rPr sz="2200" b="0">
                <a:solidFill>
                  <a:srgbClr val="222222"/>
                </a:solidFill>
                <a:latin typeface="Calibri"/>
              </a:rPr>
              <a:t>'Over £50' is total &gt; 50, so exactly £50 fails; use &gt;= 50 to include it.</a:t>
            </a:r>
          </a:p>
          <a:p>
            <a:pPr/>
            <a:r>
              <a:rPr sz="2200" b="0">
                <a:solidFill>
                  <a:srgbClr val="222222"/>
                </a:solidFill>
                <a:latin typeface="Calibri"/>
              </a:rPr>
              <a:t>Choosing the right operator is where marks are won or lost.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Both branches matter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200" b="0">
                <a:solidFill>
                  <a:srgbClr val="222222"/>
                </a:solidFill>
                <a:latin typeface="Calibri"/>
              </a:rPr>
              <a:t>Every decision has a true branch and a false branch.</a:t>
            </a:r>
          </a:p>
          <a:p>
            <a:pPr/>
            <a:r>
              <a:rPr sz="2200" b="0">
                <a:solidFill>
                  <a:srgbClr val="222222"/>
                </a:solidFill>
                <a:latin typeface="Calibri"/>
              </a:rPr>
              <a:t>Booking: seatsRequested &lt;= seatsAvailable confirms; the false branch rejects the booking.</a:t>
            </a:r>
          </a:p>
          <a:p>
            <a:pPr/>
            <a:r>
              <a:rPr sz="2200" b="0">
                <a:solidFill>
                  <a:srgbClr val="222222"/>
                </a:solidFill>
                <a:latin typeface="Calibri"/>
              </a:rPr>
              <a:t>Always state what happens on both outcomes.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Combining and nesting conditions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200" b="0">
                <a:solidFill>
                  <a:srgbClr val="222222"/>
                </a:solidFill>
                <a:latin typeface="Calibri"/>
              </a:rPr>
              <a:t>Use logical operators: barrier opens IF ticketValid AND feePaid.</a:t>
            </a:r>
          </a:p>
          <a:p>
            <a:pPr/>
            <a:r>
              <a:rPr sz="2200" b="0">
                <a:solidFill>
                  <a:srgbClr val="222222"/>
                </a:solidFill>
                <a:latin typeface="Calibri"/>
              </a:rPr>
              <a:t>Nest conditions when one test must override another.</a:t>
            </a:r>
          </a:p>
          <a:p>
            <a:pPr/>
            <a:r>
              <a:rPr sz="2200" b="0">
                <a:solidFill>
                  <a:srgbClr val="222222"/>
                </a:solidFill>
                <a:latin typeface="Calibri"/>
              </a:rPr>
              <a:t>Order nested tests so the priority condition is checked first.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Exam technique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200" b="0">
                <a:solidFill>
                  <a:srgbClr val="222222"/>
                </a:solidFill>
                <a:latin typeface="Calibri"/>
              </a:rPr>
              <a:t>Give the exact Boolean, not vague wording like 'if it's fast'.</a:t>
            </a:r>
          </a:p>
          <a:p>
            <a:pPr/>
            <a:r>
              <a:rPr sz="2200" b="0">
                <a:solidFill>
                  <a:srgbClr val="222222"/>
                </a:solidFill>
                <a:latin typeface="Calibri"/>
              </a:rPr>
              <a:t>State the outcome of both branches.</a:t>
            </a:r>
          </a:p>
          <a:p>
            <a:pPr/>
            <a:r>
              <a:rPr sz="2200" b="0">
                <a:solidFill>
                  <a:srgbClr val="222222"/>
                </a:solidFill>
                <a:latin typeface="Calibri"/>
              </a:rPr>
              <a:t>Apply conditions to the scenario's actual variables.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Worked example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200" b="1">
                <a:solidFill>
                  <a:srgbClr val="2B6CB0"/>
                </a:solidFill>
                <a:latin typeface="Calibri"/>
              </a:rPr>
              <a:t>Choosing a streaming quality with logical thinking</a:t>
            </a:r>
          </a:p>
          <a:p>
            <a:pPr lvl="1"/>
            <a:r>
              <a:rPr sz="2000" b="0">
                <a:solidFill>
                  <a:srgbClr val="222222"/>
                </a:solidFill>
                <a:latin typeface="Calibri"/>
              </a:rPr>
              <a:t>1. Identify the overriding decision: connection speed takes priority over subscription.</a:t>
            </a:r>
          </a:p>
          <a:p>
            <a:pPr lvl="1"/>
            <a:r>
              <a:rPr sz="2000" b="0">
                <a:solidFill>
                  <a:srgbClr val="222222"/>
                </a:solidFill>
                <a:latin typeface="Calibri"/>
              </a:rPr>
              <a:t>2. First condition: IF connectionSpeed &lt; 5 (Mbps) THEN stream SD, regardless of subscription.</a:t>
            </a:r>
          </a:p>
          <a:p>
            <a:pPr lvl="1"/>
            <a:r>
              <a:rPr sz="2000" b="0">
                <a:solidFill>
                  <a:srgbClr val="222222"/>
                </a:solidFill>
                <a:latin typeface="Calibri"/>
              </a:rPr>
              <a:t>3. False branch of that test (connection adequate): move to the subscription decision.</a:t>
            </a:r>
          </a:p>
          <a:p>
            <a:pPr lvl="1"/>
            <a:r>
              <a:rPr sz="2000" b="0">
                <a:solidFill>
                  <a:srgbClr val="222222"/>
                </a:solidFill>
                <a:latin typeface="Calibri"/>
              </a:rPr>
              <a:t>4. Second condition: IF subscription = "premium" THEN stream 4K, ELSE stream HD.</a:t>
            </a:r>
          </a:p>
          <a:p>
            <a:pPr lvl="1"/>
            <a:r>
              <a:rPr sz="2000" b="0">
                <a:solidFill>
                  <a:srgbClr val="222222"/>
                </a:solidFill>
                <a:latin typeface="Calibri"/>
              </a:rPr>
              <a:t>5. State both branches of each: SD vs continue; 4K vs HD.</a:t>
            </a:r>
          </a:p>
          <a:p>
            <a:pPr lvl="1"/>
            <a:r>
              <a:rPr sz="2000" b="0">
                <a:solidFill>
                  <a:srgbClr val="222222"/>
                </a:solidFill>
                <a:latin typeface="Calibri"/>
              </a:rPr>
              <a:t>6. Note the conditions are nested and ordered so the speed test is checked first.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Your turn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400" b="1">
                <a:solidFill>
                  <a:srgbClr val="2B6CB0"/>
                </a:solidFill>
                <a:latin typeface="Calibri"/>
              </a:rPr>
              <a:t>Task</a:t>
            </a:r>
          </a:p>
          <a:p>
            <a:pPr lvl="1"/>
            <a:r>
              <a:rPr sz="2200" b="0">
                <a:solidFill>
                  <a:srgbClr val="222222"/>
                </a:solidFill>
                <a:latin typeface="Calibri"/>
              </a:rPr>
              <a:t>A car-park barrier should open only if the ticket is valid AND the fee has been paid. Write the exact Boolean condition using a logical operator, and state precisely what happens on both the true and false branches.</a:t>
            </a:r>
          </a:p>
          <a:p>
            <a:r>
              <a:rPr sz="2400" b="1">
                <a:solidFill>
                  <a:srgbClr val="B76E00"/>
                </a:solidFill>
                <a:latin typeface="Calibri"/>
              </a:rPr>
              <a:t>Challenge / stretch</a:t>
            </a:r>
          </a:p>
          <a:p>
            <a:pPr lvl="1"/>
            <a:r>
              <a:rPr sz="2200" b="0">
                <a:solidFill>
                  <a:srgbClr val="222222"/>
                </a:solidFill>
                <a:latin typeface="Calibri"/>
              </a:rPr>
              <a:t>A game awards a bonus life at 1000 points and a 'game over' at 0 lives. Design the decision points for both, writing exact Boolean conditions and stating the outcome of every branch, and explain why the order they are tested in matters.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Exit ticket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222222"/>
                </a:solidFill>
                <a:latin typeface="Calibri"/>
              </a:rPr>
              <a:t>1. A cinema discounts customers under 16. Write the exact condition.</a:t>
            </a:r>
          </a:p>
          <a:p>
            <a:r>
              <a:rPr sz="2200" b="1">
                <a:solidFill>
                  <a:srgbClr val="222222"/>
                </a:solidFill>
                <a:latin typeface="Calibri"/>
              </a:rPr>
              <a:t>2. A booking confirms when seatsRequested &lt;= seatsAvailable. What happens on the FALSE branch?</a:t>
            </a:r>
          </a:p>
          <a:p>
            <a:r>
              <a:rPr sz="2200" b="1">
                <a:solidFill>
                  <a:srgbClr val="222222"/>
                </a:solidFill>
                <a:latin typeface="Calibri"/>
              </a:rPr>
              <a:t>3. A student writes IF total &gt; 50 for free delivery. Does a £50 order qualify, and how would you fix it to include £50?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Exit ticket — answers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222222"/>
                </a:solidFill>
                <a:latin typeface="Calibri"/>
              </a:rPr>
              <a:t>1. A cinema discounts customers under 16. Write the exact condition.</a:t>
            </a:r>
          </a:p>
          <a:p>
            <a:pPr lvl="1"/>
            <a:r>
              <a:rPr sz="1800" i="1">
                <a:solidFill>
                  <a:srgbClr val="B76E00"/>
                </a:solidFill>
                <a:latin typeface="Calibri"/>
              </a:rPr>
              <a:t>Answer: IF age &lt; 16.</a:t>
            </a:r>
          </a:p>
          <a:p>
            <a:r>
              <a:rPr sz="2200" b="1">
                <a:solidFill>
                  <a:srgbClr val="222222"/>
                </a:solidFill>
                <a:latin typeface="Calibri"/>
              </a:rPr>
              <a:t>2. A booking confirms when seatsRequested &lt;= seatsAvailable. What happens on the FALSE branch?</a:t>
            </a:r>
          </a:p>
          <a:p>
            <a:pPr lvl="1"/>
            <a:r>
              <a:rPr sz="1800" i="1">
                <a:solidFill>
                  <a:srgbClr val="B76E00"/>
                </a:solidFill>
                <a:latin typeface="Calibri"/>
              </a:rPr>
              <a:t>Answer: The booking is rejected and the user is told there are too few seats.</a:t>
            </a:r>
          </a:p>
          <a:p>
            <a:r>
              <a:rPr sz="2200" b="1">
                <a:solidFill>
                  <a:srgbClr val="222222"/>
                </a:solidFill>
                <a:latin typeface="Calibri"/>
              </a:rPr>
              <a:t>3. A student writes IF total &gt; 50 for free delivery. Does a £50 order qualify, and how would you fix it to include £50?</a:t>
            </a:r>
          </a:p>
          <a:p>
            <a:pPr lvl="1"/>
            <a:r>
              <a:rPr sz="1800" i="1">
                <a:solidFill>
                  <a:srgbClr val="B76E00"/>
                </a:solidFill>
                <a:latin typeface="Calibri"/>
              </a:rPr>
              <a:t>Answer: No — 50 is not greater than 50; use IF total &gt;= 50.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