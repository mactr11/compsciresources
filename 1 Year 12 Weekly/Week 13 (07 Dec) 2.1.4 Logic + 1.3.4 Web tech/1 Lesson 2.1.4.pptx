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2.1.4 Thinking Logically</a:t>
            </a:r>
          </a:p>
          <a:p>
            <a:r>
              <a:rPr sz="2000" b="0" i="0">
                <a:solidFill>
                  <a:srgbClr val="BED3EC"/>
                </a:solidFill>
                <a:latin typeface="Calibri"/>
              </a:rPr>
              <a:t>OCR H446 — Component 02</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Week 13 (07 Dec)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Identify the points in a problem or program where a decision has to be taken.</a:t>
            </a:r>
          </a:p>
          <a:p>
            <a:pPr lvl="1"/>
            <a:r>
              <a:rPr sz="2200" b="0">
                <a:solidFill>
                  <a:srgbClr val="222222"/>
                </a:solidFill>
                <a:latin typeface="Calibri"/>
              </a:rPr>
              <a:t>Determine the exact Boolean conditions, using comparison and logical operators, that affect each decision's outcome.</a:t>
            </a:r>
          </a:p>
          <a:p>
            <a:pPr lvl="1"/>
            <a:r>
              <a:rPr sz="2200" b="0">
                <a:solidFill>
                  <a:srgbClr val="222222"/>
                </a:solidFill>
                <a:latin typeface="Calibri"/>
              </a:rPr>
              <a:t>Explain how decisions determine the flow of control through selection and iteration, stating both branches.</a:t>
            </a:r>
          </a:p>
          <a:p>
            <a:pPr lvl="1"/>
            <a:r>
              <a:rPr sz="2200" b="0">
                <a:solidFill>
                  <a:srgbClr val="222222"/>
                </a:solidFill>
                <a:latin typeface="Calibri"/>
              </a:rPr>
              <a:t>Verify the logical flow of a routine using a trace table and correct common logic errors.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1.3.3: Name the four layers of the TCP/IP stack from top to bottom.</a:t>
            </a:r>
          </a:p>
          <a:p>
            <a:r>
              <a:rPr sz="2200" b="1">
                <a:solidFill>
                  <a:srgbClr val="222222"/>
                </a:solidFill>
                <a:latin typeface="Calibri"/>
              </a:rPr>
              <a:t>2. 1.3.3: What service does DNS provide?</a:t>
            </a:r>
          </a:p>
          <a:p>
            <a:r>
              <a:rPr sz="2200" b="1">
                <a:solidFill>
                  <a:srgbClr val="222222"/>
                </a:solidFill>
                <a:latin typeface="Calibri"/>
              </a:rPr>
              <a:t>3. 1.3.3: In packet switching, how does data travel across a network?</a:t>
            </a:r>
          </a:p>
          <a:p>
            <a:r>
              <a:rPr sz="2200" b="1">
                <a:solidFill>
                  <a:srgbClr val="222222"/>
                </a:solidFill>
                <a:latin typeface="Calibri"/>
              </a:rPr>
              <a:t>4. 2.1.3: What is decomposition?</a:t>
            </a:r>
          </a:p>
          <a:p>
            <a:r>
              <a:rPr sz="2200" b="1">
                <a:solidFill>
                  <a:srgbClr val="222222"/>
                </a:solidFill>
                <a:latin typeface="Calibri"/>
              </a:rPr>
              <a:t>5. 2.1.3: Why can some steps in a solution not be reordered?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1.3.3: Name the four layers of the TCP/IP stack from top to bottom.</a:t>
            </a:r>
          </a:p>
          <a:p>
            <a:pPr lvl="1"/>
            <a:r>
              <a:rPr sz="1800" i="1">
                <a:solidFill>
                  <a:srgbClr val="B76E00"/>
                </a:solidFill>
                <a:latin typeface="Calibri"/>
              </a:rPr>
              <a:t>Answer: Application, Transport, Internet (Network), Link.</a:t>
            </a:r>
          </a:p>
          <a:p>
            <a:r>
              <a:rPr sz="2200" b="1">
                <a:solidFill>
                  <a:srgbClr val="222222"/>
                </a:solidFill>
                <a:latin typeface="Calibri"/>
              </a:rPr>
              <a:t>2. 1.3.3: What service does DNS provide?</a:t>
            </a:r>
          </a:p>
          <a:p>
            <a:pPr lvl="1"/>
            <a:r>
              <a:rPr sz="1800" i="1">
                <a:solidFill>
                  <a:srgbClr val="B76E00"/>
                </a:solidFill>
                <a:latin typeface="Calibri"/>
              </a:rPr>
              <a:t>Answer: It resolves human-readable domain names into IP addresses, using a hierarchy of name servers.</a:t>
            </a:r>
          </a:p>
          <a:p>
            <a:r>
              <a:rPr sz="2200" b="1">
                <a:solidFill>
                  <a:srgbClr val="222222"/>
                </a:solidFill>
                <a:latin typeface="Calibri"/>
              </a:rPr>
              <a:t>3. 1.3.3: In packet switching, how does data travel across a network?</a:t>
            </a:r>
          </a:p>
          <a:p>
            <a:pPr lvl="1"/>
            <a:r>
              <a:rPr sz="1800" i="1">
                <a:solidFill>
                  <a:srgbClr val="B76E00"/>
                </a:solidFill>
                <a:latin typeface="Calibri"/>
              </a:rPr>
              <a:t>Answer: Data is split into packets, each routed independently across the network and reassembled in order at the destination.</a:t>
            </a:r>
          </a:p>
          <a:p>
            <a:r>
              <a:rPr sz="2200" b="1">
                <a:solidFill>
                  <a:srgbClr val="222222"/>
                </a:solidFill>
                <a:latin typeface="Calibri"/>
              </a:rPr>
              <a:t>4. 2.1.3: What is decomposition?</a:t>
            </a:r>
          </a:p>
          <a:p>
            <a:pPr lvl="1"/>
            <a:r>
              <a:rPr sz="1800" i="1">
                <a:solidFill>
                  <a:srgbClr val="B76E00"/>
                </a:solidFill>
                <a:latin typeface="Calibri"/>
              </a:rPr>
              <a:t>Answer: Breaking a large problem into smaller, more manageable sub-problems, each solved by a sub-procedure.</a:t>
            </a:r>
          </a:p>
          <a:p>
            <a:r>
              <a:rPr sz="2200" b="1">
                <a:solidFill>
                  <a:srgbClr val="222222"/>
                </a:solidFill>
                <a:latin typeface="Calibri"/>
              </a:rPr>
              <a:t>5. 2.1.3: Why can some steps in a solution not be reordered?</a:t>
            </a:r>
          </a:p>
          <a:p>
            <a:pPr lvl="1"/>
            <a:r>
              <a:rPr sz="1800" i="1">
                <a:solidFill>
                  <a:srgbClr val="B76E00"/>
                </a:solidFill>
                <a:latin typeface="Calibri"/>
              </a:rPr>
              <a:t>Answer: A data dependency: a step needs the output of an earlier step, e.g. you cannot pour water before boiling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Thinking logically</a:t>
            </a:r>
            <a:r>
              <a:rPr sz="1800">
                <a:solidFill>
                  <a:srgbClr val="222222"/>
                </a:solidFill>
                <a:latin typeface="Calibri"/>
              </a:rPr>
              <a:t> — Identifying the decision points in a solution and how they determine the flow of control.</a:t>
            </a:r>
          </a:p>
          <a:p>
            <a:r>
              <a:rPr b="1" sz="2000">
                <a:solidFill>
                  <a:srgbClr val="1A365D"/>
                </a:solidFill>
                <a:latin typeface="Calibri"/>
              </a:rPr>
              <a:t>Decision point</a:t>
            </a:r>
            <a:r>
              <a:rPr sz="1800">
                <a:solidFill>
                  <a:srgbClr val="222222"/>
                </a:solidFill>
                <a:latin typeface="Calibri"/>
              </a:rPr>
              <a:t> — A place where execution can branch on a condition: an if, a switch/case or a loop test.</a:t>
            </a:r>
          </a:p>
          <a:p>
            <a:r>
              <a:rPr b="1" sz="2000">
                <a:solidFill>
                  <a:srgbClr val="1A365D"/>
                </a:solidFill>
                <a:latin typeface="Calibri"/>
              </a:rPr>
              <a:t>Boolean condition</a:t>
            </a:r>
            <a:r>
              <a:rPr sz="1800">
                <a:solidFill>
                  <a:srgbClr val="222222"/>
                </a:solidFill>
                <a:latin typeface="Calibri"/>
              </a:rPr>
              <a:t> — An expression that evaluates to true or false, e.g. seatsRequested &lt;= seatsAvailable.</a:t>
            </a:r>
          </a:p>
          <a:p>
            <a:r>
              <a:rPr b="1" sz="2000">
                <a:solidFill>
                  <a:srgbClr val="1A365D"/>
                </a:solidFill>
                <a:latin typeface="Calibri"/>
              </a:rPr>
              <a:t>Comparison operator</a:t>
            </a:r>
            <a:r>
              <a:rPr sz="1800">
                <a:solidFill>
                  <a:srgbClr val="222222"/>
                </a:solidFill>
                <a:latin typeface="Calibri"/>
              </a:rPr>
              <a:t> — ==, !=, &lt;, &gt;, &lt;= or &gt;=, used to compare two values inside a condition.</a:t>
            </a:r>
          </a:p>
          <a:p>
            <a:r>
              <a:rPr b="1" sz="2000">
                <a:solidFill>
                  <a:srgbClr val="1A365D"/>
                </a:solidFill>
                <a:latin typeface="Calibri"/>
              </a:rPr>
              <a:t>Logical operator</a:t>
            </a:r>
            <a:r>
              <a:rPr sz="1800">
                <a:solidFill>
                  <a:srgbClr val="222222"/>
                </a:solidFill>
                <a:latin typeface="Calibri"/>
              </a:rPr>
              <a:t> — AND, OR and NOT, used to combine or invert Boolean conditions.</a:t>
            </a:r>
          </a:p>
          <a:p>
            <a:r>
              <a:rPr b="1" sz="2000">
                <a:solidFill>
                  <a:srgbClr val="1A365D"/>
                </a:solidFill>
                <a:latin typeface="Calibri"/>
              </a:rPr>
              <a:t>Selection</a:t>
            </a:r>
            <a:r>
              <a:rPr sz="1800">
                <a:solidFill>
                  <a:srgbClr val="222222"/>
                </a:solidFill>
                <a:latin typeface="Calibri"/>
              </a:rPr>
              <a:t> — Choosing between branches using if/elseif/else or switch/case; exactly one branch runs.</a:t>
            </a:r>
          </a:p>
          <a:p>
            <a:r>
              <a:rPr b="1" sz="2000">
                <a:solidFill>
                  <a:srgbClr val="1A365D"/>
                </a:solidFill>
                <a:latin typeface="Calibri"/>
              </a:rPr>
              <a:t>Iteration</a:t>
            </a:r>
            <a:r>
              <a:rPr sz="1800">
                <a:solidFill>
                  <a:srgbClr val="222222"/>
                </a:solidFill>
                <a:latin typeface="Calibri"/>
              </a:rPr>
              <a:t> — Repeating statements while or until a condition holds; the loop test is a decision point.</a:t>
            </a:r>
          </a:p>
          <a:p>
            <a:r>
              <a:rPr b="1" sz="2000">
                <a:solidFill>
                  <a:srgbClr val="1A365D"/>
                </a:solidFill>
                <a:latin typeface="Calibri"/>
              </a:rPr>
              <a:t>Flow of control</a:t>
            </a:r>
            <a:r>
              <a:rPr sz="1800">
                <a:solidFill>
                  <a:srgbClr val="222222"/>
                </a:solidFill>
                <a:latin typeface="Calibri"/>
              </a:rPr>
              <a:t> — The order in which a program's statements execute, shaped by its decision points.</a:t>
            </a:r>
          </a:p>
          <a:p>
            <a:r>
              <a:rPr b="1" sz="2000">
                <a:solidFill>
                  <a:srgbClr val="1A365D"/>
                </a:solidFill>
                <a:latin typeface="Calibri"/>
              </a:rPr>
              <a:t>Trace table</a:t>
            </a:r>
            <a:r>
              <a:rPr sz="1800">
                <a:solidFill>
                  <a:srgbClr val="222222"/>
                </a:solidFill>
                <a:latin typeface="Calibri"/>
              </a:rPr>
              <a:t> — A table recording variable values, condition results and output line by line to verify logic.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What does thinking logically mean?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Thinking logically means spotting where a solution must take a decision and branch.</a:t>
            </a:r>
          </a:p>
          <a:p>
            <a:pPr/>
            <a:r>
              <a:rPr sz="2000" b="0">
                <a:solidFill>
                  <a:srgbClr val="222222"/>
                </a:solidFill>
                <a:latin typeface="Calibri"/>
              </a:rPr>
              <a:t>Everyday example: take an umbrella IF it is raining, ELSE leave it at home.</a:t>
            </a:r>
          </a:p>
          <a:p>
            <a:pPr/>
            <a:r>
              <a:rPr sz="2000" b="0">
                <a:solidFill>
                  <a:srgbClr val="222222"/>
                </a:solidFill>
                <a:latin typeface="Calibri"/>
              </a:rPr>
              <a:t>Programs decide using data: an ATM dispenses cash only if amount &lt;= balance.</a:t>
            </a:r>
          </a:p>
          <a:p>
            <a:pPr/>
            <a:r>
              <a:rPr sz="2000" b="0">
                <a:solidFill>
                  <a:srgbClr val="222222"/>
                </a:solidFill>
                <a:latin typeface="Calibri"/>
              </a:rPr>
              <a:t>Every decision has outcomes for true AND false — a logical thinker states both.</a:t>
            </a:r>
          </a:p>
          <a:p>
            <a:pPr/>
            <a:r>
              <a:rPr sz="1800" b="1">
                <a:solidFill>
                  <a:srgbClr val="B76E00"/>
                </a:solidFill>
                <a:latin typeface="Calibri"/>
              </a:rPr>
              <a:t>OCR 2.1.4: identify decision points, determine their conditions, and determine how they affect program flow.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Identifying decision points in a problem</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Scan a scenario for signal words: if, unless, when, otherwise, until, depending on.</a:t>
            </a:r>
          </a:p>
          <a:p>
            <a:pPr/>
            <a:r>
              <a:rPr sz="2000" b="0">
                <a:solidFill>
                  <a:srgbClr val="222222"/>
                </a:solidFill>
                <a:latin typeface="Calibri"/>
              </a:rPr>
              <a:t>Each decision point must reduce to a question answerable true or false.</a:t>
            </a:r>
          </a:p>
          <a:p>
            <a:pPr/>
            <a:r>
              <a:rPr sz="2000" b="0">
                <a:solidFill>
                  <a:srgbClr val="222222"/>
                </a:solidFill>
                <a:latin typeface="Calibri"/>
              </a:rPr>
              <a:t>ATM withdrawal has three: PIN correct? amount within balance and limit? cash available?</a:t>
            </a:r>
          </a:p>
          <a:p>
            <a:pPr/>
            <a:r>
              <a:rPr sz="2000" b="0">
                <a:solidFill>
                  <a:srgbClr val="222222"/>
                </a:solidFill>
                <a:latin typeface="Calibri"/>
              </a:rPr>
              <a:t>Loop tests are decision points too — deciding whether to repeat is still deciding.</a:t>
            </a:r>
          </a:p>
          <a:p>
            <a:pPr/>
            <a:r>
              <a:rPr sz="1800" b="1">
                <a:solidFill>
                  <a:srgbClr val="B76E00"/>
                </a:solidFill>
                <a:latin typeface="Calibri"/>
              </a:rPr>
              <a:t>Missed decision points cause unhandled cases: what should happen when the answer is no?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Writing exact Boolean conditions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condition compares values with ==, !=, &lt;, &gt;, &lt;= or &gt;=.</a:t>
            </a:r>
          </a:p>
          <a:p>
            <a:pPr/>
            <a:r>
              <a:rPr sz="2000" b="0">
                <a:solidFill>
                  <a:srgbClr val="222222"/>
                </a:solidFill>
                <a:latin typeface="Calibri"/>
              </a:rPr>
              <a:t>Vague English fails: 'if enough seats' must become seatsRequested &lt;= seatsAvailable.</a:t>
            </a:r>
          </a:p>
          <a:p>
            <a:pPr/>
            <a:r>
              <a:rPr sz="2000" b="0">
                <a:solidFill>
                  <a:srgbClr val="222222"/>
                </a:solidFill>
                <a:latin typeface="Calibri"/>
              </a:rPr>
              <a:t>Combine conditions with AND (both true), OR (at least one true), NOT (inverts).</a:t>
            </a:r>
          </a:p>
          <a:p>
            <a:pPr/>
            <a:r>
              <a:rPr sz="2000" b="0">
                <a:solidFill>
                  <a:srgbClr val="222222"/>
                </a:solidFill>
                <a:latin typeface="Calibri"/>
              </a:rPr>
              <a:t>Under 16 is age &lt; 16; at least 50 is total &gt;= 50 — choose boundaries deliberately.</a:t>
            </a:r>
          </a:p>
          <a:p>
            <a:pPr lvl="1"/>
            <a:r>
              <a:rPr sz="1600" b="0">
                <a:solidFill>
                  <a:srgbClr val="1A365D"/>
                </a:solidFill>
                <a:latin typeface="Consolas"/>
              </a:rPr>
              <a:t>if age &gt;= 18 AND balance &gt; 0 then</a:t>
            </a:r>
          </a:p>
          <a:p>
            <a:pPr lvl="1"/>
            <a:r>
              <a:rPr sz="1600" b="0">
                <a:solidFill>
                  <a:srgbClr val="1A365D"/>
                </a:solidFill>
                <a:latin typeface="Consolas"/>
              </a:rPr>
              <a:t>   print("Access granted")</a:t>
            </a:r>
          </a:p>
          <a:p>
            <a:pPr lvl="1"/>
            <a:r>
              <a:rPr sz="1600" b="0">
                <a:solidFill>
                  <a:srgbClr val="1A365D"/>
                </a:solidFill>
                <a:latin typeface="Consolas"/>
              </a:rPr>
              <a:t>endif</a:t>
            </a:r>
          </a:p>
          <a:p>
            <a:pPr lvl="1"/>
            <a:r>
              <a:rPr sz="1600" b="0">
                <a:solidFill>
                  <a:srgbClr val="1A365D"/>
                </a:solidFill>
                <a:latin typeface="Consolas"/>
              </a:rPr>
              <a:t>if age &lt; 16 OR isStudent == true then</a:t>
            </a:r>
          </a:p>
          <a:p>
            <a:pPr lvl="1"/>
            <a:r>
              <a:rPr sz="1600" b="0">
                <a:solidFill>
                  <a:srgbClr val="1A365D"/>
                </a:solidFill>
                <a:latin typeface="Consolas"/>
              </a:rPr>
              <a:t>   price = price * 0.5</a:t>
            </a:r>
          </a:p>
          <a:p>
            <a:pPr lvl="1"/>
            <a:r>
              <a:rPr sz="1600" b="0">
                <a:solidFill>
                  <a:srgbClr val="1A365D"/>
                </a:solidFill>
                <a:latin typeface="Consolas"/>
              </a:rPr>
              <a:t>endif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Selection: if, elseif, else and switch</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if/elseif/else tests conditions top to bottom; the first true branch runs.</a:t>
            </a:r>
          </a:p>
          <a:p>
            <a:pPr/>
            <a:r>
              <a:rPr sz="2000" b="0">
                <a:solidFill>
                  <a:srgbClr val="222222"/>
                </a:solidFill>
                <a:latin typeface="Calibri"/>
              </a:rPr>
              <a:t>else is the catch-all when every condition is false; it is optional.</a:t>
            </a:r>
          </a:p>
          <a:p>
            <a:pPr/>
            <a:r>
              <a:rPr sz="2000" b="0">
                <a:solidFill>
                  <a:srgbClr val="222222"/>
                </a:solidFill>
                <a:latin typeface="Calibri"/>
              </a:rPr>
              <a:t>switch/case selects one branch from many values of a single variable.</a:t>
            </a:r>
          </a:p>
          <a:p>
            <a:pPr/>
            <a:r>
              <a:rPr sz="2000" b="0">
                <a:solidFill>
                  <a:srgbClr val="222222"/>
                </a:solidFill>
                <a:latin typeface="Calibri"/>
              </a:rPr>
              <a:t>Nest an if inside another when one test only makes sense after the first.</a:t>
            </a:r>
          </a:p>
          <a:p>
            <a:pPr lvl="1"/>
            <a:r>
              <a:rPr sz="1600" b="0">
                <a:solidFill>
                  <a:srgbClr val="1A365D"/>
                </a:solidFill>
                <a:latin typeface="Consolas"/>
              </a:rPr>
              <a:t>if score &gt;= 70 then</a:t>
            </a:r>
          </a:p>
          <a:p>
            <a:pPr lvl="1"/>
            <a:r>
              <a:rPr sz="1600" b="0">
                <a:solidFill>
                  <a:srgbClr val="1A365D"/>
                </a:solidFill>
                <a:latin typeface="Consolas"/>
              </a:rPr>
              <a:t>   print("Distinction")</a:t>
            </a:r>
          </a:p>
          <a:p>
            <a:pPr lvl="1"/>
            <a:r>
              <a:rPr sz="1600" b="0">
                <a:solidFill>
                  <a:srgbClr val="1A365D"/>
                </a:solidFill>
                <a:latin typeface="Consolas"/>
              </a:rPr>
              <a:t>elseif score &gt;= 55 then</a:t>
            </a:r>
          </a:p>
          <a:p>
            <a:pPr lvl="1"/>
            <a:r>
              <a:rPr sz="1600" b="0">
                <a:solidFill>
                  <a:srgbClr val="1A365D"/>
                </a:solidFill>
                <a:latin typeface="Consolas"/>
              </a:rPr>
              <a:t>   print("Merit")</a:t>
            </a:r>
          </a:p>
          <a:p>
            <a:pPr lvl="1"/>
            <a:r>
              <a:rPr sz="1600" b="0">
                <a:solidFill>
                  <a:srgbClr val="1A365D"/>
                </a:solidFill>
                <a:latin typeface="Consolas"/>
              </a:rPr>
              <a:t>else</a:t>
            </a:r>
          </a:p>
          <a:p>
            <a:pPr lvl="1"/>
            <a:r>
              <a:rPr sz="1600" b="0">
                <a:solidFill>
                  <a:srgbClr val="1A365D"/>
                </a:solidFill>
                <a:latin typeface="Consolas"/>
              </a:rPr>
              <a:t>   print("Pass")</a:t>
            </a:r>
          </a:p>
          <a:p>
            <a:pPr lvl="1"/>
            <a:r>
              <a:rPr sz="1600" b="0">
                <a:solidFill>
                  <a:srgbClr val="1A365D"/>
                </a:solidFill>
                <a:latin typeface="Consolas"/>
              </a:rPr>
              <a:t>endif</a:t>
            </a:r>
          </a:p>
          <a:p>
            <a:pPr lvl="1"/>
            <a:r>
              <a:rPr sz="1600" b="0">
                <a:solidFill>
                  <a:srgbClr val="1A365D"/>
                </a:solidFill>
                <a:latin typeface="Consolas"/>
              </a:rPr>
              <a:t>switch day:</a:t>
            </a:r>
          </a:p>
          <a:p>
            <a:pPr lvl="1"/>
            <a:r>
              <a:rPr sz="1600" b="0">
                <a:solidFill>
                  <a:srgbClr val="1A365D"/>
                </a:solidFill>
                <a:latin typeface="Consolas"/>
              </a:rPr>
              <a:t>   case "Sat":</a:t>
            </a:r>
          </a:p>
          <a:p>
            <a:pPr lvl="1"/>
            <a:r>
              <a:rPr sz="1600" b="0">
                <a:solidFill>
                  <a:srgbClr val="1A365D"/>
                </a:solidFill>
                <a:latin typeface="Consolas"/>
              </a:rPr>
              <a:t>      print("Weekend")</a:t>
            </a:r>
          </a:p>
          <a:p>
            <a:pPr lvl="1"/>
            <a:r>
              <a:rPr sz="1600" b="0">
                <a:solidFill>
                  <a:srgbClr val="1A365D"/>
                </a:solidFill>
                <a:latin typeface="Consolas"/>
              </a:rPr>
              <a:t>   case "Sun":</a:t>
            </a:r>
          </a:p>
          <a:p>
            <a:pPr lvl="1"/>
            <a:r>
              <a:rPr sz="1600" b="0">
                <a:solidFill>
                  <a:srgbClr val="1A365D"/>
                </a:solidFill>
                <a:latin typeface="Consolas"/>
              </a:rPr>
              <a:t>      print("Weekend")</a:t>
            </a:r>
          </a:p>
          <a:p>
            <a:pPr lvl="1"/>
            <a:r>
              <a:rPr sz="1600" b="0">
                <a:solidFill>
                  <a:srgbClr val="1A365D"/>
                </a:solidFill>
                <a:latin typeface="Consolas"/>
              </a:rPr>
              <a:t>   default:</a:t>
            </a:r>
          </a:p>
          <a:p>
            <a:pPr lvl="1"/>
            <a:r>
              <a:rPr sz="1600" b="0">
                <a:solidFill>
                  <a:srgbClr val="1A365D"/>
                </a:solidFill>
                <a:latin typeface="Consolas"/>
              </a:rPr>
              <a:t>      print("Weekday")</a:t>
            </a:r>
          </a:p>
          <a:p>
            <a:pPr lvl="1"/>
            <a:r>
              <a:rPr sz="1600" b="0">
                <a:solidFill>
                  <a:srgbClr val="1A365D"/>
                </a:solidFill>
                <a:latin typeface="Consolas"/>
              </a:rPr>
              <a:t>endswitch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How decisions shape the flow of control</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Flow of control is the route execution takes through the statements.</a:t>
            </a:r>
          </a:p>
          <a:p>
            <a:pPr/>
            <a:r>
              <a:rPr sz="2000" b="0">
                <a:solidFill>
                  <a:srgbClr val="222222"/>
                </a:solidFill>
                <a:latin typeface="Calibri"/>
              </a:rPr>
              <a:t>At a decision, exactly one branch executes; the others are skipped entirely.</a:t>
            </a:r>
          </a:p>
          <a:p>
            <a:pPr/>
            <a:r>
              <a:rPr sz="2000" b="0">
                <a:solidFill>
                  <a:srgbClr val="222222"/>
                </a:solidFill>
                <a:latin typeface="Calibri"/>
              </a:rPr>
              <a:t>After the chosen branch, flow rejoins at endif and continues in sequence.</a:t>
            </a:r>
          </a:p>
          <a:p>
            <a:pPr/>
            <a:r>
              <a:rPr sz="2000" b="0">
                <a:solidFill>
                  <a:srgbClr val="222222"/>
                </a:solidFill>
                <a:latin typeface="Calibri"/>
              </a:rPr>
              <a:t>Different input data drives different paths — same code, different journeys.</a:t>
            </a:r>
          </a:p>
          <a:p>
            <a:pPr/>
            <a:r>
              <a:rPr sz="1800" b="1">
                <a:solidFill>
                  <a:srgbClr val="B76E00"/>
                </a:solidFill>
                <a:latin typeface="Calibri"/>
              </a:rPr>
              <a:t>With score = 60 the elseif branch prints Merit; the Distinction and Pass lines never execute.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Iteration: decisions that repeat</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while loop tests its condition BEFORE the body: it may run zero times.</a:t>
            </a:r>
          </a:p>
          <a:p>
            <a:pPr/>
            <a:r>
              <a:rPr sz="2000" b="0">
                <a:solidFill>
                  <a:srgbClr val="222222"/>
                </a:solidFill>
                <a:latin typeface="Calibri"/>
              </a:rPr>
              <a:t>A do...until loop tests AFTER the body: it always runs at least once.</a:t>
            </a:r>
          </a:p>
          <a:p>
            <a:pPr/>
            <a:r>
              <a:rPr sz="2000" b="0">
                <a:solidFill>
                  <a:srgbClr val="222222"/>
                </a:solidFill>
                <a:latin typeface="Calibri"/>
              </a:rPr>
              <a:t>A for loop hides its decision: continue while the counter is in range.</a:t>
            </a:r>
          </a:p>
          <a:p>
            <a:pPr/>
            <a:r>
              <a:rPr sz="2000" b="0">
                <a:solidFill>
                  <a:srgbClr val="222222"/>
                </a:solidFill>
                <a:latin typeface="Calibri"/>
              </a:rPr>
              <a:t>Every pass through a loop re-takes the same decision with updated values.</a:t>
            </a:r>
          </a:p>
          <a:p>
            <a:pPr lvl="1"/>
            <a:r>
              <a:rPr sz="1600" b="0">
                <a:solidFill>
                  <a:srgbClr val="1A365D"/>
                </a:solidFill>
                <a:latin typeface="Consolas"/>
              </a:rPr>
              <a:t>while attempts &lt; 3</a:t>
            </a:r>
          </a:p>
          <a:p>
            <a:pPr lvl="1"/>
            <a:r>
              <a:rPr sz="1600" b="0">
                <a:solidFill>
                  <a:srgbClr val="1A365D"/>
                </a:solidFill>
                <a:latin typeface="Consolas"/>
              </a:rPr>
              <a:t>   password = input("Enter password")</a:t>
            </a:r>
          </a:p>
          <a:p>
            <a:pPr lvl="1"/>
            <a:r>
              <a:rPr sz="1600" b="0">
                <a:solidFill>
                  <a:srgbClr val="1A365D"/>
                </a:solidFill>
                <a:latin typeface="Consolas"/>
              </a:rPr>
              <a:t>   attempts = attempts + 1</a:t>
            </a:r>
          </a:p>
          <a:p>
            <a:pPr lvl="1"/>
            <a:r>
              <a:rPr sz="1600" b="0">
                <a:solidFill>
                  <a:srgbClr val="1A365D"/>
                </a:solidFill>
                <a:latin typeface="Consolas"/>
              </a:rPr>
              <a:t>endwhile</a:t>
            </a:r>
          </a:p>
          <a:p>
            <a:pPr lvl="1"/>
            <a:r>
              <a:rPr sz="1600" b="0">
                <a:solidFill>
                  <a:srgbClr val="1A365D"/>
                </a:solidFill>
                <a:latin typeface="Consolas"/>
              </a:rPr>
              <a:t>do</a:t>
            </a:r>
          </a:p>
          <a:p>
            <a:pPr lvl="1"/>
            <a:r>
              <a:rPr sz="1600" b="0">
                <a:solidFill>
                  <a:srgbClr val="1A365D"/>
                </a:solidFill>
                <a:latin typeface="Consolas"/>
              </a:rPr>
              <a:t>   guess = input("Guess the number")</a:t>
            </a:r>
          </a:p>
          <a:p>
            <a:pPr lvl="1"/>
            <a:r>
              <a:rPr sz="1600" b="0">
                <a:solidFill>
                  <a:srgbClr val="1A365D"/>
                </a:solidFill>
                <a:latin typeface="Consolas"/>
              </a:rPr>
              <a:t>until guess == target</a:t>
            </a:r>
          </a:p>
          <a:p>
            <a:pPr lvl="1"/>
            <a:r>
              <a:rPr sz="1600" b="0">
                <a:solidFill>
                  <a:srgbClr val="1A365D"/>
                </a:solidFill>
                <a:latin typeface="Consolas"/>
              </a:rPr>
              <a:t>for i = 1 to 5</a:t>
            </a:r>
          </a:p>
          <a:p>
            <a:pPr lvl="1"/>
            <a:r>
              <a:rPr sz="1600" b="0">
                <a:solidFill>
                  <a:srgbClr val="1A365D"/>
                </a:solidFill>
                <a:latin typeface="Consolas"/>
              </a:rPr>
              <a:t>   print(i)</a:t>
            </a:r>
          </a:p>
          <a:p>
            <a:pPr lvl="1"/>
            <a:r>
              <a:rPr sz="1600" b="0">
                <a:solidFill>
                  <a:srgbClr val="1A365D"/>
                </a:solidFill>
                <a:latin typeface="Consolas"/>
              </a:rPr>
              <a:t>next 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Flowcharts: decisions as diamonds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diamond holds one testable Boolean condition, never a vague phrase.</a:t>
            </a:r>
          </a:p>
          <a:p>
            <a:pPr/>
            <a:r>
              <a:rPr sz="2000" b="0">
                <a:solidFill>
                  <a:srgbClr val="222222"/>
                </a:solidFill>
                <a:latin typeface="Calibri"/>
              </a:rPr>
              <a:t>Every diamond has exactly two labelled exits: Yes/True and No/False.</a:t>
            </a:r>
          </a:p>
          <a:p>
            <a:pPr/>
            <a:r>
              <a:rPr sz="2000" b="0">
                <a:solidFill>
                  <a:srgbClr val="222222"/>
                </a:solidFill>
                <a:latin typeface="Calibri"/>
              </a:rPr>
              <a:t>A loop appears as an arrow flowing back to an earlier diamond.</a:t>
            </a:r>
          </a:p>
          <a:p>
            <a:pPr/>
            <a:r>
              <a:rPr sz="2000" b="0">
                <a:solidFill>
                  <a:srgbClr val="222222"/>
                </a:solidFill>
                <a:latin typeface="Calibri"/>
              </a:rPr>
              <a:t>Each diamond maps to an if or a loop test in pseudocode.</a:t>
            </a:r>
          </a:p>
          <a:p>
            <a:pPr/>
            <a:r>
              <a:rPr sz="1800" b="1">
                <a:solidFill>
                  <a:srgbClr val="B76E00"/>
                </a:solidFill>
                <a:latin typeface="Calibri"/>
              </a:rPr>
              <a:t>Audit checks: is the condition testable? are both exits labelled? does every loop path eventually exit?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Order and boundaries: where logic goes wrong</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In an elseif chain the first true condition wins, so order the tests carefully.</a:t>
            </a:r>
          </a:p>
          <a:p>
            <a:pPr/>
            <a:r>
              <a:rPr sz="2000" b="0">
                <a:solidFill>
                  <a:srgbClr val="222222"/>
                </a:solidFill>
                <a:latin typeface="Calibri"/>
              </a:rPr>
              <a:t>Testing score &gt;= 50 before score &gt;= 70 makes the Distinction branch unreachable.</a:t>
            </a:r>
          </a:p>
          <a:p>
            <a:pPr/>
            <a:r>
              <a:rPr sz="2000" b="0">
                <a:solidFill>
                  <a:srgbClr val="222222"/>
                </a:solidFill>
                <a:latin typeface="Calibri"/>
              </a:rPr>
              <a:t>Wrong operator, wrong result: AND where OR is needed rejects valid cases.</a:t>
            </a:r>
          </a:p>
          <a:p>
            <a:pPr/>
            <a:r>
              <a:rPr sz="2000" b="0">
                <a:solidFill>
                  <a:srgbClr val="222222"/>
                </a:solidFill>
                <a:latin typeface="Calibri"/>
              </a:rPr>
              <a:t>Boundary errors: total &gt; 50 wrongly excludes an order of exactly 50.</a:t>
            </a:r>
          </a:p>
          <a:p>
            <a:pPr lvl="1"/>
            <a:r>
              <a:rPr sz="1600" b="0">
                <a:solidFill>
                  <a:srgbClr val="1A365D"/>
                </a:solidFill>
                <a:latin typeface="Consolas"/>
              </a:rPr>
              <a:t>if score &gt;= 50 then</a:t>
            </a:r>
          </a:p>
          <a:p>
            <a:pPr lvl="1"/>
            <a:r>
              <a:rPr sz="1600" b="0">
                <a:solidFill>
                  <a:srgbClr val="1A365D"/>
                </a:solidFill>
                <a:latin typeface="Consolas"/>
              </a:rPr>
              <a:t>   print("Pass")</a:t>
            </a:r>
          </a:p>
          <a:p>
            <a:pPr lvl="1"/>
            <a:r>
              <a:rPr sz="1600" b="0">
                <a:solidFill>
                  <a:srgbClr val="1A365D"/>
                </a:solidFill>
                <a:latin typeface="Consolas"/>
              </a:rPr>
              <a:t>elseif score &gt;= 70 then</a:t>
            </a:r>
          </a:p>
          <a:p>
            <a:pPr lvl="1"/>
            <a:r>
              <a:rPr sz="1600" b="0">
                <a:solidFill>
                  <a:srgbClr val="1A365D"/>
                </a:solidFill>
                <a:latin typeface="Consolas"/>
              </a:rPr>
              <a:t>   print("Distinction")</a:t>
            </a:r>
          </a:p>
          <a:p>
            <a:pPr lvl="1"/>
            <a:r>
              <a:rPr sz="1600" b="0">
                <a:solidFill>
                  <a:srgbClr val="1A365D"/>
                </a:solidFill>
                <a:latin typeface="Consolas"/>
              </a:rPr>
              <a:t>endif</a:t>
            </a:r>
          </a:p>
          <a:p>
            <a:pPr/>
            <a:r>
              <a:rPr sz="1800" b="1">
                <a:solidFill>
                  <a:srgbClr val="B76E00"/>
                </a:solidFill>
                <a:latin typeface="Calibri"/>
              </a:rPr>
              <a:t>Bug: a score of 70 satisfies score &gt;= 50 first, so Distinction can never print. Test highest thresholds first.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Trace tables verify the logical flow</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One column per variable, per condition tested, and one for output.</a:t>
            </a:r>
          </a:p>
          <a:p>
            <a:pPr/>
            <a:r>
              <a:rPr sz="2000" b="0">
                <a:solidFill>
                  <a:srgbClr val="222222"/>
                </a:solidFill>
                <a:latin typeface="Calibri"/>
              </a:rPr>
              <a:t>Add a row every time a value changes or a condition is evaluated.</a:t>
            </a:r>
          </a:p>
          <a:p>
            <a:pPr/>
            <a:r>
              <a:rPr sz="2000" b="0">
                <a:solidFill>
                  <a:srgbClr val="222222"/>
                </a:solidFill>
                <a:latin typeface="Calibri"/>
              </a:rPr>
              <a:t>Tracing proves which branch runs and whether loops terminate correctly.</a:t>
            </a:r>
          </a:p>
          <a:p>
            <a:pPr/>
            <a:r>
              <a:rPr sz="2000" b="0">
                <a:solidFill>
                  <a:srgbClr val="222222"/>
                </a:solidFill>
                <a:latin typeface="Calibri"/>
              </a:rPr>
              <a:t>Always trace boundary inputs: the exact limit, zero, and empty input.</a:t>
            </a:r>
          </a:p>
          <a:p>
            <a:pPr lvl="1"/>
            <a:r>
              <a:rPr sz="1600" b="0">
                <a:solidFill>
                  <a:srgbClr val="1A365D"/>
                </a:solidFill>
                <a:latin typeface="Consolas"/>
              </a:rPr>
              <a:t>n = 5</a:t>
            </a:r>
          </a:p>
          <a:p>
            <a:pPr lvl="1"/>
            <a:r>
              <a:rPr sz="1600" b="0">
                <a:solidFill>
                  <a:srgbClr val="1A365D"/>
                </a:solidFill>
                <a:latin typeface="Consolas"/>
              </a:rPr>
              <a:t>while n &gt; 1</a:t>
            </a:r>
          </a:p>
          <a:p>
            <a:pPr lvl="1"/>
            <a:r>
              <a:rPr sz="1600" b="0">
                <a:solidFill>
                  <a:srgbClr val="1A365D"/>
                </a:solidFill>
                <a:latin typeface="Consolas"/>
              </a:rPr>
              <a:t>   n = n - 2</a:t>
            </a:r>
          </a:p>
          <a:p>
            <a:pPr lvl="1"/>
            <a:r>
              <a:rPr sz="1600" b="0">
                <a:solidFill>
                  <a:srgbClr val="1A365D"/>
                </a:solidFill>
                <a:latin typeface="Consolas"/>
              </a:rPr>
              <a:t>endwhile</a:t>
            </a:r>
          </a:p>
          <a:p>
            <a:pPr lvl="1"/>
            <a:r>
              <a:rPr sz="1600" b="0">
                <a:solidFill>
                  <a:srgbClr val="1A365D"/>
                </a:solidFill>
                <a:latin typeface="Consolas"/>
              </a:rPr>
              <a:t>print(n)</a:t>
            </a:r>
          </a:p>
          <a:p>
            <a:pPr/>
            <a:r>
              <a:rPr sz="1800" b="1">
                <a:solidFill>
                  <a:srgbClr val="B76E00"/>
                </a:solidFill>
                <a:latin typeface="Calibri"/>
              </a:rPr>
              <a:t>Trace: n=5, 5&gt;1 true, n=3; 3&gt;1 true, n=1; 1&gt;1 false, loop exits; output is 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Tracing an elseif chain for three inputs</a:t>
            </a:r>
          </a:p>
          <a:p>
            <a:pPr lvl="1"/>
            <a:r>
              <a:rPr sz="1900" b="0">
                <a:solidFill>
                  <a:srgbClr val="222222"/>
                </a:solidFill>
                <a:latin typeface="Calibri"/>
              </a:rPr>
              <a:t>1. Code: if score &gt;= 70 then grade = "A" elseif score &gt;= 60 then grade = "B" elseif score &gt;= 50 then grade = "C" else grade = "U" endif, then print(grade).</a:t>
            </a:r>
          </a:p>
          <a:p>
            <a:pPr lvl="1"/>
            <a:r>
              <a:rPr sz="1900" b="0">
                <a:solidFill>
                  <a:srgbClr val="222222"/>
                </a:solidFill>
                <a:latin typeface="Calibri"/>
              </a:rPr>
              <a:t>2. Input score = 62: test 62 &gt;= 70 is false, so move to the next condition.</a:t>
            </a:r>
          </a:p>
          <a:p>
            <a:pPr lvl="1"/>
            <a:r>
              <a:rPr sz="1900" b="0">
                <a:solidFill>
                  <a:srgbClr val="222222"/>
                </a:solidFill>
                <a:latin typeface="Calibri"/>
              </a:rPr>
              <a:t>3. Test 62 &gt;= 60 is true: grade becomes "B"; remaining tests are skipped; output B.</a:t>
            </a:r>
          </a:p>
          <a:p>
            <a:pPr lvl="1"/>
            <a:r>
              <a:rPr sz="1900" b="0">
                <a:solidFill>
                  <a:srgbClr val="222222"/>
                </a:solidFill>
                <a:latin typeface="Calibri"/>
              </a:rPr>
              <a:t>4. Input score = 70 (boundary): 70 &gt;= 70 is true, so grade = "A" and output is A — &gt;= includes the boundary.</a:t>
            </a:r>
          </a:p>
          <a:p>
            <a:pPr lvl="1"/>
            <a:r>
              <a:rPr sz="1900" b="0">
                <a:solidFill>
                  <a:srgbClr val="222222"/>
                </a:solidFill>
                <a:latin typeface="Calibri"/>
              </a:rPr>
              <a:t>5. Input score = 50 (boundary): 50 &gt;= 70 false, 50 &gt;= 60 false, 50 &gt;= 50 true, so output is C.</a:t>
            </a:r>
          </a:p>
          <a:p>
            <a:pPr lvl="1"/>
            <a:r>
              <a:rPr sz="1900" b="0">
                <a:solidFill>
                  <a:srgbClr val="222222"/>
                </a:solidFill>
                <a:latin typeface="Calibri"/>
              </a:rPr>
              <a:t>6. Trace table columns: score, score &gt;= 70, score &gt;= 60, score &gt;= 50, grade, output — one row per condition evaluated.</a:t>
            </a:r>
          </a:p>
          <a:p>
            <a:pPr lvl="1"/>
            <a:r>
              <a:rPr sz="1900" b="0">
                <a:solidFill>
                  <a:srgbClr val="222222"/>
                </a:solidFill>
                <a:latin typeface="Calibri"/>
              </a:rPr>
              <a:t>7. Key idea: exactly one branch executes per run; the first true condition captures the flow.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Theme park ride: from scenario to verified pseudocode</a:t>
            </a:r>
          </a:p>
          <a:p>
            <a:pPr lvl="1"/>
            <a:r>
              <a:rPr sz="1900" b="0">
                <a:solidFill>
                  <a:srgbClr val="222222"/>
                </a:solidFill>
                <a:latin typeface="Calibri"/>
              </a:rPr>
              <a:t>1. Rules: riders must be at least 120 cm tall; riders under 8 years old may only ride if accompanied by an adult.</a:t>
            </a:r>
          </a:p>
          <a:p>
            <a:pPr lvl="1"/>
            <a:r>
              <a:rPr sz="1900" b="0">
                <a:solidFill>
                  <a:srgbClr val="222222"/>
                </a:solidFill>
                <a:latin typeface="Calibri"/>
              </a:rPr>
              <a:t>2. Decision point 1: height check. Exact condition: height &gt;= 120. False outcome: refuse with "Too short to ride".</a:t>
            </a:r>
          </a:p>
          <a:p>
            <a:pPr lvl="1"/>
            <a:r>
              <a:rPr sz="1900" b="0">
                <a:solidFill>
                  <a:srgbClr val="222222"/>
                </a:solidFill>
                <a:latin typeface="Calibri"/>
              </a:rPr>
              <a:t>3. Decision point 2 (only reached if tall enough): age &gt;= 8 OR accompanied == true. False outcome: "Must be accompanied by an adult".</a:t>
            </a:r>
          </a:p>
          <a:p>
            <a:pPr lvl="1"/>
            <a:r>
              <a:rPr sz="1900" b="0">
                <a:solidFill>
                  <a:srgbClr val="222222"/>
                </a:solidFill>
                <a:latin typeface="Calibri"/>
              </a:rPr>
              <a:t>4. Pseudocode: if height &gt;= 120 then, nested: if age &gt;= 8 OR accompanied == true then print("Ride") else print("Must be accompanied by an adult") endif, else print("Too short to ride") endif.</a:t>
            </a:r>
          </a:p>
          <a:p>
            <a:pPr lvl="1"/>
            <a:r>
              <a:rPr sz="1900" b="0">
                <a:solidFill>
                  <a:srgbClr val="222222"/>
                </a:solidFill>
                <a:latin typeface="Calibri"/>
              </a:rPr>
              <a:t>5. Verify height = 130, age = 7, accompanied = false: 130 &gt;= 120 true; 7 &gt;= 8 false OR false is false; output is "Must be accompanied by an adult".</a:t>
            </a:r>
          </a:p>
          <a:p>
            <a:pPr lvl="1"/>
            <a:r>
              <a:rPr sz="1900" b="0">
                <a:solidFill>
                  <a:srgbClr val="222222"/>
                </a:solidFill>
                <a:latin typeface="Calibri"/>
              </a:rPr>
              <a:t>6. Verify height = 119, age = 30: 119 &gt;= 120 false, so the outer else runs; output is "Too short to ride" — the age test never executes.</a:t>
            </a:r>
          </a:p>
          <a:p>
            <a:pPr lvl="1"/>
            <a:r>
              <a:rPr sz="1900" b="0">
                <a:solidFill>
                  <a:srgbClr val="222222"/>
                </a:solidFill>
                <a:latin typeface="Calibri"/>
              </a:rPr>
              <a:t>7. Verify boundary height = 120, age = 8: 120 &gt;= 120 true; 8 &gt;= 8 true; output is "Ride".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Find and fix the logic errors in a delivery routine</a:t>
            </a:r>
          </a:p>
          <a:p>
            <a:pPr lvl="1"/>
            <a:r>
              <a:rPr sz="1900" b="0">
                <a:solidFill>
                  <a:srgbClr val="222222"/>
                </a:solidFill>
                <a:latin typeface="Calibri"/>
              </a:rPr>
              <a:t>1. Intended rule: delivery is free only when the total is at least 50 pounds AND the customer is a member.</a:t>
            </a:r>
          </a:p>
          <a:p>
            <a:pPr lvl="1"/>
            <a:r>
              <a:rPr sz="1900" b="0">
                <a:solidFill>
                  <a:srgbClr val="222222"/>
                </a:solidFill>
                <a:latin typeface="Calibri"/>
              </a:rPr>
              <a:t>2. Buggy code: if total &gt; 50 OR member == true then deliveryCost = 0 else deliveryCost = 4.99 endif.</a:t>
            </a:r>
          </a:p>
          <a:p>
            <a:pPr lvl="1"/>
            <a:r>
              <a:rPr sz="1900" b="0">
                <a:solidFill>
                  <a:srgbClr val="222222"/>
                </a:solidFill>
                <a:latin typeface="Calibri"/>
              </a:rPr>
              <a:t>3. Test total = 60, member = false: 60 &gt; 50 true, OR makes the whole condition true, delivery is free — wrong, non-members should pay. The OR should be AND.</a:t>
            </a:r>
          </a:p>
          <a:p>
            <a:pPr lvl="1"/>
            <a:r>
              <a:rPr sz="1900" b="0">
                <a:solidFill>
                  <a:srgbClr val="222222"/>
                </a:solidFill>
                <a:latin typeface="Calibri"/>
              </a:rPr>
              <a:t>4. Test total = 50, member = true with AND but still &gt; 50: 50 &gt; 50 is false, so the customer pays 4.99 — wrong, exactly 50 should qualify. The &gt; should be &gt;=.</a:t>
            </a:r>
          </a:p>
          <a:p>
            <a:pPr lvl="1"/>
            <a:r>
              <a:rPr sz="1900" b="0">
                <a:solidFill>
                  <a:srgbClr val="222222"/>
                </a:solidFill>
                <a:latin typeface="Calibri"/>
              </a:rPr>
              <a:t>5. Fixed code: if total &gt;= 50 AND member == true then deliveryCost = 0 else deliveryCost = 4.99 endif.</a:t>
            </a:r>
          </a:p>
          <a:p>
            <a:pPr lvl="1"/>
            <a:r>
              <a:rPr sz="1900" b="0">
                <a:solidFill>
                  <a:srgbClr val="222222"/>
                </a:solidFill>
                <a:latin typeface="Calibri"/>
              </a:rPr>
              <a:t>6. Re-verify all cases: (60, false) gives 4.99 correct; (50, true) gives 0 correct; (49.99, true) gives 4.99 correct; (50, false) gives 4.99 correct.</a:t>
            </a:r>
          </a:p>
          <a:p>
            <a:pPr lvl="1"/>
            <a:r>
              <a:rPr sz="1900" b="0">
                <a:solidFill>
                  <a:srgbClr val="222222"/>
                </a:solidFill>
                <a:latin typeface="Calibri"/>
              </a:rPr>
              <a:t>7. Lesson: check the logical operator against the rule wording AND test the exact boundary value.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Story to Flowchart: the leisure centre  (25 min)</a:t>
            </a:r>
          </a:p>
          <a:p>
            <a:pPr lvl="1"/>
            <a:r>
              <a:rPr sz="2000" b="0">
                <a:solidFill>
                  <a:srgbClr val="222222"/>
                </a:solidFill>
                <a:latin typeface="Calibri"/>
              </a:rPr>
              <a:t>In pairs, read the narrative: members swipe a card; a valid card admits them, an expired card means renewing at the desk first; non-members pay on the door unless the pool is at capacity, in which case they wait; everyone showers before swimming; Sam swims until 40 lengths are done or the closing whistle sounds.</a:t>
            </a:r>
          </a:p>
          <a:p>
            <a:pPr lvl="1"/>
            <a:r>
              <a:rPr sz="2000" b="0">
                <a:solidFill>
                  <a:srgbClr val="222222"/>
                </a:solidFill>
                <a:latin typeface="Calibri"/>
              </a:rPr>
              <a:t>Highlight every point where the story branches or repeats, and underline the condition driving each.</a:t>
            </a:r>
          </a:p>
          <a:p>
            <a:pPr lvl="1"/>
            <a:r>
              <a:rPr sz="2000" b="0">
                <a:solidFill>
                  <a:srgbClr val="222222"/>
                </a:solidFill>
                <a:latin typeface="Calibri"/>
              </a:rPr>
              <a:t>Rewrite each condition as an exact Boolean with both outcomes stated: if cardValid, if poolCount &lt; capacity, while lengths &lt; 40 AND whistle == false.</a:t>
            </a:r>
          </a:p>
          <a:p>
            <a:pPr lvl="1"/>
            <a:r>
              <a:rPr sz="2000" b="0">
                <a:solidFill>
                  <a:srgbClr val="222222"/>
                </a:solidFill>
                <a:latin typeface="Calibri"/>
              </a:rPr>
              <a:t>Draw the flowchart: a diamond for every decision with both exits labelled Yes/No, and the swimming loop as a backwards arrow.</a:t>
            </a:r>
          </a:p>
          <a:p>
            <a:pPr lvl="1"/>
            <a:r>
              <a:rPr sz="2000" b="0">
                <a:solidFill>
                  <a:srgbClr val="222222"/>
                </a:solidFill>
                <a:latin typeface="Calibri"/>
              </a:rPr>
              <a:t>Swap with another pair and audit: is every diamond a testable condition? Does every diamond have exactly two labelled exits? Does the loop's condition actually terminate?</a:t>
            </a:r>
          </a:p>
          <a:p>
            <a:pPr/>
            <a:r>
              <a:rPr sz="1800" b="0">
                <a:solidFill>
                  <a:srgbClr val="B76E00"/>
                </a:solidFill>
                <a:latin typeface="Calibri"/>
              </a:rPr>
              <a:t>Stretch: Add a new rule of your own (under-16s must be accompanied) with minimal redrawing, and state which existing paths your new diamond affects.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Always, Sometimes, Never: conditions and branches  (15 min)</a:t>
            </a:r>
          </a:p>
          <a:p>
            <a:pPr lvl="1"/>
            <a:r>
              <a:rPr sz="2000" b="0">
                <a:solidFill>
                  <a:srgbClr val="222222"/>
                </a:solidFill>
                <a:latin typeface="Calibri"/>
              </a:rPr>
              <a:t>In pairs, classify each statement as Always, Sometimes or Never, supporting every verdict with a pseudocode example or counter-example.</a:t>
            </a:r>
          </a:p>
          <a:p>
            <a:pPr lvl="1"/>
            <a:r>
              <a:rPr sz="2000" b="0">
                <a:solidFill>
                  <a:srgbClr val="222222"/>
                </a:solidFill>
                <a:latin typeface="Calibri"/>
              </a:rPr>
              <a:t>Statements: a decision point has exactly two outcomes; if x &gt;= 10 and if NOT (x &lt; 10) choose the same branch; the else branch is optional; a while loop's body executes at least once; swapping two if statements never changes the output; every loop contains a decision point; 'if the user is old enough' is valid in a flowchart diamond.</a:t>
            </a:r>
          </a:p>
          <a:p>
            <a:pPr lvl="1"/>
            <a:r>
              <a:rPr sz="2000" b="0">
                <a:solidFill>
                  <a:srgbClr val="222222"/>
                </a:solidFill>
                <a:latin typeface="Calibri"/>
              </a:rPr>
              <a:t>Merge into fours and settle disagreements by tracing concrete values through the disputed code.</a:t>
            </a:r>
          </a:p>
          <a:p>
            <a:pPr lvl="1"/>
            <a:r>
              <a:rPr sz="2000" b="0">
                <a:solidFill>
                  <a:srgbClr val="222222"/>
                </a:solidFill>
                <a:latin typeface="Calibri"/>
              </a:rPr>
              <a:t>Class debrief on the two most contested: while may run zero times (contrast do...until), and swapping overlapping elseif tests changes output (trace x = 15 through x &gt; 10 versus x &gt; 5).</a:t>
            </a:r>
          </a:p>
          <a:p>
            <a:pPr/>
            <a:r>
              <a:rPr sz="1800" b="0">
                <a:solidFill>
                  <a:srgbClr val="B76E00"/>
                </a:solidFill>
                <a:latin typeface="Calibri"/>
              </a:rPr>
              <a:t>Stretch: Write one statement of your own whose answer flips between Sometimes and Always depending on the construct assumed, and defend both readings.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Odd One Out: spot the decision  (10 min)</a:t>
            </a:r>
          </a:p>
          <a:p>
            <a:pPr lvl="1"/>
            <a:r>
              <a:rPr sz="2000" b="0">
                <a:solidFill>
                  <a:srgbClr val="222222"/>
                </a:solidFill>
                <a:latin typeface="Calibri"/>
              </a:rPr>
              <a:t>In threes, find the odd one out in each set, justifying with the terms decision point, condition and flow of control.</a:t>
            </a:r>
          </a:p>
          <a:p>
            <a:pPr lvl="1"/>
            <a:r>
              <a:rPr sz="2000" b="0">
                <a:solidFill>
                  <a:srgbClr val="222222"/>
                </a:solidFill>
                <a:latin typeface="Calibri"/>
              </a:rPr>
              <a:t>Set A: check password matches; add item to basket; check age &gt;= 18; check stock &gt; 0.</a:t>
            </a:r>
          </a:p>
          <a:p>
            <a:pPr lvl="1"/>
            <a:r>
              <a:rPr sz="2000" b="0">
                <a:solidFill>
                  <a:srgbClr val="222222"/>
                </a:solidFill>
                <a:latin typeface="Calibri"/>
              </a:rPr>
              <a:t>Set B: while queue not empty; if balance &lt; price; x = x + 1; until guess == target.</a:t>
            </a:r>
          </a:p>
          <a:p>
            <a:pPr lvl="1"/>
            <a:r>
              <a:rPr sz="2000" b="0">
                <a:solidFill>
                  <a:srgbClr val="222222"/>
                </a:solidFill>
                <a:latin typeface="Calibri"/>
              </a:rPr>
              <a:t>Set C: if it's sunny; if temperature &gt; 25; if raining == true; if humidity &gt;= 80.</a:t>
            </a:r>
          </a:p>
          <a:p>
            <a:pPr lvl="1"/>
            <a:r>
              <a:rPr sz="2000" b="0">
                <a:solidFill>
                  <a:srgbClr val="222222"/>
                </a:solidFill>
                <a:latin typeface="Calibri"/>
              </a:rPr>
              <a:t>Inversion round: rewrite each odd one so it fits the set, e.g. turn 'add item to basket' into if stock &gt; 0 then add item, and make 'if it's sunny' testable as if sunshineHours &gt; 6.</a:t>
            </a:r>
          </a:p>
          <a:p>
            <a:pPr/>
            <a:r>
              <a:rPr sz="1800" b="0">
                <a:solidFill>
                  <a:srgbClr val="B76E00"/>
                </a:solidFill>
                <a:latin typeface="Calibri"/>
              </a:rPr>
              <a:t>Stretch: For set B, classify each decision as selection or iteration and explain how each alters flow of control differently: branch once versus repeat.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State what is meant by a decision point in a program. (1 mark)</a:t>
            </a:r>
          </a:p>
          <a:p>
            <a:r>
              <a:rPr sz="2000" b="1">
                <a:solidFill>
                  <a:srgbClr val="222222"/>
                </a:solidFill>
                <a:latin typeface="Calibri"/>
              </a:rPr>
              <a:t>2. A shop gives a 10 per cent discount when a customer spends over 30 pounds. Write the exact Boolean condition for this decision and state the outcome of both branches. (3 marks)</a:t>
            </a:r>
          </a:p>
          <a:p>
            <a:r>
              <a:rPr sz="2000" b="1">
                <a:solidFill>
                  <a:srgbClr val="222222"/>
                </a:solidFill>
                <a:latin typeface="Calibri"/>
              </a:rPr>
              <a:t>3. Explain how decision points determine the flow of control through a program. (3 marks)</a:t>
            </a:r>
          </a:p>
          <a:p>
            <a:r>
              <a:rPr sz="2000" b="1">
                <a:solidFill>
                  <a:srgbClr val="222222"/>
                </a:solidFill>
                <a:latin typeface="Calibri"/>
              </a:rPr>
              <a:t>4. State the output of this code: count = 0, num = 7, while num &gt; 1, num = num DIV 2, count = count + 1, endwhile, print(count). (2 marks)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State what is meant by a decision point in a program. (1 mark)</a:t>
            </a:r>
          </a:p>
          <a:p>
            <a:pPr lvl="1"/>
            <a:r>
              <a:rPr sz="1800" i="1">
                <a:solidFill>
                  <a:srgbClr val="B76E00"/>
                </a:solidFill>
                <a:latin typeface="Calibri"/>
              </a:rPr>
              <a:t>Answer: A point where the flow of execution can branch in different directions depending on whether a condition is true or false, e.g. an if statement or a loop test. (1)</a:t>
            </a:r>
          </a:p>
          <a:p>
            <a:r>
              <a:rPr sz="2000" b="1">
                <a:solidFill>
                  <a:srgbClr val="222222"/>
                </a:solidFill>
                <a:latin typeface="Calibri"/>
              </a:rPr>
              <a:t>2. A shop gives a 10 per cent discount when a customer spends over 30 pounds. Write the exact Boolean condition for this decision and state the outcome of both branches. (3 marks)</a:t>
            </a:r>
          </a:p>
          <a:p>
            <a:pPr lvl="1"/>
            <a:r>
              <a:rPr sz="1800" i="1">
                <a:solidFill>
                  <a:srgbClr val="B76E00"/>
                </a:solidFill>
                <a:latin typeface="Calibri"/>
              </a:rPr>
              <a:t>Answer: Condition: total &gt; 30 (1). True branch: the 10 per cent discount is applied, e.g. total = total * 0.9 (1). False branch: no discount is applied and the customer pays the full total (1). Note: 'over 30' means exactly 30 pounds does not qualify, so &gt; not &gt;=.</a:t>
            </a:r>
          </a:p>
          <a:p>
            <a:r>
              <a:rPr sz="2000" b="1">
                <a:solidFill>
                  <a:srgbClr val="222222"/>
                </a:solidFill>
                <a:latin typeface="Calibri"/>
              </a:rPr>
              <a:t>3. Explain how decision points determine the flow of control through a program. (3 marks)</a:t>
            </a:r>
          </a:p>
          <a:p>
            <a:pPr lvl="1"/>
            <a:r>
              <a:rPr sz="1800" i="1">
                <a:solidFill>
                  <a:srgbClr val="B76E00"/>
                </a:solidFill>
                <a:latin typeface="Calibri"/>
              </a:rPr>
              <a:t>Answer: Flow of control is the order in which statements execute (1). At each decision point a condition is evaluated and exactly one branch runs while the others are skipped, so different data takes different routes (1). Loop tests are also decision points, deciding whether statements repeat or the loop exits (1).</a:t>
            </a:r>
          </a:p>
          <a:p>
            <a:r>
              <a:rPr sz="2000" b="1">
                <a:solidFill>
                  <a:srgbClr val="222222"/>
                </a:solidFill>
                <a:latin typeface="Calibri"/>
              </a:rPr>
              <a:t>4. State the output of this code: count = 0, num = 7, while num &gt; 1, num = num DIV 2, count = count + 1, endwhile, print(count). (2 marks)</a:t>
            </a:r>
          </a:p>
          <a:p>
            <a:pPr lvl="1"/>
            <a:r>
              <a:rPr sz="1800" i="1">
                <a:solidFill>
                  <a:srgbClr val="B76E00"/>
                </a:solidFill>
                <a:latin typeface="Calibri"/>
              </a:rPr>
              <a:t>Answer: Output is 2 (2). Trace: num=7, 7&gt;1 true, num = 7 DIV 2 = 3, count=1; 3&gt;1 true, num = 3 DIV 2 = 1, count=2; 1&gt;1 false so the loop exits and 2 is printed. (1 mark for a correct trace with a wrong final value.)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programmer writes if total &gt; 50 then print("Free delivery") but the rule is that orders of 50 pounds or more qualify. Identify the error and write the corrected condition. (2 marks)</a:t>
            </a:r>
          </a:p>
          <a:p>
            <a:r>
              <a:rPr sz="2000" b="1">
                <a:solidFill>
                  <a:srgbClr val="222222"/>
                </a:solidFill>
                <a:latin typeface="Calibri"/>
              </a:rPr>
              <a:t>2. A cash machine allows a withdrawal only if the PIN is correct and the amount is no more than the balance. Identify two decision points and write the exact condition tested at each. (4 marks)</a:t>
            </a:r>
          </a:p>
          <a:p>
            <a:r>
              <a:rPr sz="2000" b="1">
                <a:solidFill>
                  <a:srgbClr val="222222"/>
                </a:solidFill>
                <a:latin typeface="Calibri"/>
              </a:rPr>
              <a:t>3. Describe the difference in flow of control between a while loop and a do...until loop. (2 marks)</a:t>
            </a:r>
          </a:p>
          <a:p>
            <a:r>
              <a:rPr sz="2000" b="1">
                <a:solidFill>
                  <a:srgbClr val="222222"/>
                </a:solidFill>
                <a:latin typeface="Calibri"/>
              </a:rPr>
              <a:t>4. A routine tests if score &gt;= 50 then print("Pass") elseif score &gt;= 70 then print("Distinction") endif. Explain why the Distinction branch can never execute and how to fix it. (3 marks)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programmer writes if total &gt; 50 then print("Free delivery") but the rule is that orders of 50 pounds or more qualify. Identify the error and write the corrected condition. (2 marks)</a:t>
            </a:r>
          </a:p>
          <a:p>
            <a:pPr lvl="1"/>
            <a:r>
              <a:rPr sz="1800" i="1">
                <a:solidFill>
                  <a:srgbClr val="B76E00"/>
                </a:solidFill>
                <a:latin typeface="Calibri"/>
              </a:rPr>
              <a:t>Answer: Error: &gt; excludes the boundary, so an order of exactly 50 does not get free delivery (1). Correction: if total &gt;= 50 then (1).</a:t>
            </a:r>
          </a:p>
          <a:p>
            <a:r>
              <a:rPr sz="2000" b="1">
                <a:solidFill>
                  <a:srgbClr val="222222"/>
                </a:solidFill>
                <a:latin typeface="Calibri"/>
              </a:rPr>
              <a:t>2. A cash machine allows a withdrawal only if the PIN is correct and the amount is no more than the balance. Identify two decision points and write the exact condition tested at each. (4 marks)</a:t>
            </a:r>
          </a:p>
          <a:p>
            <a:pPr lvl="1"/>
            <a:r>
              <a:rPr sz="1800" i="1">
                <a:solidFill>
                  <a:srgbClr val="B76E00"/>
                </a:solidFill>
                <a:latin typeface="Calibri"/>
              </a:rPr>
              <a:t>Answer: Decision point 1: check the PIN (1), condition: enteredPIN == storedPIN (1). Decision point 2: check the amount (1), condition: amount &lt;= balance (1). Accept a combined check such as pinCorrect == true AND amount &lt;= balance for the second pair of marks.</a:t>
            </a:r>
          </a:p>
          <a:p>
            <a:r>
              <a:rPr sz="2000" b="1">
                <a:solidFill>
                  <a:srgbClr val="222222"/>
                </a:solidFill>
                <a:latin typeface="Calibri"/>
              </a:rPr>
              <a:t>3. Describe the difference in flow of control between a while loop and a do...until loop. (2 marks)</a:t>
            </a:r>
          </a:p>
          <a:p>
            <a:pPr lvl="1"/>
            <a:r>
              <a:rPr sz="1800" i="1">
                <a:solidFill>
                  <a:srgbClr val="B76E00"/>
                </a:solidFill>
                <a:latin typeface="Calibri"/>
              </a:rPr>
              <a:t>Answer: A while loop tests its condition before the body, so the body may execute zero times if the condition is false initially (1). A do...until loop tests after the body, so the body always executes at least once (1).</a:t>
            </a:r>
          </a:p>
          <a:p>
            <a:r>
              <a:rPr sz="2000" b="1">
                <a:solidFill>
                  <a:srgbClr val="222222"/>
                </a:solidFill>
                <a:latin typeface="Calibri"/>
              </a:rPr>
              <a:t>4. A routine tests if score &gt;= 50 then print("Pass") elseif score &gt;= 70 then print("Distinction") endif. Explain why the Distinction branch can never execute and how to fix it. (3 marks)</a:t>
            </a:r>
          </a:p>
          <a:p>
            <a:pPr lvl="1"/>
            <a:r>
              <a:rPr sz="1800" i="1">
                <a:solidFill>
                  <a:srgbClr val="B76E00"/>
                </a:solidFill>
                <a:latin typeface="Calibri"/>
              </a:rPr>
              <a:t>Answer: Conditions are tested top to bottom and the first true one runs (1). Any score of 70 or more also satisfies score &gt;= 50, so the first branch always captures it and the elseif is unreachable (1). Fix: test the higher threshold first, i.e. if score &gt;= 70 then Distinction elseif score &gt;= 50 then Pass (1).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Common misconceptions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 Students often think every if needs an else, but else is optional — with no else and a false condition, flow simply continues after endif.</a:t>
            </a:r>
          </a:p>
          <a:p>
            <a:pPr/>
            <a:r>
              <a:rPr sz="2000" b="0">
                <a:solidFill>
                  <a:srgbClr val="222222"/>
                </a:solidFill>
                <a:latin typeface="Calibri"/>
              </a:rPr>
              <a:t>✗ Students often think a while loop always runs at least once, but it tests before the body and may run zero times; only do...until guarantees one execution.</a:t>
            </a:r>
          </a:p>
          <a:p>
            <a:pPr/>
            <a:r>
              <a:rPr sz="2000" b="0">
                <a:solidFill>
                  <a:srgbClr val="222222"/>
                </a:solidFill>
                <a:latin typeface="Calibri"/>
              </a:rPr>
              <a:t>✗ Students often think 'over 50' and 'at least 50' are the same condition, but &gt; 50 excludes exactly 50 while &gt;= 50 includes it — boundary operators change behaviour.</a:t>
            </a:r>
          </a:p>
          <a:p>
            <a:pPr/>
            <a:r>
              <a:rPr sz="2000" b="0">
                <a:solidFill>
                  <a:srgbClr val="222222"/>
                </a:solidFill>
                <a:latin typeface="Calibri"/>
              </a:rPr>
              <a:t>✗ Students often think reordering elseif branches is harmless, but the first true condition wins, so wrong ordering creates unreachable branches and wrong outputs.</a:t>
            </a:r>
          </a:p>
          <a:p>
            <a:pPr/>
            <a:r>
              <a:rPr sz="2000" b="0">
                <a:solidFill>
                  <a:srgbClr val="222222"/>
                </a:solidFill>
                <a:latin typeface="Calibri"/>
              </a:rPr>
              <a:t>✗ Students often write AND when the rule needs OR (or vice versa): 'under 16 or a student gets a discount' with AND wrongly excludes most valid customers.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How the exam asks this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Command words: identify (name the decision points), state (give the exact condition), describe/explain (how the decisions affect the flow, both branches), write (pseudocode or a corrected condition).</a:t>
            </a:r>
          </a:p>
          <a:p>
            <a:pPr/>
            <a:r>
              <a:rPr sz="2000" b="0">
                <a:solidFill>
                  <a:srgbClr val="222222"/>
                </a:solidFill>
                <a:latin typeface="Calibri"/>
              </a:rPr>
              <a:t>Typical tariffs: 1-2 marks for stating a condition, 3-4 marks for identifying decision points and conditions in a scenario, 2-3 marks for a trace or a find-and-fix.</a:t>
            </a:r>
          </a:p>
          <a:p>
            <a:pPr/>
            <a:r>
              <a:rPr sz="2000" b="0">
                <a:solidFill>
                  <a:srgbClr val="222222"/>
                </a:solidFill>
                <a:latin typeface="Calibri"/>
              </a:rPr>
              <a:t>Example stem: 'A vending machine dispenses an item only if it is in stock and enough money has been inserted. Identify the decision points involved and state the condition tested at each. (4 marks)'</a:t>
            </a:r>
          </a:p>
          <a:p>
            <a:pPr/>
            <a:r>
              <a:rPr sz="2000" b="0">
                <a:solidFill>
                  <a:srgbClr val="222222"/>
                </a:solidFill>
                <a:latin typeface="Calibri"/>
              </a:rPr>
              <a:t>Examiners reward exact Booleans applied to the scenario's own variables with both outcomes stated — vague phrases like 'if there is enough money' lose the mark.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A car park charges 3 pounds for stays up to 2 hours, 6 pounds for stays up to 5 hours, and 10 pounds otherwise; disabled badge holders always pay half. Identify every decision point, write each exact Boolean condition, then write the full routine in the OCR Exam Reference Language and verify it with a trace table for stays of 2, 5 and 6 hours with and without a badge.</a:t>
            </a:r>
          </a:p>
          <a:p>
            <a:r>
              <a:rPr sz="2400" b="1">
                <a:solidFill>
                  <a:srgbClr val="B76E00"/>
                </a:solidFill>
                <a:latin typeface="Calibri"/>
              </a:rPr>
              <a:t>Challenge / stretch</a:t>
            </a:r>
          </a:p>
          <a:p>
            <a:pPr lvl="1"/>
            <a:r>
              <a:rPr sz="2200" b="0">
                <a:solidFill>
                  <a:srgbClr val="222222"/>
                </a:solidFill>
                <a:latin typeface="Calibri"/>
              </a:rPr>
              <a:t>The leisure centre loop exits when 40 lengths are done or the whistle sounds, written as while lengths &lt; 40 AND whistle == false. Use De Morgan's laws to write the equivalent exit condition for a do...until version, prove the two are logically equivalent with a truth table over both variables, and explain which version could behave differently when lengths starts at 40.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A cinema discounts customers under 16. Write the exact condition.</a:t>
            </a:r>
          </a:p>
          <a:p>
            <a:r>
              <a:rPr sz="2200" b="1">
                <a:solidFill>
                  <a:srgbClr val="222222"/>
                </a:solidFill>
                <a:latin typeface="Calibri"/>
              </a:rPr>
              <a:t>2. In if x &gt; 5 then print("A") else print("B") endif with x = 5, what is the output and why?</a:t>
            </a:r>
          </a:p>
          <a:p>
            <a:r>
              <a:rPr sz="2200" b="1">
                <a:solidFill>
                  <a:srgbClr val="222222"/>
                </a:solidFill>
                <a:latin typeface="Calibri"/>
              </a:rPr>
              <a:t>3. Name the three kinds of decision point a program can contain.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A cinema discounts customers under 16. Write the exact condition.</a:t>
            </a:r>
          </a:p>
          <a:p>
            <a:pPr lvl="1"/>
            <a:r>
              <a:rPr sz="1800" i="1">
                <a:solidFill>
                  <a:srgbClr val="B76E00"/>
                </a:solidFill>
                <a:latin typeface="Calibri"/>
              </a:rPr>
              <a:t>Answer: if age &lt; 16 — the &lt; operator, since exactly 16 pays full price.</a:t>
            </a:r>
          </a:p>
          <a:p>
            <a:r>
              <a:rPr sz="2200" b="1">
                <a:solidFill>
                  <a:srgbClr val="222222"/>
                </a:solidFill>
                <a:latin typeface="Calibri"/>
              </a:rPr>
              <a:t>2. In if x &gt; 5 then print("A") else print("B") endif with x = 5, what is the output and why?</a:t>
            </a:r>
          </a:p>
          <a:p>
            <a:pPr lvl="1"/>
            <a:r>
              <a:rPr sz="1800" i="1">
                <a:solidFill>
                  <a:srgbClr val="B76E00"/>
                </a:solidFill>
                <a:latin typeface="Calibri"/>
              </a:rPr>
              <a:t>Answer: B — 5 &gt; 5 is false, so the else branch runs; exactly one branch executes.</a:t>
            </a:r>
          </a:p>
          <a:p>
            <a:r>
              <a:rPr sz="2200" b="1">
                <a:solidFill>
                  <a:srgbClr val="222222"/>
                </a:solidFill>
                <a:latin typeface="Calibri"/>
              </a:rPr>
              <a:t>3. Name the three kinds of decision point a program can contain.</a:t>
            </a:r>
          </a:p>
          <a:p>
            <a:pPr lvl="1"/>
            <a:r>
              <a:rPr sz="1800" i="1">
                <a:solidFill>
                  <a:srgbClr val="B76E00"/>
                </a:solidFill>
                <a:latin typeface="Calibri"/>
              </a:rPr>
              <a:t>Answer: if (selection), switch/case (multi-way selection) and loop tests such as while or until (iteration).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