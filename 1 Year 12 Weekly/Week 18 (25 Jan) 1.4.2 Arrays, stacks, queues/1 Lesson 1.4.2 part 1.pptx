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1.4.2 Data Structures (part 1)</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18 (25 Jan)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describe arrays (1D, 2D and 3D), records, lists and tuples, and choose the right one for given data.</a:t>
            </a:r>
          </a:p>
          <a:p>
            <a:pPr lvl="1"/>
            <a:r>
              <a:rPr sz="2200" b="0">
                <a:solidFill>
                  <a:srgbClr val="222222"/>
                </a:solidFill>
                <a:latin typeface="Calibri"/>
              </a:rPr>
              <a:t>I can use index arithmetic to locate an element in a 1D or 2D array.</a:t>
            </a:r>
          </a:p>
          <a:p>
            <a:pPr lvl="1"/>
            <a:r>
              <a:rPr sz="2200" b="0">
                <a:solidFill>
                  <a:srgbClr val="222222"/>
                </a:solidFill>
                <a:latin typeface="Calibri"/>
              </a:rPr>
              <a:t>I can trace push, pop and peek on a stack using a stack pointer, and identify overflow and underflow.</a:t>
            </a:r>
          </a:p>
          <a:p>
            <a:pPr lvl="1"/>
            <a:r>
              <a:rPr sz="2200" b="0">
                <a:solidFill>
                  <a:srgbClr val="222222"/>
                </a:solidFill>
                <a:latin typeface="Calibri"/>
              </a:rPr>
              <a:t>I can trace enqueue and dequeue on linear and circular queues and explain why circular queues reuse space.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2.2.1: state the two things every recursive subroutine must have.</a:t>
            </a:r>
          </a:p>
          <a:p>
            <a:r>
              <a:rPr sz="2200" b="1">
                <a:solidFill>
                  <a:srgbClr val="222222"/>
                </a:solidFill>
                <a:latin typeface="Calibri"/>
              </a:rPr>
              <a:t>2. From 2.2.1: a parameter is passed by value (byVal). What happens to the original variable when the subroutine changes it?</a:t>
            </a:r>
          </a:p>
          <a:p>
            <a:r>
              <a:rPr sz="2200" b="1">
                <a:solidFill>
                  <a:srgbClr val="222222"/>
                </a:solidFill>
                <a:latin typeface="Calibri"/>
              </a:rPr>
              <a:t>3. From 2.2.1: where are return addresses and local variables stored during recursive calls, and what happens if recursion never reaches its base case?</a:t>
            </a:r>
          </a:p>
          <a:p>
            <a:r>
              <a:rPr sz="2200" b="1">
                <a:solidFill>
                  <a:srgbClr val="222222"/>
                </a:solidFill>
                <a:latin typeface="Calibri"/>
              </a:rPr>
              <a:t>4. From 1.4.1: show -19 in 8-bit two's complement.</a:t>
            </a:r>
          </a:p>
          <a:p>
            <a:r>
              <a:rPr sz="2200" b="1">
                <a:solidFill>
                  <a:srgbClr val="222222"/>
                </a:solidFill>
                <a:latin typeface="Calibri"/>
              </a:rPr>
              <a:t>5. From 1.4.1: what denary value does the two's complement byte 11110110 represent?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From 2.2.1: state the two things every recursive subroutine must have.</a:t>
            </a:r>
          </a:p>
          <a:p>
            <a:pPr lvl="1"/>
            <a:r>
              <a:rPr sz="1800" i="1">
                <a:solidFill>
                  <a:srgbClr val="B76E00"/>
                </a:solidFill>
                <a:latin typeface="Calibri"/>
              </a:rPr>
              <a:t>Answer: A base case (stopping condition) and a recursive call whose arguments move towards that base case.</a:t>
            </a:r>
          </a:p>
          <a:p>
            <a:r>
              <a:rPr sz="2200" b="1">
                <a:solidFill>
                  <a:srgbClr val="222222"/>
                </a:solidFill>
                <a:latin typeface="Calibri"/>
              </a:rPr>
              <a:t>2. From 2.2.1: a parameter is passed by value (byVal). What happens to the original variable when the subroutine changes it?</a:t>
            </a:r>
          </a:p>
          <a:p>
            <a:pPr lvl="1"/>
            <a:r>
              <a:rPr sz="1800" i="1">
                <a:solidFill>
                  <a:srgbClr val="B76E00"/>
                </a:solidFill>
                <a:latin typeface="Calibri"/>
              </a:rPr>
              <a:t>Answer: Nothing: a copy is passed, so changes stay local. Passing by reference (byRef) passes the address, so changes do affect the original.</a:t>
            </a:r>
          </a:p>
          <a:p>
            <a:r>
              <a:rPr sz="2200" b="1">
                <a:solidFill>
                  <a:srgbClr val="222222"/>
                </a:solidFill>
                <a:latin typeface="Calibri"/>
              </a:rPr>
              <a:t>3. From 2.2.1: where are return addresses and local variables stored during recursive calls, and what happens if recursion never reaches its base case?</a:t>
            </a:r>
          </a:p>
          <a:p>
            <a:pPr lvl="1"/>
            <a:r>
              <a:rPr sz="1800" i="1">
                <a:solidFill>
                  <a:srgbClr val="B76E00"/>
                </a:solidFill>
                <a:latin typeface="Calibri"/>
              </a:rPr>
              <a:t>Answer: On the call stack; each unfinished call keeps its frame stacked, so endless recursion causes stack overflow.</a:t>
            </a:r>
          </a:p>
          <a:p>
            <a:r>
              <a:rPr sz="2200" b="1">
                <a:solidFill>
                  <a:srgbClr val="222222"/>
                </a:solidFill>
                <a:latin typeface="Calibri"/>
              </a:rPr>
              <a:t>4. From 1.4.1: show -19 in 8-bit two's complement.</a:t>
            </a:r>
          </a:p>
          <a:p>
            <a:pPr lvl="1"/>
            <a:r>
              <a:rPr sz="1800" i="1">
                <a:solidFill>
                  <a:srgbClr val="B76E00"/>
                </a:solidFill>
                <a:latin typeface="Calibri"/>
              </a:rPr>
              <a:t>Answer: +19 = 00010011; invert every bit to 11101100; add 1 to give 11101101.</a:t>
            </a:r>
          </a:p>
          <a:p>
            <a:r>
              <a:rPr sz="2200" b="1">
                <a:solidFill>
                  <a:srgbClr val="222222"/>
                </a:solidFill>
                <a:latin typeface="Calibri"/>
              </a:rPr>
              <a:t>5. From 1.4.1: what denary value does the two's complement byte 11110110 represent?</a:t>
            </a:r>
          </a:p>
          <a:p>
            <a:pPr lvl="1"/>
            <a:r>
              <a:rPr sz="1800" i="1">
                <a:solidFill>
                  <a:srgbClr val="B76E00"/>
                </a:solidFill>
                <a:latin typeface="Calibri"/>
              </a:rPr>
              <a:t>Answer: -10 (-128 + 64 + 32 + 16 + 4 + 2).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Array</a:t>
            </a:r>
            <a:r>
              <a:rPr sz="1800">
                <a:solidFill>
                  <a:srgbClr val="222222"/>
                </a:solidFill>
                <a:latin typeface="Calibri"/>
              </a:rPr>
              <a:t> — An ordered, fixed-size collection of items of the same type, accessed by numeric index; a static structure.</a:t>
            </a:r>
          </a:p>
          <a:p>
            <a:r>
              <a:rPr b="1" sz="2000">
                <a:solidFill>
                  <a:srgbClr val="1A365D"/>
                </a:solidFill>
                <a:latin typeface="Calibri"/>
              </a:rPr>
              <a:t>Record</a:t>
            </a:r>
            <a:r>
              <a:rPr sz="1800">
                <a:solidFill>
                  <a:srgbClr val="222222"/>
                </a:solidFill>
                <a:latin typeface="Calibri"/>
              </a:rPr>
              <a:t> — A collection of named fields that may hold different data types, such as student.name and student.dob.</a:t>
            </a:r>
          </a:p>
          <a:p>
            <a:r>
              <a:rPr b="1" sz="2000">
                <a:solidFill>
                  <a:srgbClr val="1A365D"/>
                </a:solidFill>
                <a:latin typeface="Calibri"/>
              </a:rPr>
              <a:t>List</a:t>
            </a:r>
            <a:r>
              <a:rPr sz="1800">
                <a:solidFill>
                  <a:srgbClr val="222222"/>
                </a:solidFill>
                <a:latin typeface="Calibri"/>
              </a:rPr>
              <a:t> — An ordered collection that is mutable and resizable, and may hold items of mixed types.</a:t>
            </a:r>
          </a:p>
          <a:p>
            <a:r>
              <a:rPr b="1" sz="2000">
                <a:solidFill>
                  <a:srgbClr val="1A365D"/>
                </a:solidFill>
                <a:latin typeface="Calibri"/>
              </a:rPr>
              <a:t>Tuple</a:t>
            </a:r>
            <a:r>
              <a:rPr sz="1800">
                <a:solidFill>
                  <a:srgbClr val="222222"/>
                </a:solidFill>
                <a:latin typeface="Calibri"/>
              </a:rPr>
              <a:t> — An ordered sequence of values that is immutable: it cannot be changed once created.</a:t>
            </a:r>
          </a:p>
          <a:p>
            <a:r>
              <a:rPr b="1" sz="2000">
                <a:solidFill>
                  <a:srgbClr val="1A365D"/>
                </a:solidFill>
                <a:latin typeface="Calibri"/>
              </a:rPr>
              <a:t>Stack</a:t>
            </a:r>
            <a:r>
              <a:rPr sz="1800">
                <a:solidFill>
                  <a:srgbClr val="222222"/>
                </a:solidFill>
                <a:latin typeface="Calibri"/>
              </a:rPr>
              <a:t> — A last in, first out (LIFO) structure; items are pushed onto and popped off the top.</a:t>
            </a:r>
          </a:p>
          <a:p>
            <a:r>
              <a:rPr b="1" sz="2000">
                <a:solidFill>
                  <a:srgbClr val="1A365D"/>
                </a:solidFill>
                <a:latin typeface="Calibri"/>
              </a:rPr>
              <a:t>Stack pointer</a:t>
            </a:r>
            <a:r>
              <a:rPr sz="1800">
                <a:solidFill>
                  <a:srgbClr val="222222"/>
                </a:solidFill>
                <a:latin typeface="Calibri"/>
              </a:rPr>
              <a:t> — A variable (top) holding the index of the current top item of a stack; -1 when empty.</a:t>
            </a:r>
          </a:p>
          <a:p>
            <a:r>
              <a:rPr b="1" sz="2000">
                <a:solidFill>
                  <a:srgbClr val="1A365D"/>
                </a:solidFill>
                <a:latin typeface="Calibri"/>
              </a:rPr>
              <a:t>Queue</a:t>
            </a:r>
            <a:r>
              <a:rPr sz="1800">
                <a:solidFill>
                  <a:srgbClr val="222222"/>
                </a:solidFill>
                <a:latin typeface="Calibri"/>
              </a:rPr>
              <a:t> — A first in, first out (FIFO) structure; items are enqueued at the rear and dequeued from the front.</a:t>
            </a:r>
          </a:p>
          <a:p>
            <a:r>
              <a:rPr b="1" sz="2000">
                <a:solidFill>
                  <a:srgbClr val="1A365D"/>
                </a:solidFill>
                <a:latin typeface="Calibri"/>
              </a:rPr>
              <a:t>Circular queue</a:t>
            </a:r>
            <a:r>
              <a:rPr sz="1800">
                <a:solidFill>
                  <a:srgbClr val="222222"/>
                </a:solidFill>
                <a:latin typeface="Calibri"/>
              </a:rPr>
              <a:t> — An array-based queue whose front and rear pointers wrap around using MOD so freed cells are reused.</a:t>
            </a:r>
          </a:p>
          <a:p>
            <a:r>
              <a:rPr b="1" sz="2000">
                <a:solidFill>
                  <a:srgbClr val="1A365D"/>
                </a:solidFill>
                <a:latin typeface="Calibri"/>
              </a:rPr>
              <a:t>Underflow</a:t>
            </a:r>
            <a:r>
              <a:rPr sz="1800">
                <a:solidFill>
                  <a:srgbClr val="222222"/>
                </a:solidFill>
                <a:latin typeface="Calibri"/>
              </a:rPr>
              <a:t> — Trying to remove an item from an empty stack or queue; overflow is adding to a full 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we need data structures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data structure stores many related values under one name, organised for a purpose.</a:t>
            </a:r>
          </a:p>
          <a:p>
            <a:pPr/>
            <a:r>
              <a:rPr sz="2000" b="0">
                <a:solidFill>
                  <a:srgbClr val="222222"/>
                </a:solidFill>
                <a:latin typeface="Calibri"/>
              </a:rPr>
              <a:t>Static structures, like arrays, have a size fixed at declaration and sit in contiguous memory.</a:t>
            </a:r>
          </a:p>
          <a:p>
            <a:pPr/>
            <a:r>
              <a:rPr sz="2000" b="0">
                <a:solidFill>
                  <a:srgbClr val="222222"/>
                </a:solidFill>
                <a:latin typeface="Calibri"/>
              </a:rPr>
              <a:t>Dynamic structures, like lists and linked lists, grow and shrink at run time using the heap.</a:t>
            </a:r>
          </a:p>
          <a:p>
            <a:pPr/>
            <a:r>
              <a:rPr sz="2000" b="0">
                <a:solidFill>
                  <a:srgbClr val="222222"/>
                </a:solidFill>
                <a:latin typeface="Calibri"/>
              </a:rPr>
              <a:t>The choice controls how fast we can access, insert, remove and search, and how much memory is used.</a:t>
            </a:r>
          </a:p>
          <a:p>
            <a:pPr/>
            <a:r>
              <a:rPr sz="1800" b="1">
                <a:solidFill>
                  <a:srgbClr val="B76E00"/>
                </a:solidFill>
                <a:latin typeface="Calibri"/>
              </a:rPr>
              <a:t>This week: arrays, records, lists, tuples, stacks and queues. Linked lists follow in week 19; trees, graphs and hash tables in week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One-dimensional arrays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Every element has the same data type; the size is fixed when the array is declared.</a:t>
            </a:r>
          </a:p>
          <a:p>
            <a:pPr/>
            <a:r>
              <a:rPr sz="2000" b="0">
                <a:solidFill>
                  <a:srgbClr val="222222"/>
                </a:solidFill>
                <a:latin typeface="Calibri"/>
              </a:rPr>
              <a:t>Elements are numbered from index 0, so scores[4] is the fifth element.</a:t>
            </a:r>
          </a:p>
          <a:p>
            <a:pPr/>
            <a:r>
              <a:rPr sz="2000" b="0">
                <a:solidFill>
                  <a:srgbClr val="222222"/>
                </a:solidFill>
                <a:latin typeface="Calibri"/>
              </a:rPr>
              <a:t>Contiguous storage means the computer jumps straight to any index: O(1) access.</a:t>
            </a:r>
          </a:p>
          <a:p>
            <a:pPr/>
            <a:r>
              <a:rPr sz="2000" b="0">
                <a:solidFill>
                  <a:srgbClr val="222222"/>
                </a:solidFill>
                <a:latin typeface="Calibri"/>
              </a:rPr>
              <a:t>Address of an element = base address + index x size of one element.</a:t>
            </a:r>
          </a:p>
          <a:p>
            <a:pPr/>
            <a:r>
              <a:rPr sz="2000" b="0">
                <a:solidFill>
                  <a:srgbClr val="222222"/>
                </a:solidFill>
                <a:latin typeface="Calibri"/>
              </a:rPr>
              <a:t>scores[6] on a 6-element array is out of bounds: valid indexes run 0 to 5.</a:t>
            </a:r>
          </a:p>
          <a:p>
            <a:pPr lvl="1"/>
            <a:r>
              <a:rPr sz="1600" b="0">
                <a:solidFill>
                  <a:srgbClr val="1A365D"/>
                </a:solidFill>
                <a:latin typeface="Consolas"/>
              </a:rPr>
              <a:t>array scores[6]</a:t>
            </a:r>
          </a:p>
          <a:p>
            <a:pPr lvl="1"/>
            <a:r>
              <a:rPr sz="1600" b="0">
                <a:solidFill>
                  <a:srgbClr val="1A365D"/>
                </a:solidFill>
                <a:latin typeface="Consolas"/>
              </a:rPr>
              <a:t>scores[0] = 71</a:t>
            </a:r>
          </a:p>
          <a:p>
            <a:pPr lvl="1"/>
            <a:r>
              <a:rPr sz="1600" b="0">
                <a:solidFill>
                  <a:srgbClr val="1A365D"/>
                </a:solidFill>
                <a:latin typeface="Consolas"/>
              </a:rPr>
              <a:t>print(scores[4])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2D and 3D arrays and index arithmetic</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2D array is a grid: the first index is the row, the second the column, e.g. board[2,1].</a:t>
            </a:r>
          </a:p>
          <a:p>
            <a:pPr/>
            <a:r>
              <a:rPr sz="2000" b="0">
                <a:solidFill>
                  <a:srgbClr val="222222"/>
                </a:solidFill>
                <a:latin typeface="Calibri"/>
              </a:rPr>
              <a:t>A 3D array adds a layer index, cube[layer, row, column], like a pile of spreadsheets.</a:t>
            </a:r>
          </a:p>
          <a:p>
            <a:pPr/>
            <a:r>
              <a:rPr sz="2000" b="0">
                <a:solidFill>
                  <a:srgbClr val="222222"/>
                </a:solidFill>
                <a:latin typeface="Calibri"/>
              </a:rPr>
              <a:t>Rows are stored one after another (row-major), so position in memory = row x number of columns + column.</a:t>
            </a:r>
          </a:p>
          <a:p>
            <a:pPr/>
            <a:r>
              <a:rPr sz="2000" b="0">
                <a:solidFill>
                  <a:srgbClr val="222222"/>
                </a:solidFill>
                <a:latin typeface="Calibri"/>
              </a:rPr>
              <a:t>In a 3 x 4 array, board[2,1] sits at position 2 x 4 + 1 = 9: the tenth element stored.</a:t>
            </a:r>
          </a:p>
          <a:p>
            <a:pPr/>
            <a:r>
              <a:rPr sz="2000" b="0">
                <a:solidFill>
                  <a:srgbClr val="222222"/>
                </a:solidFill>
                <a:latin typeface="Calibri"/>
              </a:rPr>
              <a:t>Every dimension still holds a single data type and every dimension is fixed in size.</a:t>
            </a:r>
          </a:p>
          <a:p>
            <a:pPr lvl="1"/>
            <a:r>
              <a:rPr sz="1600" b="0">
                <a:solidFill>
                  <a:srgbClr val="1A365D"/>
                </a:solidFill>
                <a:latin typeface="Consolas"/>
              </a:rPr>
              <a:t>array board[3,4]</a:t>
            </a:r>
          </a:p>
          <a:p>
            <a:pPr lvl="1"/>
            <a:r>
              <a:rPr sz="1600" b="0">
                <a:solidFill>
                  <a:srgbClr val="1A365D"/>
                </a:solidFill>
                <a:latin typeface="Consolas"/>
              </a:rPr>
              <a:t>board[2,1] = 7</a:t>
            </a:r>
          </a:p>
          <a:p>
            <a:pPr lvl="1"/>
            <a:r>
              <a:rPr sz="1600" b="0">
                <a:solidFill>
                  <a:srgbClr val="1A365D"/>
                </a:solidFill>
                <a:latin typeface="Consolas"/>
              </a:rPr>
              <a:t>// position = 2 * 4 + 1 = 9 (tenth element in memory)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Records, lists and tuples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record groups named fields of different types: student.name, student.dob, student.grade.</a:t>
            </a:r>
          </a:p>
          <a:p>
            <a:pPr/>
            <a:r>
              <a:rPr sz="2000" b="0">
                <a:solidFill>
                  <a:srgbClr val="222222"/>
                </a:solidFill>
                <a:latin typeface="Calibri"/>
              </a:rPr>
              <a:t>One record describes one entity; an array of records behaves like a database table.</a:t>
            </a:r>
          </a:p>
          <a:p>
            <a:pPr/>
            <a:r>
              <a:rPr sz="2000" b="0">
                <a:solidFill>
                  <a:srgbClr val="222222"/>
                </a:solidFill>
                <a:latin typeface="Calibri"/>
              </a:rPr>
              <a:t>A list is ordered, mutable and resizable, and may mix data types.</a:t>
            </a:r>
          </a:p>
          <a:p>
            <a:pPr/>
            <a:r>
              <a:rPr sz="2000" b="0">
                <a:solidFill>
                  <a:srgbClr val="222222"/>
                </a:solidFill>
                <a:latin typeface="Calibri"/>
              </a:rPr>
              <a:t>A tuple is ordered but immutable: values cannot be changed, added or removed after creation.</a:t>
            </a:r>
          </a:p>
          <a:p>
            <a:pPr/>
            <a:r>
              <a:rPr sz="2000" b="0">
                <a:solidFill>
                  <a:srgbClr val="222222"/>
                </a:solidFill>
                <a:latin typeface="Calibri"/>
              </a:rPr>
              <a:t>Use tuples for fixed groupings such as a coordinate (x, y); trying to edit one raises an error.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Stacks: LIFO and the stack pointer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stack is last in, first out: the only reachable item is the top.</a:t>
            </a:r>
          </a:p>
          <a:p>
            <a:pPr/>
            <a:r>
              <a:rPr sz="2000" b="0">
                <a:solidFill>
                  <a:srgbClr val="222222"/>
                </a:solidFill>
                <a:latin typeface="Calibri"/>
              </a:rPr>
              <a:t>push(x) adds to the top; pop() removes and returns the top; peek() reads it without removing.</a:t>
            </a:r>
          </a:p>
          <a:p>
            <a:pPr/>
            <a:r>
              <a:rPr sz="2000" b="0">
                <a:solidFill>
                  <a:srgbClr val="222222"/>
                </a:solidFill>
                <a:latin typeface="Calibri"/>
              </a:rPr>
              <a:t>The stack pointer (top) holds the index of the top item; an empty stack has top = -1.</a:t>
            </a:r>
          </a:p>
          <a:p>
            <a:pPr/>
            <a:r>
              <a:rPr sz="2000" b="0">
                <a:solidFill>
                  <a:srgbClr val="222222"/>
                </a:solidFill>
                <a:latin typeface="Calibri"/>
              </a:rPr>
              <a:t>Popping an empty stack causes underflow; pushing to a full array-based stack causes overflow.</a:t>
            </a:r>
          </a:p>
          <a:p>
            <a:pPr/>
            <a:r>
              <a:rPr sz="2000" b="0">
                <a:solidFill>
                  <a:srgbClr val="222222"/>
                </a:solidFill>
                <a:latin typeface="Calibri"/>
              </a:rPr>
              <a:t>Picture a pile of plates: each new plate lands on top and must leave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 stack in Exam Reference Language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push checks for overflow first, then increments top, then stores the value at stack[top].</a:t>
            </a:r>
          </a:p>
          <a:p>
            <a:pPr/>
            <a:r>
              <a:rPr sz="2000" b="0">
                <a:solidFill>
                  <a:srgbClr val="222222"/>
                </a:solidFill>
                <a:latin typeface="Calibri"/>
              </a:rPr>
              <a:t>pop must first check top == -1 to trap underflow before reading anything.</a:t>
            </a:r>
          </a:p>
          <a:p>
            <a:pPr/>
            <a:r>
              <a:rPr sz="2000" b="0">
                <a:solidFill>
                  <a:srgbClr val="222222"/>
                </a:solidFill>
                <a:latin typeface="Calibri"/>
              </a:rPr>
              <a:t>pop copies stack[top], decrements top, then returns the copy.</a:t>
            </a:r>
          </a:p>
          <a:p>
            <a:pPr/>
            <a:r>
              <a:rPr sz="2000" b="0">
                <a:solidFill>
                  <a:srgbClr val="222222"/>
                </a:solidFill>
                <a:latin typeface="Calibri"/>
              </a:rPr>
              <a:t>Popped values are not erased, just unreachable: the pointer alone defines the stack.</a:t>
            </a:r>
          </a:p>
          <a:p>
            <a:pPr/>
            <a:r>
              <a:rPr sz="2000" b="0">
                <a:solidFill>
                  <a:srgbClr val="222222"/>
                </a:solidFill>
                <a:latin typeface="Calibri"/>
              </a:rPr>
              <a:t>peek() simply returns stack[top] and never moves the pointer.</a:t>
            </a:r>
          </a:p>
          <a:p>
            <a:pPr lvl="1"/>
            <a:r>
              <a:rPr sz="1600" b="0">
                <a:solidFill>
                  <a:srgbClr val="1A365D"/>
                </a:solidFill>
                <a:latin typeface="Consolas"/>
              </a:rPr>
              <a:t>array stack[8]</a:t>
            </a:r>
          </a:p>
          <a:p>
            <a:pPr lvl="1"/>
            <a:r>
              <a:rPr sz="1600" b="0">
                <a:solidFill>
                  <a:srgbClr val="1A365D"/>
                </a:solidFill>
                <a:latin typeface="Consolas"/>
              </a:rPr>
              <a:t>top = -1</a:t>
            </a:r>
          </a:p>
          <a:p>
            <a:pPr lvl="1"/>
            <a:r>
              <a:rPr sz="1600" b="0">
                <a:solidFill>
                  <a:srgbClr val="1A365D"/>
                </a:solidFill>
                <a:latin typeface="Consolas"/>
              </a:rPr>
              <a:t>procedure push(value)</a:t>
            </a:r>
          </a:p>
          <a:p>
            <a:pPr lvl="1"/>
            <a:r>
              <a:rPr sz="1600" b="0">
                <a:solidFill>
                  <a:srgbClr val="1A365D"/>
                </a:solidFill>
                <a:latin typeface="Consolas"/>
              </a:rPr>
              <a:t>   if top == 7 then</a:t>
            </a:r>
          </a:p>
          <a:p>
            <a:pPr lvl="1"/>
            <a:r>
              <a:rPr sz="1600" b="0">
                <a:solidFill>
                  <a:srgbClr val="1A365D"/>
                </a:solidFill>
                <a:latin typeface="Consolas"/>
              </a:rPr>
              <a:t>      print("Error: overflow")</a:t>
            </a:r>
          </a:p>
          <a:p>
            <a:pPr lvl="1"/>
            <a:r>
              <a:rPr sz="1600" b="0">
                <a:solidFill>
                  <a:srgbClr val="1A365D"/>
                </a:solidFill>
                <a:latin typeface="Consolas"/>
              </a:rPr>
              <a:t>   else</a:t>
            </a:r>
          </a:p>
          <a:p>
            <a:pPr lvl="1"/>
            <a:r>
              <a:rPr sz="1600" b="0">
                <a:solidFill>
                  <a:srgbClr val="1A365D"/>
                </a:solidFill>
                <a:latin typeface="Consolas"/>
              </a:rPr>
              <a:t>      top = top + 1</a:t>
            </a:r>
          </a:p>
          <a:p>
            <a:pPr lvl="1"/>
            <a:r>
              <a:rPr sz="1600" b="0">
                <a:solidFill>
                  <a:srgbClr val="1A365D"/>
                </a:solidFill>
                <a:latin typeface="Consolas"/>
              </a:rPr>
              <a:t>      stack[top] = value</a:t>
            </a:r>
          </a:p>
          <a:p>
            <a:pPr lvl="1"/>
            <a:r>
              <a:rPr sz="1600" b="0">
                <a:solidFill>
                  <a:srgbClr val="1A365D"/>
                </a:solidFill>
                <a:latin typeface="Consolas"/>
              </a:rPr>
              <a:t>   endif</a:t>
            </a:r>
          </a:p>
          <a:p>
            <a:pPr lvl="1"/>
            <a:r>
              <a:rPr sz="1600" b="0">
                <a:solidFill>
                  <a:srgbClr val="1A365D"/>
                </a:solidFill>
                <a:latin typeface="Consolas"/>
              </a:rPr>
              <a:t>endprocedure</a:t>
            </a:r>
          </a:p>
          <a:p>
            <a:pPr lvl="1"/>
            <a:r>
              <a:rPr sz="1600" b="0">
                <a:solidFill>
                  <a:srgbClr val="1A365D"/>
                </a:solidFill>
                <a:latin typeface="Consolas"/>
              </a:rPr>
              <a:t>function pop()</a:t>
            </a:r>
          </a:p>
          <a:p>
            <a:pPr lvl="1"/>
            <a:r>
              <a:rPr sz="1600" b="0">
                <a:solidFill>
                  <a:srgbClr val="1A365D"/>
                </a:solidFill>
                <a:latin typeface="Consolas"/>
              </a:rPr>
              <a:t>   value = stack[top]</a:t>
            </a:r>
          </a:p>
          <a:p>
            <a:pPr lvl="1"/>
            <a:r>
              <a:rPr sz="1600" b="0">
                <a:solidFill>
                  <a:srgbClr val="1A365D"/>
                </a:solidFill>
                <a:latin typeface="Consolas"/>
              </a:rPr>
              <a:t>   top = top - 1</a:t>
            </a:r>
          </a:p>
          <a:p>
            <a:pPr lvl="1"/>
            <a:r>
              <a:rPr sz="1600" b="0">
                <a:solidFill>
                  <a:srgbClr val="1A365D"/>
                </a:solidFill>
                <a:latin typeface="Consolas"/>
              </a:rPr>
              <a:t>   return value</a:t>
            </a:r>
          </a:p>
          <a:p>
            <a:pPr lvl="1"/>
            <a:r>
              <a:rPr sz="1600" b="0">
                <a:solidFill>
                  <a:srgbClr val="1A365D"/>
                </a:solidFill>
                <a:latin typeface="Consolas"/>
              </a:rPr>
              <a:t>endfunction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Where stacks are used</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Undo: every edit is pushed; pressing undo pops the most recent action first.</a:t>
            </a:r>
          </a:p>
          <a:p>
            <a:pPr/>
            <a:r>
              <a:rPr sz="2000" b="0">
                <a:solidFill>
                  <a:srgbClr val="222222"/>
                </a:solidFill>
                <a:latin typeface="Calibri"/>
              </a:rPr>
              <a:t>The call stack: return addresses and local variables are pushed on each subroutine call.</a:t>
            </a:r>
          </a:p>
          <a:p>
            <a:pPr/>
            <a:r>
              <a:rPr sz="2000" b="0">
                <a:solidFill>
                  <a:srgbClr val="222222"/>
                </a:solidFill>
                <a:latin typeface="Calibri"/>
              </a:rPr>
              <a:t>Recursion works because each call's state is stacked; recursing too deep gives stack overflow.</a:t>
            </a:r>
          </a:p>
          <a:p>
            <a:pPr/>
            <a:r>
              <a:rPr sz="2000" b="0">
                <a:solidFill>
                  <a:srgbClr val="222222"/>
                </a:solidFill>
                <a:latin typeface="Calibri"/>
              </a:rPr>
              <a:t>Browser back buttons and maze backtracking also reverse the most recent step first.</a:t>
            </a:r>
          </a:p>
          <a:p>
            <a:pPr/>
            <a:r>
              <a:rPr sz="1800" b="1">
                <a:solidFill>
                  <a:srgbClr val="B76E00"/>
                </a:solidFill>
                <a:latin typeface="Calibri"/>
              </a:rPr>
              <a:t>Link to 1.2.1: servicing an interrupt pushes register contents onto a stack, so nested interrupts resume in the correct reverse order.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Linear queues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queue is first in, first out: items are served in arrival order.</a:t>
            </a:r>
          </a:p>
          <a:p>
            <a:pPr/>
            <a:r>
              <a:rPr sz="2000" b="0">
                <a:solidFill>
                  <a:srgbClr val="222222"/>
                </a:solidFill>
                <a:latin typeface="Calibri"/>
              </a:rPr>
              <a:t>front points at the next item to leave; rear points at the last item added.</a:t>
            </a:r>
          </a:p>
          <a:p>
            <a:pPr/>
            <a:r>
              <a:rPr sz="2000" b="0">
                <a:solidFill>
                  <a:srgbClr val="222222"/>
                </a:solidFill>
                <a:latin typeface="Calibri"/>
              </a:rPr>
              <a:t>enqueue stores at rear + 1; dequeue returns the front item then moves front on by 1.</a:t>
            </a:r>
          </a:p>
          <a:p>
            <a:pPr/>
            <a:r>
              <a:rPr sz="2000" b="0">
                <a:solidFill>
                  <a:srgbClr val="222222"/>
                </a:solidFill>
                <a:latin typeface="Calibri"/>
              </a:rPr>
              <a:t>In an array, dequeued cells at the start become dead space: the queue crawls rightwards.</a:t>
            </a:r>
          </a:p>
          <a:p>
            <a:pPr/>
            <a:r>
              <a:rPr sz="2000" b="0">
                <a:solidFill>
                  <a:srgbClr val="222222"/>
                </a:solidFill>
                <a:latin typeface="Calibri"/>
              </a:rPr>
              <a:t>A linear queue can therefore report full while cells at the front are actually free.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Circular queues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Treat the array as a circle: after the last index, wrap back round to index 0.</a:t>
            </a:r>
          </a:p>
          <a:p>
            <a:pPr/>
            <a:r>
              <a:rPr sz="2000" b="0">
                <a:solidFill>
                  <a:srgbClr val="222222"/>
                </a:solidFill>
                <a:latin typeface="Calibri"/>
              </a:rPr>
              <a:t>enqueue uses rear = (rear + 1) MOD maxSize; dequeue advances front the same way.</a:t>
            </a:r>
          </a:p>
          <a:p>
            <a:pPr/>
            <a:r>
              <a:rPr sz="2000" b="0">
                <a:solidFill>
                  <a:srgbClr val="222222"/>
                </a:solidFill>
                <a:latin typeface="Calibri"/>
              </a:rPr>
              <a:t>A count variable distinguishes full (count == maxSize) from empty (count == 0).</a:t>
            </a:r>
          </a:p>
          <a:p>
            <a:pPr/>
            <a:r>
              <a:rPr sz="2000" b="0">
                <a:solidFill>
                  <a:srgbClr val="222222"/>
                </a:solidFill>
                <a:latin typeface="Calibri"/>
              </a:rPr>
              <a:t>Picture a clock face: both pointers move clockwise, reusing every freed cell.</a:t>
            </a:r>
          </a:p>
          <a:p>
            <a:pPr lvl="1"/>
            <a:r>
              <a:rPr sz="1600" b="0">
                <a:solidFill>
                  <a:srgbClr val="1A365D"/>
                </a:solidFill>
                <a:latin typeface="Consolas"/>
              </a:rPr>
              <a:t>procedure enqueue(value)</a:t>
            </a:r>
          </a:p>
          <a:p>
            <a:pPr lvl="1"/>
            <a:r>
              <a:rPr sz="1600" b="0">
                <a:solidFill>
                  <a:srgbClr val="1A365D"/>
                </a:solidFill>
                <a:latin typeface="Consolas"/>
              </a:rPr>
              <a:t>   if count == maxSize then</a:t>
            </a:r>
          </a:p>
          <a:p>
            <a:pPr lvl="1"/>
            <a:r>
              <a:rPr sz="1600" b="0">
                <a:solidFill>
                  <a:srgbClr val="1A365D"/>
                </a:solidFill>
                <a:latin typeface="Consolas"/>
              </a:rPr>
              <a:t>      print("Error: queue full")</a:t>
            </a:r>
          </a:p>
          <a:p>
            <a:pPr lvl="1"/>
            <a:r>
              <a:rPr sz="1600" b="0">
                <a:solidFill>
                  <a:srgbClr val="1A365D"/>
                </a:solidFill>
                <a:latin typeface="Consolas"/>
              </a:rPr>
              <a:t>   else</a:t>
            </a:r>
          </a:p>
          <a:p>
            <a:pPr lvl="1"/>
            <a:r>
              <a:rPr sz="1600" b="0">
                <a:solidFill>
                  <a:srgbClr val="1A365D"/>
                </a:solidFill>
                <a:latin typeface="Consolas"/>
              </a:rPr>
              <a:t>      rear = (rear + 1) MOD maxSize</a:t>
            </a:r>
          </a:p>
          <a:p>
            <a:pPr lvl="1"/>
            <a:r>
              <a:rPr sz="1600" b="0">
                <a:solidFill>
                  <a:srgbClr val="1A365D"/>
                </a:solidFill>
                <a:latin typeface="Consolas"/>
              </a:rPr>
              <a:t>      items[rear] = value</a:t>
            </a:r>
          </a:p>
          <a:p>
            <a:pPr lvl="1"/>
            <a:r>
              <a:rPr sz="1600" b="0">
                <a:solidFill>
                  <a:srgbClr val="1A365D"/>
                </a:solidFill>
                <a:latin typeface="Consolas"/>
              </a:rPr>
              <a:t>      count = count + 1</a:t>
            </a:r>
          </a:p>
          <a:p>
            <a:pPr lvl="1"/>
            <a:r>
              <a:rPr sz="1600" b="0">
                <a:solidFill>
                  <a:srgbClr val="1A365D"/>
                </a:solidFill>
                <a:latin typeface="Consolas"/>
              </a:rPr>
              <a:t>   endif</a:t>
            </a:r>
          </a:p>
          <a:p>
            <a:pPr lvl="1"/>
            <a:r>
              <a:rPr sz="1600" b="0">
                <a:solidFill>
                  <a:srgbClr val="1A365D"/>
                </a:solidFill>
                <a:latin typeface="Consolas"/>
              </a:rPr>
              <a:t>endprocedure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Queue uses and priority queues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Print spooling: jobs are printed in the order they were submitted.</a:t>
            </a:r>
          </a:p>
          <a:p>
            <a:pPr/>
            <a:r>
              <a:rPr sz="2000" b="0">
                <a:solidFill>
                  <a:srgbClr val="222222"/>
                </a:solidFill>
                <a:latin typeface="Calibri"/>
              </a:rPr>
              <a:t>Keyboard buffers: keystrokes must emerge in exactly the order typed.</a:t>
            </a:r>
          </a:p>
          <a:p>
            <a:pPr/>
            <a:r>
              <a:rPr sz="2000" b="0">
                <a:solidFill>
                  <a:srgbClr val="222222"/>
                </a:solidFill>
                <a:latin typeface="Calibri"/>
              </a:rPr>
              <a:t>CPU scheduling: round robin (1.2.1) holds its ready processes in a queue.</a:t>
            </a:r>
          </a:p>
          <a:p>
            <a:pPr/>
            <a:r>
              <a:rPr sz="2000" b="0">
                <a:solidFill>
                  <a:srgbClr val="222222"/>
                </a:solidFill>
                <a:latin typeface="Calibri"/>
              </a:rPr>
              <a:t>A priority queue serves the highest priority first; equal priorities stay in FIFO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a stack and its pointer: push(5), push(9), push(2), pop(), push(7), pop()</a:t>
            </a:r>
          </a:p>
          <a:p>
            <a:pPr lvl="1"/>
            <a:r>
              <a:rPr sz="1900" b="0">
                <a:solidFill>
                  <a:srgbClr val="222222"/>
                </a:solidFill>
                <a:latin typeface="Calibri"/>
              </a:rPr>
              <a:t>1. Start empty: top = -1, array empty.</a:t>
            </a:r>
          </a:p>
          <a:p>
            <a:pPr lvl="1"/>
            <a:r>
              <a:rPr sz="1900" b="0">
                <a:solidFill>
                  <a:srgbClr val="222222"/>
                </a:solidFill>
                <a:latin typeface="Calibri"/>
              </a:rPr>
              <a:t>2. push(5): top becomes 0, stack[0] = 5. Stack bottom to top: 5.</a:t>
            </a:r>
          </a:p>
          <a:p>
            <a:pPr lvl="1"/>
            <a:r>
              <a:rPr sz="1900" b="0">
                <a:solidFill>
                  <a:srgbClr val="222222"/>
                </a:solidFill>
                <a:latin typeface="Calibri"/>
              </a:rPr>
              <a:t>3. push(9): top = 1, stack[1] = 9. Stack: 5, 9.</a:t>
            </a:r>
          </a:p>
          <a:p>
            <a:pPr lvl="1"/>
            <a:r>
              <a:rPr sz="1900" b="0">
                <a:solidFill>
                  <a:srgbClr val="222222"/>
                </a:solidFill>
                <a:latin typeface="Calibri"/>
              </a:rPr>
              <a:t>4. push(2): top = 2, stack[2] = 2. Stack: 5, 9, 2.</a:t>
            </a:r>
          </a:p>
          <a:p>
            <a:pPr lvl="1"/>
            <a:r>
              <a:rPr sz="1900" b="0">
                <a:solidFill>
                  <a:srgbClr val="222222"/>
                </a:solidFill>
                <a:latin typeface="Calibri"/>
              </a:rPr>
              <a:t>5. pop(): returns stack[2] = 2, top drops to 1. Stack: 5, 9. The 2 is unreachable, not erased.</a:t>
            </a:r>
          </a:p>
          <a:p>
            <a:pPr lvl="1"/>
            <a:r>
              <a:rPr sz="1900" b="0">
                <a:solidFill>
                  <a:srgbClr val="222222"/>
                </a:solidFill>
                <a:latin typeface="Calibri"/>
              </a:rPr>
              <a:t>6. push(7): top = 2 again, stack[2] = 7, overwriting the old 2. Stack: 5, 9, 7.</a:t>
            </a:r>
          </a:p>
          <a:p>
            <a:pPr lvl="1"/>
            <a:r>
              <a:rPr sz="1900" b="0">
                <a:solidFill>
                  <a:srgbClr val="222222"/>
                </a:solidFill>
                <a:latin typeface="Calibri"/>
              </a:rPr>
              <a:t>7. pop(): returns 7, top = 1. Values returned: 2 then 7; final stack bottom to top: 5, 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 linear queue hits false overflow: array of 4, enqueue A, B, C, dequeue twice, enqueue D, E</a:t>
            </a:r>
          </a:p>
          <a:p>
            <a:pPr lvl="1"/>
            <a:r>
              <a:rPr sz="1900" b="0">
                <a:solidFill>
                  <a:srgbClr val="222222"/>
                </a:solidFill>
                <a:latin typeface="Calibri"/>
              </a:rPr>
              <a:t>1. Start: front = 0, rear = -1, array of 4 empty cells.</a:t>
            </a:r>
          </a:p>
          <a:p>
            <a:pPr lvl="1"/>
            <a:r>
              <a:rPr sz="1900" b="0">
                <a:solidFill>
                  <a:srgbClr val="222222"/>
                </a:solidFill>
                <a:latin typeface="Calibri"/>
              </a:rPr>
              <a:t>2. enqueue(A): rear = 0. enqueue(B): rear = 1. enqueue(C): rear = 2. Array: A, B, C, empty.</a:t>
            </a:r>
          </a:p>
          <a:p>
            <a:pPr lvl="1"/>
            <a:r>
              <a:rPr sz="1900" b="0">
                <a:solidFill>
                  <a:srgbClr val="222222"/>
                </a:solidFill>
                <a:latin typeface="Calibri"/>
              </a:rPr>
              <a:t>3. dequeue(): returns A, front = 1. dequeue(): returns B, front = 2. Only C is live.</a:t>
            </a:r>
          </a:p>
          <a:p>
            <a:pPr lvl="1"/>
            <a:r>
              <a:rPr sz="1900" b="0">
                <a:solidFill>
                  <a:srgbClr val="222222"/>
                </a:solidFill>
                <a:latin typeface="Calibri"/>
              </a:rPr>
              <a:t>4. enqueue(D): rear = 3. Array: A, B, C, D, but cells 0 and 1 hold dead data.</a:t>
            </a:r>
          </a:p>
          <a:p>
            <a:pPr lvl="1"/>
            <a:r>
              <a:rPr sz="1900" b="0">
                <a:solidFill>
                  <a:srgbClr val="222222"/>
                </a:solidFill>
                <a:latin typeface="Calibri"/>
              </a:rPr>
              <a:t>5. enqueue(E): rear would need to be 4, off the end, so the linear queue declares itself full.</a:t>
            </a:r>
          </a:p>
          <a:p>
            <a:pPr lvl="1"/>
            <a:r>
              <a:rPr sz="1900" b="0">
                <a:solidFill>
                  <a:srgbClr val="222222"/>
                </a:solidFill>
                <a:latin typeface="Calibri"/>
              </a:rPr>
              <a:t>6. Yet only C and D are live: two cells are wasted. This is exactly the problem circular queues solve.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same array as a circular queue of size 4, continuing from front = 2, rear = 3</a:t>
            </a:r>
          </a:p>
          <a:p>
            <a:pPr lvl="1"/>
            <a:r>
              <a:rPr sz="1900" b="0">
                <a:solidFill>
                  <a:srgbClr val="222222"/>
                </a:solidFill>
                <a:latin typeface="Calibri"/>
              </a:rPr>
              <a:t>1. State carried over: front = 2, rear = 3, count = 2; live items C (index 2) and D (index 3).</a:t>
            </a:r>
          </a:p>
          <a:p>
            <a:pPr lvl="1"/>
            <a:r>
              <a:rPr sz="1900" b="0">
                <a:solidFill>
                  <a:srgbClr val="222222"/>
                </a:solidFill>
                <a:latin typeface="Calibri"/>
              </a:rPr>
              <a:t>2. enqueue(E): rear = (3 + 1) MOD 4 = 0, so E is stored in index 0, reusing A's dead cell. count = 3.</a:t>
            </a:r>
          </a:p>
          <a:p>
            <a:pPr lvl="1"/>
            <a:r>
              <a:rPr sz="1900" b="0">
                <a:solidFill>
                  <a:srgbClr val="222222"/>
                </a:solidFill>
                <a:latin typeface="Calibri"/>
              </a:rPr>
              <a:t>3. The array now reads E, dead, C, D; read front to rear the queue is C, D, E.</a:t>
            </a:r>
          </a:p>
          <a:p>
            <a:pPr lvl="1"/>
            <a:r>
              <a:rPr sz="1900" b="0">
                <a:solidFill>
                  <a:srgbClr val="222222"/>
                </a:solidFill>
                <a:latin typeface="Calibri"/>
              </a:rPr>
              <a:t>4. dequeue(): returns C from index 2; front = (2 + 1) MOD 4 = 3; count = 2.</a:t>
            </a:r>
          </a:p>
          <a:p>
            <a:pPr lvl="1"/>
            <a:r>
              <a:rPr sz="1900" b="0">
                <a:solidFill>
                  <a:srgbClr val="222222"/>
                </a:solidFill>
                <a:latin typeface="Calibri"/>
              </a:rPr>
              <a:t>5. enqueue(F): rear = (0 + 1) MOD 4 = 1; F is stored in index 1; count = 3.</a:t>
            </a:r>
          </a:p>
          <a:p>
            <a:pPr lvl="1"/>
            <a:r>
              <a:rPr sz="1900" b="0">
                <a:solidFill>
                  <a:srgbClr val="222222"/>
                </a:solidFill>
                <a:latin typeface="Calibri"/>
              </a:rPr>
              <a:t>6. Full test: count == 4 is false, so there is still room. Queue front to rear: D (index 3), E (index 0), F (index 1).</a:t>
            </a:r>
          </a:p>
          <a:p>
            <a:pPr lvl="1"/>
            <a:r>
              <a:rPr sz="1900" b="0">
                <a:solidFill>
                  <a:srgbClr val="222222"/>
                </a:solidFill>
                <a:latin typeface="Calibri"/>
              </a:rPr>
              <a:t>7. Notice nothing was ever shifted: only the two pointers moved, wrapping with MOD.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Human Stack vs Human Queue  (15 min)</a:t>
            </a:r>
          </a:p>
          <a:p>
            <a:pPr lvl="1"/>
            <a:r>
              <a:rPr sz="2000" b="0">
                <a:solidFill>
                  <a:srgbClr val="222222"/>
                </a:solidFill>
                <a:latin typeface="Calibri"/>
              </a:rPr>
              <a:t>Stack round: push students A, B, C one at a time against the wall; each new arrival stands in front, so only the newest is reachable. The class calls out the stack pointer after every push.</a:t>
            </a:r>
          </a:p>
          <a:p>
            <a:pPr lvl="1"/>
            <a:r>
              <a:rPr sz="2000" b="0">
                <a:solidFill>
                  <a:srgbClr val="222222"/>
                </a:solidFill>
                <a:latin typeface="Calibri"/>
              </a:rPr>
              <a:t>pop() twice: who leaves, and in what order? (C then B: LIFO.) Then peek(): a student reads the top name with nobody moving. Pop the last student, then attempt one more pop: name the error (underflow). Refill until the taped area is full and push once more: overflow.</a:t>
            </a:r>
          </a:p>
          <a:p>
            <a:pPr lvl="1"/>
            <a:r>
              <a:rPr sz="2000" b="0">
                <a:solidFill>
                  <a:srgbClr val="222222"/>
                </a:solidFill>
                <a:latin typeface="Calibri"/>
              </a:rPr>
              <a:t>Queue round: A, B, C enqueue at the rear of a taped corridor. dequeue() releases A (FIFO); enqueue D, dequeue again releases B, leaving C at the front with D behind.</a:t>
            </a:r>
          </a:p>
          <a:p>
            <a:pPr lvl="1"/>
            <a:r>
              <a:rPr sz="2000" b="0">
                <a:solidFill>
                  <a:srgbClr val="222222"/>
                </a:solidFill>
                <a:latin typeface="Calibri"/>
              </a:rPr>
              <a:t>Point at the wasted space at the front after several dequeues and ask how to reuse it without everyone shuffling forward: wrap the rear around, rear = (rear + 1) MOD size.</a:t>
            </a:r>
          </a:p>
          <a:p>
            <a:pPr lvl="1"/>
            <a:r>
              <a:rPr sz="2000" b="0">
                <a:solidFill>
                  <a:srgbClr val="222222"/>
                </a:solidFill>
                <a:latin typeface="Calibri"/>
              </a:rPr>
              <a:t>Debrief: push, pop and peek happen at the top; enqueue at the rear, dequeue from the front; match each round to its uses (undo and the call stack versus print spooling and keyboard buffers).</a:t>
            </a:r>
          </a:p>
          <a:p>
            <a:pPr/>
            <a:r>
              <a:rPr sz="1800" b="0">
                <a:solidFill>
                  <a:srgbClr val="B76E00"/>
                </a:solidFill>
                <a:latin typeface="Calibri"/>
              </a:rPr>
              <a:t>Stretch: Give two waiting students priority-1 badges and re-run the queue as a priority queue: where must they be served relative to the FIFO order?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Which Structure Am I? Corners (part 1 edition)  (10 min)</a:t>
            </a:r>
          </a:p>
          <a:p>
            <a:pPr lvl="1"/>
            <a:r>
              <a:rPr sz="2000" b="0">
                <a:solidFill>
                  <a:srgbClr val="222222"/>
                </a:solidFill>
                <a:latin typeface="Calibri"/>
              </a:rPr>
              <a:t>Corner signs: STACK, QUEUE, ARRAY, RECORD or TUPLE. Read a scenario; students walk to the fitting corner; one delegate per corner justifies before the reveal.</a:t>
            </a:r>
          </a:p>
          <a:p>
            <a:pPr lvl="1"/>
            <a:r>
              <a:rPr sz="2000" b="0">
                <a:solidFill>
                  <a:srgbClr val="222222"/>
                </a:solidFill>
                <a:latin typeface="Calibri"/>
              </a:rPr>
              <a:t>Scenarios: (a) the undo feature in a text editor; (b) print jobs waiting for a shared printer; (c) a chessboard's 8 x 8 grid of pieces; (d) keypresses buffered while the CPU is busy; (e) the browser back button; (f) an (x, y) map coordinate that must never change; (g) one student's name, date of birth and grade; (h) rainfall totals for the 12 months of a year.</a:t>
            </a:r>
          </a:p>
          <a:p>
            <a:pPr lvl="1"/>
            <a:r>
              <a:rPr sz="2000" b="0">
                <a:solidFill>
                  <a:srgbClr val="222222"/>
                </a:solidFill>
                <a:latin typeface="Calibri"/>
              </a:rPr>
              <a:t>Answers: (a) stack, LIFO undo; (b) queue, FIFO spooling; (c) 2D array indexed [row][column]; (d) queue, typed order preserved; (e) stack, most recent page first; (f) tuple, ordered and immutable; (g) record, named fields of different types; (h) 1D array, fixed size, one type, indexed by month.</a:t>
            </a:r>
          </a:p>
          <a:p>
            <a:pPr lvl="1"/>
            <a:r>
              <a:rPr sz="2000" b="0">
                <a:solidFill>
                  <a:srgbClr val="222222"/>
                </a:solidFill>
                <a:latin typeface="Calibri"/>
              </a:rPr>
              <a:t>After each reveal, ask a losing corner why their structure is worse here, not just why the winner is good.</a:t>
            </a:r>
          </a:p>
          <a:p>
            <a:pPr/>
            <a:r>
              <a:rPr sz="1800" b="0">
                <a:solidFill>
                  <a:srgbClr val="B76E00"/>
                </a:solidFill>
                <a:latin typeface="Calibri"/>
              </a:rPr>
              <a:t>Stretch: Ask where a company org chart and a road map would go: neither fits a corner, trailing next fortnight's trees and graphs.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Pointer Trace Race  (12 min)</a:t>
            </a:r>
          </a:p>
          <a:p>
            <a:pPr lvl="1"/>
            <a:r>
              <a:rPr sz="2000" b="0">
                <a:solidFill>
                  <a:srgbClr val="222222"/>
                </a:solidFill>
                <a:latin typeface="Calibri"/>
              </a:rPr>
              <a:t>Pairs race on mini-whiteboards: for each operation they must record the pointer values and the structure's contents, not just the final answer.</a:t>
            </a:r>
          </a:p>
          <a:p>
            <a:pPr lvl="1"/>
            <a:r>
              <a:rPr sz="2000" b="0">
                <a:solidFill>
                  <a:srgbClr val="222222"/>
                </a:solidFill>
                <a:latin typeface="Calibri"/>
              </a:rPr>
              <a:t>Sequence A, empty stack: push(4), push(8), pop(), push(1), push(6), pop(), pop(). Require top after every step.</a:t>
            </a:r>
          </a:p>
          <a:p>
            <a:pPr lvl="1"/>
            <a:r>
              <a:rPr sz="2000" b="0">
                <a:solidFill>
                  <a:srgbClr val="222222"/>
                </a:solidFill>
                <a:latin typeface="Calibri"/>
              </a:rPr>
              <a:t>Answer A: top runs 0, 1, 0, 1, 2, 1, 0; values returned 8, 6, 1; final stack holds just 4 with top = 0.</a:t>
            </a:r>
          </a:p>
          <a:p>
            <a:pPr lvl="1"/>
            <a:r>
              <a:rPr sz="2000" b="0">
                <a:solidFill>
                  <a:srgbClr val="222222"/>
                </a:solidFill>
                <a:latin typeface="Calibri"/>
              </a:rPr>
              <a:t>Sequence B, circular queue of size 3 (front = 0, rear = -1, count = 0): enqueue(P), enqueue(Q), dequeue(), enqueue(R), enqueue(S), dequeue().</a:t>
            </a:r>
          </a:p>
          <a:p>
            <a:pPr lvl="1"/>
            <a:r>
              <a:rPr sz="2000" b="0">
                <a:solidFill>
                  <a:srgbClr val="222222"/>
                </a:solidFill>
                <a:latin typeface="Calibri"/>
              </a:rPr>
              <a:t>Answer B: rear runs 0, 1, then 2 for R, then (2 + 1) MOD 3 = 0 for S; dequeues return P then Q; final state front = 2, rear = 0, count = 2, queue front to rear R, S.</a:t>
            </a:r>
          </a:p>
          <a:p>
            <a:pPr lvl="1"/>
            <a:r>
              <a:rPr sz="2000" b="0">
                <a:solidFill>
                  <a:srgbClr val="222222"/>
                </a:solidFill>
                <a:latin typeface="Calibri"/>
              </a:rPr>
              <a:t>First pair with a fully correct pointer log wins; any wrong intermediate pointer disqualifies the row, exactly as it loses marks in an exam trace.</a:t>
            </a:r>
          </a:p>
          <a:p>
            <a:pPr/>
            <a:r>
              <a:rPr sz="1800" b="0">
                <a:solidFill>
                  <a:srgbClr val="B76E00"/>
                </a:solidFill>
                <a:latin typeface="Calibri"/>
              </a:rPr>
              <a:t>Stretch: Pairs write a five-operation sequence whose final stack or queue holds exactly one item, then swap and verify.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two differences between an array and a record. [2]</a:t>
            </a:r>
          </a:p>
          <a:p>
            <a:r>
              <a:rPr sz="2000" b="1">
                <a:solidFill>
                  <a:srgbClr val="222222"/>
                </a:solidFill>
                <a:latin typeface="Calibri"/>
              </a:rPr>
              <a:t>2. Describe how a stack uses a stack pointer to manage push and pop operations, and state when overflow and underflow occur. [4]</a:t>
            </a:r>
          </a:p>
          <a:p>
            <a:r>
              <a:rPr sz="2000" b="1">
                <a:solidFill>
                  <a:srgbClr val="222222"/>
                </a:solidFill>
                <a:latin typeface="Calibri"/>
              </a:rPr>
              <a:t>3. An empty stack receives push(4), push(8), push(1), pop(), pop(), push(6), pop(). State the three values returned and the final contents of the stack. [3]</a:t>
            </a:r>
          </a:p>
          <a:p>
            <a:r>
              <a:rPr sz="2000" b="1">
                <a:solidFill>
                  <a:srgbClr val="222222"/>
                </a:solidFill>
                <a:latin typeface="Calibri"/>
              </a:rPr>
              <a:t>4. Explain why a circular queue makes better use of an array than a linear queue. [3]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State two differences between an array and a record. [2]</a:t>
            </a:r>
          </a:p>
          <a:p>
            <a:pPr lvl="1"/>
            <a:r>
              <a:rPr sz="1800" i="1">
                <a:solidFill>
                  <a:srgbClr val="B76E00"/>
                </a:solidFill>
                <a:latin typeface="Calibri"/>
              </a:rPr>
              <a:t>Answer: An array holds elements of one data type while a record's fields may differ in type (1); array elements are accessed by numeric index while record fields are accessed by name, e.g. student.name (1).</a:t>
            </a:r>
          </a:p>
          <a:p>
            <a:r>
              <a:rPr sz="2000" b="1">
                <a:solidFill>
                  <a:srgbClr val="222222"/>
                </a:solidFill>
                <a:latin typeface="Calibri"/>
              </a:rPr>
              <a:t>2. Describe how a stack uses a stack pointer to manage push and pop operations, and state when overflow and underflow occur. [4]</a:t>
            </a:r>
          </a:p>
          <a:p>
            <a:pPr lvl="1"/>
            <a:r>
              <a:rPr sz="1800" i="1">
                <a:solidFill>
                  <a:srgbClr val="B76E00"/>
                </a:solidFill>
                <a:latin typeface="Calibri"/>
              </a:rPr>
              <a:t>Answer: The stack pointer holds the index of the top item (1); push increments the pointer then stores the value at that index (1); pop returns the value at the pointer then decrements it (1); overflow is pushing to a full stack, underflow is popping an empty one (1).</a:t>
            </a:r>
          </a:p>
          <a:p>
            <a:r>
              <a:rPr sz="2000" b="1">
                <a:solidFill>
                  <a:srgbClr val="222222"/>
                </a:solidFill>
                <a:latin typeface="Calibri"/>
              </a:rPr>
              <a:t>3. An empty stack receives push(4), push(8), push(1), pop(), pop(), push(6), pop(). State the three values returned and the final contents of the stack. [3]</a:t>
            </a:r>
          </a:p>
          <a:p>
            <a:pPr lvl="1"/>
            <a:r>
              <a:rPr sz="1800" i="1">
                <a:solidFill>
                  <a:srgbClr val="B76E00"/>
                </a:solidFill>
                <a:latin typeface="Calibri"/>
              </a:rPr>
              <a:t>Answer: Returned in order: 1, 8, 6 (2 marks for all three, 1 for two correct). Final stack holds just 4 (1).</a:t>
            </a:r>
          </a:p>
          <a:p>
            <a:r>
              <a:rPr sz="2000" b="1">
                <a:solidFill>
                  <a:srgbClr val="222222"/>
                </a:solidFill>
                <a:latin typeface="Calibri"/>
              </a:rPr>
              <a:t>4. Explain why a circular queue makes better use of an array than a linear queue. [3]</a:t>
            </a:r>
          </a:p>
          <a:p>
            <a:pPr lvl="1"/>
            <a:r>
              <a:rPr sz="1800" i="1">
                <a:solidFill>
                  <a:srgbClr val="B76E00"/>
                </a:solidFill>
                <a:latin typeface="Calibri"/>
              </a:rPr>
              <a:t>Answer: In a linear queue dequeued cells at the front are never reused, so it fills up despite free space (1); a circular queue wraps the rear pointer back to index 0 using MOD (1); freed cells are reused, so the queue is only full when count equals the array size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circular queue uses an array of size 6 and rear is currently 5. Show the calculation that finds where the next item is stored. [2]</a:t>
            </a:r>
          </a:p>
          <a:p>
            <a:r>
              <a:rPr sz="2000" b="1">
                <a:solidFill>
                  <a:srgbClr val="222222"/>
                </a:solidFill>
                <a:latin typeface="Calibri"/>
              </a:rPr>
              <a:t>2. Explain why a stack is the appropriate structure for managing subroutine calls. [3]</a:t>
            </a:r>
          </a:p>
          <a:p>
            <a:r>
              <a:rPr sz="2000" b="1">
                <a:solidFill>
                  <a:srgbClr val="222222"/>
                </a:solidFill>
                <a:latin typeface="Calibri"/>
              </a:rPr>
              <a:t>3. A programmer stores a fixed screen resolution as (1920, 1080). State the structure being used and one reason it suits this data. [2]</a:t>
            </a:r>
          </a:p>
          <a:p>
            <a:r>
              <a:rPr sz="2000" b="1">
                <a:solidFill>
                  <a:srgbClr val="222222"/>
                </a:solidFill>
                <a:latin typeface="Calibri"/>
              </a:rPr>
              <a:t>4. A 2D array of 4-byte integers has 6 columns and starts at base address 5000. Calculate the address of element [3][4], assuming row-major order. Show your working.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A circular queue uses an array of size 6 and rear is currently 5. Show the calculation that finds where the next item is stored. [2]</a:t>
            </a:r>
          </a:p>
          <a:p>
            <a:pPr lvl="1"/>
            <a:r>
              <a:rPr sz="1800" i="1">
                <a:solidFill>
                  <a:srgbClr val="B76E00"/>
                </a:solidFill>
                <a:latin typeface="Calibri"/>
              </a:rPr>
              <a:t>Answer: rear = (5 + 1) MOD 6 (1) = 0, so the item is stored at index 0 (1).</a:t>
            </a:r>
          </a:p>
          <a:p>
            <a:r>
              <a:rPr sz="2000" b="1">
                <a:solidFill>
                  <a:srgbClr val="222222"/>
                </a:solidFill>
                <a:latin typeface="Calibri"/>
              </a:rPr>
              <a:t>2. Explain why a stack is the appropriate structure for managing subroutine calls. [3]</a:t>
            </a:r>
          </a:p>
          <a:p>
            <a:pPr lvl="1"/>
            <a:r>
              <a:rPr sz="1800" i="1">
                <a:solidFill>
                  <a:srgbClr val="B76E00"/>
                </a:solidFill>
                <a:latin typeface="Calibri"/>
              </a:rPr>
              <a:t>Answer: Each call pushes its return address and local state (1); the most recently called subroutine always finishes first (1); LIFO popping therefore returns control to the correct caller in reverse order, which also supports recursion (1).</a:t>
            </a:r>
          </a:p>
          <a:p>
            <a:r>
              <a:rPr sz="2000" b="1">
                <a:solidFill>
                  <a:srgbClr val="222222"/>
                </a:solidFill>
                <a:latin typeface="Calibri"/>
              </a:rPr>
              <a:t>3. A programmer stores a fixed screen resolution as (1920, 1080). State the structure being used and one reason it suits this data. [2]</a:t>
            </a:r>
          </a:p>
          <a:p>
            <a:pPr lvl="1"/>
            <a:r>
              <a:rPr sz="1800" i="1">
                <a:solidFill>
                  <a:srgbClr val="B76E00"/>
                </a:solidFill>
                <a:latin typeface="Calibri"/>
              </a:rPr>
              <a:t>Answer: A tuple (1); it is immutable, so the paired values cannot be accidentally changed, and the order (width, height) is preserved (1).</a:t>
            </a:r>
          </a:p>
          <a:p>
            <a:r>
              <a:rPr sz="2000" b="1">
                <a:solidFill>
                  <a:srgbClr val="222222"/>
                </a:solidFill>
                <a:latin typeface="Calibri"/>
              </a:rPr>
              <a:t>4. A 2D array of 4-byte integers has 6 columns and starts at base address 5000. Calculate the address of element [3][4], assuming row-major order. Show your working. [2]</a:t>
            </a:r>
          </a:p>
          <a:p>
            <a:pPr lvl="1"/>
            <a:r>
              <a:rPr sz="1800" i="1">
                <a:solidFill>
                  <a:srgbClr val="B76E00"/>
                </a:solidFill>
                <a:latin typeface="Calibri"/>
              </a:rPr>
              <a:t>Answer: Offset = (3 x 6 + 4) x 4 = 22 x 4 = 88 (1); address = 5000 + 88 = 5088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pop returns the first value pushed; a stack is LIFO, so pop always returns the most recent push.</a:t>
            </a:r>
          </a:p>
          <a:p>
            <a:pPr/>
            <a:r>
              <a:rPr sz="2000" b="0">
                <a:solidFill>
                  <a:srgbClr val="222222"/>
                </a:solidFill>
                <a:latin typeface="Calibri"/>
              </a:rPr>
              <a:t>✗ Students often think peek removes the top item; it only reads it, and the stack pointer never moves.</a:t>
            </a:r>
          </a:p>
          <a:p>
            <a:pPr/>
            <a:r>
              <a:rPr sz="2000" b="0">
                <a:solidFill>
                  <a:srgbClr val="222222"/>
                </a:solidFill>
                <a:latin typeface="Calibri"/>
              </a:rPr>
              <a:t>✗ Students often think a circular queue shifts items along the array; only the front and rear pointers move, wrapping with MOD.</a:t>
            </a:r>
          </a:p>
          <a:p>
            <a:pPr/>
            <a:r>
              <a:rPr sz="2000" b="0">
                <a:solidFill>
                  <a:srgbClr val="222222"/>
                </a:solidFill>
                <a:latin typeface="Calibri"/>
              </a:rPr>
              <a:t>✗ Students often treat lists and arrays as identical; an array is fixed-size and single-type, a list is resizable, mutable and may mix types.</a:t>
            </a:r>
          </a:p>
          <a:p>
            <a:pPr/>
            <a:r>
              <a:rPr sz="2000" b="0">
                <a:solidFill>
                  <a:srgbClr val="222222"/>
                </a:solidFill>
                <a:latin typeface="Calibri"/>
              </a:rPr>
              <a:t>✗ Students often think a popped or dequeued value is erased from memory; it stays in the array but is unreachable because the pointer defines the structure.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seen here: state and describe for definitions and ends (1-2 marks), show or trace for stack and queue tables (2-4 marks), explain and compare for linear versus circular queues (2-4 marks).</a:t>
            </a:r>
          </a:p>
          <a:p>
            <a:pPr/>
            <a:r>
              <a:rPr sz="2000" b="0">
                <a:solidFill>
                  <a:srgbClr val="222222"/>
                </a:solidFill>
                <a:latin typeface="Calibri"/>
              </a:rPr>
              <a:t>Trace questions expect the state after every operation, including pointer values; one wrong pointer cascades through the rest of the answer.</a:t>
            </a:r>
          </a:p>
          <a:p>
            <a:pPr/>
            <a:r>
              <a:rPr sz="2000" b="0">
                <a:solidFill>
                  <a:srgbClr val="222222"/>
                </a:solidFill>
                <a:latin typeface="Calibri"/>
              </a:rPr>
              <a:t>The MOD wrap-around calculation for a circular queue is a favourite short-answer mark: always show (rear + 1) MOD size.</a:t>
            </a:r>
          </a:p>
          <a:p>
            <a:pPr/>
            <a:r>
              <a:rPr sz="2000" b="0">
                <a:solidFill>
                  <a:srgbClr val="222222"/>
                </a:solidFill>
                <a:latin typeface="Calibri"/>
              </a:rPr>
              <a:t>Example stem: 'A stack stores the pages a user has visited. Show the contents of the stack and the stack pointer after the following sequence of operations.' [3]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Trace this sequence on an empty array-based stack of size 4, recording top and the array after every step: push(3), push(9), pop(), push(5), push(1), push(7), push(2). State each value returned and name the error the final operation causes. Then trace a circular queue of size 4 (front = 0, rear = -1, count = 0): enqueue(A), enqueue(B), dequeue(), enqueue(C), enqueue(D), enqueue(E), recording front, rear and count each step. (Stack: top runs 0, 1, 0, 1, 2, 3; pop returns 9; the final push(2) is overflow. Queue: dequeue returns A; E wraps to index 0 via (3 + 1) MOD 4 = 0, leaving front = 1, rear = 0, count = 4: exactly full.)</a:t>
            </a:r>
          </a:p>
          <a:p>
            <a:r>
              <a:rPr sz="2400" b="1">
                <a:solidFill>
                  <a:srgbClr val="B76E00"/>
                </a:solidFill>
                <a:latin typeface="Calibri"/>
              </a:rPr>
              <a:t>Challenge / stretch</a:t>
            </a:r>
          </a:p>
          <a:p>
            <a:pPr lvl="1"/>
            <a:r>
              <a:rPr sz="2200" b="0">
                <a:solidFill>
                  <a:srgbClr val="222222"/>
                </a:solidFill>
                <a:latin typeface="Calibri"/>
              </a:rPr>
              <a:t>A music app needs three stores: the tracks just played, so back-skip always returns the most recent track first; a buffer of the next tracks to stream, which must play in the order added and runs for hours in fixed memory; and each track's title, artist and duration under one name. Choose the best structure for each store, justify each choice using LIFO, FIFO or named fields, and explain precisely what goes wrong if the buffer is implemented as a linear (non-circular) array queue.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A stack holds 5 then 9, with 9 on top. State the results of peek(), then pop(), then pop().</a:t>
            </a:r>
          </a:p>
          <a:p>
            <a:r>
              <a:rPr sz="2200" b="1">
                <a:solidFill>
                  <a:srgbClr val="222222"/>
                </a:solidFill>
                <a:latin typeface="Calibri"/>
              </a:rPr>
              <a:t>2. Why does a circular queue use rear = (rear + 1) MOD size?</a:t>
            </a:r>
          </a:p>
          <a:p>
            <a:r>
              <a:rPr sz="2200" b="1">
                <a:solidFill>
                  <a:srgbClr val="222222"/>
                </a:solidFill>
                <a:latin typeface="Calibri"/>
              </a:rPr>
              <a:t>3. Give one difference between a tuple and a list.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A stack holds 5 then 9, with 9 on top. State the results of peek(), then pop(), then pop().</a:t>
            </a:r>
          </a:p>
          <a:p>
            <a:pPr lvl="1"/>
            <a:r>
              <a:rPr sz="1800" i="1">
                <a:solidFill>
                  <a:srgbClr val="B76E00"/>
                </a:solidFill>
                <a:latin typeface="Calibri"/>
              </a:rPr>
              <a:t>Answer: peek returns 9 without removing it; the first pop returns 9; the second pop returns 5, leaving the stack empty.</a:t>
            </a:r>
          </a:p>
          <a:p>
            <a:r>
              <a:rPr sz="2200" b="1">
                <a:solidFill>
                  <a:srgbClr val="222222"/>
                </a:solidFill>
                <a:latin typeface="Calibri"/>
              </a:rPr>
              <a:t>2. Why does a circular queue use rear = (rear + 1) MOD size?</a:t>
            </a:r>
          </a:p>
          <a:p>
            <a:pPr lvl="1"/>
            <a:r>
              <a:rPr sz="1800" i="1">
                <a:solidFill>
                  <a:srgbClr val="B76E00"/>
                </a:solidFill>
                <a:latin typeface="Calibri"/>
              </a:rPr>
              <a:t>Answer: So the rear pointer wraps back to index 0 after the last cell, reusing cells freed by earlier dequeues.</a:t>
            </a:r>
          </a:p>
          <a:p>
            <a:r>
              <a:rPr sz="2200" b="1">
                <a:solidFill>
                  <a:srgbClr val="222222"/>
                </a:solidFill>
                <a:latin typeface="Calibri"/>
              </a:rPr>
              <a:t>3. Give one difference between a tuple and a list.</a:t>
            </a:r>
          </a:p>
          <a:p>
            <a:pPr lvl="1"/>
            <a:r>
              <a:rPr sz="1800" i="1">
                <a:solidFill>
                  <a:srgbClr val="B76E00"/>
                </a:solidFill>
                <a:latin typeface="Calibri"/>
              </a:rPr>
              <a:t>Answer: A tuple is immutable and cannot change after creation; a list is mutable and resizable.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