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1.1.3 Input, Output and Storage Devices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04 (21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justify a choice of input or output device for a given scenario, linking characteristics to requirements</a:t>
            </a:r>
          </a:p>
          <a:p>
            <a:pPr lvl="1"/>
            <a:r>
              <a:rPr sz="2200" b="0">
                <a:solidFill>
                  <a:srgbClr val="222222"/>
                </a:solidFill>
                <a:latin typeface="Calibri"/>
              </a:rPr>
              <a:t>I can describe how magnetic, flash and optical storage work and compare their suitability for different uses</a:t>
            </a:r>
          </a:p>
          <a:p>
            <a:pPr lvl="1"/>
            <a:r>
              <a:rPr sz="2200" b="0">
                <a:solidFill>
                  <a:srgbClr val="222222"/>
                </a:solidFill>
                <a:latin typeface="Calibri"/>
              </a:rPr>
              <a:t>I can explain the differences between RAM and ROM, including volatility and their contents</a:t>
            </a:r>
          </a:p>
          <a:p>
            <a:pPr lvl="1"/>
            <a:r>
              <a:rPr sz="2200" b="0">
                <a:solidFill>
                  <a:srgbClr val="222222"/>
                </a:solidFill>
                <a:latin typeface="Calibri"/>
              </a:rPr>
              <a:t>I can explain virtual storage, distinguishing virtual memory from virtual (cloud) storage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1.1.2: state two differences between RISC and CISC processors.</a:t>
            </a:r>
          </a:p>
          <a:p>
            <a:r>
              <a:rPr sz="2200" b="1">
                <a:solidFill>
                  <a:srgbClr val="222222"/>
                </a:solidFill>
                <a:latin typeface="Calibri"/>
              </a:rPr>
              <a:t>2. From 1.1.2: why does a GPU outperform a CPU when applying one filter to every pixel of a photo?</a:t>
            </a:r>
          </a:p>
          <a:p>
            <a:r>
              <a:rPr sz="2200" b="1">
                <a:solidFill>
                  <a:srgbClr val="222222"/>
                </a:solidFill>
                <a:latin typeface="Calibri"/>
              </a:rPr>
              <a:t>3. From 1.1.2: what limits the speed-up gained by adding more cores?</a:t>
            </a:r>
          </a:p>
          <a:p>
            <a:r>
              <a:rPr sz="2200" b="1">
                <a:solidFill>
                  <a:srgbClr val="222222"/>
                </a:solidFill>
                <a:latin typeface="Calibri"/>
              </a:rPr>
              <a:t>4. From 1.1.1: state the roles of the MAR and the MDR during a fetch.</a:t>
            </a:r>
          </a:p>
          <a:p>
            <a:r>
              <a:rPr sz="2200" b="1">
                <a:solidFill>
                  <a:srgbClr val="222222"/>
                </a:solidFill>
                <a:latin typeface="Calibri"/>
              </a:rPr>
              <a:t>5. From 1.1.1: what is cache and why does it improve performance?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1.1.2: state two differences between RISC and CISC processors.</a:t>
            </a:r>
          </a:p>
          <a:p>
            <a:pPr lvl="1"/>
            <a:r>
              <a:rPr sz="1800" i="1">
                <a:solidFill>
                  <a:srgbClr val="B76E00"/>
                </a:solidFill>
                <a:latin typeface="Calibri"/>
              </a:rPr>
              <a:t>Answer: Any two of: small simple set vs large complex set; fixed-length one-cycle vs variable-length multi-cycle instructions; complexity in software/compiler vs hardware; lower vs higher power.</a:t>
            </a:r>
          </a:p>
          <a:p>
            <a:r>
              <a:rPr sz="2200" b="1">
                <a:solidFill>
                  <a:srgbClr val="222222"/>
                </a:solidFill>
                <a:latin typeface="Calibri"/>
              </a:rPr>
              <a:t>2. From 1.1.2: why does a GPU outperform a CPU when applying one filter to every pixel of a photo?</a:t>
            </a:r>
          </a:p>
          <a:p>
            <a:pPr lvl="1"/>
            <a:r>
              <a:rPr sz="1800" i="1">
                <a:solidFill>
                  <a:srgbClr val="B76E00"/>
                </a:solidFill>
                <a:latin typeface="Calibri"/>
              </a:rPr>
              <a:t>Answer: Its thousands of cores apply the same operation to many independent data items in parallel.</a:t>
            </a:r>
          </a:p>
          <a:p>
            <a:r>
              <a:rPr sz="2200" b="1">
                <a:solidFill>
                  <a:srgbClr val="222222"/>
                </a:solidFill>
                <a:latin typeface="Calibri"/>
              </a:rPr>
              <a:t>3. From 1.1.2: what limits the speed-up gained by adding more cores?</a:t>
            </a:r>
          </a:p>
          <a:p>
            <a:pPr lvl="1"/>
            <a:r>
              <a:rPr sz="1800" i="1">
                <a:solidFill>
                  <a:srgbClr val="B76E00"/>
                </a:solidFill>
                <a:latin typeface="Calibri"/>
              </a:rPr>
              <a:t>Answer: The serial fraction/data dependencies, software not written for multiple threads, and coordination overhead.</a:t>
            </a:r>
          </a:p>
          <a:p>
            <a:r>
              <a:rPr sz="2200" b="1">
                <a:solidFill>
                  <a:srgbClr val="222222"/>
                </a:solidFill>
                <a:latin typeface="Calibri"/>
              </a:rPr>
              <a:t>4. From 1.1.1: state the roles of the MAR and the MDR during a fetch.</a:t>
            </a:r>
          </a:p>
          <a:p>
            <a:pPr lvl="1"/>
            <a:r>
              <a:rPr sz="1800" i="1">
                <a:solidFill>
                  <a:srgbClr val="B76E00"/>
                </a:solidFill>
                <a:latin typeface="Calibri"/>
              </a:rPr>
              <a:t>Answer: MAR holds the address of the location being accessed; MDR holds the instruction or data transferred.</a:t>
            </a:r>
          </a:p>
          <a:p>
            <a:r>
              <a:rPr sz="2200" b="1">
                <a:solidFill>
                  <a:srgbClr val="222222"/>
                </a:solidFill>
                <a:latin typeface="Calibri"/>
              </a:rPr>
              <a:t>5. From 1.1.1: what is cache and why does it improve performance?</a:t>
            </a:r>
          </a:p>
          <a:p>
            <a:pPr lvl="1"/>
            <a:r>
              <a:rPr sz="1800" i="1">
                <a:solidFill>
                  <a:srgbClr val="B76E00"/>
                </a:solidFill>
                <a:latin typeface="Calibri"/>
              </a:rPr>
              <a:t>Answer: Small, very fast memory on/near the CPU holding frequently used data, so fewer slow accesses to RAM are needed.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Volatile</a:t>
            </a:r>
            <a:r>
              <a:rPr sz="1800">
                <a:solidFill>
                  <a:srgbClr val="222222"/>
                </a:solidFill>
                <a:latin typeface="Calibri"/>
              </a:rPr>
              <a:t> — Loses its contents when power is removed, like RAM.</a:t>
            </a:r>
          </a:p>
          <a:p>
            <a:r>
              <a:rPr b="1" sz="2000">
                <a:solidFill>
                  <a:srgbClr val="1A365D"/>
                </a:solidFill>
                <a:latin typeface="Calibri"/>
              </a:rPr>
              <a:t>Non-volatile</a:t>
            </a:r>
            <a:r>
              <a:rPr sz="1800">
                <a:solidFill>
                  <a:srgbClr val="222222"/>
                </a:solidFill>
                <a:latin typeface="Calibri"/>
              </a:rPr>
              <a:t> — Retains contents without power, like ROM and all secondary storage.</a:t>
            </a:r>
          </a:p>
          <a:p>
            <a:r>
              <a:rPr b="1" sz="2000">
                <a:solidFill>
                  <a:srgbClr val="1A365D"/>
                </a:solidFill>
                <a:latin typeface="Calibri"/>
              </a:rPr>
              <a:t>RAM</a:t>
            </a:r>
            <a:r>
              <a:rPr sz="1800">
                <a:solidFill>
                  <a:srgbClr val="222222"/>
                </a:solidFill>
                <a:latin typeface="Calibri"/>
              </a:rPr>
              <a:t> — Volatile read/write main memory holding currently running programs and their data.</a:t>
            </a:r>
          </a:p>
          <a:p>
            <a:r>
              <a:rPr b="1" sz="2000">
                <a:solidFill>
                  <a:srgbClr val="1A365D"/>
                </a:solidFill>
                <a:latin typeface="Calibri"/>
              </a:rPr>
              <a:t>ROM</a:t>
            </a:r>
            <a:r>
              <a:rPr sz="1800">
                <a:solidFill>
                  <a:srgbClr val="222222"/>
                </a:solidFill>
                <a:latin typeface="Calibri"/>
              </a:rPr>
              <a:t> — Non-volatile, normally read-only memory holding the bootstrap loader and BIOS firmware.</a:t>
            </a:r>
          </a:p>
          <a:p>
            <a:r>
              <a:rPr b="1" sz="2000">
                <a:solidFill>
                  <a:srgbClr val="1A365D"/>
                </a:solidFill>
                <a:latin typeface="Calibri"/>
              </a:rPr>
              <a:t>Magnetic storage</a:t>
            </a:r>
            <a:r>
              <a:rPr sz="1800">
                <a:solidFill>
                  <a:srgbClr val="222222"/>
                </a:solidFill>
                <a:latin typeface="Calibri"/>
              </a:rPr>
              <a:t> — Data stored as magnetised patterns on a spinning platter or tape, read by a read/write head.</a:t>
            </a:r>
          </a:p>
          <a:p>
            <a:r>
              <a:rPr b="1" sz="2000">
                <a:solidFill>
                  <a:srgbClr val="1A365D"/>
                </a:solidFill>
                <a:latin typeface="Calibri"/>
              </a:rPr>
              <a:t>Flash / SSD</a:t>
            </a:r>
            <a:r>
              <a:rPr sz="1800">
                <a:solidFill>
                  <a:srgbClr val="222222"/>
                </a:solidFill>
                <a:latin typeface="Calibri"/>
              </a:rPr>
              <a:t> — Solid-state storage trapping electrons in EEPROM cells; no moving parts.</a:t>
            </a:r>
          </a:p>
          <a:p>
            <a:r>
              <a:rPr b="1" sz="2000">
                <a:solidFill>
                  <a:srgbClr val="1A365D"/>
                </a:solidFill>
                <a:latin typeface="Calibri"/>
              </a:rPr>
              <a:t>Optical storage</a:t>
            </a:r>
            <a:r>
              <a:rPr sz="1800">
                <a:solidFill>
                  <a:srgbClr val="222222"/>
                </a:solidFill>
                <a:latin typeface="Calibri"/>
              </a:rPr>
              <a:t> — A laser reads pits and lands on a disc surface via reflected light.</a:t>
            </a:r>
          </a:p>
          <a:p>
            <a:r>
              <a:rPr b="1" sz="2000">
                <a:solidFill>
                  <a:srgbClr val="1A365D"/>
                </a:solidFill>
                <a:latin typeface="Calibri"/>
              </a:rPr>
              <a:t>Virtual memory</a:t>
            </a:r>
            <a:r>
              <a:rPr sz="1800">
                <a:solidFill>
                  <a:srgbClr val="222222"/>
                </a:solidFill>
                <a:latin typeface="Calibri"/>
              </a:rPr>
              <a:t> — Use of secondary storage as extra RAM: less-used pages are swapped to a paging file.</a:t>
            </a:r>
          </a:p>
          <a:p>
            <a:r>
              <a:rPr b="1" sz="2000">
                <a:solidFill>
                  <a:srgbClr val="1A365D"/>
                </a:solidFill>
                <a:latin typeface="Calibri"/>
              </a:rPr>
              <a:t>Disk thrashing</a:t>
            </a:r>
            <a:r>
              <a:rPr sz="1800">
                <a:solidFill>
                  <a:srgbClr val="222222"/>
                </a:solidFill>
                <a:latin typeface="Calibri"/>
              </a:rPr>
              <a:t> — Excessive paging where the system spends most of its time swapping pages rather than working.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Input and output devices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Input devices send data INTO the system: keyboard, mouse, touchscreen, barcode scanner, microphone, sensors</a:t>
            </a:r>
          </a:p>
          <a:p>
            <a:pPr/>
            <a:r>
              <a:rPr sz="2000" b="0">
                <a:solidFill>
                  <a:srgbClr val="222222"/>
                </a:solidFill>
                <a:latin typeface="Calibri"/>
              </a:rPr>
              <a:t>Output devices act on the world: monitor, printer, speakers, and actuators (motors producing movement)</a:t>
            </a:r>
          </a:p>
          <a:p>
            <a:pPr/>
            <a:r>
              <a:rPr sz="2000" b="0">
                <a:solidFill>
                  <a:srgbClr val="222222"/>
                </a:solidFill>
                <a:latin typeface="Calibri"/>
              </a:rPr>
              <a:t>A sensor is input; an actuator is output — pair them in control systems</a:t>
            </a:r>
          </a:p>
          <a:p>
            <a:pPr/>
            <a:r>
              <a:rPr sz="2000" b="0">
                <a:solidFill>
                  <a:srgbClr val="222222"/>
                </a:solidFill>
                <a:latin typeface="Calibri"/>
              </a:rPr>
              <a:t>A touchscreen is both input and output</a:t>
            </a:r>
          </a:p>
          <a:p>
            <a:pPr/>
            <a:r>
              <a:rPr sz="1800" b="1">
                <a:solidFill>
                  <a:srgbClr val="B76E00"/>
                </a:solidFill>
                <a:latin typeface="Calibri"/>
              </a:rPr>
              <a:t>An actuator is an OUTPUT device — a frequently mis-sorted exam item.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Choosing devices for a scenario</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There is no single right device: justify choices against the scenario's stated needs</a:t>
            </a:r>
          </a:p>
          <a:p>
            <a:pPr/>
            <a:r>
              <a:rPr sz="2000" b="0">
                <a:solidFill>
                  <a:srgbClr val="222222"/>
                </a:solidFill>
                <a:latin typeface="Calibri"/>
              </a:rPr>
              <a:t>Consider environment (dust, vibration, heat), user and accessibility, accuracy, speed, cost, durability</a:t>
            </a:r>
          </a:p>
          <a:p>
            <a:pPr/>
            <a:r>
              <a:rPr sz="2000" b="0">
                <a:solidFill>
                  <a:srgbClr val="222222"/>
                </a:solidFill>
                <a:latin typeface="Calibri"/>
              </a:rPr>
              <a:t>Printers: laser = fast, high volume, low cost per page (offices); inkjet = cheap to buy, good occasional colour (home); 3D = builds objects layer by layer</a:t>
            </a:r>
          </a:p>
          <a:p>
            <a:pPr/>
            <a:r>
              <a:rPr sz="2000" b="0">
                <a:solidFill>
                  <a:srgbClr val="222222"/>
                </a:solidFill>
                <a:latin typeface="Calibri"/>
              </a:rPr>
              <a:t>Full marks come from linking a characteristic to a requirement, not listing generic pros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Primary vs secondary storage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Primary storage (RAM, ROM, cache) is directly accessed by the CPU</a:t>
            </a:r>
          </a:p>
          <a:p>
            <a:pPr/>
            <a:r>
              <a:rPr sz="2000" b="0">
                <a:solidFill>
                  <a:srgbClr val="222222"/>
                </a:solidFill>
                <a:latin typeface="Calibri"/>
              </a:rPr>
              <a:t>Secondary storage is non-volatile: it retains data with the power off</a:t>
            </a:r>
          </a:p>
          <a:p>
            <a:pPr/>
            <a:r>
              <a:rPr sz="2000" b="0">
                <a:solidFill>
                  <a:srgbClr val="222222"/>
                </a:solidFill>
                <a:latin typeface="Calibri"/>
              </a:rPr>
              <a:t>It holds files and software long-term; contents load into RAM to be used</a:t>
            </a:r>
          </a:p>
          <a:p>
            <a:pPr/>
            <a:r>
              <a:rPr sz="2000" b="0">
                <a:solidFill>
                  <a:srgbClr val="222222"/>
                </a:solidFill>
                <a:latin typeface="Calibri"/>
              </a:rPr>
              <a:t>Three secondary technologies to know: magnetic, flash (solid state) and optical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Magnetic storage: HDD and tape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Data stored as magnetised patterns on a spinning platter, read/written by a moving head on an actuator arm</a:t>
            </a:r>
          </a:p>
          <a:p>
            <a:pPr/>
            <a:r>
              <a:rPr sz="2000" b="0">
                <a:solidFill>
                  <a:srgbClr val="222222"/>
                </a:solidFill>
                <a:latin typeface="Calibri"/>
              </a:rPr>
              <a:t>Huge capacity at a low cost per gigabyte</a:t>
            </a:r>
          </a:p>
          <a:p>
            <a:pPr/>
            <a:r>
              <a:rPr sz="2000" b="0">
                <a:solidFill>
                  <a:srgbClr val="222222"/>
                </a:solidFill>
                <a:latin typeface="Calibri"/>
              </a:rPr>
              <a:t>Moving parts make it slower, noisier and fragile if dropped</a:t>
            </a:r>
          </a:p>
          <a:p>
            <a:pPr/>
            <a:r>
              <a:rPr sz="2000" b="0">
                <a:solidFill>
                  <a:srgbClr val="222222"/>
                </a:solidFill>
                <a:latin typeface="Calibri"/>
              </a:rPr>
              <a:t>Magnetic tape is serial access: cheap at scale and long-lasting, ideal for archives and backups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Flash and solid-state storage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Stores data by trapping electrons in memory cells (EEPROM); no moving parts</a:t>
            </a:r>
          </a:p>
          <a:p>
            <a:pPr/>
            <a:r>
              <a:rPr sz="2000" b="0">
                <a:solidFill>
                  <a:srgbClr val="222222"/>
                </a:solidFill>
                <a:latin typeface="Calibri"/>
              </a:rPr>
              <a:t>Fast, silent, low power, shock-resistant and portable (SSD, USB stick, SD card)</a:t>
            </a:r>
          </a:p>
          <a:p>
            <a:pPr/>
            <a:r>
              <a:rPr sz="2000" b="0">
                <a:solidFill>
                  <a:srgbClr val="222222"/>
                </a:solidFill>
                <a:latin typeface="Calibri"/>
              </a:rPr>
              <a:t>Higher cost per gigabyte than magnetic</a:t>
            </a:r>
          </a:p>
          <a:p>
            <a:pPr/>
            <a:r>
              <a:rPr sz="2000" b="0">
                <a:solidFill>
                  <a:srgbClr val="222222"/>
                </a:solidFill>
                <a:latin typeface="Calibri"/>
              </a:rPr>
              <a:t>Cells survive a finite number of writes; wear levelling spreads writes to extend life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Optical storage: CD, DVD, Blu-ray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laser reads pits and lands on the disc surface by the difference in reflected light</a:t>
            </a:r>
          </a:p>
          <a:p>
            <a:pPr/>
            <a:r>
              <a:rPr sz="2000" b="0">
                <a:solidFill>
                  <a:srgbClr val="222222"/>
                </a:solidFill>
                <a:latin typeface="Calibri"/>
              </a:rPr>
              <a:t>Very cheap per disc, light and easy to post or distribute</a:t>
            </a:r>
          </a:p>
          <a:p>
            <a:pPr/>
            <a:r>
              <a:rPr sz="2000" b="0">
                <a:solidFill>
                  <a:srgbClr val="222222"/>
                </a:solidFill>
                <a:latin typeface="Calibri"/>
              </a:rPr>
              <a:t>Low capacity (CD 700 MB, DVD 4.7 GB, Blu-ray 25 GB) and slow</a:t>
            </a:r>
          </a:p>
          <a:p>
            <a:pPr/>
            <a:r>
              <a:rPr sz="2000" b="0">
                <a:solidFill>
                  <a:srgbClr val="222222"/>
                </a:solidFill>
                <a:latin typeface="Calibri"/>
              </a:rPr>
              <a:t>Easily scratched, and many modern devices no longer have optical drives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Picking storage: characteristics vs requirements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Weigh capacity, speed, portability, durability, cost per gigabyte and access type</a:t>
            </a:r>
          </a:p>
          <a:p>
            <a:pPr/>
            <a:r>
              <a:rPr sz="2000" b="0">
                <a:solidFill>
                  <a:srgbClr val="222222"/>
                </a:solidFill>
                <a:latin typeface="Calibri"/>
              </a:rPr>
              <a:t>Frequent fast rewrites on the move: flash/SSD (durable, no moving parts)</a:t>
            </a:r>
          </a:p>
          <a:p>
            <a:pPr/>
            <a:r>
              <a:rPr sz="2000" b="0">
                <a:solidFill>
                  <a:srgbClr val="222222"/>
                </a:solidFill>
                <a:latin typeface="Calibri"/>
              </a:rPr>
              <a:t>Bulk capacity on a budget: HDD; long-term archive at scale: tape</a:t>
            </a:r>
          </a:p>
          <a:p>
            <a:pPr/>
            <a:r>
              <a:rPr sz="2000" b="0">
                <a:solidFill>
                  <a:srgbClr val="222222"/>
                </a:solidFill>
                <a:latin typeface="Calibri"/>
              </a:rPr>
              <a:t>Always compare: say why the chosen medium beats a named alternative for THIS scenario</a:t>
            </a:r>
          </a:p>
          <a:p>
            <a:pPr/>
            <a:r>
              <a:rPr sz="1800" b="1">
                <a:solidFill>
                  <a:srgbClr val="B76E00"/>
                </a:solidFill>
                <a:latin typeface="Calibri"/>
              </a:rPr>
              <a:t>Answers that list generic pros and cons without applying them to the scenario cap at AO1 marks.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RAM and ROM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RAM: volatile, read/write, holds the running programs and data the CPU is currently using</a:t>
            </a:r>
          </a:p>
          <a:p>
            <a:pPr/>
            <a:r>
              <a:rPr sz="2000" b="0">
                <a:solidFill>
                  <a:srgbClr val="222222"/>
                </a:solidFill>
                <a:latin typeface="Calibri"/>
              </a:rPr>
              <a:t>More RAM lets more programs run at once without resorting to virtual memory</a:t>
            </a:r>
          </a:p>
          <a:p>
            <a:pPr/>
            <a:r>
              <a:rPr sz="2000" b="0">
                <a:solidFill>
                  <a:srgbClr val="222222"/>
                </a:solidFill>
                <a:latin typeface="Calibri"/>
              </a:rPr>
              <a:t>ROM: non-volatile, normally read-only, holds the bootstrap loader and BIOS firmware</a:t>
            </a:r>
          </a:p>
          <a:p>
            <a:pPr/>
            <a:r>
              <a:rPr sz="2000" b="0">
                <a:solidFill>
                  <a:srgbClr val="222222"/>
                </a:solidFill>
                <a:latin typeface="Calibri"/>
              </a:rPr>
              <a:t>The bootstrap code in ROM starts the computer and loads the OS from secondary storage into 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Virtual memory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When RAM is full, the OS moves less-recently-used pages to a paging/swap file on secondary storage</a:t>
            </a:r>
          </a:p>
          <a:p>
            <a:pPr/>
            <a:r>
              <a:rPr sz="2000" b="0">
                <a:solidFill>
                  <a:srgbClr val="222222"/>
                </a:solidFill>
                <a:latin typeface="Calibri"/>
              </a:rPr>
              <a:t>This lets more or larger programs run than physical RAM alone would allow</a:t>
            </a:r>
          </a:p>
          <a:p>
            <a:pPr/>
            <a:r>
              <a:rPr sz="2000" b="0">
                <a:solidFill>
                  <a:srgbClr val="222222"/>
                </a:solidFill>
                <a:latin typeface="Calibri"/>
              </a:rPr>
              <a:t>Disk access is far slower than RAM, so heavy paging degrades performance</a:t>
            </a:r>
          </a:p>
          <a:p>
            <a:pPr/>
            <a:r>
              <a:rPr sz="2000" b="0">
                <a:solidFill>
                  <a:srgbClr val="222222"/>
                </a:solidFill>
                <a:latin typeface="Calibri"/>
              </a:rPr>
              <a:t>Excessive swapping is disk thrashing: the system spends its time paging, not working</a:t>
            </a:r>
          </a:p>
          <a:p>
            <a:pPr/>
            <a:r>
              <a:rPr sz="1800" b="1">
                <a:solidFill>
                  <a:srgbClr val="B76E00"/>
                </a:solidFill>
                <a:latin typeface="Calibri"/>
              </a:rPr>
              <a:t>Virtual memory does NOT add extra RAM — it borrows secondary storage to act as if it were 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Virtual (cloud) storage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Files stored on remote servers and accessed over a network or the internet</a:t>
            </a:r>
          </a:p>
          <a:p>
            <a:pPr/>
            <a:r>
              <a:rPr sz="2000" b="0">
                <a:solidFill>
                  <a:srgbClr val="222222"/>
                </a:solidFill>
                <a:latin typeface="Calibri"/>
              </a:rPr>
              <a:t>Benefits: access from anywhere, easy scaling, sharing, off-site backup, no hardware to maintain</a:t>
            </a:r>
          </a:p>
          <a:p>
            <a:pPr/>
            <a:r>
              <a:rPr sz="2000" b="0">
                <a:solidFill>
                  <a:srgbClr val="222222"/>
                </a:solidFill>
                <a:latin typeface="Calibri"/>
              </a:rPr>
              <a:t>Drawbacks: needs an internet connection, ongoing subscription cost, data held by a third party (security/privacy)</a:t>
            </a:r>
          </a:p>
          <a:p>
            <a:pPr/>
            <a:r>
              <a:rPr sz="2000" b="0">
                <a:solidFill>
                  <a:srgbClr val="222222"/>
                </a:solidFill>
                <a:latin typeface="Calibri"/>
              </a:rPr>
              <a:t>Keep the two virtuals separate: virtual memory extends RAM; virtual storage replaces local disks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Recommending a storage device with full justification</a:t>
            </a:r>
          </a:p>
          <a:p>
            <a:pPr lvl="1"/>
            <a:r>
              <a:rPr sz="1900" b="0">
                <a:solidFill>
                  <a:srgbClr val="222222"/>
                </a:solidFill>
                <a:latin typeface="Calibri"/>
              </a:rPr>
              <a:t>1. Scenario: portable storage for large video files, carried between sites, frequently rewritten, needing fast transfer and durability</a:t>
            </a:r>
          </a:p>
          <a:p>
            <a:pPr lvl="1"/>
            <a:r>
              <a:rPr sz="1900" b="0">
                <a:solidFill>
                  <a:srgbClr val="222222"/>
                </a:solidFill>
                <a:latin typeface="Calibri"/>
              </a:rPr>
              <a:t>2. Step 1, list the requirements: portable, large capacity, fast transfer, frequently rewritten, durable</a:t>
            </a:r>
          </a:p>
          <a:p>
            <a:pPr lvl="1"/>
            <a:r>
              <a:rPr sz="1900" b="0">
                <a:solidFill>
                  <a:srgbClr val="222222"/>
                </a:solidFill>
                <a:latin typeface="Calibri"/>
              </a:rPr>
              <a:t>3. Step 2, recommend: an external SSD (flash storage)</a:t>
            </a:r>
          </a:p>
          <a:p>
            <a:pPr lvl="1"/>
            <a:r>
              <a:rPr sz="1900" b="0">
                <a:solidFill>
                  <a:srgbClr val="222222"/>
                </a:solidFill>
                <a:latin typeface="Calibri"/>
              </a:rPr>
              <a:t>4. Step 3, justify against each requirement: small and light so portable; fast transfer suits large video files; easily rewritable; no moving parts so it survives being carried</a:t>
            </a:r>
          </a:p>
          <a:p>
            <a:pPr lvl="1"/>
            <a:r>
              <a:rPr sz="1900" b="0">
                <a:solidFill>
                  <a:srgbClr val="222222"/>
                </a:solidFill>
                <a:latin typeface="Calibri"/>
              </a:rPr>
              <a:t>5. Step 4, compare and reject alternatives: an HDD is cheaper per GB but its moving parts are fragile in transit; optical discs are slow and far too small — so flash best fits the stated needs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Costing an archive: tape versus cloud for 60 TB over 8 years</a:t>
            </a:r>
          </a:p>
          <a:p>
            <a:pPr lvl="1"/>
            <a:r>
              <a:rPr sz="1900" b="0">
                <a:solidFill>
                  <a:srgbClr val="222222"/>
                </a:solidFill>
                <a:latin typeface="Calibri"/>
              </a:rPr>
              <a:t>1. A hospital must keep 60 TB of scans off-site for 8 years; catalogue prices: 12 TB tape cartridge 40 pounds, tape drive 1,500 pounds, cloud 8 pounds per TB per month</a:t>
            </a:r>
          </a:p>
          <a:p>
            <a:pPr lvl="1"/>
            <a:r>
              <a:rPr sz="1900" b="0">
                <a:solidFill>
                  <a:srgbClr val="222222"/>
                </a:solidFill>
                <a:latin typeface="Calibri"/>
              </a:rPr>
              <a:t>2. Tape: 60 / 12 = 5 cartridges; 5 x 40 = 200 pounds, plus the drive 1,500 pounds = 1,700 pounds total</a:t>
            </a:r>
          </a:p>
          <a:p>
            <a:pPr lvl="1"/>
            <a:r>
              <a:rPr sz="1900" b="0">
                <a:solidFill>
                  <a:srgbClr val="222222"/>
                </a:solidFill>
                <a:latin typeface="Calibri"/>
              </a:rPr>
              <a:t>3. Cloud: 60 TB x 8 pounds = 480 pounds per month; 480 x 12 = 5,760 pounds per year; x 8 years = 46,080 pounds</a:t>
            </a:r>
          </a:p>
          <a:p>
            <a:pPr lvl="1"/>
            <a:r>
              <a:rPr sz="1900" b="0">
                <a:solidFill>
                  <a:srgbClr val="222222"/>
                </a:solidFill>
                <a:latin typeface="Calibri"/>
              </a:rPr>
              <a:t>4. Tape also offers a long shelf life, and serial access is acceptable because archives are rarely read</a:t>
            </a:r>
          </a:p>
          <a:p>
            <a:pPr lvl="1"/>
            <a:r>
              <a:rPr sz="1900" b="0">
                <a:solidFill>
                  <a:srgbClr val="222222"/>
                </a:solidFill>
                <a:latin typeface="Calibri"/>
              </a:rPr>
              <a:t>5. Conclusion: tape wins on cost by a factor of about 27; cloud is only defensible if scans must be instantly retrievable from anywhere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virtual memory when RAM fills up</a:t>
            </a:r>
          </a:p>
          <a:p>
            <a:pPr lvl="1"/>
            <a:r>
              <a:rPr sz="1900" b="0">
                <a:solidFill>
                  <a:srgbClr val="222222"/>
                </a:solidFill>
                <a:latin typeface="Calibri"/>
              </a:rPr>
              <a:t>1. A laptop has 8 GB of RAM; the user opens programs needing 10 GB in total</a:t>
            </a:r>
          </a:p>
          <a:p>
            <a:pPr lvl="1"/>
            <a:r>
              <a:rPr sz="1900" b="0">
                <a:solidFill>
                  <a:srgbClr val="222222"/>
                </a:solidFill>
                <a:latin typeface="Calibri"/>
              </a:rPr>
              <a:t>2. Step 1: the OS identifies pages of RAM that have not been used recently</a:t>
            </a:r>
          </a:p>
          <a:p>
            <a:pPr lvl="1"/>
            <a:r>
              <a:rPr sz="1900" b="0">
                <a:solidFill>
                  <a:srgbClr val="222222"/>
                </a:solidFill>
                <a:latin typeface="Calibri"/>
              </a:rPr>
              <a:t>3. Step 2: those pages are written out to the paging (swap) file on the SSD or HDD, freeing physical RAM</a:t>
            </a:r>
          </a:p>
          <a:p>
            <a:pPr lvl="1"/>
            <a:r>
              <a:rPr sz="1900" b="0">
                <a:solidFill>
                  <a:srgbClr val="222222"/>
                </a:solidFill>
                <a:latin typeface="Calibri"/>
              </a:rPr>
              <a:t>4. Step 3: when a swapped-out page is needed again, it is read back into RAM, and another page may be evicted to make room</a:t>
            </a:r>
          </a:p>
          <a:p>
            <a:pPr lvl="1"/>
            <a:r>
              <a:rPr sz="1900" b="0">
                <a:solidFill>
                  <a:srgbClr val="222222"/>
                </a:solidFill>
                <a:latin typeface="Calibri"/>
              </a:rPr>
              <a:t>5. Step 4: because disk is far slower than RAM, each swap costs time; if the shortfall grows, constant swapping (thrashing) leaves the machine unresponsive</a:t>
            </a:r>
          </a:p>
          <a:p>
            <a:pPr lvl="1"/>
            <a:r>
              <a:rPr sz="1900" b="0">
                <a:solidFill>
                  <a:srgbClr val="222222"/>
                </a:solidFill>
                <a:latin typeface="Calibri"/>
              </a:rPr>
              <a:t>6. Fix: install more physical RAM, or run fewer programs at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Storage Shopping Task: Spend the Budget  (20 min)</a:t>
            </a:r>
          </a:p>
          <a:p>
            <a:pPr lvl="1"/>
            <a:r>
              <a:rPr sz="2000" b="0">
                <a:solidFill>
                  <a:srgbClr val="222222"/>
                </a:solidFill>
                <a:latin typeface="Calibri"/>
              </a:rPr>
              <a:t>Project the catalogue: 4 TB HDD 70 pounds; 1 TB SATA SSD 55 pounds; 2 TB NVMe SSD 120 pounds; 128 GB USB flash drive 12 pounds; 25 GB Blu-ray discs 1 pound each (drive 60 pounds); 12 TB LTO tape 40 pounds (drive 1,500 pounds); cloud 8 pounds per TB per month</a:t>
            </a:r>
          </a:p>
          <a:p>
            <a:pPr lvl="1"/>
            <a:r>
              <a:rPr sz="2000" b="0">
                <a:solidFill>
                  <a:srgbClr val="222222"/>
                </a:solidFill>
                <a:latin typeface="Calibri"/>
              </a:rPr>
              <a:t>Groups of three act as IT consultants: (a) video-editing freelancer, 200 pounds, fast scratch space plus archive; (b) hospital, 3,000 pounds, 60 TB off-site for 8 years; (c) school, 150 pounds, distributing a 4 GB pack to 30 staff with no optical drives; (d) wildlife charity, 100 pounds, camera-trap storage in a hot, vibration-prone hide</a:t>
            </a:r>
          </a:p>
          <a:p>
            <a:pPr lvl="1"/>
            <a:r>
              <a:rPr sz="2000" b="0">
                <a:solidFill>
                  <a:srgbClr val="222222"/>
                </a:solidFill>
                <a:latin typeface="Calibri"/>
              </a:rPr>
              <a:t>Groups pick devices within budget and write a two-sentence justification per choice linking a characteristic to a stated requirement</a:t>
            </a:r>
          </a:p>
          <a:p>
            <a:pPr lvl="1"/>
            <a:r>
              <a:rPr sz="2000" b="0">
                <a:solidFill>
                  <a:srgbClr val="222222"/>
                </a:solidFill>
                <a:latin typeface="Calibri"/>
              </a:rPr>
              <a:t>Groups pitch to another group acting as the sceptical client, who must ask one why-not-X-instead question</a:t>
            </a:r>
          </a:p>
          <a:p>
            <a:pPr lvl="1"/>
            <a:r>
              <a:rPr sz="2000" b="0">
                <a:solidFill>
                  <a:srgbClr val="222222"/>
                </a:solidFill>
                <a:latin typeface="Calibri"/>
              </a:rPr>
              <a:t>Debrief: praise pitches that compared alternatives (whereas...) over pitches that listed generic pros</a:t>
            </a:r>
          </a:p>
          <a:p>
            <a:pPr/>
            <a:r>
              <a:rPr sz="1800" b="0">
                <a:solidFill>
                  <a:srgbClr val="B76E00"/>
                </a:solidFill>
                <a:latin typeface="Calibri"/>
              </a:rPr>
              <a:t>Stretch: Curveball mid-pitch: the hospital now needs any scan retrievable within one minute — defend or revise (tape's serial access now fails).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Spot and Fix: The Terrible Memory Essay  (10 min)</a:t>
            </a:r>
          </a:p>
          <a:p>
            <a:pPr lvl="1"/>
            <a:r>
              <a:rPr sz="2000" b="0">
                <a:solidFill>
                  <a:srgbClr val="222222"/>
                </a:solidFill>
                <a:latin typeface="Calibri"/>
              </a:rPr>
              <a:t>Project the planted-error paragraph: RAM is non-volatile main memory that holds running programs. ROM is volatile and stores the user's documents. When RAM is full, virtual memory adds extra RAM chips so more programs can run. Pages are swapped between the hard drive and ROM, and because the disk is faster than RAM this speeds the computer up. If too much swapping occurs the system enjoys disk thrashing, which improves performance. Cache is a section of RAM that is slower than main memory.</a:t>
            </a:r>
          </a:p>
          <a:p>
            <a:pPr lvl="1"/>
            <a:r>
              <a:rPr sz="2000" b="0">
                <a:solidFill>
                  <a:srgbClr val="222222"/>
                </a:solidFill>
                <a:latin typeface="Calibri"/>
              </a:rPr>
              <a:t>Tell pairs there are 8 errors; they find and number every one</a:t>
            </a:r>
          </a:p>
          <a:p>
            <a:pPr lvl="1"/>
            <a:r>
              <a:rPr sz="2000" b="0">
                <a:solidFill>
                  <a:srgbClr val="222222"/>
                </a:solidFill>
                <a:latin typeface="Calibri"/>
              </a:rPr>
              <a:t>Pairs rewrite the worst two sentences correctly on whiteboards</a:t>
            </a:r>
          </a:p>
          <a:p>
            <a:pPr lvl="1"/>
            <a:r>
              <a:rPr sz="2000" b="0">
                <a:solidFill>
                  <a:srgbClr val="222222"/>
                </a:solidFill>
                <a:latin typeface="Calibri"/>
              </a:rPr>
              <a:t>Class check, one point per error found plus one per accurate fix</a:t>
            </a:r>
          </a:p>
          <a:p>
            <a:pPr lvl="1"/>
            <a:r>
              <a:rPr sz="2000" b="0">
                <a:solidFill>
                  <a:srgbClr val="222222"/>
                </a:solidFill>
                <a:latin typeface="Calibri"/>
              </a:rPr>
              <a:t>Answers: RAM is volatile; ROM is non-volatile; ROM holds firmware/bootstrap not documents; virtual memory uses secondary storage, it does not add RAM; pages swap between disk and RAM, not ROM; disk is slower than RAM so it slows things down; thrashing degrades performance; cache is separate fast memory on/near the CPU, faster than RAM</a:t>
            </a:r>
          </a:p>
          <a:p>
            <a:pPr/>
            <a:r>
              <a:rPr sz="1800" b="0">
                <a:solidFill>
                  <a:srgbClr val="B76E00"/>
                </a:solidFill>
                <a:latin typeface="Calibri"/>
              </a:rPr>
              <a:t>Stretch: Pairs write their own 3-error paragraph on input/output devices for another pair to debug.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Magnetic / Flash / Optical Human Sort  (10 min)</a:t>
            </a:r>
          </a:p>
          <a:p>
            <a:pPr lvl="1"/>
            <a:r>
              <a:rPr sz="2000" b="0">
                <a:solidFill>
                  <a:srgbClr val="222222"/>
                </a:solidFill>
                <a:latin typeface="Calibri"/>
              </a:rPr>
              <a:t>Label three zones of the room MAGNETIC, FLASH and OPTICAL; give each student or pair one statement card</a:t>
            </a:r>
          </a:p>
          <a:p>
            <a:pPr lvl="1"/>
            <a:r>
              <a:rPr sz="2000" b="0">
                <a:solidFill>
                  <a:srgbClr val="222222"/>
                </a:solidFill>
                <a:latin typeface="Calibri"/>
              </a:rPr>
              <a:t>Cards: stores data as magnetised regions on a platter; laser reads pits and lands; traps electrons in memory cells; no moving parts; wear levelling extends its life; read/write head on an actuator arm; cheapest per disc to post; vulnerable to scratches; finite number of write cycles; high capacity at low cost per GB; serial access when on tape; silent and shock-resistant</a:t>
            </a:r>
          </a:p>
          <a:p>
            <a:pPr lvl="1"/>
            <a:r>
              <a:rPr sz="2000" b="0">
                <a:solidFill>
                  <a:srgbClr val="222222"/>
                </a:solidFill>
                <a:latin typeface="Calibri"/>
              </a:rPr>
              <a:t>Students read their card aloud and walk to a zone; each zone then audits itself and cross-examines doubtful members</a:t>
            </a:r>
          </a:p>
          <a:p>
            <a:pPr lvl="1"/>
            <a:r>
              <a:rPr sz="2000" b="0">
                <a:solidFill>
                  <a:srgbClr val="222222"/>
                </a:solidFill>
                <a:latin typeface="Calibri"/>
              </a:rPr>
              <a:t>Call the two deliberate wobbles: high capacity at low cost per GB (magnetic, but let flash argue) and no moving parts (flash, though optical discs themselves have none — the drive does)</a:t>
            </a:r>
          </a:p>
          <a:p>
            <a:pPr lvl="1"/>
            <a:r>
              <a:rPr sz="2000" b="0">
                <a:solidFill>
                  <a:srgbClr val="222222"/>
                </a:solidFill>
                <a:latin typeface="Calibri"/>
              </a:rPr>
              <a:t>Each zone composes one new true statement that could only belong to them</a:t>
            </a:r>
          </a:p>
          <a:p>
            <a:pPr/>
            <a:r>
              <a:rPr sz="1800" b="0">
                <a:solidFill>
                  <a:srgbClr val="B76E00"/>
                </a:solidFill>
                <a:latin typeface="Calibri"/>
              </a:rPr>
              <a:t>Stretch: Zone representatives explain why their medium is non-volatile using its physical mechanism.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how data is stored on and read from a hard disk drive. [3]</a:t>
            </a:r>
          </a:p>
          <a:p>
            <a:r>
              <a:rPr sz="2000" b="1">
                <a:solidFill>
                  <a:srgbClr val="222222"/>
                </a:solidFill>
                <a:latin typeface="Calibri"/>
              </a:rPr>
              <a:t>2. Describe how an optical disc such as a DVD stores and reads data. [2]</a:t>
            </a:r>
          </a:p>
          <a:p>
            <a:r>
              <a:rPr sz="2000" b="1">
                <a:solidFill>
                  <a:srgbClr val="222222"/>
                </a:solidFill>
                <a:latin typeface="Calibri"/>
              </a:rPr>
              <a:t>3. A courier company gives each driver a handheld device used in vans all day. Explain two reasons why flash storage is more suitable than a hard disk for these devices. [4]</a:t>
            </a:r>
          </a:p>
          <a:p>
            <a:r>
              <a:rPr sz="2000" b="1">
                <a:solidFill>
                  <a:srgbClr val="222222"/>
                </a:solidFill>
                <a:latin typeface="Calibri"/>
              </a:rPr>
              <a:t>4. State two differences between RAM and ROM.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how data is stored on and read from a hard disk drive. [3]</a:t>
            </a:r>
          </a:p>
          <a:p>
            <a:pPr lvl="1"/>
            <a:r>
              <a:rPr sz="1800" i="1">
                <a:solidFill>
                  <a:srgbClr val="B76E00"/>
                </a:solidFill>
                <a:latin typeface="Calibri"/>
              </a:rPr>
              <a:t>Answer: Data is stored as magnetised patterns/regions (1) on a spinning platter (1); a read/write head on a moving actuator arm detects or changes the magnetisation to read or write the data (1).</a:t>
            </a:r>
          </a:p>
          <a:p>
            <a:r>
              <a:rPr sz="2000" b="1">
                <a:solidFill>
                  <a:srgbClr val="222222"/>
                </a:solidFill>
                <a:latin typeface="Calibri"/>
              </a:rPr>
              <a:t>2. Describe how an optical disc such as a DVD stores and reads data. [2]</a:t>
            </a:r>
          </a:p>
          <a:p>
            <a:pPr lvl="1"/>
            <a:r>
              <a:rPr sz="1800" i="1">
                <a:solidFill>
                  <a:srgbClr val="B76E00"/>
                </a:solidFill>
                <a:latin typeface="Calibri"/>
              </a:rPr>
              <a:t>Answer: Data is stored as pits and lands on the disc surface (1); a laser shines on the surface and the difference in reflected light is read as binary data (1).</a:t>
            </a:r>
          </a:p>
          <a:p>
            <a:r>
              <a:rPr sz="2000" b="1">
                <a:solidFill>
                  <a:srgbClr val="222222"/>
                </a:solidFill>
                <a:latin typeface="Calibri"/>
              </a:rPr>
              <a:t>3. A courier company gives each driver a handheld device used in vans all day. Explain two reasons why flash storage is more suitable than a hard disk for these devices. [4]</a:t>
            </a:r>
          </a:p>
          <a:p>
            <a:pPr lvl="1"/>
            <a:r>
              <a:rPr sz="1800" i="1">
                <a:solidFill>
                  <a:srgbClr val="B76E00"/>
                </a:solidFill>
                <a:latin typeface="Calibri"/>
              </a:rPr>
              <a:t>Answer: Flash has no moving parts (1) so it withstands the constant vibration and knocks of van use, where an HDD's head and platter could be damaged (1); flash also has low power consumption (1), extending the battery life of a handheld device used all day (1). (Also credit: faster access, smaller and lighter.)</a:t>
            </a:r>
          </a:p>
          <a:p>
            <a:r>
              <a:rPr sz="2000" b="1">
                <a:solidFill>
                  <a:srgbClr val="222222"/>
                </a:solidFill>
                <a:latin typeface="Calibri"/>
              </a:rPr>
              <a:t>4. State two differences between RAM and ROM. [2]</a:t>
            </a:r>
          </a:p>
          <a:p>
            <a:pPr lvl="1"/>
            <a:r>
              <a:rPr sz="1800" i="1">
                <a:solidFill>
                  <a:srgbClr val="B76E00"/>
                </a:solidFill>
                <a:latin typeface="Calibri"/>
              </a:rPr>
              <a:t>Answer: RAM is volatile whereas ROM is non-volatile (1); RAM is read/write and holds running programs and data, whereas ROM is normally read-only and holds the bootstrap/BIOS firmware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how virtual memory allows a computer with 4 GB of RAM to run programs needing more than 4 GB. [4]</a:t>
            </a:r>
          </a:p>
          <a:p>
            <a:r>
              <a:rPr sz="2000" b="1">
                <a:solidFill>
                  <a:srgbClr val="222222"/>
                </a:solidFill>
                <a:latin typeface="Calibri"/>
              </a:rPr>
              <a:t>2. State what is meant by disk thrashing. [2]</a:t>
            </a:r>
          </a:p>
          <a:p>
            <a:r>
              <a:rPr sz="2000" b="1">
                <a:solidFill>
                  <a:srgbClr val="222222"/>
                </a:solidFill>
                <a:latin typeface="Calibri"/>
              </a:rPr>
              <a:t>3. A photography business is deciding between cloud storage and an external hard drive for backing up images. Discuss the advantages and disadvantages of the cloud option. [6]</a:t>
            </a:r>
          </a:p>
          <a:p>
            <a:r>
              <a:rPr sz="2000" b="1">
                <a:solidFill>
                  <a:srgbClr val="222222"/>
                </a:solidFill>
                <a:latin typeface="Calibri"/>
              </a:rPr>
              <a:t>4. A supermarket self-checkout needs one input and one output device besides the touchscreen. State a suitable device of each type and justify each choice.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how virtual memory allows a computer with 4 GB of RAM to run programs needing more than 4 GB. [4]</a:t>
            </a:r>
          </a:p>
          <a:p>
            <a:pPr lvl="1"/>
            <a:r>
              <a:rPr sz="1800" i="1">
                <a:solidFill>
                  <a:srgbClr val="B76E00"/>
                </a:solidFill>
                <a:latin typeface="Calibri"/>
              </a:rPr>
              <a:t>Answer: The OS uses part of secondary storage as a paging/swap file (1); less-recently-used pages are moved out of RAM to this file, freeing physical RAM (1); when a swapped-out page is needed it is loaded back into RAM, possibly evicting another (1); this lets total program memory exceed physical RAM, though disk is much slower so heavy paging reduces performance (1).</a:t>
            </a:r>
          </a:p>
          <a:p>
            <a:r>
              <a:rPr sz="2000" b="1">
                <a:solidFill>
                  <a:srgbClr val="222222"/>
                </a:solidFill>
                <a:latin typeface="Calibri"/>
              </a:rPr>
              <a:t>2. State what is meant by disk thrashing. [2]</a:t>
            </a:r>
          </a:p>
          <a:p>
            <a:pPr lvl="1"/>
            <a:r>
              <a:rPr sz="1800" i="1">
                <a:solidFill>
                  <a:srgbClr val="B76E00"/>
                </a:solidFill>
                <a:latin typeface="Calibri"/>
              </a:rPr>
              <a:t>Answer: Excessive paging when RAM is far too full (1), so the system spends most of its time swapping pages between disk and RAM instead of doing useful work, and performance collapses (1).</a:t>
            </a:r>
          </a:p>
          <a:p>
            <a:r>
              <a:rPr sz="2000" b="1">
                <a:solidFill>
                  <a:srgbClr val="222222"/>
                </a:solidFill>
                <a:latin typeface="Calibri"/>
              </a:rPr>
              <a:t>3. A photography business is deciding between cloud storage and an external hard drive for backing up images. Discuss the advantages and disadvantages of the cloud option. [6]</a:t>
            </a:r>
          </a:p>
          <a:p>
            <a:pPr lvl="1"/>
            <a:r>
              <a:rPr sz="1800" i="1">
                <a:solidFill>
                  <a:srgbClr val="B76E00"/>
                </a:solidFill>
                <a:latin typeface="Calibri"/>
              </a:rPr>
              <a:t>Answer: Advantages: files are stored off-site, so they survive local theft, fire or hardware failure (1); accessible from anywhere with internet, aiding work on location (1); capacity scales without buying hardware (1). Disadvantages: an internet connection is required, and uploads of large image files may be slow (1); ongoing subscription costs can exceed the one-off cost of a drive over time (1); data is held by a third party, raising security/privacy concerns (1).</a:t>
            </a:r>
          </a:p>
          <a:p>
            <a:r>
              <a:rPr sz="2000" b="1">
                <a:solidFill>
                  <a:srgbClr val="222222"/>
                </a:solidFill>
                <a:latin typeface="Calibri"/>
              </a:rPr>
              <a:t>4. A supermarket self-checkout needs one input and one output device besides the touchscreen. State a suitable device of each type and justify each choice. [4]</a:t>
            </a:r>
          </a:p>
          <a:p>
            <a:pPr lvl="1"/>
            <a:r>
              <a:rPr sz="1800" i="1">
                <a:solidFill>
                  <a:srgbClr val="B76E00"/>
                </a:solidFill>
                <a:latin typeface="Calibri"/>
              </a:rPr>
              <a:t>Answer: Input: a barcode scanner (1) because it identifies products quickly and accurately with no typing by the customer (1). Output: a receipt printer (1) because customers need a physical proof of purchase to take away (1). (Credit other sensible pairs, e.g. scales as input, speaker for prompts as output, with matching justification.)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virtual memory adds extra RAM, but it uses secondary storage to stand in for RAM, and it is far slower.</a:t>
            </a:r>
          </a:p>
          <a:p>
            <a:pPr/>
            <a:r>
              <a:rPr sz="2000" b="0">
                <a:solidFill>
                  <a:srgbClr val="222222"/>
                </a:solidFill>
                <a:latin typeface="Calibri"/>
              </a:rPr>
              <a:t>✗ Students often confuse virtual memory with virtual (cloud) storage; one extends RAM using a paging file, the other stores files on remote servers.</a:t>
            </a:r>
          </a:p>
          <a:p>
            <a:pPr/>
            <a:r>
              <a:rPr sz="2000" b="0">
                <a:solidFill>
                  <a:srgbClr val="222222"/>
                </a:solidFill>
                <a:latin typeface="Calibri"/>
              </a:rPr>
              <a:t>✗ Students often think an actuator is an input device, but it is an output: it acts on the world, while sensors provide the input.</a:t>
            </a:r>
          </a:p>
          <a:p>
            <a:pPr/>
            <a:r>
              <a:rPr sz="2000" b="0">
                <a:solidFill>
                  <a:srgbClr val="222222"/>
                </a:solidFill>
                <a:latin typeface="Calibri"/>
              </a:rPr>
              <a:t>✗ Students often say SSDs are always better, but HDDs still win on cost per gigabyte and tape wins for large archives.</a:t>
            </a:r>
          </a:p>
          <a:p>
            <a:pPr/>
            <a:r>
              <a:rPr sz="2000" b="0">
                <a:solidFill>
                  <a:srgbClr val="222222"/>
                </a:solidFill>
                <a:latin typeface="Calibri"/>
              </a:rPr>
              <a:t>✗ Students often write generic device pros and cons; marks come from linking each characteristic to the scenario's stated requirement.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(name a device, 1 mark), Describe (how a medium stores data, 2-3 marks), Explain (why a device suits a scenario, 3-4 marks), Discuss (storage choice for a business, 6-9 mark levels of response).</a:t>
            </a:r>
          </a:p>
          <a:p>
            <a:pPr/>
            <a:r>
              <a:rPr sz="2000" b="0">
                <a:solidFill>
                  <a:srgbClr val="222222"/>
                </a:solidFill>
                <a:latin typeface="Calibri"/>
              </a:rPr>
              <a:t>Scenario questions cap at AO1 unless every characteristic is applied to a stated requirement — use whereas-style comparisons with a rejected alternative.</a:t>
            </a:r>
          </a:p>
          <a:p>
            <a:pPr/>
            <a:r>
              <a:rPr sz="2000" b="0">
                <a:solidFill>
                  <a:srgbClr val="222222"/>
                </a:solidFill>
                <a:latin typeface="Calibri"/>
              </a:rPr>
              <a:t>Example stem: 'A wildlife charity records video in a remote hide. Discuss the suitability of magnetic, optical and flash storage for this use.'</a:t>
            </a:r>
          </a:p>
          <a:p>
            <a:pPr/>
            <a:r>
              <a:rPr sz="2000" b="0">
                <a:solidFill>
                  <a:srgbClr val="222222"/>
                </a:solidFill>
                <a:latin typeface="Calibri"/>
              </a:rPr>
              <a:t>Be precise on mechanisms: magnetised patterns; pits and lands read by laser; electrons trapped in cells with no moving parts.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An architecture firm needs: fast working storage for huge CAD files, a way to send finished plans to clients without reliable internet, and a 10-year archive of every project. Recommend a storage technology for each need and justify each choice by linking two characteristics to the requirement and rejecting one named alternative.</a:t>
            </a:r>
          </a:p>
          <a:p>
            <a:r>
              <a:rPr sz="2400" b="1">
                <a:solidFill>
                  <a:srgbClr val="B76E00"/>
                </a:solidFill>
                <a:latin typeface="Calibri"/>
              </a:rPr>
              <a:t>Challenge / stretch</a:t>
            </a:r>
          </a:p>
          <a:p>
            <a:pPr lvl="1"/>
            <a:r>
              <a:rPr sz="2200" b="0">
                <a:solidFill>
                  <a:srgbClr val="222222"/>
                </a:solidFill>
                <a:latin typeface="Calibri"/>
              </a:rPr>
              <a:t>Using the lesson catalogue prices, cost a 10-year archive of 24 TB three ways: tape (2 cartridges 80 pounds + 1,500 pound drive = 1,580 pounds), HDDs (6 x 4 TB = 420 pounds, but plan replacement at year 5, total 840 pounds), and cloud (24 x 8 x 12 x 10 = 23,040 pounds). Then argue which wins if the requirement changes to instant retrieval from any office.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Give the physical mechanism for each: magnetic, optical, flash.</a:t>
            </a:r>
          </a:p>
          <a:p>
            <a:r>
              <a:rPr sz="2200" b="1">
                <a:solidFill>
                  <a:srgbClr val="222222"/>
                </a:solidFill>
                <a:latin typeface="Calibri"/>
              </a:rPr>
              <a:t>2. What is the difference between virtual memory and virtual storage?</a:t>
            </a:r>
          </a:p>
          <a:p>
            <a:r>
              <a:rPr sz="2200" b="1">
                <a:solidFill>
                  <a:srgbClr val="222222"/>
                </a:solidFill>
                <a:latin typeface="Calibri"/>
              </a:rPr>
              <a:t>3. Why is RAM described as volatile and ROM as non-volatile?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Give the physical mechanism for each: magnetic, optical, flash.</a:t>
            </a:r>
          </a:p>
          <a:p>
            <a:pPr lvl="1"/>
            <a:r>
              <a:rPr sz="1800" i="1">
                <a:solidFill>
                  <a:srgbClr val="B76E00"/>
                </a:solidFill>
                <a:latin typeface="Calibri"/>
              </a:rPr>
              <a:t>Answer: Magnetic: magnetised patterns on a platter/tape read by a head; optical: laser reads pits and lands; flash: electrons trapped in memory cells, no moving parts.</a:t>
            </a:r>
          </a:p>
          <a:p>
            <a:r>
              <a:rPr sz="2200" b="1">
                <a:solidFill>
                  <a:srgbClr val="222222"/>
                </a:solidFill>
                <a:latin typeface="Calibri"/>
              </a:rPr>
              <a:t>2. What is the difference between virtual memory and virtual storage?</a:t>
            </a:r>
          </a:p>
          <a:p>
            <a:pPr lvl="1"/>
            <a:r>
              <a:rPr sz="1800" i="1">
                <a:solidFill>
                  <a:srgbClr val="B76E00"/>
                </a:solidFill>
                <a:latin typeface="Calibri"/>
              </a:rPr>
              <a:t>Answer: Virtual memory uses secondary storage as extra RAM via a paging file; virtual (cloud) storage keeps files on remote servers accessed over a network.</a:t>
            </a:r>
          </a:p>
          <a:p>
            <a:r>
              <a:rPr sz="2200" b="1">
                <a:solidFill>
                  <a:srgbClr val="222222"/>
                </a:solidFill>
                <a:latin typeface="Calibri"/>
              </a:rPr>
              <a:t>3. Why is RAM described as volatile and ROM as non-volatile?</a:t>
            </a:r>
          </a:p>
          <a:p>
            <a:pPr lvl="1"/>
            <a:r>
              <a:rPr sz="1800" i="1">
                <a:solidFill>
                  <a:srgbClr val="B76E00"/>
                </a:solidFill>
                <a:latin typeface="Calibri"/>
              </a:rPr>
              <a:t>Answer: RAM loses its contents when power is removed; ROM keeps its contents (bootstrap/BIOS firmware) without power.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