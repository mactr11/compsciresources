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2.1.1 Thinking Abstractly</a:t>
            </a:r>
          </a:p>
          <a:p>
            <a:r>
              <a:rPr sz="2000" b="0" i="0">
                <a:solidFill>
                  <a:srgbClr val="BED3EC"/>
                </a:solidFill>
                <a:latin typeface="Calibri"/>
              </a:rPr>
              <a:t>OCR H446 — Component 02</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Week 04 (21 Sep)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 can explain the nature and need for abstraction: removing detail irrelevant to the problem</a:t>
            </a:r>
          </a:p>
          <a:p>
            <a:pPr lvl="1"/>
            <a:r>
              <a:rPr sz="2200" b="0">
                <a:solidFill>
                  <a:srgbClr val="222222"/>
                </a:solidFill>
                <a:latin typeface="Calibri"/>
              </a:rPr>
              <a:t>I can distinguish representational abstraction from generalisation, with a valid example of each</a:t>
            </a:r>
          </a:p>
          <a:p>
            <a:pPr lvl="1"/>
            <a:r>
              <a:rPr sz="2200" b="0">
                <a:solidFill>
                  <a:srgbClr val="222222"/>
                </a:solidFill>
                <a:latin typeface="Calibri"/>
              </a:rPr>
              <a:t>I can compare an abstraction with reality and justify which details are kept or discarded for a purpose</a:t>
            </a:r>
          </a:p>
          <a:p>
            <a:pPr lvl="1"/>
            <a:r>
              <a:rPr sz="2200" b="0">
                <a:solidFill>
                  <a:srgbClr val="222222"/>
                </a:solidFill>
                <a:latin typeface="Calibri"/>
              </a:rPr>
              <a:t>I can devise an abstract model for a given real-world scenario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1.1.1: describe the first two steps of the fetch stage, naming the registers.</a:t>
            </a:r>
          </a:p>
          <a:p>
            <a:r>
              <a:rPr sz="2200" b="1">
                <a:solidFill>
                  <a:srgbClr val="222222"/>
                </a:solidFill>
                <a:latin typeface="Calibri"/>
              </a:rPr>
              <a:t>2. From 1.1.1: state the key difference between Von Neumann and Harvard architecture.</a:t>
            </a:r>
          </a:p>
          <a:p>
            <a:r>
              <a:rPr sz="2200" b="1">
                <a:solidFill>
                  <a:srgbClr val="222222"/>
                </a:solidFill>
                <a:latin typeface="Calibri"/>
              </a:rPr>
              <a:t>3. From 1.1.1: a CPU has a 16-bit address bus. How many locations can it address?</a:t>
            </a:r>
          </a:p>
          <a:p>
            <a:r>
              <a:rPr sz="2200" b="1">
                <a:solidFill>
                  <a:srgbClr val="222222"/>
                </a:solidFill>
                <a:latin typeface="Calibri"/>
              </a:rPr>
              <a:t>4. From 1.1.2: which RISC feature makes pipelining easier, and why?</a:t>
            </a:r>
          </a:p>
          <a:p>
            <a:r>
              <a:rPr sz="2200" b="1">
                <a:solidFill>
                  <a:srgbClr val="222222"/>
                </a:solidFill>
                <a:latin typeface="Calibri"/>
              </a:rPr>
              <a:t>5. From 1.1.2: what is GPGPU?</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1.1.1: describe the first two steps of the fetch stage, naming the registers.</a:t>
            </a:r>
          </a:p>
          <a:p>
            <a:pPr lvl="1"/>
            <a:r>
              <a:rPr sz="1800" i="1">
                <a:solidFill>
                  <a:srgbClr val="B76E00"/>
                </a:solidFill>
                <a:latin typeface="Calibri"/>
              </a:rPr>
              <a:t>Answer: The contents of the PC are copied into the MAR; the instruction is fetched from that address via the data bus into the MDR.</a:t>
            </a:r>
          </a:p>
          <a:p>
            <a:r>
              <a:rPr sz="2200" b="1">
                <a:solidFill>
                  <a:srgbClr val="222222"/>
                </a:solidFill>
                <a:latin typeface="Calibri"/>
              </a:rPr>
              <a:t>2. From 1.1.1: state the key difference between Von Neumann and Harvard architecture.</a:t>
            </a:r>
          </a:p>
          <a:p>
            <a:pPr lvl="1"/>
            <a:r>
              <a:rPr sz="1800" i="1">
                <a:solidFill>
                  <a:srgbClr val="B76E00"/>
                </a:solidFill>
                <a:latin typeface="Calibri"/>
              </a:rPr>
              <a:t>Answer: Von Neumann has one shared memory and bus for data and instructions; Harvard has separate memories and buses for each.</a:t>
            </a:r>
          </a:p>
          <a:p>
            <a:r>
              <a:rPr sz="2200" b="1">
                <a:solidFill>
                  <a:srgbClr val="222222"/>
                </a:solidFill>
                <a:latin typeface="Calibri"/>
              </a:rPr>
              <a:t>3. From 1.1.1: a CPU has a 16-bit address bus. How many locations can it address?</a:t>
            </a:r>
          </a:p>
          <a:p>
            <a:pPr lvl="1"/>
            <a:r>
              <a:rPr sz="1800" i="1">
                <a:solidFill>
                  <a:srgbClr val="B76E00"/>
                </a:solidFill>
                <a:latin typeface="Calibri"/>
              </a:rPr>
              <a:t>Answer: 2^16 = 65,536 locations.</a:t>
            </a:r>
          </a:p>
          <a:p>
            <a:r>
              <a:rPr sz="2200" b="1">
                <a:solidFill>
                  <a:srgbClr val="222222"/>
                </a:solidFill>
                <a:latin typeface="Calibri"/>
              </a:rPr>
              <a:t>4. From 1.1.2: which RISC feature makes pipelining easier, and why?</a:t>
            </a:r>
          </a:p>
          <a:p>
            <a:pPr lvl="1"/>
            <a:r>
              <a:rPr sz="1800" i="1">
                <a:solidFill>
                  <a:srgbClr val="B76E00"/>
                </a:solidFill>
                <a:latin typeface="Calibri"/>
              </a:rPr>
              <a:t>Answer: Fixed-length, simple instructions taking one cycle each, so every pipeline stage takes a predictable, equal time.</a:t>
            </a:r>
          </a:p>
          <a:p>
            <a:r>
              <a:rPr sz="2200" b="1">
                <a:solidFill>
                  <a:srgbClr val="222222"/>
                </a:solidFill>
                <a:latin typeface="Calibri"/>
              </a:rPr>
              <a:t>5. From 1.1.2: what is GPGPU?</a:t>
            </a:r>
          </a:p>
          <a:p>
            <a:pPr lvl="1"/>
            <a:r>
              <a:rPr sz="1800" i="1">
                <a:solidFill>
                  <a:srgbClr val="B76E00"/>
                </a:solidFill>
                <a:latin typeface="Calibri"/>
              </a:rPr>
              <a:t>Answer: Using a GPU for general-purpose, non-graphics computation such as machine learning or scientific simulation.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Abstraction</a:t>
            </a:r>
            <a:r>
              <a:rPr sz="1800">
                <a:solidFill>
                  <a:srgbClr val="222222"/>
                </a:solidFill>
                <a:latin typeface="Calibri"/>
              </a:rPr>
              <a:t> — Removing or hiding detail irrelevant to the problem so only relevant information remains, giving a simpler model.</a:t>
            </a:r>
          </a:p>
          <a:p>
            <a:r>
              <a:rPr b="1" sz="2000">
                <a:solidFill>
                  <a:srgbClr val="1A365D"/>
                </a:solidFill>
                <a:latin typeface="Calibri"/>
              </a:rPr>
              <a:t>Representational abstraction</a:t>
            </a:r>
            <a:r>
              <a:rPr sz="1800">
                <a:solidFill>
                  <a:srgbClr val="222222"/>
                </a:solidFill>
                <a:latin typeface="Calibri"/>
              </a:rPr>
              <a:t> — Simplifying one specific thing into a model of that problem, e.g. a road network as a graph.</a:t>
            </a:r>
          </a:p>
          <a:p>
            <a:r>
              <a:rPr b="1" sz="2000">
                <a:solidFill>
                  <a:srgbClr val="1A365D"/>
                </a:solidFill>
                <a:latin typeface="Calibri"/>
              </a:rPr>
              <a:t>Generalisation</a:t>
            </a:r>
            <a:r>
              <a:rPr sz="1800">
                <a:solidFill>
                  <a:srgbClr val="222222"/>
                </a:solidFill>
                <a:latin typeface="Calibri"/>
              </a:rPr>
              <a:t> — Grouping many things by shared characteristics into one reusable model, e.g. one Account type for all accounts.</a:t>
            </a:r>
          </a:p>
          <a:p>
            <a:r>
              <a:rPr b="1" sz="2000">
                <a:solidFill>
                  <a:srgbClr val="1A365D"/>
                </a:solidFill>
                <a:latin typeface="Calibri"/>
              </a:rPr>
              <a:t>Model</a:t>
            </a:r>
            <a:r>
              <a:rPr sz="1800">
                <a:solidFill>
                  <a:srgbClr val="222222"/>
                </a:solidFill>
                <a:latin typeface="Calibri"/>
              </a:rPr>
              <a:t> — A simplified representation of a real-world thing or system, built for a purpose.</a:t>
            </a:r>
          </a:p>
          <a:p>
            <a:r>
              <a:rPr b="1" sz="2000">
                <a:solidFill>
                  <a:srgbClr val="1A365D"/>
                </a:solidFill>
                <a:latin typeface="Calibri"/>
              </a:rPr>
              <a:t>Abstract model</a:t>
            </a:r>
            <a:r>
              <a:rPr sz="1800">
                <a:solidFill>
                  <a:srgbClr val="222222"/>
                </a:solidFill>
                <a:latin typeface="Calibri"/>
              </a:rPr>
              <a:t> — A model keeping only the data and behaviour needed to solve the stated problem.</a:t>
            </a:r>
          </a:p>
          <a:p>
            <a:r>
              <a:rPr b="1" sz="2000">
                <a:solidFill>
                  <a:srgbClr val="1A365D"/>
                </a:solidFill>
                <a:latin typeface="Calibri"/>
              </a:rPr>
              <a:t>Node</a:t>
            </a:r>
            <a:r>
              <a:rPr sz="1800">
                <a:solidFill>
                  <a:srgbClr val="222222"/>
                </a:solidFill>
                <a:latin typeface="Calibri"/>
              </a:rPr>
              <a:t> — A point in a graph abstraction, such as a junction, station or place.</a:t>
            </a:r>
          </a:p>
          <a:p>
            <a:r>
              <a:rPr b="1" sz="2000">
                <a:solidFill>
                  <a:srgbClr val="1A365D"/>
                </a:solidFill>
                <a:latin typeface="Calibri"/>
              </a:rPr>
              <a:t>Weighted edge</a:t>
            </a:r>
            <a:r>
              <a:rPr sz="1800">
                <a:solidFill>
                  <a:srgbClr val="222222"/>
                </a:solidFill>
                <a:latin typeface="Calibri"/>
              </a:rPr>
              <a:t> — A connection between nodes carrying a cost such as distance or time.</a:t>
            </a:r>
          </a:p>
          <a:p>
            <a:r>
              <a:rPr b="1" sz="2000">
                <a:solidFill>
                  <a:srgbClr val="1A365D"/>
                </a:solidFill>
                <a:latin typeface="Calibri"/>
              </a:rPr>
              <a:t>Decomposition</a:t>
            </a:r>
            <a:r>
              <a:rPr sz="1800">
                <a:solidFill>
                  <a:srgbClr val="222222"/>
                </a:solidFill>
                <a:latin typeface="Calibri"/>
              </a:rPr>
              <a:t> — Breaking a problem into smaller sub-problems; a different skill from abstraction.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What abstraction 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Abstraction removes or hides unnecessary detail so only information relevant to the problem remains</a:t>
            </a:r>
          </a:p>
          <a:p>
            <a:pPr/>
            <a:r>
              <a:rPr sz="2000" b="0">
                <a:solidFill>
                  <a:srgbClr val="222222"/>
                </a:solidFill>
                <a:latin typeface="Calibri"/>
              </a:rPr>
              <a:t>The result is a simpler model that is easier to understand, build and reason about</a:t>
            </a:r>
          </a:p>
          <a:p>
            <a:pPr/>
            <a:r>
              <a:rPr sz="2000" b="0">
                <a:solidFill>
                  <a:srgbClr val="222222"/>
                </a:solidFill>
                <a:latin typeface="Calibri"/>
              </a:rPr>
              <a:t>You met it constantly in 1.1: a register diagram ignores transistors; block diagrams hide wiring</a:t>
            </a:r>
          </a:p>
          <a:p>
            <a:pPr/>
            <a:r>
              <a:rPr sz="2000" b="0">
                <a:solidFill>
                  <a:srgbClr val="222222"/>
                </a:solidFill>
                <a:latin typeface="Calibri"/>
              </a:rPr>
              <a:t>The skill being examined: deciding WHAT to remove, and justifying why it is safe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Why we need abstraction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Real systems have overwhelming detail; keeping all of it makes solutions impossibly complex</a:t>
            </a:r>
          </a:p>
          <a:p>
            <a:pPr/>
            <a:r>
              <a:rPr sz="2000" b="0">
                <a:solidFill>
                  <a:srgbClr val="222222"/>
                </a:solidFill>
                <a:latin typeface="Calibri"/>
              </a:rPr>
              <a:t>Removing irrelevant detail makes systems simpler, faster to build and easier to maintain</a:t>
            </a:r>
          </a:p>
          <a:p>
            <a:pPr/>
            <a:r>
              <a:rPr sz="2000" b="0">
                <a:solidFill>
                  <a:srgbClr val="222222"/>
                </a:solidFill>
                <a:latin typeface="Calibri"/>
              </a:rPr>
              <a:t>Programmers work at the right layer: a variable is an abstraction of a memory address</a:t>
            </a:r>
          </a:p>
          <a:p>
            <a:pPr/>
            <a:r>
              <a:rPr sz="2000" b="0">
                <a:solidFill>
                  <a:srgbClr val="222222"/>
                </a:solidFill>
                <a:latin typeface="Calibri"/>
              </a:rPr>
              <a:t>Users benefit too: an interface hides the implementation underneath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Type 1: representational abstraction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Simplifies ONE specific thing into a model of that problem</a:t>
            </a:r>
          </a:p>
          <a:p>
            <a:pPr/>
            <a:r>
              <a:rPr sz="2000" b="0">
                <a:solidFill>
                  <a:srgbClr val="222222"/>
                </a:solidFill>
                <a:latin typeface="Calibri"/>
              </a:rPr>
              <a:t>Example: a road network becomes a graph of nodes (junctions) and weighted edges (distances or times)</a:t>
            </a:r>
          </a:p>
          <a:p>
            <a:pPr/>
            <a:r>
              <a:rPr sz="2000" b="0">
                <a:solidFill>
                  <a:srgbClr val="222222"/>
                </a:solidFill>
                <a:latin typeface="Calibri"/>
              </a:rPr>
              <a:t>Example: the London Underground map, a game minimap, a flight simulator's simplified physics</a:t>
            </a:r>
          </a:p>
          <a:p>
            <a:pPr/>
            <a:r>
              <a:rPr sz="2000" b="0">
                <a:solidFill>
                  <a:srgbClr val="222222"/>
                </a:solidFill>
                <a:latin typeface="Calibri"/>
              </a:rPr>
              <a:t>Test question: am I stripping detail from one particular 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Type 2: generalisation (categorisation)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Groups MANY things by their shared characteristics into one reusable model</a:t>
            </a:r>
          </a:p>
          <a:p>
            <a:pPr/>
            <a:r>
              <a:rPr sz="2000" b="0">
                <a:solidFill>
                  <a:srgbClr val="222222"/>
                </a:solidFill>
                <a:latin typeface="Calibri"/>
              </a:rPr>
              <a:t>Example: savings and current accounts handled by one Account type</a:t>
            </a:r>
          </a:p>
          <a:p>
            <a:pPr/>
            <a:r>
              <a:rPr sz="2000" b="0">
                <a:solidFill>
                  <a:srgbClr val="222222"/>
                </a:solidFill>
                <a:latin typeface="Calibri"/>
              </a:rPr>
              <a:t>Example: a Vehicle record covering cars, vans and bikes in a rental system</a:t>
            </a:r>
          </a:p>
          <a:p>
            <a:pPr/>
            <a:r>
              <a:rPr sz="2000" b="0">
                <a:solidFill>
                  <a:srgbClr val="222222"/>
                </a:solidFill>
                <a:latin typeface="Calibri"/>
              </a:rPr>
              <a:t>Test question: am I finding what many things have in common?</a:t>
            </a:r>
          </a:p>
          <a:p>
            <a:pPr/>
            <a:r>
              <a:rPr sz="1800" b="1">
                <a:solidFill>
                  <a:srgbClr val="B76E00"/>
                </a:solidFill>
                <a:latin typeface="Calibri"/>
              </a:rPr>
              <a:t>Exams expect BOTH types distinguished, each with a valid example.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Abstraction versus reality</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An abstraction always contains less detail than the real thing it models</a:t>
            </a:r>
          </a:p>
          <a:p>
            <a:pPr/>
            <a:r>
              <a:rPr sz="2000" b="0">
                <a:solidFill>
                  <a:srgbClr val="222222"/>
                </a:solidFill>
                <a:latin typeface="Calibri"/>
              </a:rPr>
              <a:t>The Tube map discards true geography and scale but keeps lines, station order and interchanges</a:t>
            </a:r>
          </a:p>
          <a:p>
            <a:pPr/>
            <a:r>
              <a:rPr sz="2000" b="0">
                <a:solidFill>
                  <a:srgbClr val="222222"/>
                </a:solidFill>
                <a:latin typeface="Calibri"/>
              </a:rPr>
              <a:t>It is not wrong: it perfectly serves the purpose of planning which line to take</a:t>
            </a:r>
          </a:p>
          <a:p>
            <a:pPr/>
            <a:r>
              <a:rPr sz="2000" b="0">
                <a:solidFill>
                  <a:srgbClr val="222222"/>
                </a:solidFill>
                <a:latin typeface="Calibri"/>
              </a:rPr>
              <a:t>Two correct abstractions of the same thing can look completely different if their purposes differ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Keep or discard? It depends on the purpose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There is no universal list of irrelevant detail; relevance is relative to the stated problem</a:t>
            </a:r>
          </a:p>
          <a:p>
            <a:pPr/>
            <a:r>
              <a:rPr sz="2000" b="0">
                <a:solidFill>
                  <a:srgbClr val="222222"/>
                </a:solidFill>
                <a:latin typeface="Calibri"/>
              </a:rPr>
              <a:t>For a journey planner, live bus GPS is irrelevant; for a where-is-my-bus app it is essential</a:t>
            </a:r>
          </a:p>
          <a:p>
            <a:pPr/>
            <a:r>
              <a:rPr sz="2000" b="0">
                <a:solidFill>
                  <a:srgbClr val="222222"/>
                </a:solidFill>
                <a:latin typeface="Calibri"/>
              </a:rPr>
              <a:t>A good answer names specific data to keep, specific detail to discard, and justifies each discard</a:t>
            </a:r>
          </a:p>
          <a:p>
            <a:pPr/>
            <a:r>
              <a:rPr sz="2000" b="0">
                <a:solidFill>
                  <a:srgbClr val="222222"/>
                </a:solidFill>
                <a:latin typeface="Calibri"/>
              </a:rPr>
              <a:t>Removing a NECESSARY detail breaks the model: a canteen map without the turnings fails its user</a:t>
            </a:r>
          </a:p>
          <a:p>
            <a:pPr/>
            <a:r>
              <a:rPr sz="1800" b="1">
                <a:solidFill>
                  <a:srgbClr val="B76E00"/>
                </a:solidFill>
                <a:latin typeface="Calibri"/>
              </a:rPr>
              <a:t>The justification of each discarded detail usually carries the mark, not the list itself.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Devising an abstract model: a method</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State the problem precisely: what questions must the model answer?</a:t>
            </a:r>
          </a:p>
          <a:p>
            <a:pPr/>
            <a:r>
              <a:rPr sz="2000" b="0">
                <a:solidFill>
                  <a:srgbClr val="222222"/>
                </a:solidFill>
                <a:latin typeface="Calibri"/>
              </a:rPr>
              <a:t>List candidate details of the real thing, then sort into keep and discard against that problem</a:t>
            </a:r>
          </a:p>
          <a:p>
            <a:pPr/>
            <a:r>
              <a:rPr sz="2000" b="0">
                <a:solidFill>
                  <a:srgbClr val="222222"/>
                </a:solidFill>
                <a:latin typeface="Calibri"/>
              </a:rPr>
              <a:t>Choose a representation for what is kept: variables, records, a graph of nodes and edges</a:t>
            </a:r>
          </a:p>
          <a:p>
            <a:pPr/>
            <a:r>
              <a:rPr sz="2000" b="0">
                <a:solidFill>
                  <a:srgbClr val="222222"/>
                </a:solidFill>
                <a:latin typeface="Calibri"/>
              </a:rPr>
              <a:t>Check: can the model still answer every question the problem asks? If yes, stop adding detail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pattern: real world to graph</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Many problems reduce to places and connections: roads, flight routes, social networks, network cables</a:t>
            </a:r>
          </a:p>
          <a:p>
            <a:pPr/>
            <a:r>
              <a:rPr sz="2000" b="0">
                <a:solidFill>
                  <a:srgbClr val="222222"/>
                </a:solidFill>
                <a:latin typeface="Calibri"/>
              </a:rPr>
              <a:t>Keep: the points (nodes) and which pairs connect (edges) with a cost (weights)</a:t>
            </a:r>
          </a:p>
          <a:p>
            <a:pPr/>
            <a:r>
              <a:rPr sz="2000" b="0">
                <a:solidFill>
                  <a:srgbClr val="222222"/>
                </a:solidFill>
                <a:latin typeface="Calibri"/>
              </a:rPr>
              <a:t>Discard: scenery, road names, curve shapes — none change the shortest route</a:t>
            </a:r>
          </a:p>
          <a:p>
            <a:pPr/>
            <a:r>
              <a:rPr sz="2000" b="0">
                <a:solidFill>
                  <a:srgbClr val="222222"/>
                </a:solidFill>
                <a:latin typeface="Calibri"/>
              </a:rPr>
              <a:t>This one abstraction lets one algorithm (shortest path) solve every such problem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Abstraction is NOT decomposition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Abstraction removes or hides detail to simplify a model</a:t>
            </a:r>
          </a:p>
          <a:p>
            <a:pPr/>
            <a:r>
              <a:rPr sz="2000" b="0">
                <a:solidFill>
                  <a:srgbClr val="222222"/>
                </a:solidFill>
                <a:latin typeface="Calibri"/>
              </a:rPr>
              <a:t>Decomposition breaks a problem into smaller sub-problems</a:t>
            </a:r>
          </a:p>
          <a:p>
            <a:pPr/>
            <a:r>
              <a:rPr sz="2000" b="0">
                <a:solidFill>
                  <a:srgbClr val="222222"/>
                </a:solidFill>
                <a:latin typeface="Calibri"/>
              </a:rPr>
              <a:t>They are different skills, examined separately, and often confused</a:t>
            </a:r>
          </a:p>
          <a:p>
            <a:pPr/>
            <a:r>
              <a:rPr sz="2000" b="0">
                <a:solidFill>
                  <a:srgbClr val="222222"/>
                </a:solidFill>
                <a:latin typeface="Calibri"/>
              </a:rPr>
              <a:t>One sentence check: removing detail = abstraction; splitting into parts = decomposition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The payoff: benefits to name in answers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Simpler model: quicker to design, build and test</a:t>
            </a:r>
          </a:p>
          <a:p>
            <a:pPr/>
            <a:r>
              <a:rPr sz="2000" b="0">
                <a:solidFill>
                  <a:srgbClr val="222222"/>
                </a:solidFill>
                <a:latin typeface="Calibri"/>
              </a:rPr>
              <a:t>Easier to maintain: less code and fewer places for bugs to hide</a:t>
            </a:r>
          </a:p>
          <a:p>
            <a:pPr/>
            <a:r>
              <a:rPr sz="2000" b="0">
                <a:solidFill>
                  <a:srgbClr val="222222"/>
                </a:solidFill>
                <a:latin typeface="Calibri"/>
              </a:rPr>
              <a:t>Generalised models are easy to extend: new cases reuse the existing model instead of new code</a:t>
            </a:r>
          </a:p>
          <a:p>
            <a:pPr/>
            <a:r>
              <a:rPr sz="2000" b="0">
                <a:solidFill>
                  <a:srgbClr val="222222"/>
                </a:solidFill>
                <a:latin typeface="Calibri"/>
              </a:rPr>
              <a:t>Always tie an abstraction answer back to one of these benefits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Abstracting a patient for a hospital appointments system</a:t>
            </a:r>
          </a:p>
          <a:p>
            <a:pPr lvl="1"/>
            <a:r>
              <a:rPr sz="1900" b="0">
                <a:solidFill>
                  <a:srgbClr val="222222"/>
                </a:solidFill>
                <a:latin typeface="Calibri"/>
              </a:rPr>
              <a:t>1. Problem: schedule appointments and contact patients about them</a:t>
            </a:r>
          </a:p>
          <a:p>
            <a:pPr lvl="1"/>
            <a:r>
              <a:rPr sz="1900" b="0">
                <a:solidFill>
                  <a:srgbClr val="222222"/>
                </a:solidFill>
                <a:latin typeface="Calibri"/>
              </a:rPr>
              <a:t>2. Keep: patient ID and name, date of birth, contact number, GP or clinic, appointment type and duration — each is needed to schedule or to contact the patient</a:t>
            </a:r>
          </a:p>
          <a:p>
            <a:pPr lvl="1"/>
            <a:r>
              <a:rPr sz="1900" b="0">
                <a:solidFill>
                  <a:srgbClr val="222222"/>
                </a:solidFill>
                <a:latin typeface="Calibri"/>
              </a:rPr>
              <a:t>3. Discard: eye colour, favourite food, home decor</a:t>
            </a:r>
          </a:p>
          <a:p>
            <a:pPr lvl="1"/>
            <a:r>
              <a:rPr sz="1900" b="0">
                <a:solidFill>
                  <a:srgbClr val="222222"/>
                </a:solidFill>
                <a:latin typeface="Calibri"/>
              </a:rPr>
              <a:t>4. Justify each discard: none of these affect scheduling or contacting the patient, so including them adds complexity without value</a:t>
            </a:r>
          </a:p>
          <a:p>
            <a:pPr lvl="1"/>
            <a:r>
              <a:rPr sz="1900" b="0">
                <a:solidFill>
                  <a:srgbClr val="222222"/>
                </a:solidFill>
                <a:latin typeface="Calibri"/>
              </a:rPr>
              <a:t>5. Conclusion: keeping only relevant detail makes the system simpler, quicker to build and easier to maintain while still solving the appointments problem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Devising a model: sat-nav road network as a weighted graph</a:t>
            </a:r>
          </a:p>
          <a:p>
            <a:pPr lvl="1"/>
            <a:r>
              <a:rPr sz="1900" b="0">
                <a:solidFill>
                  <a:srgbClr val="222222"/>
                </a:solidFill>
                <a:latin typeface="Calibri"/>
              </a:rPr>
              <a:t>1. Problem: find the fastest route between two locations</a:t>
            </a:r>
          </a:p>
          <a:p>
            <a:pPr lvl="1"/>
            <a:r>
              <a:rPr sz="1900" b="0">
                <a:solidFill>
                  <a:srgbClr val="222222"/>
                </a:solidFill>
                <a:latin typeface="Calibri"/>
              </a:rPr>
              <a:t>2. Keep: junctions and places as nodes; roads between them as edges; average travel time on each road as the edge weight</a:t>
            </a:r>
          </a:p>
          <a:p>
            <a:pPr lvl="1"/>
            <a:r>
              <a:rPr sz="1900" b="0">
                <a:solidFill>
                  <a:srgbClr val="222222"/>
                </a:solidFill>
                <a:latin typeface="Calibri"/>
              </a:rPr>
              <a:t>3. Discard: road surface colour, buildings, scenery, the exact curve of each road — they do not change which route is fastest</a:t>
            </a:r>
          </a:p>
          <a:p>
            <a:pPr lvl="1"/>
            <a:r>
              <a:rPr sz="1900" b="0">
                <a:solidFill>
                  <a:srgbClr val="222222"/>
                </a:solidFill>
                <a:latin typeface="Calibri"/>
              </a:rPr>
              <a:t>4. Represent: a graph where the fastest route is the path with the lowest total weight</a:t>
            </a:r>
          </a:p>
          <a:p>
            <a:pPr lvl="1"/>
            <a:r>
              <a:rPr sz="1900" b="0">
                <a:solidFill>
                  <a:srgbClr val="222222"/>
                </a:solidFill>
                <a:latin typeface="Calibri"/>
              </a:rPr>
              <a:t>5. Check the purpose: to show turn-by-turn directions we must also keep junction names — necessary detail depends on the exact problem</a:t>
            </a:r>
          </a:p>
          <a:p>
            <a:pPr lvl="1"/>
            <a:r>
              <a:rPr sz="1900" b="0">
                <a:solidFill>
                  <a:srgbClr val="222222"/>
                </a:solidFill>
                <a:latin typeface="Calibri"/>
              </a:rPr>
              <a:t>6. Classify: this is representational abstraction (one specific network simplified), though the graph idea itself generalises to any network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Classifying examples: representational or generalisation?</a:t>
            </a:r>
          </a:p>
          <a:p>
            <a:pPr lvl="1"/>
            <a:r>
              <a:rPr sz="1900" b="0">
                <a:solidFill>
                  <a:srgbClr val="222222"/>
                </a:solidFill>
                <a:latin typeface="Calibri"/>
              </a:rPr>
              <a:t>1. Apply the test question: one thing simplified, or many things grouped by shared features?</a:t>
            </a:r>
          </a:p>
          <a:p>
            <a:pPr lvl="1"/>
            <a:r>
              <a:rPr sz="1900" b="0">
                <a:solidFill>
                  <a:srgbClr val="222222"/>
                </a:solidFill>
                <a:latin typeface="Calibri"/>
              </a:rPr>
              <a:t>2. The Tube map: one specific network with detail stripped — representational</a:t>
            </a:r>
          </a:p>
          <a:p>
            <a:pPr lvl="1"/>
            <a:r>
              <a:rPr sz="1900" b="0">
                <a:solidFill>
                  <a:srgbClr val="222222"/>
                </a:solidFill>
                <a:latin typeface="Calibri"/>
              </a:rPr>
              <a:t>3. An Animal superclass for Dog, Cat and Horse: many things grouped by shared characteristics — generalisation</a:t>
            </a:r>
          </a:p>
          <a:p>
            <a:pPr lvl="1"/>
            <a:r>
              <a:rPr sz="1900" b="0">
                <a:solidFill>
                  <a:srgbClr val="222222"/>
                </a:solidFill>
                <a:latin typeface="Calibri"/>
              </a:rPr>
              <a:t>4. A weather model ignoring individual raindrops: one system simplified — representational</a:t>
            </a:r>
          </a:p>
          <a:p>
            <a:pPr lvl="1"/>
            <a:r>
              <a:rPr sz="1900" b="0">
                <a:solidFill>
                  <a:srgbClr val="222222"/>
                </a:solidFill>
                <a:latin typeface="Calibri"/>
              </a:rPr>
              <a:t>5. Treating all customers as name, ID and balance: many people reduced to shared fields — generalisation</a:t>
            </a:r>
          </a:p>
          <a:p>
            <a:pPr lvl="1"/>
            <a:r>
              <a:rPr sz="1900" b="0">
                <a:solidFill>
                  <a:srgbClr val="222222"/>
                </a:solidFill>
                <a:latin typeface="Calibri"/>
              </a:rPr>
              <a:t>6. Takeaway: write the test question in your answer; it shows the examiner your reasoning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Map to the Canteen  (20 min)</a:t>
            </a:r>
          </a:p>
          <a:p>
            <a:pPr lvl="1"/>
            <a:r>
              <a:rPr sz="2000" b="0">
                <a:solidFill>
                  <a:srgbClr val="222222"/>
                </a:solidFill>
                <a:latin typeface="Calibri"/>
              </a:rPr>
              <a:t>Without discussion, each student draws directions from this classroom to the canteen for a brand-new Year 7; five minutes, no style rules given</a:t>
            </a:r>
          </a:p>
          <a:p>
            <a:pPr lvl="1"/>
            <a:r>
              <a:rPr sz="2000" b="0">
                <a:solidFill>
                  <a:srgbClr val="222222"/>
                </a:solidFill>
                <a:latin typeface="Calibri"/>
              </a:rPr>
              <a:t>Pairs swap and mentally walk the route, listing what details are on the map and what real-world details were left out (wall colours, door widths, exact distances, rooms passed)</a:t>
            </a:r>
          </a:p>
          <a:p>
            <a:pPr lvl="1"/>
            <a:r>
              <a:rPr sz="2000" b="0">
                <a:solidFill>
                  <a:srgbClr val="222222"/>
                </a:solidFill>
                <a:latin typeface="Calibri"/>
              </a:rPr>
              <a:t>Class harvest in two columns, kept versus discarded, then the key question: why was each discarded detail safe to remove? Because it does not change whether the Year 7 arrives</a:t>
            </a:r>
          </a:p>
          <a:p>
            <a:pPr lvl="1"/>
            <a:r>
              <a:rPr sz="2000" b="0">
                <a:solidFill>
                  <a:srgbClr val="222222"/>
                </a:solidFill>
                <a:latin typeface="Calibri"/>
              </a:rPr>
              <a:t>Introduce the definition only after the experience: abstraction = removing or hiding unnecessary detail so only relevant information remains; show a floor plan or satellite photo — the map is not wrong, it serves a different purpose</a:t>
            </a:r>
          </a:p>
          <a:p>
            <a:pPr lvl="1"/>
            <a:r>
              <a:rPr sz="2000" b="0">
                <a:solidFill>
                  <a:srgbClr val="222222"/>
                </a:solidFill>
                <a:latin typeface="Calibri"/>
              </a:rPr>
              <a:t>Twist round: redraw for a different purpose, a wheelchair user or a fire-evacuation plan; what must be added back (lifts, ramps, all exits) and what can now go?</a:t>
            </a:r>
          </a:p>
          <a:p>
            <a:pPr/>
            <a:r>
              <a:rPr sz="1800" b="0">
                <a:solidFill>
                  <a:srgbClr val="B76E00"/>
                </a:solidFill>
                <a:latin typeface="Calibri"/>
              </a:rPr>
              <a:t>Stretch: Name the map's interface (the instructions followed) versus its hidden implementation (the actual building), and connect this to a variable being an abstraction of a memory address.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Representational or Generalisation? Card Sort  (15 min)</a:t>
            </a:r>
          </a:p>
          <a:p>
            <a:pPr lvl="1"/>
            <a:r>
              <a:rPr sz="2000" b="0">
                <a:solidFill>
                  <a:srgbClr val="222222"/>
                </a:solidFill>
                <a:latin typeface="Calibri"/>
              </a:rPr>
              <a:t>Pairs sort ten example cards under two headers: representational abstraction (remove detail from one specific thing) and generalisation (group many things by shared characteristics)</a:t>
            </a:r>
          </a:p>
          <a:p>
            <a:pPr lvl="1"/>
            <a:r>
              <a:rPr sz="2000" b="0">
                <a:solidFill>
                  <a:srgbClr val="222222"/>
                </a:solidFill>
                <a:latin typeface="Calibri"/>
              </a:rPr>
              <a:t>Cards: the Tube map; an Animal superclass for Dog, Cat, Horse; a road network as a graph of nodes and weighted edges; a Vehicle record for cars, vans and bikes; a weather model ignoring raindrops; savings and current accounts under one Account type; a game minimap; a Shape class with area() overridden by Circle and Square; a flight simulator's simplified physics; all customers as name, ID, balance</a:t>
            </a:r>
          </a:p>
          <a:p>
            <a:pPr lvl="1"/>
            <a:r>
              <a:rPr sz="2000" b="0">
                <a:solidFill>
                  <a:srgbClr val="222222"/>
                </a:solidFill>
                <a:latin typeface="Calibri"/>
              </a:rPr>
              <a:t>Pairs must write the test question they used to decide (one thing simplified, or many things grouped?)</a:t>
            </a:r>
          </a:p>
          <a:p>
            <a:pPr lvl="1"/>
            <a:r>
              <a:rPr sz="2000" b="0">
                <a:solidFill>
                  <a:srgbClr val="222222"/>
                </a:solidFill>
                <a:latin typeface="Calibri"/>
              </a:rPr>
              <a:t>Class check: representational = Tube map, road graph, weather model, minimap, simulator; generalisation = Animal, Vehicle, Account, Shape, customers</a:t>
            </a:r>
          </a:p>
          <a:p>
            <a:pPr lvl="1"/>
            <a:r>
              <a:rPr sz="2000" b="0">
                <a:solidFill>
                  <a:srgbClr val="222222"/>
                </a:solidFill>
                <a:latin typeface="Calibri"/>
              </a:rPr>
              <a:t>Pairs generate one new example of each type from a video game they know</a:t>
            </a:r>
          </a:p>
          <a:p>
            <a:pPr/>
            <a:r>
              <a:rPr sz="1800" b="0">
                <a:solidFill>
                  <a:srgbClr val="B76E00"/>
                </a:solidFill>
                <a:latin typeface="Calibri"/>
              </a:rPr>
              <a:t>Stretch: Identify a card that is arguably both (the road-network graph simplifies one map AND generalises places-plus-connections to any network) and defend the dual reading.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Always, Sometimes, Never: Abstraction Claims  (15 min)</a:t>
            </a:r>
          </a:p>
          <a:p>
            <a:pPr lvl="1"/>
            <a:r>
              <a:rPr sz="2000" b="0">
                <a:solidFill>
                  <a:srgbClr val="222222"/>
                </a:solidFill>
                <a:latin typeface="Calibri"/>
              </a:rPr>
              <a:t>Give pairs seven statement slips: (a) an abstraction contains less detail than the real thing; (b) removing more detail makes an abstraction better; (c) abstraction and decomposition are the same skill; (d) two correct abstractions of the same thing can look completely different; (e) a model that leaves out relevant detail is a poor abstraction for that problem; (f) abstraction is only used in programming; (g) the Tube map is wrong because distances are not to scale</a:t>
            </a:r>
          </a:p>
          <a:p>
            <a:pPr lvl="1"/>
            <a:r>
              <a:rPr sz="2000" b="0">
                <a:solidFill>
                  <a:srgbClr val="222222"/>
                </a:solidFill>
                <a:latin typeface="Calibri"/>
              </a:rPr>
              <a:t>Pairs classify each as Always, Sometimes or Never with a one-line justification and an example</a:t>
            </a:r>
          </a:p>
          <a:p>
            <a:pPr lvl="1"/>
            <a:r>
              <a:rPr sz="2000" b="0">
                <a:solidFill>
                  <a:srgbClr val="222222"/>
                </a:solidFill>
                <a:latin typeface="Calibri"/>
              </a:rPr>
              <a:t>Pairs merge into fours; disagreements must be settled by constructing a counter-example</a:t>
            </a:r>
          </a:p>
          <a:p>
            <a:pPr lvl="1"/>
            <a:r>
              <a:rPr sz="2000" b="0">
                <a:solidFill>
                  <a:srgbClr val="222222"/>
                </a:solidFill>
                <a:latin typeface="Calibri"/>
              </a:rPr>
              <a:t>Debrief targeting (b) and (c), the two most commonly botched in exams</a:t>
            </a:r>
          </a:p>
          <a:p>
            <a:pPr lvl="1"/>
            <a:r>
              <a:rPr sz="2000" b="0">
                <a:solidFill>
                  <a:srgbClr val="222222"/>
                </a:solidFill>
                <a:latin typeface="Calibri"/>
              </a:rPr>
              <a:t>Answers: (a) Always; (b) Sometimes — remove a necessary detail and the model stops working; (c) Never — abstraction removes detail, decomposition splits into sub-problems; (d) Always possible — different purposes; (e) Always; (f) Never — maps, timetables, models everywhere; (g) Never — it is fit for its purpose, scale is the discarded detail</a:t>
            </a:r>
          </a:p>
          <a:p>
            <a:pPr/>
            <a:r>
              <a:rPr sz="1800" b="0">
                <a:solidFill>
                  <a:srgbClr val="B76E00"/>
                </a:solidFill>
                <a:latin typeface="Calibri"/>
              </a:rPr>
              <a:t>Stretch: Fours draft one new Sometimes statement whose truth hinges on the problem's purpose, and challenge another four.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Define the term abstraction. [2]</a:t>
            </a:r>
          </a:p>
          <a:p>
            <a:r>
              <a:rPr sz="2000" b="1">
                <a:solidFill>
                  <a:srgbClr val="222222"/>
                </a:solidFill>
                <a:latin typeface="Calibri"/>
              </a:rPr>
              <a:t>2. Explain one reason why abstraction is needed when developing software. [2]</a:t>
            </a:r>
          </a:p>
          <a:p>
            <a:r>
              <a:rPr sz="2000" b="1">
                <a:solidFill>
                  <a:srgbClr val="222222"/>
                </a:solidFill>
                <a:latin typeface="Calibri"/>
              </a:rPr>
              <a:t>3. Describe the difference between representational abstraction and generalisation, giving an example of each. [4]</a:t>
            </a:r>
          </a:p>
          <a:p>
            <a:r>
              <a:rPr sz="2000" b="1">
                <a:solidFill>
                  <a:srgbClr val="222222"/>
                </a:solidFill>
                <a:latin typeface="Calibri"/>
              </a:rPr>
              <a:t>4. A developer is creating a route-finding app. Describe how the real road network could be represented as an abstract model. [3]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Define the term abstraction. [2]</a:t>
            </a:r>
          </a:p>
          <a:p>
            <a:pPr lvl="1"/>
            <a:r>
              <a:rPr sz="1800" i="1">
                <a:solidFill>
                  <a:srgbClr val="B76E00"/>
                </a:solidFill>
                <a:latin typeface="Calibri"/>
              </a:rPr>
              <a:t>Answer: Removing or hiding unnecessary detail (1) so that only information relevant to the problem remains, giving a simpler model (1).</a:t>
            </a:r>
          </a:p>
          <a:p>
            <a:r>
              <a:rPr sz="2000" b="1">
                <a:solidFill>
                  <a:srgbClr val="222222"/>
                </a:solidFill>
                <a:latin typeface="Calibri"/>
              </a:rPr>
              <a:t>2. Explain one reason why abstraction is needed when developing software. [2]</a:t>
            </a:r>
          </a:p>
          <a:p>
            <a:pPr lvl="1"/>
            <a:r>
              <a:rPr sz="1800" i="1">
                <a:solidFill>
                  <a:srgbClr val="B76E00"/>
                </a:solidFill>
                <a:latin typeface="Calibri"/>
              </a:rPr>
              <a:t>Answer: Real-world systems contain overwhelming amounts of detail (1); removing what is irrelevant makes the program simpler, faster to develop and easier to test and maintain (1).</a:t>
            </a:r>
          </a:p>
          <a:p>
            <a:r>
              <a:rPr sz="2000" b="1">
                <a:solidFill>
                  <a:srgbClr val="222222"/>
                </a:solidFill>
                <a:latin typeface="Calibri"/>
              </a:rPr>
              <a:t>3. Describe the difference between representational abstraction and generalisation, giving an example of each. [4]</a:t>
            </a:r>
          </a:p>
          <a:p>
            <a:pPr lvl="1"/>
            <a:r>
              <a:rPr sz="1800" i="1">
                <a:solidFill>
                  <a:srgbClr val="B76E00"/>
                </a:solidFill>
                <a:latin typeface="Calibri"/>
              </a:rPr>
              <a:t>Answer: Representational abstraction simplifies one specific thing into a model of that problem (1), e.g. a road network stored as a graph of nodes and weighted edges, or the Tube map (1); generalisation groups many things by shared characteristics into one reusable model (1), e.g. savings and current accounts treated as a single Account type (1).</a:t>
            </a:r>
          </a:p>
          <a:p>
            <a:r>
              <a:rPr sz="2000" b="1">
                <a:solidFill>
                  <a:srgbClr val="222222"/>
                </a:solidFill>
                <a:latin typeface="Calibri"/>
              </a:rPr>
              <a:t>4. A developer is creating a route-finding app. Describe how the real road network could be represented as an abstract model. [3]</a:t>
            </a:r>
          </a:p>
          <a:p>
            <a:pPr lvl="1"/>
            <a:r>
              <a:rPr sz="1800" i="1">
                <a:solidFill>
                  <a:srgbClr val="B76E00"/>
                </a:solidFill>
                <a:latin typeface="Calibri"/>
              </a:rPr>
              <a:t>Answer: Junctions and places become nodes (1); roads between them become edges weighted with distance or travel time (1); irrelevant detail such as scenery, buildings and the exact shapes of roads is discarded because it does not affect the choice of route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program models a library member for a book-loans system. State two pieces of data the model should keep and two details of the real person it should discard, justifying the discards. [4]</a:t>
            </a:r>
          </a:p>
          <a:p>
            <a:r>
              <a:rPr sz="2000" b="1">
                <a:solidFill>
                  <a:srgbClr val="222222"/>
                </a:solidFill>
                <a:latin typeface="Calibri"/>
              </a:rPr>
              <a:t>2. The London Underground map does not show true distances or geography. Explain why it is still a good abstraction. [3]</a:t>
            </a:r>
          </a:p>
          <a:p>
            <a:r>
              <a:rPr sz="2000" b="1">
                <a:solidFill>
                  <a:srgbClr val="222222"/>
                </a:solidFill>
                <a:latin typeface="Calibri"/>
              </a:rPr>
              <a:t>3. A student says that abstraction means breaking a problem down into smaller sub-problems. Explain why the student is wrong. [2]</a:t>
            </a:r>
          </a:p>
          <a:p>
            <a:r>
              <a:rPr sz="2000" b="1">
                <a:solidFill>
                  <a:srgbClr val="222222"/>
                </a:solidFill>
                <a:latin typeface="Calibri"/>
              </a:rPr>
              <a:t>4. A bank replaces separate savings-account and current-account code with a single generalised Account model. Explain two benefits of this generalisation.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program models a library member for a book-loans system. State two pieces of data the model should keep and two details of the real person it should discard, justifying the discards. [4]</a:t>
            </a:r>
          </a:p>
          <a:p>
            <a:pPr lvl="1"/>
            <a:r>
              <a:rPr sz="1800" i="1">
                <a:solidFill>
                  <a:srgbClr val="B76E00"/>
                </a:solidFill>
                <a:latin typeface="Calibri"/>
              </a:rPr>
              <a:t>Answer: Keep: member ID/name and contact details, plus current loans/due dates (1 for two sensible items); these are needed to record and chase loans (1). Discard: e.g. hair colour and favourite author (1); neither affects recording or returning loans, so they add complexity without value (1).</a:t>
            </a:r>
          </a:p>
          <a:p>
            <a:r>
              <a:rPr sz="2000" b="1">
                <a:solidFill>
                  <a:srgbClr val="222222"/>
                </a:solidFill>
                <a:latin typeface="Calibri"/>
              </a:rPr>
              <a:t>2. The London Underground map does not show true distances or geography. Explain why it is still a good abstraction. [3]</a:t>
            </a:r>
          </a:p>
          <a:p>
            <a:pPr lvl="1"/>
            <a:r>
              <a:rPr sz="1800" i="1">
                <a:solidFill>
                  <a:srgbClr val="B76E00"/>
                </a:solidFill>
                <a:latin typeface="Calibri"/>
              </a:rPr>
              <a:t>Answer: Its purpose is to help passengers plan which lines to take and where to change (1); it keeps the relevant detail — lines, station order and interchanges (1) — and discards geography and scale, which do not affect that decision, making it clearer to use (1).</a:t>
            </a:r>
          </a:p>
          <a:p>
            <a:r>
              <a:rPr sz="2000" b="1">
                <a:solidFill>
                  <a:srgbClr val="222222"/>
                </a:solidFill>
                <a:latin typeface="Calibri"/>
              </a:rPr>
              <a:t>3. A student says that abstraction means breaking a problem down into smaller sub-problems. Explain why the student is wrong. [2]</a:t>
            </a:r>
          </a:p>
          <a:p>
            <a:pPr lvl="1"/>
            <a:r>
              <a:rPr sz="1800" i="1">
                <a:solidFill>
                  <a:srgbClr val="B76E00"/>
                </a:solidFill>
                <a:latin typeface="Calibri"/>
              </a:rPr>
              <a:t>Answer: Breaking a problem into sub-problems is decomposition, a different computational thinking skill (1); abstraction is removing or hiding detail irrelevant to the problem to produce a simpler model (1).</a:t>
            </a:r>
          </a:p>
          <a:p>
            <a:r>
              <a:rPr sz="2000" b="1">
                <a:solidFill>
                  <a:srgbClr val="222222"/>
                </a:solidFill>
                <a:latin typeface="Calibri"/>
              </a:rPr>
              <a:t>4. A bank replaces separate savings-account and current-account code with a single generalised Account model. Explain two benefits of this generalisation. [4]</a:t>
            </a:r>
          </a:p>
          <a:p>
            <a:pPr lvl="1"/>
            <a:r>
              <a:rPr sz="1800" i="1">
                <a:solidFill>
                  <a:srgbClr val="B76E00"/>
                </a:solidFill>
                <a:latin typeface="Calibri"/>
              </a:rPr>
              <a:t>Answer: Shared behaviour (deposit, withdraw, check balance) is written once instead of twice, reducing code size and the chance of inconsistent bugs (1) and making maintenance easier since fixes apply everywhere (1); the system is easier to extend, because a new account type can reuse the existing model rather than needing new code from scratch (1), cutting development time and testing effort (1).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think abstraction and decomposition are the same, but abstraction removes detail while decomposition splits a problem into sub-problems.</a:t>
            </a:r>
          </a:p>
          <a:p>
            <a:pPr/>
            <a:r>
              <a:rPr sz="2000" b="0">
                <a:solidFill>
                  <a:srgbClr val="222222"/>
                </a:solidFill>
                <a:latin typeface="Calibri"/>
              </a:rPr>
              <a:t>✗ Students often think removing more detail always improves a model, but removing a necessary detail stops the model solving its problem.</a:t>
            </a:r>
          </a:p>
          <a:p>
            <a:pPr/>
            <a:r>
              <a:rPr sz="2000" b="0">
                <a:solidFill>
                  <a:srgbClr val="222222"/>
                </a:solidFill>
                <a:latin typeface="Calibri"/>
              </a:rPr>
              <a:t>✗ Students often think the Tube map is a wrong or bad map, but a model is judged against its purpose, and scale is the deliberately discarded detail.</a:t>
            </a:r>
          </a:p>
          <a:p>
            <a:pPr/>
            <a:r>
              <a:rPr sz="2000" b="0">
                <a:solidFill>
                  <a:srgbClr val="222222"/>
                </a:solidFill>
                <a:latin typeface="Calibri"/>
              </a:rPr>
              <a:t>✗ Students often define abstraction instead of applying it; exam marks come from naming scenario-specific details kept and discarded, with justification.</a:t>
            </a:r>
          </a:p>
          <a:p>
            <a:pPr/>
            <a:r>
              <a:rPr sz="2000" b="0">
                <a:solidFill>
                  <a:srgbClr val="222222"/>
                </a:solidFill>
                <a:latin typeface="Calibri"/>
              </a:rPr>
              <a:t>✗ Students often think abstraction only happens in code, but maps, timetables and physics models are everyday abstractions.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Command words: Define/State (2 marks), Describe (a model for a scenario, 3-4 marks), Explain (why abstraction helps here, 2-4 marks), Discuss (use of abstraction across a whole system, up to 9-mark levels of response).</a:t>
            </a:r>
          </a:p>
          <a:p>
            <a:pPr/>
            <a:r>
              <a:rPr sz="2000" b="0">
                <a:solidFill>
                  <a:srgbClr val="222222"/>
                </a:solidFill>
                <a:latin typeface="Calibri"/>
              </a:rPr>
              <a:t>Application beats recitation: examiners give scenario marks for named details kept and discarded WITH justification, not for a memorised definition alone.</a:t>
            </a:r>
          </a:p>
          <a:p>
            <a:pPr/>
            <a:r>
              <a:rPr sz="2000" b="0">
                <a:solidFill>
                  <a:srgbClr val="222222"/>
                </a:solidFill>
                <a:latin typeface="Calibri"/>
              </a:rPr>
              <a:t>Example stem: 'A developer is writing a fitness-tracking app. Describe how abstraction will have been used in the design of the app.' — answer with specific kept/discarded data.</a:t>
            </a:r>
          </a:p>
          <a:p>
            <a:pPr/>
            <a:r>
              <a:rPr sz="2000" b="0">
                <a:solidFill>
                  <a:srgbClr val="222222"/>
                </a:solidFill>
                <a:latin typeface="Calibri"/>
              </a:rPr>
              <a:t>The abstraction/decomposition mix-up is an established trap; one sentence distinguishing them can secure a mark.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Devise an abstract model for a school parents-evening booking system. List at least four pieces of data to keep and four real-world details to discard, justify every discard against the booking problem, and state whether your teacher and parent records are representational abstraction or generalisation, and why.</a:t>
            </a:r>
          </a:p>
          <a:p>
            <a:r>
              <a:rPr sz="2400" b="1">
                <a:solidFill>
                  <a:srgbClr val="B76E00"/>
                </a:solidFill>
                <a:latin typeface="Calibri"/>
              </a:rPr>
              <a:t>Challenge / stretch</a:t>
            </a:r>
          </a:p>
          <a:p>
            <a:pPr lvl="1"/>
            <a:r>
              <a:rPr sz="2200" b="0">
                <a:solidFill>
                  <a:srgbClr val="222222"/>
                </a:solidFill>
                <a:latin typeface="Calibri"/>
              </a:rPr>
              <a:t>Take your parents-evening model and change the problem to fire-safety roll call during an evacuation of the event. Write down which discarded details must now return, which kept details become irrelevant, and one sentence explaining what this shows about abstraction being relative to purpose.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In one sentence, what is abstraction?</a:t>
            </a:r>
          </a:p>
          <a:p>
            <a:r>
              <a:rPr sz="2200" b="1">
                <a:solidFill>
                  <a:srgbClr val="222222"/>
                </a:solidFill>
                <a:latin typeface="Calibri"/>
              </a:rPr>
              <a:t>2. Give the test question that separates representational abstraction from generalisation.</a:t>
            </a:r>
          </a:p>
          <a:p>
            <a:r>
              <a:rPr sz="2200" b="1">
                <a:solidFill>
                  <a:srgbClr val="222222"/>
                </a:solidFill>
                <a:latin typeface="Calibri"/>
              </a:rPr>
              <a:t>3. How is abstraction different from decomposition?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In one sentence, what is abstraction?</a:t>
            </a:r>
          </a:p>
          <a:p>
            <a:pPr lvl="1"/>
            <a:r>
              <a:rPr sz="1800" i="1">
                <a:solidFill>
                  <a:srgbClr val="B76E00"/>
                </a:solidFill>
                <a:latin typeface="Calibri"/>
              </a:rPr>
              <a:t>Answer: Removing or hiding detail irrelevant to the problem so only relevant information remains, giving a simpler model.</a:t>
            </a:r>
          </a:p>
          <a:p>
            <a:r>
              <a:rPr sz="2200" b="1">
                <a:solidFill>
                  <a:srgbClr val="222222"/>
                </a:solidFill>
                <a:latin typeface="Calibri"/>
              </a:rPr>
              <a:t>2. Give the test question that separates representational abstraction from generalisation.</a:t>
            </a:r>
          </a:p>
          <a:p>
            <a:pPr lvl="1"/>
            <a:r>
              <a:rPr sz="1800" i="1">
                <a:solidFill>
                  <a:srgbClr val="B76E00"/>
                </a:solidFill>
                <a:latin typeface="Calibri"/>
              </a:rPr>
              <a:t>Answer: Am I stripping detail from one specific thing (representational) or grouping many things by shared characteristics (generalisation)?</a:t>
            </a:r>
          </a:p>
          <a:p>
            <a:r>
              <a:rPr sz="2200" b="1">
                <a:solidFill>
                  <a:srgbClr val="222222"/>
                </a:solidFill>
                <a:latin typeface="Calibri"/>
              </a:rPr>
              <a:t>3. How is abstraction different from decomposition?</a:t>
            </a:r>
          </a:p>
          <a:p>
            <a:pPr lvl="1"/>
            <a:r>
              <a:rPr sz="1800" i="1">
                <a:solidFill>
                  <a:srgbClr val="B76E00"/>
                </a:solidFill>
                <a:latin typeface="Calibri"/>
              </a:rPr>
              <a:t>Answer: Abstraction removes or hides detail; decomposition breaks a problem into smaller sub-problems.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