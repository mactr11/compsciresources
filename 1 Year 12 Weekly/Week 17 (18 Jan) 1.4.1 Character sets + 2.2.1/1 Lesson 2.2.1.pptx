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Calibri"/>
              </a:rPr>
              <a:t>2.2.1 Programming Techniques</a:t>
            </a:r>
          </a:p>
          <a:p>
            <a:r>
              <a:rPr sz="2000" b="0" i="0">
                <a:solidFill>
                  <a:srgbClr val="BED3EC"/>
                </a:solidFill>
                <a:latin typeface="Calibri"/>
              </a:rPr>
              <a:t>OCR H446 — Component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03504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1">
                <a:solidFill>
                  <a:srgbClr val="9AB4D6"/>
                </a:solidFill>
                <a:latin typeface="Calibri"/>
              </a:rPr>
              <a:t>Week 17 (18 Jan)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 the end of this lesson you can: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use sequence, branching and both count- and condition-controlled iteration in OCR Exam Reference Language.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trace a recursive subroutine using stack frames, identify its base case, and compare recursion with iteration.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explain scope, distinguish functions from procedures, and predict the effect of passing parameters by value and by reference.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I can describe IDE features that help build and debug code, and apply OOP techniques: encapsulation, inheritance and polymorphism.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retrieval starter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2.1.3: what is decomposition, and why does it help a team build a large program?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2.1.3: what does it mean to identify the order of steps when thinking procedurally?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2.1.4: what is a decision point, and which programming construct implements one?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1.2.4: state the difference between a class and an object.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1.2.4: what is inheritance in object-oriented programming?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Do Now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2.1.3: what is decomposition, and why does it help a team build a large program?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Breaking a problem into smaller sub-problems, each solved separately; sub-problems can be shared out, built and tested independently, then combined.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2.1.3: what does it mean to identify the order of steps when thinking procedurally?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Deciding which sub-tasks depend on the results of others, so they must run in a sequence that provides inputs before they are needed.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2.1.4: what is a decision point, and which programming construct implements one?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point where the route through the program depends on a condition; implemented by selection, e.g. an if or switch statement.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4. 1.2.4: state the difference between a class and an object.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class is a template defining attributes and methods; an object is a specific instance of that class created at run time.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5. 1.2.4: what is inheritance in object-oriented programming?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subclass acquiring the attributes and methods of a superclass, modelling an is-a relationship, so common code is written once.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Key terminology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r>
              <a:rPr b="1" sz="2000">
                <a:solidFill>
                  <a:srgbClr val="1A365D"/>
                </a:solidFill>
                <a:latin typeface="Calibri"/>
              </a:rPr>
              <a:t>Recursion</a:t>
            </a:r>
            <a:r>
              <a:rPr sz="1800">
                <a:solidFill>
                  <a:srgbClr val="222222"/>
                </a:solidFill>
                <a:latin typeface="Calibri"/>
              </a:rPr>
              <a:t> — A subroutine that calls itself, with a base case to stop and a general case that moves toward it.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Base case</a:t>
            </a:r>
            <a:r>
              <a:rPr sz="1800">
                <a:solidFill>
                  <a:srgbClr val="222222"/>
                </a:solidFill>
                <a:latin typeface="Calibri"/>
              </a:rPr>
              <a:t> — The condition under which a recursive subroutine returns without calling itself again.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Stack frame</a:t>
            </a:r>
            <a:r>
              <a:rPr sz="1800">
                <a:solidFill>
                  <a:srgbClr val="222222"/>
                </a:solidFill>
                <a:latin typeface="Calibri"/>
              </a:rPr>
              <a:t> — The record pushed onto the call stack per call: parameters, local variables and the return address.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Scope</a:t>
            </a:r>
            <a:r>
              <a:rPr sz="1800">
                <a:solidFill>
                  <a:srgbClr val="222222"/>
                </a:solidFill>
                <a:latin typeface="Calibri"/>
              </a:rPr>
              <a:t> — The region of a program in which a variable is visible and can be accessed.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Global variable</a:t>
            </a:r>
            <a:r>
              <a:rPr sz="1800">
                <a:solidFill>
                  <a:srgbClr val="222222"/>
                </a:solidFill>
                <a:latin typeface="Calibri"/>
              </a:rPr>
              <a:t> — Declared outside all subroutines; visible everywhere and alive for the whole run.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Modularity</a:t>
            </a:r>
            <a:r>
              <a:rPr sz="1800">
                <a:solidFill>
                  <a:srgbClr val="222222"/>
                </a:solidFill>
                <a:latin typeface="Calibri"/>
              </a:rPr>
              <a:t> — Splitting a program into self-contained subroutines that can be written, tested and reused separately.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Function</a:t>
            </a:r>
            <a:r>
              <a:rPr sz="1800">
                <a:solidFill>
                  <a:srgbClr val="222222"/>
                </a:solidFill>
                <a:latin typeface="Calibri"/>
              </a:rPr>
              <a:t> — A subroutine that returns a single value, so a call can sit inside an expression; a procedure returns none.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By value / by reference</a:t>
            </a:r>
            <a:r>
              <a:rPr sz="1800">
                <a:solidFill>
                  <a:srgbClr val="222222"/>
                </a:solidFill>
                <a:latin typeface="Calibri"/>
              </a:rPr>
              <a:t> — By value passes a copy, leaving the original unchanged; by reference passes the address, so the original can change.</a:t>
            </a:r>
          </a:p>
          <a:p>
            <a:r>
              <a:rPr b="1" sz="2000">
                <a:solidFill>
                  <a:srgbClr val="1A365D"/>
                </a:solidFill>
                <a:latin typeface="Calibri"/>
              </a:rPr>
              <a:t>Polymorphism</a:t>
            </a:r>
            <a:r>
              <a:rPr sz="1800">
                <a:solidFill>
                  <a:srgbClr val="222222"/>
                </a:solidFill>
                <a:latin typeface="Calibri"/>
              </a:rPr>
              <a:t> — The same method call behaving differently for objects of different classes, usually through overriding.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Sequence and branching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Sequence: statements execute one after another, and order matters.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Branching (selection) chooses a path from a condition: if / elseif / else.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switch/case selects cleanly between many discrete values of one variable.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Every program, however complex, is built from sequence, branching and iteration.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if mark &gt;= 70 then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grade = "A"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elseif mark &gt;= 60 then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grade = "B"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else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grade = "C"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endif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Count-controlled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Repeats a fixed number of times, known before the loop starts.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for ... next manages the counter automatically.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counter is usable inside the loop, e.g. as an array index.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Use it whenever the number of repetitions is known: process every array element, repeat n times.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total = 0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for i = 0 to 4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total = total + scores[i]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next 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Condition-controlled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Repeats an unknown number of times, until a condition changes.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while tests at the START (pre-conditioned): the body may run zero times.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do ... until tests at the END (post-conditioned): the body always runs at least once.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Post-conditioned loops suit input validation - the user must be asked at least once.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do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mark = int(input("Enter a mark 0-100: "))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until mark &gt;= 0 AND mark &lt;= 100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The while/do-until zero-times distinction is a favourite 2-mark exam discriminator.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Recursion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recursive subroutine calls itself.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It needs a base case: a condition that returns without another call.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It needs a general case: a call to itself on a smaller problem, moving toward the base case.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missing or unreachable base case gives endless calls and a stack overflow.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function factorial(n)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if n &lt;= 1 then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  return 1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else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  return n * factorial(n - 1)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endif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endfunction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Recursion and the call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Each call pushes a stack frame: its parameters, local variables and return address.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Frames pop in reverse (LIFO) order as each call returns its value to its caller.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The deepest frame is always the base case; results are combined on the way back up.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Too many frames exhaust stack memory: that is the stack overflow error.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Recursion versus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Any recursion can be rewritten iteratively, and vice versa.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Recursion: shorter, more natural code for self-similar problems - trees, quicksort, backtracking.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Iteration: one set of variables, no frame per repetition, so less memory and no overflow risk.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Recursion also pays a time cost: every call pushes and pops a frame.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Scope: global versus local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local variable is declared inside a subroutine: visible only there, destroyed on exit.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global is declared in the main program: visible everywhere, alive all run long.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local with the same name shadows the global - assigning to it leaves the global untouched.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Prefer locals: fewer side effects, memory freed on exit, subroutines stay self-contained and testable.</a:t>
            </a:r>
          </a:p>
          <a:p>
            <a:pPr/>
            <a:r>
              <a:rPr sz="1800" b="1">
                <a:solidFill>
                  <a:srgbClr val="B76E00"/>
                </a:solidFill>
                <a:latin typeface="Calibri"/>
              </a:rPr>
              <a:t>In OCR ERL a subroutine writes to a true global only after declaring global inside 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Modularity, functions and procedures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Modularity splits a program into subroutines, each doing one job.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Benefits: easier to write, test and debug; reusable; a team can build modules in parallel.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function returns a single value, so it can sit in an expression: total = double(n) + 1.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procedure performs a task and returns nothing; its call stands alone as a statement.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function double(n)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return n * 2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endfunction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procedure greet(name)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print("Hello " + name)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endprocedure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Parameters: by value and by reference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A parameter is the variable in the definition; the argument is the value supplied at the call.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byVal passes a COPY: changes inside the subroutine do not affect the original.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byRef passes the ADDRESS: changes inside the subroutine change the original variable.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byRef avoids copying large data and lets one call send back several changes; byVal is safer.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procedure addBonus(score:byRef)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score = score + 10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endprocedure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IDE features and OOP techniques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Writing: syntax highlighting, autocomplete, auto-indentation and live error diagnostics.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Debugging: breakpoints pause execution; stepping runs a line at a time; watch windows track variables.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OOP: encapsulation keeps attributes private behind public methods, protecting data integrity.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Inheritance shares one superclass implementation; polymorphism lets the same call, e.g. speak(), behave per class via overriding.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class Dog inherits Animal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public procedure speak()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   print("Woof")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   endprocedure</a:t>
            </a:r>
          </a:p>
          <a:p>
            <a:pPr lvl="1"/>
            <a:r>
              <a:rPr sz="1600" b="0">
                <a:solidFill>
                  <a:srgbClr val="1A365D"/>
                </a:solidFill>
                <a:latin typeface="Consolas"/>
              </a:rPr>
              <a:t>endclass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Tracing factorial(4) on the call stack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The function: if n &lt;= 1 return 1, else return n * factorial(n - 1).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factorial(4): 4 is not &lt;= 1, so push frame (n = 4) and call factorial(3).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factorial(3) pushes (n = 3) and calls factorial(2); factorial(2) pushes (n = 2) and calls factorial(1). Four frames are stacked.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factorial(1): n &lt;= 1 is true - the base case returns 1 with no further call.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Frames pop in LIFO order: factorial(2) returns 2 * 1 = 2; factorial(3) returns 3 * 2 = 6; factorial(4) returns 4 * 6 = 24.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The stack is empty and the final value is 24. Check: 4 x 3 x 2 x 1 = 24.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Maximum stack depth was 4 frames - an iterative version would have used one variable throughout.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byVal versus byRef: the same procedure, two outcomes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Setup: playerScore = 50, and procedure addBonus(score:byVal) with body score = score + 10, then print inside the procedure.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Call addBonus(playerScore) byVal: a COPY of 50 is passed in.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Inside, the copy becomes 60 and prints 60; the copy is destroyed when the procedure ends.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After the call, playerScore prints 50 - the original was never touched.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Now change the signature to score:byRef and run again: the ADDRESS of playerScore is passed.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Inside, writing score = score + 10 updates memory at that address: 60 prints inside.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After the call, playerScore prints 60. The exam sentence is the consequence: byVal leaves the original unchanged; byRef changes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Worked example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Predicting loop output: while versus do until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1. Code: x = 10; while x &gt; 20: print(x), x = x - 2, endwhile; print("A"); do: print(x), x = x - 2, until x &lt; 6; print("B").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2. The while loop tests first: 10 &gt; 20 is false, so the body runs ZERO times - nothing prints.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3. print("A") outputs A.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4. The do until body runs before any test: prints 10, x becomes 8; 8 &lt; 6 false, loop again.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5. Prints 8, x becomes 6; 6 &lt; 6 false, loop again. Prints 6, x becomes 4; 4 &lt; 6 true, loop ends.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6. print("B") outputs B. Full output: A, 10, 8, 6, B.</a:t>
            </a:r>
          </a:p>
          <a:p>
            <a:pPr lvl="1"/>
            <a:r>
              <a:rPr sz="1900" b="0">
                <a:solidFill>
                  <a:srgbClr val="222222"/>
                </a:solidFill>
                <a:latin typeface="Calibri"/>
              </a:rPr>
              <a:t>7. The trap: assuming the while prints 10 once - a pre-conditioned loop can run zero times; a post-conditioned loop cannot.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Russian Dolls and the Tray Stack  (15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Open a set of nested dolls: each contains a smaller version of the same problem - recursion; the tiny solid doll is the base case. Reassemble to show returns happening in reverse.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Board the factorial function, then give four volunteers a tray each. Student 1 writes n = 4 plus the return address on a sticky note and holds their tray; they cannot answer yet, so Student 2 stacks n = 3 on top, then n = 2, then n = 1.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Student 4 hits the base case: n = 1, announces return 1, and pops off the top.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Unwind: Student 3 computes 2 x 1 = 2 and pops; Student 2 computes 3 x 2 = 6; Student 1 computes 4 x 6 = 24 and shouts the answer.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Ask: what order did trays go on and come off? (LIFO - this pile IS the call stack; each tray is a frame holding a parameter and return address.)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Cross out the base case and ask what happens to the pile. (It grows until the canteen runs out of trays: stack overflow.)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Trace factorial(0) with base case n == 1: never reached, so it overflows; fix it by changing the base case to n &lt;= 1, then rewrite factorial iteratively and state the memory trade-off.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Parson's Problem: The Bouncer's Loop  (10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Brief: the program must keep asking for an age until it gets 11-18 inclusive, telling the user off after each bad attempt, and must ask at least once. One strip is a red herring.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Strips (shuffled): until age &gt;= 11 AND age &lt;= 18 / age = int(input("Enter age (11-18): ")) / do / print("Thanks, age recorded: " + str(age)) / if age &lt; 11 OR age &gt; 18 then / print("Out of range - try again") / endif / while age &gt;= 11 AND age &lt;= 18 (distractor).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Pairs arrange the strips; before checking, they must trace inputs 9, 25, 14 on a mini-whiteboard.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Correct order: do; input; if out of range then; warning print; endif; until in range; thanks print. Trace output: two warnings, then Thanks, age recorded: 14.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Debrief: why do ... until and not while? Post-conditioned - the body always runs, so the user is always asked; a while would test age before it holds a sensible value.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Rewrite the validation with while (needs a priming input or a valid flag); which version repeats less code? Then extend it to reject non-numeric input.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Activity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200" b="1">
                <a:solidFill>
                  <a:srgbClr val="2B6CB0"/>
                </a:solidFill>
                <a:latin typeface="Calibri"/>
              </a:rPr>
              <a:t>Sticky Notes versus the Shared Whiteboard  (10 min)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Write playerScore = 50 on the class whiteboard - this is the variable in memory. Board the procedure addBonus(score) with body score = score + 10.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Round 1, byVal: a volunteer is the subroutine. Copy the value onto a sticky note (score = 50) and hand it over: you got a COPY. They add 10 on the note only (60) and announce inside: 60. At procedure end, theatrically screw up the note and bin it. Class predicts the next print... whiteboard still says 50.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Round 2, byRef: hand the volunteer a note with an ARROW pointing at the whiteboard: you got the address, not a copy. They walk over and change 50 to 60 directly. Bin the arrow note - the whiteboard now says 60.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Everyone writes one sentence per round starting: The original was...</a:t>
            </a:r>
          </a:p>
          <a:p>
            <a:pPr lvl="1"/>
            <a:r>
              <a:rPr sz="2000" b="0">
                <a:solidFill>
                  <a:srgbClr val="222222"/>
                </a:solidFill>
                <a:latin typeface="Calibri"/>
              </a:rPr>
              <a:t>Debrief the exam-worthy phrasing: the mark is the consequence (original unchanged versus original changed), not just that a copy is made.</a:t>
            </a:r>
          </a:p>
          <a:p>
            <a:pPr/>
            <a:r>
              <a:rPr sz="1800" b="0">
                <a:solidFill>
                  <a:srgbClr val="B76E00"/>
                </a:solidFill>
                <a:latin typeface="Calibri"/>
              </a:rPr>
              <a:t>Stretch: When is byRef the better choice despite being less safe? (Large data - no expensive copy; or returning more than one change.) What about addBonus(50), passing a literal by reference? (Nothing to point at - byRef arguments must be variables.)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State the difference between a function and a procedure, and give one reason a programmer would choose a function.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Explain why a do ... until loop is more appropriate than a while loop for validating user input.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State the two cases every recursive subroutine must contain, and name the error that occurs if the stopping case is never reached.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function is defined: function sum(n): if n == 0 then return 0 else return n + sum(n - 1). Trace the call sum(3), showing each call and each returned value. [4]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(1-4)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State the difference between a function and a procedure, and give one reason a programmer would choose a function.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function returns a single value; a procedure returns none (1). A function is chosen when the result is needed in an expression, e.g. total = getPrice(item) * qty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Explain why a do ... until loop is more appropriate than a while loop for validating user input.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do ... until is post-conditioned, so the body always runs at least once - the user is guaranteed to be asked (1); a while loop tests first, so it would test the variable before any input has been entered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State the two cases every recursive subroutine must contain, and name the error that occurs if the stopping case is never reached.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base case, which returns without a further recursive call (1), and a general (recursive) case that calls the subroutine on a smaller problem, moving toward the base case (1). If the base case is never reached, calls stack up until memory is exhausted: a stack overflow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A function is defined: function sum(n): if n == 0 then return 0 else return n + sum(n - 1). Trace the call sum(3), showing each call and each returned value. [4]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sum(3) calls sum(2), which calls sum(1), which calls sum(0) (1). sum(0) hits the base case and returns 0 (1). Returns unwind in LIFO order: sum(1) returns 1 + 0 = 1, sum(2) returns 2 + 1 = 3 (1), and sum(3) returns 3 + 3 = 6, the final answer (1).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A global variable count = 20 exists. A procedure assigns count = 7 (without a global declaration) and prints it; afterwards the main program prints count. State both outputs and explain the result. [3]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Given procedure double(n:byRef) with body n = n * 2, and x = 8: state the value of x after double(x), and after the same call if the parameter were n:byVal.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Describe two ways writing a program as a set of subroutines (modularity) benefits a development team. [2]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Describe two features of an IDE that help a programmer locate a run-time logic error. [2]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Practice — answers (5-8)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222222"/>
                </a:solidFill>
                <a:latin typeface="Calibri"/>
              </a:rPr>
              <a:t>1. A global variable count = 20 exists. A procedure assigns count = 7 (without a global declaration) and prints it; afterwards the main program prints count. State both outputs and explain the result. [3]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The procedure prints 7 (1); the main program prints 20 (1). The assignment created a local variable that shadows the global inside the procedure, so the global was never changed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2. Given procedure double(n:byRef) with body n = n * 2, and x = 8: state the value of x after double(x), and after the same call if the parameter were n:byVal.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byRef: x = 16, because the address of x is passed and the original is updated (1). byVal: x = 8, because only a copy is doubled and then discarded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3. Describe two ways writing a program as a set of subroutines (modularity) benefits a development team.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Any two of: modules can be written and tested independently, making errors easier to isolate (1); modules can be shared between team members and developed in parallel (1); tested modules can be reused in other programs, saving time (1).</a:t>
            </a:r>
          </a:p>
          <a:p>
            <a:r>
              <a:rPr sz="2000" b="1">
                <a:solidFill>
                  <a:srgbClr val="222222"/>
                </a:solidFill>
                <a:latin typeface="Calibri"/>
              </a:rPr>
              <a:t>4. Describe two features of an IDE that help a programmer locate a run-time logic error. [2]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Breakpoints pause the program at a chosen line so the state can be inspected (1); stepping plus a variable watch runs one line at a time while showing how variable values change, revealing where they go wrong (1).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Common misconceptions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assume a while loop always runs at least once; it is pre-conditioned and can run zero times - only do ... until guarantees one pass.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think recursion is free elegance; every call pushes a stack frame, so it costs memory and call overhead, and can overflow where iteration cannot.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say byRef passes the variable's name or value; it passes the memory ADDRESS - and the mark comes from the consequence: the original can be changed.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believe assigning to a name inside a subroutine changes the same-named global; without a global declaration it creates a shadowing local instead.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✗ Students often use function and procedure interchangeably; the defining difference is that a function returns a value and a procedure does not.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How the exam asks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Command words: write and complete for ERL code (4-8 marks), trace and state the output for loops and recursion (3-6 marks), explain and compare for recursion versus iteration and byVal versus byRef (2-4 marks).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Recursion traces are a 4-6 mark staple: marks sit in the frames pushed, the base case identified, and the returns combined in LIFO order.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Code-writing answers must be OCR Exam Reference Language: endif, endwhile, next i, endfunction all matter for full marks.</a:t>
            </a:r>
          </a:p>
          <a:p>
            <a:pPr/>
            <a:r>
              <a:rPr sz="2000" b="0">
                <a:solidFill>
                  <a:srgbClr val="222222"/>
                </a:solidFill>
                <a:latin typeface="Calibri"/>
              </a:rPr>
              <a:t>Example stem: 'A recursive function mystery(n) is shown. State the value returned by mystery(4) and explain the purpose of the line if n == 0 then return 0.' [4]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2400" b="1">
                <a:solidFill>
                  <a:srgbClr val="2B6CB0"/>
                </a:solidFill>
                <a:latin typeface="Calibri"/>
              </a:rPr>
              <a:t>Task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Write an OCR ERL program that uses a do ... until loop to keep asking for a test mark until it is between 0 and 100 inclusive, printing a warning after each invalid attempt. Then rewrite it with a while loop (you will need a priming input before the loop), and write one sentence stating the behavioural difference between your two versions.</a:t>
            </a:r>
          </a:p>
          <a:p>
            <a:r>
              <a:rPr sz="2400" b="1">
                <a:solidFill>
                  <a:srgbClr val="B76E00"/>
                </a:solidFill>
                <a:latin typeface="Calibri"/>
              </a:rPr>
              <a:t>Challenge / stretch</a:t>
            </a:r>
          </a:p>
          <a:p>
            <a:pPr lvl="1"/>
            <a:r>
              <a:rPr sz="2200" b="0">
                <a:solidFill>
                  <a:srgbClr val="222222"/>
                </a:solidFill>
                <a:latin typeface="Calibri"/>
              </a:rPr>
              <a:t>Write a recursive ERL function power(base, index) that returns base to the power index (base case: index == 0 returns 1; general case: return base * power(base, index - 1)). Trace power(2, 4) showing all five stack frames and the returned values 1, 2, 4, 8, 16. Then rewrite it with a for loop and give one advantage of each version.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Name the two cases every recursive subroutine needs, and what each one does.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One sentence each: what is the consequence of passing byVal, and of passing byRef?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A global total = 10; a procedure runs total = 5 then print(total); afterwards the main program runs print(total). What prints, and why?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 i="0">
                <a:solidFill>
                  <a:srgbClr val="2B6CB0"/>
                </a:solidFill>
                <a:latin typeface="Calibri"/>
              </a:rPr>
              <a:t>Exit ticket — answers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80160"/>
            <a:ext cx="108813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2222"/>
                </a:solidFill>
                <a:latin typeface="Calibri"/>
              </a:rPr>
              <a:t>1. Name the two cases every recursive subroutine needs, and what each one does.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A base case, which returns without calling itself, stopping the recursion; and a general case, which calls itself on a smaller problem moving toward the base case.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2. One sentence each: what is the consequence of passing byVal, and of passing byRef?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byVal: a copy is changed, so the original variable is unchanged after the call; byRef: the address is passed, so the original variable can be changed.</a:t>
            </a:r>
          </a:p>
          <a:p>
            <a:r>
              <a:rPr sz="2200" b="1">
                <a:solidFill>
                  <a:srgbClr val="222222"/>
                </a:solidFill>
                <a:latin typeface="Calibri"/>
              </a:rPr>
              <a:t>3. A global total = 10; a procedure runs total = 5 then print(total); afterwards the main program runs print(total). What prints, and why?</a:t>
            </a:r>
          </a:p>
          <a:p>
            <a:pPr lvl="1"/>
            <a:r>
              <a:rPr sz="1800" i="1">
                <a:solidFill>
                  <a:srgbClr val="B76E00"/>
                </a:solidFill>
                <a:latin typeface="Calibri"/>
              </a:rPr>
              <a:t>Answer: 5 then 10 - the assignment created a local total that shadows the global inside the procedure; the global was never modified.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