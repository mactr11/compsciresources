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365D"/>
        </a:solidFill>
        <a:effectLst/>
      </p:bgPr>
    </p:bg>
    <p:spTree>
      <p:nvGrpSpPr>
        <p:cNvPr id="1" name=""/>
        <p:cNvGrpSpPr/>
        <p:nvPr/>
      </p:nvGrpSpPr>
      <p:grpSpPr/>
      <p:sp>
        <p:nvSpPr>
          <p:cNvPr id="2" name="TextBox 1"/>
          <p:cNvSpPr txBox="1"/>
          <p:nvPr/>
        </p:nvSpPr>
        <p:spPr>
          <a:xfrm>
            <a:off x="731520" y="2194560"/>
            <a:ext cx="10698480" cy="1828800"/>
          </a:xfrm>
          <a:prstGeom prst="rect">
            <a:avLst/>
          </a:prstGeom>
          <a:noFill/>
        </p:spPr>
        <p:txBody>
          <a:bodyPr wrap="square">
            <a:spAutoFit/>
          </a:bodyPr>
          <a:lstStyle/>
          <a:p>
            <a:r>
              <a:rPr sz="4000" b="1" i="0">
                <a:solidFill>
                  <a:srgbClr val="FFFFFF"/>
                </a:solidFill>
                <a:latin typeface="Calibri"/>
              </a:rPr>
              <a:t>1.4.2 Data Structures (implementation workshop)</a:t>
            </a:r>
          </a:p>
          <a:p>
            <a:r>
              <a:rPr sz="2000" b="0" i="0">
                <a:solidFill>
                  <a:srgbClr val="BED3EC"/>
                </a:solidFill>
                <a:latin typeface="Calibri"/>
              </a:rPr>
              <a:t>OCR H446 — Component 01</a:t>
            </a:r>
          </a:p>
        </p:txBody>
      </p:sp>
      <p:sp>
        <p:nvSpPr>
          <p:cNvPr id="3" name="TextBox 2"/>
          <p:cNvSpPr txBox="1"/>
          <p:nvPr/>
        </p:nvSpPr>
        <p:spPr>
          <a:xfrm>
            <a:off x="731520" y="6035040"/>
            <a:ext cx="10698480" cy="548640"/>
          </a:xfrm>
          <a:prstGeom prst="rect">
            <a:avLst/>
          </a:prstGeom>
          <a:noFill/>
        </p:spPr>
        <p:txBody>
          <a:bodyPr wrap="square">
            <a:spAutoFit/>
          </a:bodyPr>
          <a:lstStyle/>
          <a:p>
            <a:r>
              <a:rPr sz="1400" b="0" i="1">
                <a:solidFill>
                  <a:srgbClr val="9AB4D6"/>
                </a:solidFill>
                <a:latin typeface="Calibri"/>
              </a:rPr>
              <a:t>Week 19 (01 Feb)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Learning objectives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By the end of this lesson you can:</a:t>
            </a:r>
          </a:p>
          <a:p>
            <a:pPr lvl="1"/>
            <a:r>
              <a:rPr sz="2200" b="0">
                <a:solidFill>
                  <a:srgbClr val="222222"/>
                </a:solidFill>
                <a:latin typeface="Calibri"/>
              </a:rPr>
              <a:t>I can represent a linked list as nodes and pointers and traverse it from the head.</a:t>
            </a:r>
          </a:p>
          <a:p>
            <a:pPr lvl="1"/>
            <a:r>
              <a:rPr sz="2200" b="0">
                <a:solidFill>
                  <a:srgbClr val="222222"/>
                </a:solidFill>
                <a:latin typeface="Calibri"/>
              </a:rPr>
              <a:t>I can insert into and delete from the middle of a linked list, rewiring pointers in the safe order.</a:t>
            </a:r>
          </a:p>
          <a:p>
            <a:pPr lvl="1"/>
            <a:r>
              <a:rPr sz="2200" b="0">
                <a:solidFill>
                  <a:srgbClr val="222222"/>
                </a:solidFill>
                <a:latin typeface="Calibri"/>
              </a:rPr>
              <a:t>I can implement a stack over an array with a top pointer and overflow and underflow checks.</a:t>
            </a:r>
          </a:p>
          <a:p>
            <a:pPr lvl="1"/>
            <a:r>
              <a:rPr sz="2200" b="0">
                <a:solidFill>
                  <a:srgbClr val="222222"/>
                </a:solidFill>
                <a:latin typeface="Calibri"/>
              </a:rPr>
              <a:t>I can implement a circular queue whose front and rear pointers wrap around using MOD.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Do Now — retrieval starter</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From week 18: an empty stack receives push(3), push(8), pop(), push(5), pop(). State the two values returned and the final contents.</a:t>
            </a:r>
          </a:p>
          <a:p>
            <a:r>
              <a:rPr sz="2200" b="1">
                <a:solidFill>
                  <a:srgbClr val="222222"/>
                </a:solidFill>
                <a:latin typeface="Calibri"/>
              </a:rPr>
              <a:t>2. From week 18: name the end used by enqueue and the end used by dequeue.</a:t>
            </a:r>
          </a:p>
          <a:p>
            <a:r>
              <a:rPr sz="2200" b="1">
                <a:solidFill>
                  <a:srgbClr val="222222"/>
                </a:solidFill>
                <a:latin typeface="Calibri"/>
              </a:rPr>
              <a:t>3. From week 18: a stack of capacity 4 already holds 4 items when push is called. Name this error, and the opposite error.</a:t>
            </a:r>
          </a:p>
          <a:p>
            <a:r>
              <a:rPr sz="2200" b="1">
                <a:solidFill>
                  <a:srgbClr val="222222"/>
                </a:solidFill>
                <a:latin typeface="Calibri"/>
              </a:rPr>
              <a:t>4. From week 18: why can a linear array-based queue report full while cells are actually free?</a:t>
            </a:r>
          </a:p>
          <a:p>
            <a:r>
              <a:rPr sz="2200" b="1">
                <a:solidFill>
                  <a:srgbClr val="222222"/>
                </a:solidFill>
                <a:latin typeface="Calibri"/>
              </a:rPr>
              <a:t>5. From week 18: state two properties of a tuple.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Do Now — answers</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From week 18: an empty stack receives push(3), push(8), pop(), push(5), pop(). State the two values returned and the final contents.</a:t>
            </a:r>
          </a:p>
          <a:p>
            <a:pPr lvl="1"/>
            <a:r>
              <a:rPr sz="1800" i="1">
                <a:solidFill>
                  <a:srgbClr val="B76E00"/>
                </a:solidFill>
                <a:latin typeface="Calibri"/>
              </a:rPr>
              <a:t>Answer: Returned 8 then 5; the final stack holds just 3.</a:t>
            </a:r>
          </a:p>
          <a:p>
            <a:r>
              <a:rPr sz="2200" b="1">
                <a:solidFill>
                  <a:srgbClr val="222222"/>
                </a:solidFill>
                <a:latin typeface="Calibri"/>
              </a:rPr>
              <a:t>2. From week 18: name the end used by enqueue and the end used by dequeue.</a:t>
            </a:r>
          </a:p>
          <a:p>
            <a:pPr lvl="1"/>
            <a:r>
              <a:rPr sz="1800" i="1">
                <a:solidFill>
                  <a:srgbClr val="B76E00"/>
                </a:solidFill>
                <a:latin typeface="Calibri"/>
              </a:rPr>
              <a:t>Answer: Enqueue adds at the rear; dequeue removes from the front.</a:t>
            </a:r>
          </a:p>
          <a:p>
            <a:r>
              <a:rPr sz="2200" b="1">
                <a:solidFill>
                  <a:srgbClr val="222222"/>
                </a:solidFill>
                <a:latin typeface="Calibri"/>
              </a:rPr>
              <a:t>3. From week 18: a stack of capacity 4 already holds 4 items when push is called. Name this error, and the opposite error.</a:t>
            </a:r>
          </a:p>
          <a:p>
            <a:pPr lvl="1"/>
            <a:r>
              <a:rPr sz="1800" i="1">
                <a:solidFill>
                  <a:srgbClr val="B76E00"/>
                </a:solidFill>
                <a:latin typeface="Calibri"/>
              </a:rPr>
              <a:t>Answer: Overflow; the opposite, popping an empty stack, is underflow.</a:t>
            </a:r>
          </a:p>
          <a:p>
            <a:r>
              <a:rPr sz="2200" b="1">
                <a:solidFill>
                  <a:srgbClr val="222222"/>
                </a:solidFill>
                <a:latin typeface="Calibri"/>
              </a:rPr>
              <a:t>4. From week 18: why can a linear array-based queue report full while cells are actually free?</a:t>
            </a:r>
          </a:p>
          <a:p>
            <a:pPr lvl="1"/>
            <a:r>
              <a:rPr sz="1800" i="1">
                <a:solidFill>
                  <a:srgbClr val="B76E00"/>
                </a:solidFill>
                <a:latin typeface="Calibri"/>
              </a:rPr>
              <a:t>Answer: Dequeued cells at the front are never reused, so the rear reaches the end of the array despite dead space at the start.</a:t>
            </a:r>
          </a:p>
          <a:p>
            <a:r>
              <a:rPr sz="2200" b="1">
                <a:solidFill>
                  <a:srgbClr val="222222"/>
                </a:solidFill>
                <a:latin typeface="Calibri"/>
              </a:rPr>
              <a:t>5. From week 18: state two properties of a tuple.</a:t>
            </a:r>
          </a:p>
          <a:p>
            <a:pPr lvl="1"/>
            <a:r>
              <a:rPr sz="1800" i="1">
                <a:solidFill>
                  <a:srgbClr val="B76E00"/>
                </a:solidFill>
                <a:latin typeface="Calibri"/>
              </a:rPr>
              <a:t>Answer: It is ordered and it is immutable: values cannot be changed, added or removed after creation.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Key terminology</a:t>
            </a:r>
          </a:p>
        </p:txBody>
      </p:sp>
      <p:sp>
        <p:nvSpPr>
          <p:cNvPr id="3" name="TextBox 2"/>
          <p:cNvSpPr txBox="1"/>
          <p:nvPr/>
        </p:nvSpPr>
        <p:spPr>
          <a:xfrm>
            <a:off x="640080" y="1280160"/>
            <a:ext cx="10881360" cy="5120640"/>
          </a:xfrm>
          <a:prstGeom prst="rect">
            <a:avLst/>
          </a:prstGeom>
          <a:noFill/>
        </p:spPr>
        <p:txBody>
          <a:bodyPr wrap="square">
            <a:spAutoFit/>
          </a:bodyPr>
          <a:lstStyle/>
          <a:p/>
          <a:p>
            <a:r>
              <a:rPr b="1" sz="2000">
                <a:solidFill>
                  <a:srgbClr val="1A365D"/>
                </a:solidFill>
                <a:latin typeface="Calibri"/>
              </a:rPr>
              <a:t>Node</a:t>
            </a:r>
            <a:r>
              <a:rPr sz="1800">
                <a:solidFill>
                  <a:srgbClr val="222222"/>
                </a:solidFill>
                <a:latin typeface="Calibri"/>
              </a:rPr>
              <a:t> — One element of a linked list: the data plus a pointer to the next node.</a:t>
            </a:r>
          </a:p>
          <a:p>
            <a:r>
              <a:rPr b="1" sz="2000">
                <a:solidFill>
                  <a:srgbClr val="1A365D"/>
                </a:solidFill>
                <a:latin typeface="Calibri"/>
              </a:rPr>
              <a:t>Pointer</a:t>
            </a:r>
            <a:r>
              <a:rPr sz="1800">
                <a:solidFill>
                  <a:srgbClr val="222222"/>
                </a:solidFill>
                <a:latin typeface="Calibri"/>
              </a:rPr>
              <a:t> — A variable holding the location (memory address or array index) of another item.</a:t>
            </a:r>
          </a:p>
          <a:p>
            <a:r>
              <a:rPr b="1" sz="2000">
                <a:solidFill>
                  <a:srgbClr val="1A365D"/>
                </a:solidFill>
                <a:latin typeface="Calibri"/>
              </a:rPr>
              <a:t>Head pointer</a:t>
            </a:r>
            <a:r>
              <a:rPr sz="1800">
                <a:solidFill>
                  <a:srgbClr val="222222"/>
                </a:solidFill>
                <a:latin typeface="Calibri"/>
              </a:rPr>
              <a:t> — The pointer that holds the location of the first node in a linked list.</a:t>
            </a:r>
          </a:p>
          <a:p>
            <a:r>
              <a:rPr b="1" sz="2000">
                <a:solidFill>
                  <a:srgbClr val="1A365D"/>
                </a:solidFill>
                <a:latin typeface="Calibri"/>
              </a:rPr>
              <a:t>Null</a:t>
            </a:r>
            <a:r>
              <a:rPr sz="1800">
                <a:solidFill>
                  <a:srgbClr val="222222"/>
                </a:solidFill>
                <a:latin typeface="Calibri"/>
              </a:rPr>
              <a:t> — A special pointer value meaning nothing follows; it marks the end of the list (we use -1).</a:t>
            </a:r>
          </a:p>
          <a:p>
            <a:r>
              <a:rPr b="1" sz="2000">
                <a:solidFill>
                  <a:srgbClr val="1A365D"/>
                </a:solidFill>
                <a:latin typeface="Calibri"/>
              </a:rPr>
              <a:t>Traversal</a:t>
            </a:r>
            <a:r>
              <a:rPr sz="1800">
                <a:solidFill>
                  <a:srgbClr val="222222"/>
                </a:solidFill>
                <a:latin typeface="Calibri"/>
              </a:rPr>
              <a:t> — Visiting every node in turn by following pointers from the head until null.</a:t>
            </a:r>
          </a:p>
          <a:p>
            <a:r>
              <a:rPr b="1" sz="2000">
                <a:solidFill>
                  <a:srgbClr val="1A365D"/>
                </a:solidFill>
                <a:latin typeface="Calibri"/>
              </a:rPr>
              <a:t>Garbage</a:t>
            </a:r>
            <a:r>
              <a:rPr sz="1800">
                <a:solidFill>
                  <a:srgbClr val="222222"/>
                </a:solidFill>
                <a:latin typeface="Calibri"/>
              </a:rPr>
              <a:t> — A node no pointer reaches any more; its memory can be reclaimed.</a:t>
            </a:r>
          </a:p>
          <a:p>
            <a:r>
              <a:rPr b="1" sz="2000">
                <a:solidFill>
                  <a:srgbClr val="1A365D"/>
                </a:solidFill>
                <a:latin typeface="Calibri"/>
              </a:rPr>
              <a:t>Top</a:t>
            </a:r>
            <a:r>
              <a:rPr sz="1800">
                <a:solidFill>
                  <a:srgbClr val="222222"/>
                </a:solidFill>
                <a:latin typeface="Calibri"/>
              </a:rPr>
              <a:t> — The stack pointer: the array index of the current top item, -1 when empty.</a:t>
            </a:r>
          </a:p>
          <a:p>
            <a:r>
              <a:rPr b="1" sz="2000">
                <a:solidFill>
                  <a:srgbClr val="1A365D"/>
                </a:solidFill>
                <a:latin typeface="Calibri"/>
              </a:rPr>
              <a:t>Wrap-around</a:t>
            </a:r>
            <a:r>
              <a:rPr sz="1800">
                <a:solidFill>
                  <a:srgbClr val="222222"/>
                </a:solidFill>
                <a:latin typeface="Calibri"/>
              </a:rPr>
              <a:t> — Using MOD so the index after the last array cell is 0, making the array circular.</a:t>
            </a:r>
          </a:p>
          <a:p>
            <a:r>
              <a:rPr b="1" sz="2000">
                <a:solidFill>
                  <a:srgbClr val="1A365D"/>
                </a:solidFill>
                <a:latin typeface="Calibri"/>
              </a:rPr>
              <a:t>Abstract data type</a:t>
            </a:r>
            <a:r>
              <a:rPr sz="1800">
                <a:solidFill>
                  <a:srgbClr val="222222"/>
                </a:solidFill>
                <a:latin typeface="Calibri"/>
              </a:rPr>
              <a:t> — A structure defined by its operations (push, pop, enqueue) rather than by how it is implemented.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From concept to code: abstract data types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A stack is defined by what it does (push, pop, peek), not how it is built: an abstract data type.</a:t>
            </a:r>
          </a:p>
          <a:p>
            <a:pPr/>
            <a:r>
              <a:rPr sz="2000" b="0">
                <a:solidFill>
                  <a:srgbClr val="222222"/>
                </a:solidFill>
                <a:latin typeface="Calibri"/>
              </a:rPr>
              <a:t>Today we build the machinery ourselves: arrays and pointers underneath, clean operations on top.</a:t>
            </a:r>
          </a:p>
          <a:p>
            <a:pPr/>
            <a:r>
              <a:rPr sz="2000" b="0">
                <a:solidFill>
                  <a:srgbClr val="222222"/>
                </a:solidFill>
                <a:latin typeface="Calibri"/>
              </a:rPr>
              <a:t>Exam questions test both levels: trace the behaviour, and complete or write the implementation.</a:t>
            </a:r>
          </a:p>
          <a:p>
            <a:pPr/>
            <a:r>
              <a:rPr sz="2000" b="0">
                <a:solidFill>
                  <a:srgbClr val="222222"/>
                </a:solidFill>
                <a:latin typeface="Calibri"/>
              </a:rPr>
              <a:t>Rule of the day: a pointer is just a variable holding a location; every bug is a pointer bug.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Anatomy of a linked list</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Each node holds two things: the data and a pointer to the next node.</a:t>
            </a:r>
          </a:p>
          <a:p>
            <a:pPr/>
            <a:r>
              <a:rPr sz="2000" b="0">
                <a:solidFill>
                  <a:srgbClr val="222222"/>
                </a:solidFill>
                <a:latin typeface="Calibri"/>
              </a:rPr>
              <a:t>A head pointer stores where the first node is; the last node's pointer is null.</a:t>
            </a:r>
          </a:p>
          <a:p>
            <a:pPr/>
            <a:r>
              <a:rPr sz="2000" b="0">
                <a:solidFill>
                  <a:srgbClr val="222222"/>
                </a:solidFill>
                <a:latin typeface="Calibri"/>
              </a:rPr>
              <a:t>Picture it in words: head points to node 12, whose pointer leads to 15, whose pointer leads to 22, whose pointer is null.</a:t>
            </a:r>
          </a:p>
          <a:p>
            <a:pPr/>
            <a:r>
              <a:rPr sz="2000" b="0">
                <a:solidFill>
                  <a:srgbClr val="222222"/>
                </a:solidFill>
                <a:latin typeface="Calibri"/>
              </a:rPr>
              <a:t>Nodes can sit anywhere in memory: the order comes entirely from the pointers, not from position.</a:t>
            </a:r>
          </a:p>
          <a:p>
            <a:pPr/>
            <a:r>
              <a:rPr sz="2000" b="0">
                <a:solidFill>
                  <a:srgbClr val="222222"/>
                </a:solidFill>
                <a:latin typeface="Calibri"/>
              </a:rPr>
              <a:t>It is dynamic: it grows node by node from the heap, unlike a fixed array.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Storing a linked list in two arrays (exam style)</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OCR papers often show a linked list as parallel arrays: data holds values, next holds indexes.</a:t>
            </a:r>
          </a:p>
          <a:p>
            <a:pPr/>
            <a:r>
              <a:rPr sz="2000" b="0">
                <a:solidFill>
                  <a:srgbClr val="222222"/>
                </a:solidFill>
                <a:latin typeface="Calibri"/>
              </a:rPr>
              <a:t>head = 0 means the list starts at index 0; a next value of -1 is the null terminator.</a:t>
            </a:r>
          </a:p>
          <a:p>
            <a:pPr/>
            <a:r>
              <a:rPr sz="2000" b="0">
                <a:solidFill>
                  <a:srgbClr val="222222"/>
                </a:solidFill>
                <a:latin typeface="Calibri"/>
              </a:rPr>
              <a:t>Reading the example code: data[0] = 12 and next[0] = 1, so 15 at index 1 comes second.</a:t>
            </a:r>
          </a:p>
          <a:p>
            <a:pPr/>
            <a:r>
              <a:rPr sz="2000" b="0">
                <a:solidFill>
                  <a:srgbClr val="222222"/>
                </a:solidFill>
                <a:latin typeface="Calibri"/>
              </a:rPr>
              <a:t>Spare cells (indexes 3 and 4 here) form free space for future insertions.</a:t>
            </a:r>
          </a:p>
          <a:p>
            <a:pPr/>
            <a:r>
              <a:rPr sz="2000" b="0">
                <a:solidFill>
                  <a:srgbClr val="222222"/>
                </a:solidFill>
                <a:latin typeface="Calibri"/>
              </a:rPr>
              <a:t>The physical row order of the arrays is irrelevant: only head and next define the list.</a:t>
            </a:r>
          </a:p>
          <a:p>
            <a:pPr lvl="1"/>
            <a:r>
              <a:rPr sz="1600" b="0">
                <a:solidFill>
                  <a:srgbClr val="1A365D"/>
                </a:solidFill>
                <a:latin typeface="Consolas"/>
              </a:rPr>
              <a:t>array data[5]</a:t>
            </a:r>
          </a:p>
          <a:p>
            <a:pPr lvl="1"/>
            <a:r>
              <a:rPr sz="1600" b="0">
                <a:solidFill>
                  <a:srgbClr val="1A365D"/>
                </a:solidFill>
                <a:latin typeface="Consolas"/>
              </a:rPr>
              <a:t>array next[5]</a:t>
            </a:r>
          </a:p>
          <a:p>
            <a:pPr lvl="1"/>
            <a:r>
              <a:rPr sz="1600" b="0">
                <a:solidFill>
                  <a:srgbClr val="1A365D"/>
                </a:solidFill>
                <a:latin typeface="Consolas"/>
              </a:rPr>
              <a:t>head = 0</a:t>
            </a:r>
          </a:p>
          <a:p>
            <a:pPr lvl="1"/>
            <a:r>
              <a:rPr sz="1600" b="0">
                <a:solidFill>
                  <a:srgbClr val="1A365D"/>
                </a:solidFill>
                <a:latin typeface="Consolas"/>
              </a:rPr>
              <a:t>// index:  0    1    2    3    4</a:t>
            </a:r>
          </a:p>
          <a:p>
            <a:pPr lvl="1"/>
            <a:r>
              <a:rPr sz="1600" b="0">
                <a:solidFill>
                  <a:srgbClr val="1A365D"/>
                </a:solidFill>
                <a:latin typeface="Consolas"/>
              </a:rPr>
              <a:t>// data:   12   15   22   -    -</a:t>
            </a:r>
          </a:p>
          <a:p>
            <a:pPr lvl="1"/>
            <a:r>
              <a:rPr sz="1600" b="0">
                <a:solidFill>
                  <a:srgbClr val="1A365D"/>
                </a:solidFill>
                <a:latin typeface="Consolas"/>
              </a:rPr>
              <a:t>// next:   1    2    -1   -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Traversing a linked list</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Start at the head and follow pointers until you meet null.</a:t>
            </a:r>
          </a:p>
          <a:p>
            <a:pPr/>
            <a:r>
              <a:rPr sz="2000" b="0">
                <a:solidFill>
                  <a:srgbClr val="222222"/>
                </a:solidFill>
                <a:latin typeface="Calibri"/>
              </a:rPr>
              <a:t>current is a moving pointer: each loop it hops to next[current].</a:t>
            </a:r>
          </a:p>
          <a:p>
            <a:pPr/>
            <a:r>
              <a:rPr sz="2000" b="0">
                <a:solidFill>
                  <a:srgbClr val="222222"/>
                </a:solidFill>
                <a:latin typeface="Calibri"/>
              </a:rPr>
              <a:t>There is no random access: reaching the nth node always costs n pointer hops.</a:t>
            </a:r>
          </a:p>
          <a:p>
            <a:pPr/>
            <a:r>
              <a:rPr sz="2000" b="0">
                <a:solidFill>
                  <a:srgbClr val="222222"/>
                </a:solidFill>
                <a:latin typeface="Calibri"/>
              </a:rPr>
              <a:t>Traversal visits nodes in pointer order, whatever order they sit in memory.</a:t>
            </a:r>
          </a:p>
          <a:p>
            <a:pPr lvl="1"/>
            <a:r>
              <a:rPr sz="1600" b="0">
                <a:solidFill>
                  <a:srgbClr val="1A365D"/>
                </a:solidFill>
                <a:latin typeface="Consolas"/>
              </a:rPr>
              <a:t>current = head</a:t>
            </a:r>
          </a:p>
          <a:p>
            <a:pPr lvl="1"/>
            <a:r>
              <a:rPr sz="1600" b="0">
                <a:solidFill>
                  <a:srgbClr val="1A365D"/>
                </a:solidFill>
                <a:latin typeface="Consolas"/>
              </a:rPr>
              <a:t>while current != -1</a:t>
            </a:r>
          </a:p>
          <a:p>
            <a:pPr lvl="1"/>
            <a:r>
              <a:rPr sz="1600" b="0">
                <a:solidFill>
                  <a:srgbClr val="1A365D"/>
                </a:solidFill>
                <a:latin typeface="Consolas"/>
              </a:rPr>
              <a:t>   print(data[current])</a:t>
            </a:r>
          </a:p>
          <a:p>
            <a:pPr lvl="1"/>
            <a:r>
              <a:rPr sz="1600" b="0">
                <a:solidFill>
                  <a:srgbClr val="1A365D"/>
                </a:solidFill>
                <a:latin typeface="Consolas"/>
              </a:rPr>
              <a:t>   current = next[current]</a:t>
            </a:r>
          </a:p>
          <a:p>
            <a:pPr lvl="1"/>
            <a:r>
              <a:rPr sz="1600" b="0">
                <a:solidFill>
                  <a:srgbClr val="1A365D"/>
                </a:solidFill>
                <a:latin typeface="Consolas"/>
              </a:rPr>
              <a:t>endwhile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Insertion mid-list: the safe pointer order</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Step 0: put the new value in a free cell and traverse to find its predecessor.</a:t>
            </a:r>
          </a:p>
          <a:p>
            <a:pPr/>
            <a:r>
              <a:rPr sz="2000" b="0">
                <a:solidFill>
                  <a:srgbClr val="222222"/>
                </a:solidFill>
                <a:latin typeface="Calibri"/>
              </a:rPr>
              <a:t>Step 1 (always first): point the NEW node at the predecessor's current next node.</a:t>
            </a:r>
          </a:p>
          <a:p>
            <a:pPr/>
            <a:r>
              <a:rPr sz="2000" b="0">
                <a:solidFill>
                  <a:srgbClr val="222222"/>
                </a:solidFill>
                <a:latin typeface="Calibri"/>
              </a:rPr>
              <a:t>Step 2: point the predecessor at the new node. Two writes, no data moved.</a:t>
            </a:r>
          </a:p>
          <a:p>
            <a:pPr/>
            <a:r>
              <a:rPr sz="2000" b="0">
                <a:solidFill>
                  <a:srgbClr val="222222"/>
                </a:solidFill>
                <a:latin typeface="Calibri"/>
              </a:rPr>
              <a:t>Wrong order check: writing the predecessor's pointer first destroys the only route to the rest of the list.</a:t>
            </a:r>
          </a:p>
          <a:p>
            <a:pPr/>
            <a:r>
              <a:rPr sz="1800" b="1">
                <a:solidFill>
                  <a:srgbClr val="B76E00"/>
                </a:solidFill>
                <a:latin typeface="Calibri"/>
              </a:rPr>
              <a:t>Mantra: connect the new node OUT before you connect anything IN to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Deletion mid-list</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Traverse to find the node before the one being deleted.</a:t>
            </a:r>
          </a:p>
          <a:p>
            <a:pPr/>
            <a:r>
              <a:rPr sz="2000" b="0">
                <a:solidFill>
                  <a:srgbClr val="222222"/>
                </a:solidFill>
                <a:latin typeface="Calibri"/>
              </a:rPr>
              <a:t>One write: set the predecessor's pointer to the deleted node's next value, bypassing it.</a:t>
            </a:r>
          </a:p>
          <a:p>
            <a:pPr/>
            <a:r>
              <a:rPr sz="2000" b="0">
                <a:solidFill>
                  <a:srgbClr val="222222"/>
                </a:solidFill>
                <a:latin typeface="Calibri"/>
              </a:rPr>
              <a:t>The deleted node still sits in memory, but nothing points to it: it is unreachable garbage.</a:t>
            </a:r>
          </a:p>
          <a:p>
            <a:pPr/>
            <a:r>
              <a:rPr sz="2000" b="0">
                <a:solidFill>
                  <a:srgbClr val="222222"/>
                </a:solidFill>
                <a:latin typeface="Calibri"/>
              </a:rPr>
              <a:t>Deleting the first node is special: just move the head pointer to head's next.</a:t>
            </a:r>
          </a:p>
          <a:p>
            <a:pPr/>
            <a:r>
              <a:rPr sz="2000" b="0">
                <a:solidFill>
                  <a:srgbClr val="222222"/>
                </a:solidFill>
                <a:latin typeface="Calibri"/>
              </a:rPr>
              <a:t>In the array form, the freed cell can rejoin the free list for reuse.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Implementing a stack over an array</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One array plus one pointer: top starts at -1 (empty).</a:t>
            </a:r>
          </a:p>
          <a:p>
            <a:pPr/>
            <a:r>
              <a:rPr sz="2000" b="0">
                <a:solidFill>
                  <a:srgbClr val="222222"/>
                </a:solidFill>
                <a:latin typeface="Calibri"/>
              </a:rPr>
              <a:t>push: check for overflow, increment top, store the value.</a:t>
            </a:r>
          </a:p>
          <a:p>
            <a:pPr/>
            <a:r>
              <a:rPr sz="2000" b="0">
                <a:solidFill>
                  <a:srgbClr val="222222"/>
                </a:solidFill>
                <a:latin typeface="Calibri"/>
              </a:rPr>
              <a:t>pop: check for underflow (top == -1), copy stack[top], decrement top, return the copy.</a:t>
            </a:r>
          </a:p>
          <a:p>
            <a:pPr/>
            <a:r>
              <a:rPr sz="2000" b="0">
                <a:solidFill>
                  <a:srgbClr val="222222"/>
                </a:solidFill>
                <a:latin typeface="Calibri"/>
              </a:rPr>
              <a:t>peek returns stack[top] without touching the pointer.</a:t>
            </a:r>
          </a:p>
          <a:p>
            <a:pPr lvl="1"/>
            <a:r>
              <a:rPr sz="1600" b="0">
                <a:solidFill>
                  <a:srgbClr val="1A365D"/>
                </a:solidFill>
                <a:latin typeface="Consolas"/>
              </a:rPr>
              <a:t>array stack[8]</a:t>
            </a:r>
          </a:p>
          <a:p>
            <a:pPr lvl="1"/>
            <a:r>
              <a:rPr sz="1600" b="0">
                <a:solidFill>
                  <a:srgbClr val="1A365D"/>
                </a:solidFill>
                <a:latin typeface="Consolas"/>
              </a:rPr>
              <a:t>top = -1</a:t>
            </a:r>
          </a:p>
          <a:p>
            <a:pPr lvl="1"/>
            <a:r>
              <a:rPr sz="1600" b="0">
                <a:solidFill>
                  <a:srgbClr val="1A365D"/>
                </a:solidFill>
                <a:latin typeface="Consolas"/>
              </a:rPr>
              <a:t>function pop()</a:t>
            </a:r>
          </a:p>
          <a:p>
            <a:pPr lvl="1"/>
            <a:r>
              <a:rPr sz="1600" b="0">
                <a:solidFill>
                  <a:srgbClr val="1A365D"/>
                </a:solidFill>
                <a:latin typeface="Consolas"/>
              </a:rPr>
              <a:t>   if top == -1 then</a:t>
            </a:r>
          </a:p>
          <a:p>
            <a:pPr lvl="1"/>
            <a:r>
              <a:rPr sz="1600" b="0">
                <a:solidFill>
                  <a:srgbClr val="1A365D"/>
                </a:solidFill>
                <a:latin typeface="Consolas"/>
              </a:rPr>
              <a:t>      return "Error: underflow"</a:t>
            </a:r>
          </a:p>
          <a:p>
            <a:pPr lvl="1"/>
            <a:r>
              <a:rPr sz="1600" b="0">
                <a:solidFill>
                  <a:srgbClr val="1A365D"/>
                </a:solidFill>
                <a:latin typeface="Consolas"/>
              </a:rPr>
              <a:t>   else</a:t>
            </a:r>
          </a:p>
          <a:p>
            <a:pPr lvl="1"/>
            <a:r>
              <a:rPr sz="1600" b="0">
                <a:solidFill>
                  <a:srgbClr val="1A365D"/>
                </a:solidFill>
                <a:latin typeface="Consolas"/>
              </a:rPr>
              <a:t>      value = stack[top]</a:t>
            </a:r>
          </a:p>
          <a:p>
            <a:pPr lvl="1"/>
            <a:r>
              <a:rPr sz="1600" b="0">
                <a:solidFill>
                  <a:srgbClr val="1A365D"/>
                </a:solidFill>
                <a:latin typeface="Consolas"/>
              </a:rPr>
              <a:t>      top = top - 1</a:t>
            </a:r>
          </a:p>
          <a:p>
            <a:pPr lvl="1"/>
            <a:r>
              <a:rPr sz="1600" b="0">
                <a:solidFill>
                  <a:srgbClr val="1A365D"/>
                </a:solidFill>
                <a:latin typeface="Consolas"/>
              </a:rPr>
              <a:t>      return value</a:t>
            </a:r>
          </a:p>
          <a:p>
            <a:pPr lvl="1"/>
            <a:r>
              <a:rPr sz="1600" b="0">
                <a:solidFill>
                  <a:srgbClr val="1A365D"/>
                </a:solidFill>
                <a:latin typeface="Consolas"/>
              </a:rPr>
              <a:t>   endif</a:t>
            </a:r>
          </a:p>
          <a:p>
            <a:pPr lvl="1"/>
            <a:r>
              <a:rPr sz="1600" b="0">
                <a:solidFill>
                  <a:srgbClr val="1A365D"/>
                </a:solidFill>
                <a:latin typeface="Consolas"/>
              </a:rPr>
              <a:t>endfunction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Implementing a circular queue over an array</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Three variables: front (next to leave), rear (last added), count (how many are live).</a:t>
            </a:r>
          </a:p>
          <a:p>
            <a:pPr/>
            <a:r>
              <a:rPr sz="2000" b="0">
                <a:solidFill>
                  <a:srgbClr val="222222"/>
                </a:solidFill>
                <a:latin typeface="Calibri"/>
              </a:rPr>
              <a:t>enqueue: if not full, rear = (rear + 1) MOD maxSize, store, count + 1.</a:t>
            </a:r>
          </a:p>
          <a:p>
            <a:pPr/>
            <a:r>
              <a:rPr sz="2000" b="0">
                <a:solidFill>
                  <a:srgbClr val="222222"/>
                </a:solidFill>
                <a:latin typeface="Calibri"/>
              </a:rPr>
              <a:t>dequeue: if not empty, copy items[front], front = (front + 1) MOD maxSize, count - 1, return the copy.</a:t>
            </a:r>
          </a:p>
          <a:p>
            <a:pPr/>
            <a:r>
              <a:rPr sz="2000" b="0">
                <a:solidFill>
                  <a:srgbClr val="222222"/>
                </a:solidFill>
                <a:latin typeface="Calibri"/>
              </a:rPr>
              <a:t>MOD is the whole trick: index 3 + 1 in a size-4 array wraps to 0, reusing freed cells.</a:t>
            </a:r>
          </a:p>
          <a:p>
            <a:pPr lvl="1"/>
            <a:r>
              <a:rPr sz="1600" b="0">
                <a:solidFill>
                  <a:srgbClr val="1A365D"/>
                </a:solidFill>
                <a:latin typeface="Consolas"/>
              </a:rPr>
              <a:t>array items[4]</a:t>
            </a:r>
          </a:p>
          <a:p>
            <a:pPr lvl="1"/>
            <a:r>
              <a:rPr sz="1600" b="0">
                <a:solidFill>
                  <a:srgbClr val="1A365D"/>
                </a:solidFill>
                <a:latin typeface="Consolas"/>
              </a:rPr>
              <a:t>front = 0</a:t>
            </a:r>
          </a:p>
          <a:p>
            <a:pPr lvl="1"/>
            <a:r>
              <a:rPr sz="1600" b="0">
                <a:solidFill>
                  <a:srgbClr val="1A365D"/>
                </a:solidFill>
                <a:latin typeface="Consolas"/>
              </a:rPr>
              <a:t>rear = -1</a:t>
            </a:r>
          </a:p>
          <a:p>
            <a:pPr lvl="1"/>
            <a:r>
              <a:rPr sz="1600" b="0">
                <a:solidFill>
                  <a:srgbClr val="1A365D"/>
                </a:solidFill>
                <a:latin typeface="Consolas"/>
              </a:rPr>
              <a:t>count = 0</a:t>
            </a:r>
          </a:p>
          <a:p>
            <a:pPr lvl="1"/>
            <a:r>
              <a:rPr sz="1600" b="0">
                <a:solidFill>
                  <a:srgbClr val="1A365D"/>
                </a:solidFill>
                <a:latin typeface="Consolas"/>
              </a:rPr>
              <a:t>function dequeue()</a:t>
            </a:r>
          </a:p>
          <a:p>
            <a:pPr lvl="1"/>
            <a:r>
              <a:rPr sz="1600" b="0">
                <a:solidFill>
                  <a:srgbClr val="1A365D"/>
                </a:solidFill>
                <a:latin typeface="Consolas"/>
              </a:rPr>
              <a:t>   if count == 0 then</a:t>
            </a:r>
          </a:p>
          <a:p>
            <a:pPr lvl="1"/>
            <a:r>
              <a:rPr sz="1600" b="0">
                <a:solidFill>
                  <a:srgbClr val="1A365D"/>
                </a:solidFill>
                <a:latin typeface="Consolas"/>
              </a:rPr>
              <a:t>      return "Error: queue empty"</a:t>
            </a:r>
          </a:p>
          <a:p>
            <a:pPr lvl="1"/>
            <a:r>
              <a:rPr sz="1600" b="0">
                <a:solidFill>
                  <a:srgbClr val="1A365D"/>
                </a:solidFill>
                <a:latin typeface="Consolas"/>
              </a:rPr>
              <a:t>   else</a:t>
            </a:r>
          </a:p>
          <a:p>
            <a:pPr lvl="1"/>
            <a:r>
              <a:rPr sz="1600" b="0">
                <a:solidFill>
                  <a:srgbClr val="1A365D"/>
                </a:solidFill>
                <a:latin typeface="Consolas"/>
              </a:rPr>
              <a:t>      value = items[front]</a:t>
            </a:r>
          </a:p>
          <a:p>
            <a:pPr lvl="1"/>
            <a:r>
              <a:rPr sz="1600" b="0">
                <a:solidFill>
                  <a:srgbClr val="1A365D"/>
                </a:solidFill>
                <a:latin typeface="Consolas"/>
              </a:rPr>
              <a:t>      front = (front + 1) MOD 4</a:t>
            </a:r>
          </a:p>
          <a:p>
            <a:pPr lvl="1"/>
            <a:r>
              <a:rPr sz="1600" b="0">
                <a:solidFill>
                  <a:srgbClr val="1A365D"/>
                </a:solidFill>
                <a:latin typeface="Consolas"/>
              </a:rPr>
              <a:t>      count = count - 1</a:t>
            </a:r>
          </a:p>
          <a:p>
            <a:pPr lvl="1"/>
            <a:r>
              <a:rPr sz="1600" b="0">
                <a:solidFill>
                  <a:srgbClr val="1A365D"/>
                </a:solidFill>
                <a:latin typeface="Consolas"/>
              </a:rPr>
              <a:t>      return value</a:t>
            </a:r>
          </a:p>
          <a:p>
            <a:pPr lvl="1"/>
            <a:r>
              <a:rPr sz="1600" b="0">
                <a:solidFill>
                  <a:srgbClr val="1A365D"/>
                </a:solidFill>
                <a:latin typeface="Consolas"/>
              </a:rPr>
              <a:t>   endif</a:t>
            </a:r>
          </a:p>
          <a:p>
            <a:pPr lvl="1"/>
            <a:r>
              <a:rPr sz="1600" b="0">
                <a:solidFill>
                  <a:srgbClr val="1A365D"/>
                </a:solidFill>
                <a:latin typeface="Consolas"/>
              </a:rPr>
              <a:t>endfunction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Empty and full: the edge cases that catch you out</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Stack: empty when top == -1; full when top == maxSize - 1.</a:t>
            </a:r>
          </a:p>
          <a:p>
            <a:pPr/>
            <a:r>
              <a:rPr sz="2000" b="0">
                <a:solidFill>
                  <a:srgbClr val="222222"/>
                </a:solidFill>
                <a:latin typeface="Calibri"/>
              </a:rPr>
              <a:t>Circular queue with a count: empty when count == 0; full when count == maxSize.</a:t>
            </a:r>
          </a:p>
          <a:p>
            <a:pPr/>
            <a:r>
              <a:rPr sz="2000" b="0">
                <a:solidFill>
                  <a:srgbClr val="222222"/>
                </a:solidFill>
                <a:latin typeface="Calibri"/>
              </a:rPr>
              <a:t>Without a count, front == rear is ambiguous: a full and an empty queue can look identical.</a:t>
            </a:r>
          </a:p>
          <a:p>
            <a:pPr/>
            <a:r>
              <a:rPr sz="2000" b="0">
                <a:solidFill>
                  <a:srgbClr val="222222"/>
                </a:solidFill>
                <a:latin typeface="Calibri"/>
              </a:rPr>
              <a:t>One fix: sacrifice a cell and call the queue full when (rear + 1) MOD size == front.</a:t>
            </a:r>
          </a:p>
          <a:p>
            <a:pPr/>
            <a:r>
              <a:rPr sz="2000" b="0">
                <a:solidFill>
                  <a:srgbClr val="222222"/>
                </a:solidFill>
                <a:latin typeface="Calibri"/>
              </a:rPr>
              <a:t>Your tests must hit these edges deliberately: they are where exam marks and real bugs live.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From ERL to Python</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A fixed ERL array becomes a pre-sized Python list: stack = [None] * 8.</a:t>
            </a:r>
          </a:p>
          <a:p>
            <a:pPr/>
            <a:r>
              <a:rPr sz="2000" b="0">
                <a:solidFill>
                  <a:srgbClr val="222222"/>
                </a:solidFill>
                <a:latin typeface="Calibri"/>
              </a:rPr>
              <a:t>procedure and function both become def; endprocedure and endwhile become indentation.</a:t>
            </a:r>
          </a:p>
          <a:p>
            <a:pPr/>
            <a:r>
              <a:rPr sz="2000" b="0">
                <a:solidFill>
                  <a:srgbClr val="222222"/>
                </a:solidFill>
                <a:latin typeface="Calibri"/>
              </a:rPr>
              <a:t>MOD becomes the % operator; != and == are the same in both.</a:t>
            </a:r>
          </a:p>
          <a:p>
            <a:pPr/>
            <a:r>
              <a:rPr sz="2000" b="0">
                <a:solidFill>
                  <a:srgbClr val="222222"/>
                </a:solidFill>
                <a:latin typeface="Calibri"/>
              </a:rPr>
              <a:t>Use -1 for null next-pointers and None for empty cells, and keep those two ideas separate.</a:t>
            </a:r>
          </a:p>
          <a:p>
            <a:pPr/>
            <a:r>
              <a:rPr sz="2000" b="0">
                <a:solidFill>
                  <a:srgbClr val="222222"/>
                </a:solidFill>
                <a:latin typeface="Calibri"/>
              </a:rPr>
              <a:t>Print errors as strings today so your trace output matches the board.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 1</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Inserting 17 into the list 12 -&gt; 15 -&gt; 22, between 15 and 22</a:t>
            </a:r>
          </a:p>
          <a:p>
            <a:pPr lvl="1"/>
            <a:r>
              <a:rPr sz="1900" b="0">
                <a:solidFill>
                  <a:srgbClr val="222222"/>
                </a:solidFill>
                <a:latin typeface="Calibri"/>
              </a:rPr>
              <a:t>1. Start: head leads to 12, then 15, then 22, then null. In array form: data 12, 15, 22 with next 1, 2, -1 and head = 0.</a:t>
            </a:r>
          </a:p>
          <a:p>
            <a:pPr lvl="1"/>
            <a:r>
              <a:rPr sz="1900" b="0">
                <a:solidFill>
                  <a:srgbClr val="222222"/>
                </a:solidFill>
                <a:latin typeface="Calibri"/>
              </a:rPr>
              <a:t>2. Put 17 in the free cell at index 3: data[3] = 17. Its next pointer is not set yet.</a:t>
            </a:r>
          </a:p>
          <a:p>
            <a:pPr lvl="1"/>
            <a:r>
              <a:rPr sz="1900" b="0">
                <a:solidFill>
                  <a:srgbClr val="222222"/>
                </a:solidFill>
                <a:latin typeface="Calibri"/>
              </a:rPr>
              <a:t>3. Traverse to find the predecessor: 15 (index 1) is the last value below 17.</a:t>
            </a:r>
          </a:p>
          <a:p>
            <a:pPr lvl="1"/>
            <a:r>
              <a:rPr sz="1900" b="0">
                <a:solidFill>
                  <a:srgbClr val="222222"/>
                </a:solidFill>
                <a:latin typeface="Calibri"/>
              </a:rPr>
              <a:t>4. Step 1, always first: set 17's pointer to 15's current next. next[3] = next[1], so next[3] = 2 (the node 22).</a:t>
            </a:r>
          </a:p>
          <a:p>
            <a:pPr lvl="1"/>
            <a:r>
              <a:rPr sz="1900" b="0">
                <a:solidFill>
                  <a:srgbClr val="222222"/>
                </a:solidFill>
                <a:latin typeface="Calibri"/>
              </a:rPr>
              <a:t>5. Safe state check: both 15 and 17 now point at 22; nothing is unreachable.</a:t>
            </a:r>
          </a:p>
          <a:p>
            <a:pPr lvl="1"/>
            <a:r>
              <a:rPr sz="1900" b="0">
                <a:solidFill>
                  <a:srgbClr val="222222"/>
                </a:solidFill>
                <a:latin typeface="Calibri"/>
              </a:rPr>
              <a:t>6. Step 2: set 15's pointer to the new node. next[1] = 3.</a:t>
            </a:r>
          </a:p>
          <a:p>
            <a:pPr lvl="1"/>
            <a:r>
              <a:rPr sz="1900" b="0">
                <a:solidFill>
                  <a:srgbClr val="222222"/>
                </a:solidFill>
                <a:latin typeface="Calibri"/>
              </a:rPr>
              <a:t>7. Final chain: head -&gt; 12 -&gt; 15 -&gt; 17 -&gt; 22 -&gt; null. Arrays: next reads 1, 3, -1, 2. Two pointer writes, zero data moved.</a:t>
            </a:r>
          </a:p>
          <a:p>
            <a:pPr lvl="1"/>
            <a:r>
              <a:rPr sz="1900" b="0">
                <a:solidFill>
                  <a:srgbClr val="222222"/>
                </a:solidFill>
                <a:latin typeface="Calibri"/>
              </a:rPr>
              <a:t>8. Wrong-order disaster: doing next[1] = 3 first makes next[3] = next[1] copy 3 into itself, so 17 points at 17 and traversal loops forever printing 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 2</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Deleting 15 from the list 12 -&gt; 15 -&gt; 17 -&gt; 22</a:t>
            </a:r>
          </a:p>
          <a:p>
            <a:pPr lvl="1"/>
            <a:r>
              <a:rPr sz="1900" b="0">
                <a:solidFill>
                  <a:srgbClr val="222222"/>
                </a:solidFill>
                <a:latin typeface="Calibri"/>
              </a:rPr>
              <a:t>1. Start: head -&gt; 12 -&gt; 15 -&gt; 17 -&gt; 22 -&gt; null. Indexes: 12 at 0, 15 at 1, 17 at 3, 22 at 2; next reads 1, 3, -1, 2; head = 0.</a:t>
            </a:r>
          </a:p>
          <a:p>
            <a:pPr lvl="1"/>
            <a:r>
              <a:rPr sz="1900" b="0">
                <a:solidFill>
                  <a:srgbClr val="222222"/>
                </a:solidFill>
                <a:latin typeface="Calibri"/>
              </a:rPr>
              <a:t>2. Traverse from the head, remembering the previous node: stop when current holds 15. previous = 0, current = 1.</a:t>
            </a:r>
          </a:p>
          <a:p>
            <a:pPr lvl="1"/>
            <a:r>
              <a:rPr sz="1900" b="0">
                <a:solidFill>
                  <a:srgbClr val="222222"/>
                </a:solidFill>
                <a:latin typeface="Calibri"/>
              </a:rPr>
              <a:t>3. Read the escape route before cutting: 15's next is 3 (the node 17).</a:t>
            </a:r>
          </a:p>
          <a:p>
            <a:pPr lvl="1"/>
            <a:r>
              <a:rPr sz="1900" b="0">
                <a:solidFill>
                  <a:srgbClr val="222222"/>
                </a:solidFill>
                <a:latin typeface="Calibri"/>
              </a:rPr>
              <a:t>4. One write: next[0] = 3. The node 12 now bypasses 15 and points straight at 17.</a:t>
            </a:r>
          </a:p>
          <a:p>
            <a:pPr lvl="1"/>
            <a:r>
              <a:rPr sz="1900" b="0">
                <a:solidFill>
                  <a:srgbClr val="222222"/>
                </a:solidFill>
                <a:latin typeface="Calibri"/>
              </a:rPr>
              <a:t>5. Verify by traversal: head = 0 gives 12, next 3 gives 17, next 2 gives 22, next -1 stops. Output 12, 17, 22.</a:t>
            </a:r>
          </a:p>
          <a:p>
            <a:pPr lvl="1"/>
            <a:r>
              <a:rPr sz="1900" b="0">
                <a:solidFill>
                  <a:srgbClr val="222222"/>
                </a:solidFill>
                <a:latin typeface="Calibri"/>
              </a:rPr>
              <a:t>6. Node 15 still sits at index 1, but no pointer reaches it: it is garbage and index 1 can rejoin the free list.</a:t>
            </a:r>
          </a:p>
          <a:p>
            <a:pPr lvl="1"/>
            <a:r>
              <a:rPr sz="1900" b="0">
                <a:solidFill>
                  <a:srgbClr val="222222"/>
                </a:solidFill>
                <a:latin typeface="Calibri"/>
              </a:rPr>
              <a:t>7. Special case: deleting 12 instead would need no rewiring at all, just head = next[0] = 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 3</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A circular queue of size 4 wrapping around: jobs J1 to J5</a:t>
            </a:r>
          </a:p>
          <a:p>
            <a:pPr lvl="1"/>
            <a:r>
              <a:rPr sz="1900" b="0">
                <a:solidFill>
                  <a:srgbClr val="222222"/>
                </a:solidFill>
                <a:latin typeface="Calibri"/>
              </a:rPr>
              <a:t>1. Empty queue: front = 0, rear = -1, count = 0.</a:t>
            </a:r>
          </a:p>
          <a:p>
            <a:pPr lvl="1"/>
            <a:r>
              <a:rPr sz="1900" b="0">
                <a:solidFill>
                  <a:srgbClr val="222222"/>
                </a:solidFill>
                <a:latin typeface="Calibri"/>
              </a:rPr>
              <a:t>2. enqueue J1, J2, J3: rear steps to 0, then 1, then 2; count = 3; array reads J1, J2, J3, empty.</a:t>
            </a:r>
          </a:p>
          <a:p>
            <a:pPr lvl="1"/>
            <a:r>
              <a:rPr sz="1900" b="0">
                <a:solidFill>
                  <a:srgbClr val="222222"/>
                </a:solidFill>
                <a:latin typeface="Calibri"/>
              </a:rPr>
              <a:t>3. dequeue() twice: returns J1 then J2; front = (0 + 1) MOD 4 = 1, then (1 + 1) MOD 4 = 2; count = 1. Only J3 is live.</a:t>
            </a:r>
          </a:p>
          <a:p>
            <a:pPr lvl="1"/>
            <a:r>
              <a:rPr sz="1900" b="0">
                <a:solidFill>
                  <a:srgbClr val="222222"/>
                </a:solidFill>
                <a:latin typeface="Calibri"/>
              </a:rPr>
              <a:t>4. enqueue J4: rear = (2 + 1) MOD 4 = 3; count = 2. Live: J3 at index 2, J4 at index 3.</a:t>
            </a:r>
          </a:p>
          <a:p>
            <a:pPr lvl="1"/>
            <a:r>
              <a:rPr sz="1900" b="0">
                <a:solidFill>
                  <a:srgbClr val="222222"/>
                </a:solidFill>
                <a:latin typeface="Calibri"/>
              </a:rPr>
              <a:t>5. enqueue J5: rear = (3 + 1) MOD 4 = 0, so J5 overwrites the dead J1 cell at index 0; count = 3.</a:t>
            </a:r>
          </a:p>
          <a:p>
            <a:pPr lvl="1"/>
            <a:r>
              <a:rPr sz="1900" b="0">
                <a:solidFill>
                  <a:srgbClr val="222222"/>
                </a:solidFill>
                <a:latin typeface="Calibri"/>
              </a:rPr>
              <a:t>6. dequeue(): returns J3 from index 2; front = (2 + 1) MOD 4 = 3; count = 2.</a:t>
            </a:r>
          </a:p>
          <a:p>
            <a:pPr lvl="1"/>
            <a:r>
              <a:rPr sz="1900" b="0">
                <a:solidFill>
                  <a:srgbClr val="222222"/>
                </a:solidFill>
                <a:latin typeface="Calibri"/>
              </a:rPr>
              <a:t>7. Final state: front = 3, rear = 0, count = 2; queue front to rear is J4 (index 3) then J5 (index 0), wrapping the array seamlessly.</a:t>
            </a:r>
          </a:p>
          <a:p>
            <a:pPr lvl="1"/>
            <a:r>
              <a:rPr sz="1900" b="0">
                <a:solidFill>
                  <a:srgbClr val="222222"/>
                </a:solidFill>
                <a:latin typeface="Calibri"/>
              </a:rPr>
              <a:t>8. Every pointer only ever moved forward MOD 4; not one item was shifted.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Activity 1</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Code-along: linked list from two arrays  (20 min)</a:t>
            </a:r>
          </a:p>
          <a:p>
            <a:pPr lvl="1"/>
            <a:r>
              <a:rPr sz="2000" b="0">
                <a:solidFill>
                  <a:srgbClr val="222222"/>
                </a:solidFill>
                <a:latin typeface="Calibri"/>
              </a:rPr>
              <a:t>Warm-up (3 min, from the Repointing Game): five students scatter with value cards 3, 7, 9, 12, 15, arms as pointers, teacher holding HEAD. Insert student 8 with exactly two arm changes; the class states which arm moves first and why.</a:t>
            </a:r>
          </a:p>
          <a:p>
            <a:pPr lvl="1"/>
            <a:r>
              <a:rPr sz="2000" b="0">
                <a:solidFill>
                  <a:srgbClr val="222222"/>
                </a:solidFill>
                <a:latin typeface="Calibri"/>
              </a:rPr>
              <a:t>At machines: create data = [12, 15, 22, None, None], next_ptr = [1, 2, -1, None, None], head = 0 in Python, mirroring the ERL arrays on the slide.</a:t>
            </a:r>
          </a:p>
          <a:p>
            <a:pPr lvl="1"/>
            <a:r>
              <a:rPr sz="2000" b="0">
                <a:solidFill>
                  <a:srgbClr val="222222"/>
                </a:solidFill>
                <a:latin typeface="Calibri"/>
              </a:rPr>
              <a:t>Task 1: implement traverse() from the slide's ERL (current = head; while current != -1: print, hop). Expected output: 12, 15, 22.</a:t>
            </a:r>
          </a:p>
          <a:p>
            <a:pPr lvl="1"/>
            <a:r>
              <a:rPr sz="2000" b="0">
                <a:solidFill>
                  <a:srgbClr val="222222"/>
                </a:solidFill>
                <a:latin typeface="Calibri"/>
              </a:rPr>
              <a:t>Task 2: implement insert_after(pred_index, value) using a free cell: write the new node's pointer first, the predecessor's second. Test: insert 17 after 15; traversal must print 12, 15, 17, 22.</a:t>
            </a:r>
          </a:p>
          <a:p>
            <a:pPr lvl="1"/>
            <a:r>
              <a:rPr sz="2000" b="0">
                <a:solidFill>
                  <a:srgbClr val="222222"/>
                </a:solidFill>
                <a:latin typeface="Calibri"/>
              </a:rPr>
              <a:t>Task 3: implement delete_value(15): find the predecessor, bypass with one pointer write. Traversal must print 12, 17, 22.</a:t>
            </a:r>
          </a:p>
          <a:p>
            <a:pPr lvl="1"/>
            <a:r>
              <a:rPr sz="2000" b="0">
                <a:solidFill>
                  <a:srgbClr val="222222"/>
                </a:solidFill>
                <a:latin typeface="Calibri"/>
              </a:rPr>
              <a:t>Trap experiment: swap the two pointer writes in insert_after and rerun the first insert. Observe the infinite loop printing 17 (the node points at itself); explain it in pointer terms.</a:t>
            </a:r>
          </a:p>
          <a:p>
            <a:pPr/>
            <a:r>
              <a:rPr sz="1800" b="0">
                <a:solidFill>
                  <a:srgbClr val="B76E00"/>
                </a:solidFill>
                <a:latin typeface="Calibri"/>
              </a:rPr>
              <a:t>Stretch: Add a prev array to make the list doubly linked, and write traverse_backwards() from a tail pointer. What did each node cost you?</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Activity 2</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Build-a-stack challenge  (15 min)</a:t>
            </a:r>
          </a:p>
          <a:p>
            <a:pPr lvl="1"/>
            <a:r>
              <a:rPr sz="2000" b="0">
                <a:solidFill>
                  <a:srgbClr val="222222"/>
                </a:solidFill>
                <a:latin typeface="Calibri"/>
              </a:rPr>
              <a:t>The slide shows the ERL push from last week and the pop skeleton: students implement both, plus peek, in Python over stack = [None] * 8 with top = -1.</a:t>
            </a:r>
          </a:p>
          <a:p>
            <a:pPr lvl="1"/>
            <a:r>
              <a:rPr sz="2000" b="0">
                <a:solidFill>
                  <a:srgbClr val="222222"/>
                </a:solidFill>
                <a:latin typeface="Calibri"/>
              </a:rPr>
              <a:t>Acceptance tests, run in order: pop() on the empty stack must return the underflow error, not crash.</a:t>
            </a:r>
          </a:p>
          <a:p>
            <a:pPr lvl="1"/>
            <a:r>
              <a:rPr sz="2000" b="0">
                <a:solidFill>
                  <a:srgbClr val="222222"/>
                </a:solidFill>
                <a:latin typeface="Calibri"/>
              </a:rPr>
              <a:t>push 4, 8, 1 then pop() twice: must return 1 then 8, leaving top = 0.</a:t>
            </a:r>
          </a:p>
          <a:p>
            <a:pPr lvl="1"/>
            <a:r>
              <a:rPr sz="2000" b="0">
                <a:solidFill>
                  <a:srgbClr val="222222"/>
                </a:solidFill>
                <a:latin typeface="Calibri"/>
              </a:rPr>
              <a:t>Push until the stack holds 8 items, then push once more: must report overflow and leave top = 7 unchanged.</a:t>
            </a:r>
          </a:p>
          <a:p>
            <a:pPr lvl="1"/>
            <a:r>
              <a:rPr sz="2000" b="0">
                <a:solidFill>
                  <a:srgbClr val="222222"/>
                </a:solidFill>
                <a:latin typeface="Calibri"/>
              </a:rPr>
              <a:t>Pairs swap machines and run each other's tests; any pointer left wrong after an error case is a fail, exactly as in an exam trace.</a:t>
            </a:r>
          </a:p>
          <a:p>
            <a:pPr/>
            <a:r>
              <a:rPr sz="1800" b="0">
                <a:solidFill>
                  <a:srgbClr val="B76E00"/>
                </a:solidFill>
                <a:latin typeface="Calibri"/>
              </a:rPr>
              <a:t>Stretch: Use your stack to reverse the string COMPUTER by pushing every character then popping until empty (expected output RETUPMOC).</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Activity 3</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Circular queue clinic  (20 min)</a:t>
            </a:r>
          </a:p>
          <a:p>
            <a:pPr lvl="1"/>
            <a:r>
              <a:rPr sz="2000" b="0">
                <a:solidFill>
                  <a:srgbClr val="222222"/>
                </a:solidFill>
                <a:latin typeface="Calibri"/>
              </a:rPr>
              <a:t>Implement enqueue and dequeue in Python over items = [None] * 4 with front = 0, rear = -1, count = 0, translating the slide's ERL; remember MOD becomes %.</a:t>
            </a:r>
          </a:p>
          <a:p>
            <a:pPr lvl="1"/>
            <a:r>
              <a:rPr sz="2000" b="0">
                <a:solidFill>
                  <a:srgbClr val="222222"/>
                </a:solidFill>
                <a:latin typeface="Calibri"/>
              </a:rPr>
              <a:t>After every operation your code must print front, rear, count and the raw array, so wrap-around is visible.</a:t>
            </a:r>
          </a:p>
          <a:p>
            <a:pPr lvl="1"/>
            <a:r>
              <a:rPr sz="2000" b="0">
                <a:solidFill>
                  <a:srgbClr val="222222"/>
                </a:solidFill>
                <a:latin typeface="Calibri"/>
              </a:rPr>
              <a:t>Run the worked-example script: enqueue J1, J2, J3; dequeue twice; enqueue J4; enqueue J5; dequeue.</a:t>
            </a:r>
          </a:p>
          <a:p>
            <a:pPr lvl="1"/>
            <a:r>
              <a:rPr sz="2000" b="0">
                <a:solidFill>
                  <a:srgbClr val="222222"/>
                </a:solidFill>
                <a:latin typeface="Calibri"/>
              </a:rPr>
              <a:t>Check against the board: J5 must land in index 0, and the final state must be front = 3, rear = 0, count = 2 with J4 then J5 live.</a:t>
            </a:r>
          </a:p>
          <a:p>
            <a:pPr lvl="1"/>
            <a:r>
              <a:rPr sz="2000" b="0">
                <a:solidFill>
                  <a:srgbClr val="222222"/>
                </a:solidFill>
                <a:latin typeface="Calibri"/>
              </a:rPr>
              <a:t>Then hit the edges: dequeue from empty (error, state unchanged) and enqueue onto full (error, state unchanged).</a:t>
            </a:r>
          </a:p>
          <a:p>
            <a:pPr lvl="1"/>
            <a:r>
              <a:rPr sz="2000" b="0">
                <a:solidFill>
                  <a:srgbClr val="222222"/>
                </a:solidFill>
                <a:latin typeface="Calibri"/>
              </a:rPr>
              <a:t>Finish with the ambiguity question: delete count from your code and try to tell full from empty using only front and rear. Why is it impossible?</a:t>
            </a:r>
          </a:p>
          <a:p>
            <a:pPr/>
            <a:r>
              <a:rPr sz="1800" b="0">
                <a:solidFill>
                  <a:srgbClr val="B76E00"/>
                </a:solidFill>
                <a:latin typeface="Calibri"/>
              </a:rPr>
              <a:t>Stretch: Reimplement without count by keeping one cell permanently empty: full when (rear + 1) % size == front. Prove both versions agree on the J1-J5 script.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(1-4)</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A linked list stores 8 -&gt; 13 -&gt; 21. Describe the pointer changes needed to insert 17 between 13 and 21, in the correct order. [3]</a:t>
            </a:r>
          </a:p>
          <a:p>
            <a:r>
              <a:rPr sz="2000" b="1">
                <a:solidFill>
                  <a:srgbClr val="222222"/>
                </a:solidFill>
                <a:latin typeface="Calibri"/>
              </a:rPr>
              <a:t>2. Explain why inserting a value into a linked list is more efficient than inserting into a sorted array, once the position has been found. [2]</a:t>
            </a:r>
          </a:p>
          <a:p>
            <a:r>
              <a:rPr sz="2000" b="1">
                <a:solidFill>
                  <a:srgbClr val="222222"/>
                </a:solidFill>
                <a:latin typeface="Calibri"/>
              </a:rPr>
              <a:t>3. Explain what happens in memory when a node is deleted from a linked list. [2]</a:t>
            </a:r>
          </a:p>
          <a:p>
            <a:r>
              <a:rPr sz="2000" b="1">
                <a:solidFill>
                  <a:srgbClr val="222222"/>
                </a:solidFill>
                <a:latin typeface="Calibri"/>
              </a:rPr>
              <a:t>4. Write pseudocode for the pop() function of an array-based stack, including the underflow check. [4]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 answers (1-4)</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A linked list stores 8 -&gt; 13 -&gt; 21. Describe the pointer changes needed to insert 17 between 13 and 21, in the correct order. [3]</a:t>
            </a:r>
          </a:p>
          <a:p>
            <a:pPr lvl="1"/>
            <a:r>
              <a:rPr sz="1800" i="1">
                <a:solidFill>
                  <a:srgbClr val="B76E00"/>
                </a:solidFill>
                <a:latin typeface="Calibri"/>
              </a:rPr>
              <a:t>Answer: Place 17 in a free node (1); first set 17's next pointer to the node holding 21 (1); then set 13's next pointer to the new node 17; doing these writes in the reverse order loses the link to 21 (1).</a:t>
            </a:r>
          </a:p>
          <a:p>
            <a:r>
              <a:rPr sz="2000" b="1">
                <a:solidFill>
                  <a:srgbClr val="222222"/>
                </a:solidFill>
                <a:latin typeface="Calibri"/>
              </a:rPr>
              <a:t>2. Explain why inserting a value into a linked list is more efficient than inserting into a sorted array, once the position has been found. [2]</a:t>
            </a:r>
          </a:p>
          <a:p>
            <a:pPr lvl="1"/>
            <a:r>
              <a:rPr sz="1800" i="1">
                <a:solidFill>
                  <a:srgbClr val="B76E00"/>
                </a:solidFill>
                <a:latin typeface="Calibri"/>
              </a:rPr>
              <a:t>Answer: The linked list needs only two pointer changes and no data moves (1); the array must shift every element after the insertion point along by one (1).</a:t>
            </a:r>
          </a:p>
          <a:p>
            <a:r>
              <a:rPr sz="2000" b="1">
                <a:solidFill>
                  <a:srgbClr val="222222"/>
                </a:solidFill>
                <a:latin typeface="Calibri"/>
              </a:rPr>
              <a:t>3. Explain what happens in memory when a node is deleted from a linked list. [2]</a:t>
            </a:r>
          </a:p>
          <a:p>
            <a:pPr lvl="1"/>
            <a:r>
              <a:rPr sz="1800" i="1">
                <a:solidFill>
                  <a:srgbClr val="B76E00"/>
                </a:solidFill>
                <a:latin typeface="Calibri"/>
              </a:rPr>
              <a:t>Answer: The previous node's pointer is changed to bypass it, pointing at the deleted node's successor (1); the node itself remains in memory but is unreachable garbage whose space can be reclaimed (1).</a:t>
            </a:r>
          </a:p>
          <a:p>
            <a:r>
              <a:rPr sz="2000" b="1">
                <a:solidFill>
                  <a:srgbClr val="222222"/>
                </a:solidFill>
                <a:latin typeface="Calibri"/>
              </a:rPr>
              <a:t>4. Write pseudocode for the pop() function of an array-based stack, including the underflow check. [4]</a:t>
            </a:r>
          </a:p>
          <a:p>
            <a:pPr lvl="1"/>
            <a:r>
              <a:rPr sz="1800" i="1">
                <a:solidFill>
                  <a:srgbClr val="B76E00"/>
                </a:solidFill>
                <a:latin typeface="Calibri"/>
              </a:rPr>
              <a:t>Answer: Check if top == -1 and return an error if so (1); otherwise copy stack[top] into a variable (1); decrement top by 1 (1); return the copied value (1).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(5-8)</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A circular queue uses an array of size 8. front = 6 and rear = 2, and the queue is not empty. State the occupied indexes and calculate how many items it holds. [2]</a:t>
            </a:r>
          </a:p>
          <a:p>
            <a:r>
              <a:rPr sz="2000" b="1">
                <a:solidFill>
                  <a:srgbClr val="222222"/>
                </a:solidFill>
                <a:latin typeface="Calibri"/>
              </a:rPr>
              <a:t>2. State the tests for empty and for full in a circular queue implemented with a count variable. [2]</a:t>
            </a:r>
          </a:p>
          <a:p>
            <a:r>
              <a:rPr sz="2000" b="1">
                <a:solidFill>
                  <a:srgbClr val="222222"/>
                </a:solidFill>
                <a:latin typeface="Calibri"/>
              </a:rPr>
              <a:t>3. Explain why an array gives O(1) access to its nth element but a linked list cannot. [2]</a:t>
            </a:r>
          </a:p>
          <a:p>
            <a:r>
              <a:rPr sz="2000" b="1">
                <a:solidFill>
                  <a:srgbClr val="222222"/>
                </a:solidFill>
                <a:latin typeface="Calibri"/>
              </a:rPr>
              <a:t>4. The line rear = (rear + 1) MOD maxSize appears in an enqueue procedure. Explain what this line achieves. [2]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 answers (5-8)</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A circular queue uses an array of size 8. front = 6 and rear = 2, and the queue is not empty. State the occupied indexes and calculate how many items it holds. [2]</a:t>
            </a:r>
          </a:p>
          <a:p>
            <a:pPr lvl="1"/>
            <a:r>
              <a:rPr sz="1800" i="1">
                <a:solidFill>
                  <a:srgbClr val="B76E00"/>
                </a:solidFill>
                <a:latin typeface="Calibri"/>
              </a:rPr>
              <a:t>Answer: Occupied indexes 6, 7, 0, 1, 2 (1); items = (2 - 6 + 8) MOD 8 + 1 = 5 (1).</a:t>
            </a:r>
          </a:p>
          <a:p>
            <a:r>
              <a:rPr sz="2000" b="1">
                <a:solidFill>
                  <a:srgbClr val="222222"/>
                </a:solidFill>
                <a:latin typeface="Calibri"/>
              </a:rPr>
              <a:t>2. State the tests for empty and for full in a circular queue implemented with a count variable. [2]</a:t>
            </a:r>
          </a:p>
          <a:p>
            <a:pPr lvl="1"/>
            <a:r>
              <a:rPr sz="1800" i="1">
                <a:solidFill>
                  <a:srgbClr val="B76E00"/>
                </a:solidFill>
                <a:latin typeface="Calibri"/>
              </a:rPr>
              <a:t>Answer: Empty when count == 0 (1); full when count == maxSize (1).</a:t>
            </a:r>
          </a:p>
          <a:p>
            <a:r>
              <a:rPr sz="2000" b="1">
                <a:solidFill>
                  <a:srgbClr val="222222"/>
                </a:solidFill>
                <a:latin typeface="Calibri"/>
              </a:rPr>
              <a:t>3. Explain why an array gives O(1) access to its nth element but a linked list cannot. [2]</a:t>
            </a:r>
          </a:p>
          <a:p>
            <a:pPr lvl="1"/>
            <a:r>
              <a:rPr sz="1800" i="1">
                <a:solidFill>
                  <a:srgbClr val="B76E00"/>
                </a:solidFill>
                <a:latin typeface="Calibri"/>
              </a:rPr>
              <a:t>Answer: Array elements are contiguous, so the address is calculated directly from the index (1); linked list nodes are scattered and only reachable by following n pointers from the head (1).</a:t>
            </a:r>
          </a:p>
          <a:p>
            <a:r>
              <a:rPr sz="2000" b="1">
                <a:solidFill>
                  <a:srgbClr val="222222"/>
                </a:solidFill>
                <a:latin typeface="Calibri"/>
              </a:rPr>
              <a:t>4. The line rear = (rear + 1) MOD maxSize appears in an enqueue procedure. Explain what this line achieves. [2]</a:t>
            </a:r>
          </a:p>
          <a:p>
            <a:pPr lvl="1"/>
            <a:r>
              <a:rPr sz="1800" i="1">
                <a:solidFill>
                  <a:srgbClr val="B76E00"/>
                </a:solidFill>
                <a:latin typeface="Calibri"/>
              </a:rPr>
              <a:t>Answer: It advances rear one cell (1); MOD wraps it back to index 0 after the last cell, so cells freed by dequeue are reused (1).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Common misconceptions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 Students often think the order of the two pointer writes in an insertion does not matter; writing the predecessor first orphans the tail or makes the new node point at itself.</a:t>
            </a:r>
          </a:p>
          <a:p>
            <a:pPr/>
            <a:r>
              <a:rPr sz="2000" b="0">
                <a:solidFill>
                  <a:srgbClr val="222222"/>
                </a:solidFill>
                <a:latin typeface="Calibri"/>
              </a:rPr>
              <a:t>✗ Students often think deleting a node erases its data; the bypass write just makes it unreachable garbage, and traversal proves it has gone.</a:t>
            </a:r>
          </a:p>
          <a:p>
            <a:pPr/>
            <a:r>
              <a:rPr sz="2000" b="0">
                <a:solidFill>
                  <a:srgbClr val="222222"/>
                </a:solidFill>
                <a:latin typeface="Calibri"/>
              </a:rPr>
              <a:t>✗ Students often assume linked list nodes sit next to each other in memory; only the pointers define the order, which is why the parallel arrays can look scrambled.</a:t>
            </a:r>
          </a:p>
          <a:p>
            <a:pPr/>
            <a:r>
              <a:rPr sz="2000" b="0">
                <a:solidFill>
                  <a:srgbClr val="222222"/>
                </a:solidFill>
                <a:latin typeface="Calibri"/>
              </a:rPr>
              <a:t>✗ Students often think pop physically removes the value from the array; only top moves, and the old value is simply overwritten by a later push.</a:t>
            </a:r>
          </a:p>
          <a:p>
            <a:pPr/>
            <a:r>
              <a:rPr sz="2000" b="0">
                <a:solidFill>
                  <a:srgbClr val="222222"/>
                </a:solidFill>
                <a:latin typeface="Calibri"/>
              </a:rPr>
              <a:t>✗ Students often believe MOD shuffles queue items around the array; the items never move, only front and rear wrap around them.</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How the exam asks this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Trace and complete-the-table questions on linked lists shown as data and next arrays with a head pointer are worth 3-5 marks; every pointer value counts.</a:t>
            </a:r>
          </a:p>
          <a:p>
            <a:pPr/>
            <a:r>
              <a:rPr sz="2000" b="0">
                <a:solidFill>
                  <a:srgbClr val="222222"/>
                </a:solidFill>
                <a:latin typeface="Calibri"/>
              </a:rPr>
              <a:t>Describe-the-steps questions on insertion and deletion (3-4 marks) credit the safe pointer order and the null terminator explicitly.</a:t>
            </a:r>
          </a:p>
          <a:p>
            <a:pPr/>
            <a:r>
              <a:rPr sz="2000" b="0">
                <a:solidFill>
                  <a:srgbClr val="222222"/>
                </a:solidFill>
                <a:latin typeface="Calibri"/>
              </a:rPr>
              <a:t>Writing or completing pseudocode for push, pop, enqueue and dequeue appears in both components; the full and empty checks carry their own marks.</a:t>
            </a:r>
          </a:p>
          <a:p>
            <a:pPr/>
            <a:r>
              <a:rPr sz="2000" b="0">
                <a:solidFill>
                  <a:srgbClr val="222222"/>
                </a:solidFill>
                <a:latin typeface="Calibri"/>
              </a:rPr>
              <a:t>Example stem: 'A linked list is stored using the arrays data and next with a head pointer. Show the contents of both arrays after the value 17 is inserted into the correct position.' [4]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Your turn</a:t>
            </a:r>
          </a:p>
        </p:txBody>
      </p:sp>
      <p:sp>
        <p:nvSpPr>
          <p:cNvPr id="3" name="TextBox 2"/>
          <p:cNvSpPr txBox="1"/>
          <p:nvPr/>
        </p:nvSpPr>
        <p:spPr>
          <a:xfrm>
            <a:off x="640080" y="1280160"/>
            <a:ext cx="10881360" cy="5120640"/>
          </a:xfrm>
          <a:prstGeom prst="rect">
            <a:avLst/>
          </a:prstGeom>
          <a:noFill/>
        </p:spPr>
        <p:txBody>
          <a:bodyPr wrap="square">
            <a:spAutoFit/>
          </a:bodyPr>
          <a:lstStyle/>
          <a:p>
            <a:pPr/>
            <a:r>
              <a:rPr sz="2400" b="1">
                <a:solidFill>
                  <a:srgbClr val="2B6CB0"/>
                </a:solidFill>
                <a:latin typeface="Calibri"/>
              </a:rPr>
              <a:t>Task</a:t>
            </a:r>
          </a:p>
          <a:p>
            <a:pPr lvl="1"/>
            <a:r>
              <a:rPr sz="2200" b="0">
                <a:solidFill>
                  <a:srgbClr val="222222"/>
                </a:solidFill>
                <a:latin typeface="Calibri"/>
              </a:rPr>
              <a:t>Using your three Python implementations from today, run this script and record every state: build the linked list 5 -&gt; 11 -&gt; 20; insert 8 between 5 and 11; delete 20; traverse (expected output 5, 8, 11). Push each traversed value onto your stack and pop all three (expected 11, 8, 5). Finally enqueue those three values into your size-4 circular queue, dequeue once, enqueue 99, and write down front, rear and count (expected front = 1, rear = 3, count = 3).</a:t>
            </a:r>
          </a:p>
          <a:p>
            <a:r>
              <a:rPr sz="2400" b="1">
                <a:solidFill>
                  <a:srgbClr val="B76E00"/>
                </a:solidFill>
                <a:latin typeface="Calibri"/>
              </a:rPr>
              <a:t>Challenge / stretch</a:t>
            </a:r>
          </a:p>
          <a:p>
            <a:pPr lvl="1"/>
            <a:r>
              <a:rPr sz="2200" b="0">
                <a:solidFill>
                  <a:srgbClr val="222222"/>
                </a:solidFill>
                <a:latin typeface="Calibri"/>
              </a:rPr>
              <a:t>Extend your linked list to a doubly linked list by adding a prev array. Rewrite insert and delete so both directions stay consistent, stating the order of the four pointer writes for an insertion that is safe, and explain what backwards traversal now costs in memory per node and why an exam answer should mention that trade-off.</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Exit ticket</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When inserting node N after node P, which pointer must be written first and why?</a:t>
            </a:r>
          </a:p>
          <a:p>
            <a:r>
              <a:rPr sz="2200" b="1">
                <a:solidFill>
                  <a:srgbClr val="222222"/>
                </a:solidFill>
                <a:latin typeface="Calibri"/>
              </a:rPr>
              <a:t>2. A circular queue of size 6 has rear = 5. Where does the next enqueue store its item?</a:t>
            </a:r>
          </a:p>
          <a:p>
            <a:r>
              <a:rPr sz="2200" b="1">
                <a:solidFill>
                  <a:srgbClr val="222222"/>
                </a:solidFill>
                <a:latin typeface="Calibri"/>
              </a:rPr>
              <a:t>3. After a deletion, node X still sits in memory. Why is it no longer part of the list?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Exit ticket — answers</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When inserting node N after node P, which pointer must be written first and why?</a:t>
            </a:r>
          </a:p>
          <a:p>
            <a:pPr lvl="1"/>
            <a:r>
              <a:rPr sz="1800" i="1">
                <a:solidFill>
                  <a:srgbClr val="B76E00"/>
                </a:solidFill>
                <a:latin typeface="Calibri"/>
              </a:rPr>
              <a:t>Answer: N's next pointer is set to P's current next first; otherwise P's old successor, and the whole rest of the list, has no pointer leading to it and is lost.</a:t>
            </a:r>
          </a:p>
          <a:p>
            <a:r>
              <a:rPr sz="2200" b="1">
                <a:solidFill>
                  <a:srgbClr val="222222"/>
                </a:solidFill>
                <a:latin typeface="Calibri"/>
              </a:rPr>
              <a:t>2. A circular queue of size 6 has rear = 5. Where does the next enqueue store its item?</a:t>
            </a:r>
          </a:p>
          <a:p>
            <a:pPr lvl="1"/>
            <a:r>
              <a:rPr sz="1800" i="1">
                <a:solidFill>
                  <a:srgbClr val="B76E00"/>
                </a:solidFill>
                <a:latin typeface="Calibri"/>
              </a:rPr>
              <a:t>Answer: rear = (5 + 1) MOD 6 = 0, so at index 0.</a:t>
            </a:r>
          </a:p>
          <a:p>
            <a:r>
              <a:rPr sz="2200" b="1">
                <a:solidFill>
                  <a:srgbClr val="222222"/>
                </a:solidFill>
                <a:latin typeface="Calibri"/>
              </a:rPr>
              <a:t>3. After a deletion, node X still sits in memory. Why is it no longer part of the list?</a:t>
            </a:r>
          </a:p>
          <a:p>
            <a:pPr lvl="1"/>
            <a:r>
              <a:rPr sz="1800" i="1">
                <a:solidFill>
                  <a:srgbClr val="B76E00"/>
                </a:solidFill>
                <a:latin typeface="Calibri"/>
              </a:rPr>
              <a:t>Answer: No pointer reaches it from the head any more, so traversal can never visit it: it is unreachable garbage.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