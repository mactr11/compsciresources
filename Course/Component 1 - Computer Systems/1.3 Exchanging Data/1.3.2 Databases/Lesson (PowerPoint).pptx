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731520" y="2194560"/>
            <a:ext cx="10698480" cy="1828800"/>
          </a:xfrm>
          <a:prstGeom prst="rect">
            <a:avLst/>
          </a:prstGeom>
          <a:noFill/>
        </p:spPr>
        <p:txBody>
          <a:bodyPr wrap="square">
            <a:spAutoFit/>
          </a:bodyPr>
          <a:lstStyle/>
          <a:p>
            <a:r>
              <a:rPr sz="4000" b="1" i="0">
                <a:solidFill>
                  <a:srgbClr val="FFFFFF"/>
                </a:solidFill>
                <a:latin typeface="Calibri"/>
              </a:rPr>
              <a:t>1.3.2 Databases</a:t>
            </a:r>
          </a:p>
          <a:p>
            <a:r>
              <a:rPr sz="2000" b="0" i="0">
                <a:solidFill>
                  <a:srgbClr val="BED3EC"/>
                </a:solidFill>
                <a:latin typeface="Calibri"/>
              </a:rPr>
              <a:t>OCR H446 — Component 01</a:t>
            </a:r>
          </a:p>
        </p:txBody>
      </p:sp>
      <p:sp>
        <p:nvSpPr>
          <p:cNvPr id="3" name="TextBox 2"/>
          <p:cNvSpPr txBox="1"/>
          <p:nvPr/>
        </p:nvSpPr>
        <p:spPr>
          <a:xfrm>
            <a:off x="731520" y="6035040"/>
            <a:ext cx="10698480" cy="548640"/>
          </a:xfrm>
          <a:prstGeom prst="rect">
            <a:avLst/>
          </a:prstGeom>
          <a:noFill/>
        </p:spPr>
        <p:txBody>
          <a:bodyPr wrap="square">
            <a:spAutoFit/>
          </a:bodyPr>
          <a:lstStyle/>
          <a:p>
            <a:r>
              <a:rPr sz="1400" b="0" i="1">
                <a:solidFill>
                  <a:srgbClr val="9AB4D6"/>
                </a:solidFill>
                <a:latin typeface="Calibri"/>
              </a:rPr>
              <a:t>Lesson deck — editable skeleton: adapt freely.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Learning objectives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By the end of this lesson you can:</a:t>
            </a:r>
          </a:p>
          <a:p>
            <a:pPr lvl="1"/>
            <a:r>
              <a:rPr sz="2200" b="0">
                <a:solidFill>
                  <a:srgbClr val="222222"/>
                </a:solidFill>
                <a:latin typeface="Calibri"/>
              </a:rPr>
              <a:t>Compare flat file and relational databases and identify primary, foreign, composite and secondary keys.</a:t>
            </a:r>
          </a:p>
          <a:p>
            <a:pPr lvl="1"/>
            <a:r>
              <a:rPr sz="2200" b="0">
                <a:solidFill>
                  <a:srgbClr val="222222"/>
                </a:solidFill>
                <a:latin typeface="Calibri"/>
              </a:rPr>
              <a:t>Apply normalisation to 1NF, 2NF and 3NF and explain the dependency removed at each stage.</a:t>
            </a:r>
          </a:p>
          <a:p>
            <a:pPr lvl="1"/>
            <a:r>
              <a:rPr sz="2200" b="0">
                <a:solidFill>
                  <a:srgbClr val="222222"/>
                </a:solidFill>
                <a:latin typeface="Calibri"/>
              </a:rPr>
              <a:t>Write SQL queries and explain transactions, ACID properties and record locking.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retrieval starter</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What is a foreign key?</a:t>
            </a:r>
          </a:p>
          <a:p>
            <a:r>
              <a:rPr sz="2200" b="1">
                <a:solidFill>
                  <a:srgbClr val="222222"/>
                </a:solidFill>
                <a:latin typeface="Calibri"/>
              </a:rPr>
              <a:t>2. How is a many-to-many (M:N) relationship resolved in a relational database?</a:t>
            </a:r>
          </a:p>
          <a:p>
            <a:r>
              <a:rPr sz="2200" b="1">
                <a:solidFill>
                  <a:srgbClr val="222222"/>
                </a:solidFill>
                <a:latin typeface="Calibri"/>
              </a:rPr>
              <a:t>3. What does referential integrity guarantee?</a:t>
            </a:r>
          </a:p>
          <a:p>
            <a:r>
              <a:rPr sz="2200" b="1">
                <a:solidFill>
                  <a:srgbClr val="222222"/>
                </a:solidFill>
                <a:latin typeface="Calibri"/>
              </a:rPr>
              <a:t>4. Interleaving (1.3.1): How could a website protect the passwords stored in its user database?</a:t>
            </a:r>
          </a:p>
          <a:p>
            <a:r>
              <a:rPr sz="2200" b="1">
                <a:solidFill>
                  <a:srgbClr val="222222"/>
                </a:solidFill>
                <a:latin typeface="Calibri"/>
              </a:rPr>
              <a:t>5. Interleaving (1.2.4): Name the data type best suited to a primary key like StudentID and why.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What is a foreign key?</a:t>
            </a:r>
          </a:p>
          <a:p>
            <a:pPr lvl="1"/>
            <a:r>
              <a:rPr sz="1800" i="1">
                <a:solidFill>
                  <a:srgbClr val="B76E00"/>
                </a:solidFill>
                <a:latin typeface="Calibri"/>
              </a:rPr>
              <a:t>Answer: The primary key of another table, used to link the two tables together.</a:t>
            </a:r>
          </a:p>
          <a:p>
            <a:r>
              <a:rPr sz="2200" b="1">
                <a:solidFill>
                  <a:srgbClr val="222222"/>
                </a:solidFill>
                <a:latin typeface="Calibri"/>
              </a:rPr>
              <a:t>2. How is a many-to-many (M:N) relationship resolved in a relational database?</a:t>
            </a:r>
          </a:p>
          <a:p>
            <a:pPr lvl="1"/>
            <a:r>
              <a:rPr sz="1800" i="1">
                <a:solidFill>
                  <a:srgbClr val="B76E00"/>
                </a:solidFill>
                <a:latin typeface="Calibri"/>
              </a:rPr>
              <a:t>Answer: By adding a linking/junction table, which has a composite key.</a:t>
            </a:r>
          </a:p>
          <a:p>
            <a:r>
              <a:rPr sz="2200" b="1">
                <a:solidFill>
                  <a:srgbClr val="222222"/>
                </a:solidFill>
                <a:latin typeface="Calibri"/>
              </a:rPr>
              <a:t>3. What does referential integrity guarantee?</a:t>
            </a:r>
          </a:p>
          <a:p>
            <a:pPr lvl="1"/>
            <a:r>
              <a:rPr sz="1800" i="1">
                <a:solidFill>
                  <a:srgbClr val="B76E00"/>
                </a:solidFill>
                <a:latin typeface="Calibri"/>
              </a:rPr>
              <a:t>Answer: Every foreign key references a valid existing primary key (or is null), so there are no orphaned records.</a:t>
            </a:r>
          </a:p>
          <a:p>
            <a:r>
              <a:rPr sz="2200" b="1">
                <a:solidFill>
                  <a:srgbClr val="222222"/>
                </a:solidFill>
                <a:latin typeface="Calibri"/>
              </a:rPr>
              <a:t>4. Interleaving (1.3.1): How could a website protect the passwords stored in its user database?</a:t>
            </a:r>
          </a:p>
          <a:p>
            <a:pPr lvl="1"/>
            <a:r>
              <a:rPr sz="1800" i="1">
                <a:solidFill>
                  <a:srgbClr val="B76E00"/>
                </a:solidFill>
                <a:latin typeface="Calibri"/>
              </a:rPr>
              <a:t>Answer: By hashing each password and storing only the hash, since hashing is one-way and a stolen database does not reveal the plaintext.</a:t>
            </a:r>
          </a:p>
          <a:p>
            <a:r>
              <a:rPr sz="2200" b="1">
                <a:solidFill>
                  <a:srgbClr val="222222"/>
                </a:solidFill>
                <a:latin typeface="Calibri"/>
              </a:rPr>
              <a:t>5. Interleaving (1.2.4): Name the data type best suited to a primary key like StudentID and why.</a:t>
            </a:r>
          </a:p>
          <a:p>
            <a:pPr lvl="1"/>
            <a:r>
              <a:rPr sz="1800" i="1">
                <a:solidFill>
                  <a:srgbClr val="B76E00"/>
                </a:solidFill>
                <a:latin typeface="Calibri"/>
              </a:rPr>
              <a:t>Answer: An integer, because it is compact, sorts/indexes efficiently and uniquely identifies each record.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Key terminology</a:t>
            </a:r>
          </a:p>
        </p:txBody>
      </p:sp>
      <p:sp>
        <p:nvSpPr>
          <p:cNvPr id="3" name="TextBox 2"/>
          <p:cNvSpPr txBox="1"/>
          <p:nvPr/>
        </p:nvSpPr>
        <p:spPr>
          <a:xfrm>
            <a:off x="640080" y="1280160"/>
            <a:ext cx="10881360" cy="5120640"/>
          </a:xfrm>
          <a:prstGeom prst="rect">
            <a:avLst/>
          </a:prstGeom>
          <a:noFill/>
        </p:spPr>
        <p:txBody>
          <a:bodyPr wrap="square">
            <a:spAutoFit/>
          </a:bodyPr>
          <a:lstStyle/>
          <a:p/>
          <a:p>
            <a:r>
              <a:rPr b="1" sz="2000">
                <a:solidFill>
                  <a:srgbClr val="1A365D"/>
                </a:solidFill>
                <a:latin typeface="Calibri"/>
              </a:rPr>
              <a:t>Entity</a:t>
            </a:r>
            <a:r>
              <a:rPr sz="1800">
                <a:solidFill>
                  <a:srgbClr val="222222"/>
                </a:solidFill>
                <a:latin typeface="Calibri"/>
              </a:rPr>
              <a:t> — A thing data is stored about, represented as a table.</a:t>
            </a:r>
          </a:p>
          <a:p>
            <a:r>
              <a:rPr b="1" sz="2000">
                <a:solidFill>
                  <a:srgbClr val="1A365D"/>
                </a:solidFill>
                <a:latin typeface="Calibri"/>
              </a:rPr>
              <a:t>Primary key</a:t>
            </a:r>
            <a:r>
              <a:rPr sz="1800">
                <a:solidFill>
                  <a:srgbClr val="222222"/>
                </a:solidFill>
                <a:latin typeface="Calibri"/>
              </a:rPr>
              <a:t> — An attribute, or set of attributes, that uniquely identifies each record in a table.</a:t>
            </a:r>
          </a:p>
          <a:p>
            <a:r>
              <a:rPr b="1" sz="2000">
                <a:solidFill>
                  <a:srgbClr val="1A365D"/>
                </a:solidFill>
                <a:latin typeface="Calibri"/>
              </a:rPr>
              <a:t>Foreign key</a:t>
            </a:r>
            <a:r>
              <a:rPr sz="1800">
                <a:solidFill>
                  <a:srgbClr val="222222"/>
                </a:solidFill>
                <a:latin typeface="Calibri"/>
              </a:rPr>
              <a:t> — The primary key of another table, used to create a link between tables.</a:t>
            </a:r>
          </a:p>
          <a:p>
            <a:r>
              <a:rPr b="1" sz="2000">
                <a:solidFill>
                  <a:srgbClr val="1A365D"/>
                </a:solidFill>
                <a:latin typeface="Calibri"/>
              </a:rPr>
              <a:t>Composite key</a:t>
            </a:r>
            <a:r>
              <a:rPr sz="1800">
                <a:solidFill>
                  <a:srgbClr val="222222"/>
                </a:solidFill>
                <a:latin typeface="Calibri"/>
              </a:rPr>
              <a:t> — A primary key made up of two or more attributes combined.</a:t>
            </a:r>
          </a:p>
          <a:p>
            <a:r>
              <a:rPr b="1" sz="2000">
                <a:solidFill>
                  <a:srgbClr val="1A365D"/>
                </a:solidFill>
                <a:latin typeface="Calibri"/>
              </a:rPr>
              <a:t>Normalisation</a:t>
            </a:r>
            <a:r>
              <a:rPr sz="1800">
                <a:solidFill>
                  <a:srgbClr val="222222"/>
                </a:solidFill>
                <a:latin typeface="Calibri"/>
              </a:rPr>
              <a:t> — Organising data into tables to reduce redundancy and remove anomalies.</a:t>
            </a:r>
          </a:p>
          <a:p>
            <a:r>
              <a:rPr b="1" sz="2000">
                <a:solidFill>
                  <a:srgbClr val="1A365D"/>
                </a:solidFill>
                <a:latin typeface="Calibri"/>
              </a:rPr>
              <a:t>Referential integrity</a:t>
            </a:r>
            <a:r>
              <a:rPr sz="1800">
                <a:solidFill>
                  <a:srgbClr val="222222"/>
                </a:solidFill>
                <a:latin typeface="Calibri"/>
              </a:rPr>
              <a:t> — The rule that every foreign key must reference a valid existing primary key, or be null.</a:t>
            </a:r>
          </a:p>
          <a:p>
            <a:r>
              <a:rPr b="1" sz="2000">
                <a:solidFill>
                  <a:srgbClr val="1A365D"/>
                </a:solidFill>
                <a:latin typeface="Calibri"/>
              </a:rPr>
              <a:t>Transaction</a:t>
            </a:r>
            <a:r>
              <a:rPr sz="1800">
                <a:solidFill>
                  <a:srgbClr val="222222"/>
                </a:solidFill>
                <a:latin typeface="Calibri"/>
              </a:rPr>
              <a:t> — A single logical operation in which all steps either succeed together or all fail.</a:t>
            </a:r>
          </a:p>
          <a:p>
            <a:r>
              <a:rPr b="1" sz="2000">
                <a:solidFill>
                  <a:srgbClr val="1A365D"/>
                </a:solidFill>
                <a:latin typeface="Calibri"/>
              </a:rPr>
              <a:t>Record locking</a:t>
            </a:r>
            <a:r>
              <a:rPr sz="1800">
                <a:solidFill>
                  <a:srgbClr val="222222"/>
                </a:solidFill>
                <a:latin typeface="Calibri"/>
              </a:rPr>
              <a:t> — Locking a record during a transaction so others cannot edit it, preventing the lost update problem.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Flat file vs relational databases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0">
                <a:solidFill>
                  <a:srgbClr val="222222"/>
                </a:solidFill>
                <a:latin typeface="Calibri"/>
              </a:rPr>
              <a:t>A flat file uses a single table with high redundancy and is prone to anomalies and inconsistency.</a:t>
            </a:r>
          </a:p>
          <a:p>
            <a:pPr/>
            <a:r>
              <a:rPr sz="2200" b="0">
                <a:solidFill>
                  <a:srgbClr val="222222"/>
                </a:solidFill>
                <a:latin typeface="Calibri"/>
              </a:rPr>
              <a:t>A relational database uses multiple linked tables, reducing redundancy and keeping data consistent.</a:t>
            </a:r>
          </a:p>
          <a:p>
            <a:pPr/>
            <a:r>
              <a:rPr sz="2200" b="0">
                <a:solidFill>
                  <a:srgbClr val="222222"/>
                </a:solidFill>
                <a:latin typeface="Calibri"/>
              </a:rPr>
              <a:t>Relational databases scale well and support complex queries across linked tables.</a:t>
            </a:r>
          </a:p>
          <a:p>
            <a:pPr/>
            <a:r>
              <a:rPr sz="2200" b="0">
                <a:solidFill>
                  <a:srgbClr val="222222"/>
                </a:solidFill>
                <a:latin typeface="Calibri"/>
              </a:rPr>
              <a:t>Terminology: entity = table, attribute/field = column, record/row/tuple = one instance.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Keys and relationships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0">
                <a:solidFill>
                  <a:srgbClr val="222222"/>
                </a:solidFill>
                <a:latin typeface="Calibri"/>
              </a:rPr>
              <a:t>Primary key uniquely identifies a record; foreign key is the primary key of another table used to link tables.</a:t>
            </a:r>
          </a:p>
          <a:p>
            <a:pPr/>
            <a:r>
              <a:rPr sz="2200" b="0">
                <a:solidFill>
                  <a:srgbClr val="222222"/>
                </a:solidFill>
                <a:latin typeface="Calibri"/>
              </a:rPr>
              <a:t>Composite key combines two or more attributes; secondary key is a non-primary attribute used to search/index quickly.</a:t>
            </a:r>
          </a:p>
          <a:p>
            <a:pPr/>
            <a:r>
              <a:rPr sz="2200" b="0">
                <a:solidFill>
                  <a:srgbClr val="222222"/>
                </a:solidFill>
                <a:latin typeface="Calibri"/>
              </a:rPr>
              <a:t>ER relationships are 1:1, 1:M or M:N; a many-to-many is resolved with a linking/junction table holding a composite key.</a:t>
            </a:r>
          </a:p>
          <a:p>
            <a:pPr/>
            <a:r>
              <a:rPr sz="2200" b="0">
                <a:solidFill>
                  <a:srgbClr val="222222"/>
                </a:solidFill>
                <a:latin typeface="Calibri"/>
              </a:rPr>
              <a:t>Always name which table a foreign key links to when answering.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Normalisation to 3NF</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0">
                <a:solidFill>
                  <a:srgbClr val="222222"/>
                </a:solidFill>
                <a:latin typeface="Calibri"/>
              </a:rPr>
              <a:t>1NF: no repeating groups, all values atomic, and the table has a primary key.</a:t>
            </a:r>
          </a:p>
          <a:p>
            <a:pPr/>
            <a:r>
              <a:rPr sz="2200" b="0">
                <a:solidFill>
                  <a:srgbClr val="222222"/>
                </a:solidFill>
                <a:latin typeface="Calibri"/>
              </a:rPr>
              <a:t>2NF: in 1NF and no partial dependencies — every non-key attribute depends on the whole key.</a:t>
            </a:r>
          </a:p>
          <a:p>
            <a:pPr/>
            <a:r>
              <a:rPr sz="2200" b="0">
                <a:solidFill>
                  <a:srgbClr val="222222"/>
                </a:solidFill>
                <a:latin typeface="Calibri"/>
              </a:rPr>
              <a:t>3NF: in 2NF and no transitive dependencies — no non-key attribute depends on another non-key attribute.</a:t>
            </a:r>
          </a:p>
          <a:p>
            <a:pPr/>
            <a:r>
              <a:rPr sz="2200" b="0">
                <a:solidFill>
                  <a:srgbClr val="222222"/>
                </a:solidFill>
                <a:latin typeface="Calibri"/>
              </a:rPr>
              <a:t>Mantra: 'the key, the whole key, and nothing but the key'; name the dependency removed at each stage and why.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SQL keywords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0">
                <a:solidFill>
                  <a:srgbClr val="222222"/>
                </a:solidFill>
                <a:latin typeface="Calibri"/>
              </a:rPr>
              <a:t>SELECT chooses columns; FROM names the table(s); WHERE filters rows (AND/OR, LIKE 'A%').</a:t>
            </a:r>
          </a:p>
          <a:p>
            <a:pPr/>
            <a:r>
              <a:rPr sz="2200" b="0">
                <a:solidFill>
                  <a:srgbClr val="222222"/>
                </a:solidFill>
                <a:latin typeface="Calibri"/>
              </a:rPr>
              <a:t>JOIN ... ON combines columns from related tables on a matching key.</a:t>
            </a:r>
          </a:p>
          <a:p>
            <a:pPr/>
            <a:r>
              <a:rPr sz="2200" b="0">
                <a:solidFill>
                  <a:srgbClr val="222222"/>
                </a:solidFill>
                <a:latin typeface="Calibri"/>
              </a:rPr>
              <a:t>ORDER BY sorts results (ASC/DESC); standard order is SELECT ... FROM ... WHERE ... ORDER BY.</a:t>
            </a:r>
          </a:p>
          <a:p>
            <a:pPr/>
            <a:r>
              <a:rPr sz="2200" b="0">
                <a:solidFill>
                  <a:srgbClr val="222222"/>
                </a:solidFill>
                <a:latin typeface="Calibri"/>
              </a:rPr>
              <a:t>INSERT INTO ... VALUES adds records, UPDATE ... SET changes them, DELETE FROM removes them, CREATE TABLE defines one.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Transactions, ACID and locking</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0">
                <a:solidFill>
                  <a:srgbClr val="222222"/>
                </a:solidFill>
                <a:latin typeface="Calibri"/>
              </a:rPr>
              <a:t>A transaction is one logical operation where all steps succeed or all fail (roll back).</a:t>
            </a:r>
          </a:p>
          <a:p>
            <a:pPr/>
            <a:r>
              <a:rPr sz="2200" b="0">
                <a:solidFill>
                  <a:srgbClr val="222222"/>
                </a:solidFill>
                <a:latin typeface="Calibri"/>
              </a:rPr>
              <a:t>ACID: Atomicity (all-or-nothing), Consistency (valid state to valid state), Isolation (no interference), Durability (committed changes are permanent).</a:t>
            </a:r>
          </a:p>
          <a:p>
            <a:pPr/>
            <a:r>
              <a:rPr sz="2200" b="0">
                <a:solidFill>
                  <a:srgbClr val="222222"/>
                </a:solidFill>
                <a:latin typeface="Calibri"/>
              </a:rPr>
              <a:t>Record locking stops concurrent edits and prevents the lost update problem, but risks deadlock.</a:t>
            </a:r>
          </a:p>
          <a:p>
            <a:pPr/>
            <a:r>
              <a:rPr sz="2200" b="0">
                <a:solidFill>
                  <a:srgbClr val="222222"/>
                </a:solidFill>
                <a:latin typeface="Calibri"/>
              </a:rPr>
              <a:t>'Redundancy' has two meanings: data redundancy is bad (removed by normalisation); hardware/backup redundancy (RAID, failover) is good for reliability.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Joining two tables with SQL</a:t>
            </a:r>
          </a:p>
          <a:p>
            <a:pPr lvl="1"/>
            <a:r>
              <a:rPr sz="2000" b="0">
                <a:solidFill>
                  <a:srgbClr val="222222"/>
                </a:solidFill>
                <a:latin typeface="Calibri"/>
              </a:rPr>
              <a:t>1. Tables: Member(MemberID, Name, Email) and Loan(LoanID, MemberID, BookTitle, DueDate).</a:t>
            </a:r>
          </a:p>
          <a:p>
            <a:pPr lvl="1"/>
            <a:r>
              <a:rPr sz="2000" b="0">
                <a:solidFill>
                  <a:srgbClr val="222222"/>
                </a:solidFill>
                <a:latin typeface="Calibri"/>
              </a:rPr>
              <a:t>2. Identify the foreign key: MemberID in Loan links to the primary key MemberID in Member.</a:t>
            </a:r>
          </a:p>
          <a:p>
            <a:pPr lvl="1"/>
            <a:r>
              <a:rPr sz="2000" b="0">
                <a:solidFill>
                  <a:srgbClr val="222222"/>
                </a:solidFill>
                <a:latin typeface="Calibri"/>
              </a:rPr>
              <a:t>3. Goal: list each member's Name with the BookTitle of every book they have on loan.</a:t>
            </a:r>
          </a:p>
          <a:p>
            <a:pPr lvl="1"/>
            <a:r>
              <a:rPr sz="2000" b="0">
                <a:solidFill>
                  <a:srgbClr val="222222"/>
                </a:solidFill>
                <a:latin typeface="Calibri"/>
              </a:rPr>
              <a:t>4. Choose the columns: SELECT Member.Name, Loan.BookTitle.</a:t>
            </a:r>
          </a:p>
          <a:p>
            <a:pPr lvl="1"/>
            <a:r>
              <a:rPr sz="2000" b="0">
                <a:solidFill>
                  <a:srgbClr val="222222"/>
                </a:solidFill>
                <a:latin typeface="Calibri"/>
              </a:rPr>
              <a:t>5. Name the first table and join the second on the matching key: FROM Member JOIN Loan ON Member.MemberID = Loan.MemberID;</a:t>
            </a:r>
          </a:p>
          <a:p>
            <a:pPr lvl="1"/>
            <a:r>
              <a:rPr sz="2000" b="0">
                <a:solidFill>
                  <a:srgbClr val="222222"/>
                </a:solidFill>
                <a:latin typeface="Calibri"/>
              </a:rPr>
              <a:t>6. Referential integrity means a Loan cannot store a MemberID that does not exist in Member, so no loan is orphaned.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Your turn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400" b="1">
                <a:solidFill>
                  <a:srgbClr val="2B6CB0"/>
                </a:solidFill>
                <a:latin typeface="Calibri"/>
              </a:rPr>
              <a:t>Task</a:t>
            </a:r>
          </a:p>
          <a:p>
            <a:pPr lvl="1"/>
            <a:r>
              <a:rPr sz="2200" b="0">
                <a:solidFill>
                  <a:srgbClr val="222222"/>
                </a:solidFill>
                <a:latin typeface="Calibri"/>
              </a:rPr>
              <a:t>For Student(StudentID, Surname, Form, TutorName), write an SQL query that returns the StudentID and Surname of every student in form '12A', sorted by Surname in ascending order.</a:t>
            </a:r>
          </a:p>
          <a:p>
            <a:r>
              <a:rPr sz="2400" b="1">
                <a:solidFill>
                  <a:srgbClr val="B76E00"/>
                </a:solidFill>
                <a:latin typeface="Calibri"/>
              </a:rPr>
              <a:t>Challenge / stretch</a:t>
            </a:r>
          </a:p>
          <a:p>
            <a:pPr lvl="1"/>
            <a:r>
              <a:rPr sz="2200" b="0">
                <a:solidFill>
                  <a:srgbClr val="222222"/>
                </a:solidFill>
                <a:latin typeface="Calibri"/>
              </a:rPr>
              <a:t>A table Order(OrderID, CustomerID, CustomerName, CustomerEmail, ProductID, ProductName) is only in 1NF. Identify one partial and one transitive dependency, then describe the set of tables you would create to reach 3NF and name the keys involved.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What must be removed to take a table from 2NF to 3NF?</a:t>
            </a:r>
          </a:p>
          <a:p>
            <a:r>
              <a:rPr sz="2200" b="1">
                <a:solidFill>
                  <a:srgbClr val="222222"/>
                </a:solidFill>
                <a:latin typeface="Calibri"/>
              </a:rPr>
              <a:t>2. State one benefit and one risk of record locking.</a:t>
            </a:r>
          </a:p>
          <a:p>
            <a:r>
              <a:rPr sz="2200" b="1">
                <a:solidFill>
                  <a:srgbClr val="222222"/>
                </a:solidFill>
                <a:latin typeface="Calibri"/>
              </a:rPr>
              <a:t>3. What does the Isolation property of a transaction mean?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What must be removed to take a table from 2NF to 3NF?</a:t>
            </a:r>
          </a:p>
          <a:p>
            <a:pPr lvl="1"/>
            <a:r>
              <a:rPr sz="1800" i="1">
                <a:solidFill>
                  <a:srgbClr val="B76E00"/>
                </a:solidFill>
                <a:latin typeface="Calibri"/>
              </a:rPr>
              <a:t>Answer: Transitive dependencies, where a non-key attribute depends on another non-key attribute; move that attribute into a separate table so every non-key attribute depends only on the primary key.</a:t>
            </a:r>
          </a:p>
          <a:p>
            <a:r>
              <a:rPr sz="2200" b="1">
                <a:solidFill>
                  <a:srgbClr val="222222"/>
                </a:solidFill>
                <a:latin typeface="Calibri"/>
              </a:rPr>
              <a:t>2. State one benefit and one risk of record locking.</a:t>
            </a:r>
          </a:p>
          <a:p>
            <a:pPr lvl="1"/>
            <a:r>
              <a:rPr sz="1800" i="1">
                <a:solidFill>
                  <a:srgbClr val="B76E00"/>
                </a:solidFill>
                <a:latin typeface="Calibri"/>
              </a:rPr>
              <a:t>Answer: Benefit: prevents the lost update problem and keeps data consistent. Risk: can cause deadlock, or block and slow other users.</a:t>
            </a:r>
          </a:p>
          <a:p>
            <a:r>
              <a:rPr sz="2200" b="1">
                <a:solidFill>
                  <a:srgbClr val="222222"/>
                </a:solidFill>
                <a:latin typeface="Calibri"/>
              </a:rPr>
              <a:t>3. What does the Isolation property of a transaction mean?</a:t>
            </a:r>
          </a:p>
          <a:p>
            <a:pPr lvl="1"/>
            <a:r>
              <a:rPr sz="1800" i="1">
                <a:solidFill>
                  <a:srgbClr val="B76E00"/>
                </a:solidFill>
                <a:latin typeface="Calibri"/>
              </a:rPr>
              <a:t>Answer: Concurrent transactions execute as if isolated, so uncommitted intermediate states are not visible to other transactions, preventing interference and inconsistent reads.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