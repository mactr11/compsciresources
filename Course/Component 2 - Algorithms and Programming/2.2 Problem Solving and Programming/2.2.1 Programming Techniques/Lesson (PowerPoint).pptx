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A365D"/>
        </a:solidFill>
        <a:effectLst/>
      </p:bgPr>
    </p:bg>
    <p:spTree>
      <p:nvGrpSpPr>
        <p:cNvPr id="1" name=""/>
        <p:cNvGrpSpPr/>
        <p:nvPr/>
      </p:nvGrpSpPr>
      <p:grpSpPr/>
      <p:sp>
        <p:nvSpPr>
          <p:cNvPr id="2" name="TextBox 1"/>
          <p:cNvSpPr txBox="1"/>
          <p:nvPr/>
        </p:nvSpPr>
        <p:spPr>
          <a:xfrm>
            <a:off x="731520" y="2194560"/>
            <a:ext cx="10698480" cy="1828800"/>
          </a:xfrm>
          <a:prstGeom prst="rect">
            <a:avLst/>
          </a:prstGeom>
          <a:noFill/>
        </p:spPr>
        <p:txBody>
          <a:bodyPr wrap="square">
            <a:spAutoFit/>
          </a:bodyPr>
          <a:lstStyle/>
          <a:p>
            <a:r>
              <a:rPr sz="4000" b="1" i="0">
                <a:solidFill>
                  <a:srgbClr val="FFFFFF"/>
                </a:solidFill>
                <a:latin typeface="Calibri"/>
              </a:rPr>
              <a:t>2.2.1 Programming Techniques</a:t>
            </a:r>
          </a:p>
          <a:p>
            <a:r>
              <a:rPr sz="2000" b="0" i="0">
                <a:solidFill>
                  <a:srgbClr val="BED3EC"/>
                </a:solidFill>
                <a:latin typeface="Calibri"/>
              </a:rPr>
              <a:t>OCR H446 — Component 02</a:t>
            </a:r>
          </a:p>
        </p:txBody>
      </p:sp>
      <p:sp>
        <p:nvSpPr>
          <p:cNvPr id="3" name="TextBox 2"/>
          <p:cNvSpPr txBox="1"/>
          <p:nvPr/>
        </p:nvSpPr>
        <p:spPr>
          <a:xfrm>
            <a:off x="731520" y="6035040"/>
            <a:ext cx="10698480" cy="548640"/>
          </a:xfrm>
          <a:prstGeom prst="rect">
            <a:avLst/>
          </a:prstGeom>
          <a:noFill/>
        </p:spPr>
        <p:txBody>
          <a:bodyPr wrap="square">
            <a:spAutoFit/>
          </a:bodyPr>
          <a:lstStyle/>
          <a:p>
            <a:r>
              <a:rPr sz="1400" b="0" i="1">
                <a:solidFill>
                  <a:srgbClr val="9AB4D6"/>
                </a:solidFill>
                <a:latin typeface="Calibri"/>
              </a:rPr>
              <a:t>Lesson deck — editable skeleton: adapt freely.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Learning objectives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By the end of this lesson you can:</a:t>
            </a:r>
          </a:p>
          <a:p>
            <a:pPr lvl="1"/>
            <a:r>
              <a:rPr sz="2200" b="0">
                <a:solidFill>
                  <a:srgbClr val="222222"/>
                </a:solidFill>
                <a:latin typeface="Calibri"/>
              </a:rPr>
              <a:t>Describe and distinguish the programming constructs (sequence, selection, count- and condition-controlled iteration), recursion, scope, modularity and OOP</a:t>
            </a:r>
          </a:p>
          <a:p>
            <a:pPr lvl="1"/>
            <a:r>
              <a:rPr sz="2200" b="0">
                <a:solidFill>
                  <a:srgbClr val="222222"/>
                </a:solidFill>
                <a:latin typeface="Calibri"/>
              </a:rPr>
              <a:t>Explain how recursion uses a base case and a call stack of frames, and contrast it with iteration</a:t>
            </a:r>
          </a:p>
          <a:p>
            <a:pPr lvl="1"/>
            <a:r>
              <a:rPr sz="2200" b="0">
                <a:solidFill>
                  <a:srgbClr val="222222"/>
                </a:solidFill>
                <a:latin typeface="Calibri"/>
              </a:rPr>
              <a:t>Apply scope rules, parameter passing (by value vs by reference) and OOP concepts (encapsulation, inheritance, polymorphism) when reading and writing OCR pseudocode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retrieval starter</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Which loop type tests its condition at the end and so always runs at least once?</a:t>
            </a:r>
          </a:p>
          <a:p>
            <a:r>
              <a:rPr sz="2200" b="1">
                <a:solidFill>
                  <a:srgbClr val="222222"/>
                </a:solidFill>
                <a:latin typeface="Calibri"/>
              </a:rPr>
              <a:t>2. What is the single defining difference between a function and a procedure?</a:t>
            </a:r>
          </a:p>
          <a:p>
            <a:r>
              <a:rPr sz="2200" b="1">
                <a:solidFill>
                  <a:srgbClr val="222222"/>
                </a:solidFill>
                <a:latin typeface="Calibri"/>
              </a:rPr>
              <a:t>3. When an argument is passed by reference, what is actually passed and what is the consequence?</a:t>
            </a:r>
          </a:p>
          <a:p>
            <a:r>
              <a:rPr sz="2200" b="1">
                <a:solidFill>
                  <a:srgbClr val="222222"/>
                </a:solidFill>
                <a:latin typeface="Calibri"/>
              </a:rPr>
              <a:t>4. State the difference between the MAR and the MDR (interleaves 1.1.1 processor registers).</a:t>
            </a:r>
          </a:p>
          <a:p>
            <a:r>
              <a:rPr sz="2200" b="1">
                <a:solidFill>
                  <a:srgbClr val="222222"/>
                </a:solidFill>
                <a:latin typeface="Calibri"/>
              </a:rPr>
              <a:t>5. What does a stack do on a push, and in what order are items removed (interleaves 1.4.2 data structures)?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Do Now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Which loop type tests its condition at the end and so always runs at least once?</a:t>
            </a:r>
          </a:p>
          <a:p>
            <a:pPr lvl="1"/>
            <a:r>
              <a:rPr sz="1800" i="1">
                <a:solidFill>
                  <a:srgbClr val="B76E00"/>
                </a:solidFill>
                <a:latin typeface="Calibri"/>
              </a:rPr>
              <a:t>Answer: A post-conditioned loop (do...until); a while loop is pre-conditioned and may run zero times.</a:t>
            </a:r>
          </a:p>
          <a:p>
            <a:r>
              <a:rPr sz="2200" b="1">
                <a:solidFill>
                  <a:srgbClr val="222222"/>
                </a:solidFill>
                <a:latin typeface="Calibri"/>
              </a:rPr>
              <a:t>2. What is the single defining difference between a function and a procedure?</a:t>
            </a:r>
          </a:p>
          <a:p>
            <a:pPr lvl="1"/>
            <a:r>
              <a:rPr sz="1800" i="1">
                <a:solidFill>
                  <a:srgbClr val="B76E00"/>
                </a:solidFill>
                <a:latin typeface="Calibri"/>
              </a:rPr>
              <a:t>Answer: A function returns a single value (usable in an expression); a procedure returns no value.</a:t>
            </a:r>
          </a:p>
          <a:p>
            <a:r>
              <a:rPr sz="2200" b="1">
                <a:solidFill>
                  <a:srgbClr val="222222"/>
                </a:solidFill>
                <a:latin typeface="Calibri"/>
              </a:rPr>
              <a:t>3. When an argument is passed by reference, what is actually passed and what is the consequence?</a:t>
            </a:r>
          </a:p>
          <a:p>
            <a:pPr lvl="1"/>
            <a:r>
              <a:rPr sz="1800" i="1">
                <a:solidFill>
                  <a:srgbClr val="B76E00"/>
                </a:solidFill>
                <a:latin typeface="Calibri"/>
              </a:rPr>
              <a:t>Answer: The memory address of the original variable is passed, so changes inside the subroutine change the original.</a:t>
            </a:r>
          </a:p>
          <a:p>
            <a:r>
              <a:rPr sz="2200" b="1">
                <a:solidFill>
                  <a:srgbClr val="222222"/>
                </a:solidFill>
                <a:latin typeface="Calibri"/>
              </a:rPr>
              <a:t>4. State the difference between the MAR and the MDR (interleaves 1.1.1 processor registers).</a:t>
            </a:r>
          </a:p>
          <a:p>
            <a:pPr lvl="1"/>
            <a:r>
              <a:rPr sz="1800" i="1">
                <a:solidFill>
                  <a:srgbClr val="B76E00"/>
                </a:solidFill>
                <a:latin typeface="Calibri"/>
              </a:rPr>
              <a:t>Answer: The MAR holds the address of a memory location; the MDR holds the data or instruction at that location.</a:t>
            </a:r>
          </a:p>
          <a:p>
            <a:r>
              <a:rPr sz="2200" b="1">
                <a:solidFill>
                  <a:srgbClr val="222222"/>
                </a:solidFill>
                <a:latin typeface="Calibri"/>
              </a:rPr>
              <a:t>5. What does a stack do on a push, and in what order are items removed (interleaves 1.4.2 data structures)?</a:t>
            </a:r>
          </a:p>
          <a:p>
            <a:pPr lvl="1"/>
            <a:r>
              <a:rPr sz="1800" i="1">
                <a:solidFill>
                  <a:srgbClr val="B76E00"/>
                </a:solidFill>
                <a:latin typeface="Calibri"/>
              </a:rPr>
              <a:t>Answer: A push adds an item to the top; items are removed top-first in LIFO (last in, first out) order.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Key terminology</a:t>
            </a:r>
          </a:p>
        </p:txBody>
      </p:sp>
      <p:sp>
        <p:nvSpPr>
          <p:cNvPr id="3" name="TextBox 2"/>
          <p:cNvSpPr txBox="1"/>
          <p:nvPr/>
        </p:nvSpPr>
        <p:spPr>
          <a:xfrm>
            <a:off x="640080" y="1280160"/>
            <a:ext cx="10881360" cy="5120640"/>
          </a:xfrm>
          <a:prstGeom prst="rect">
            <a:avLst/>
          </a:prstGeom>
          <a:noFill/>
        </p:spPr>
        <p:txBody>
          <a:bodyPr wrap="square">
            <a:spAutoFit/>
          </a:bodyPr>
          <a:lstStyle/>
          <a:p/>
          <a:p>
            <a:r>
              <a:rPr b="1" sz="2000">
                <a:solidFill>
                  <a:srgbClr val="1A365D"/>
                </a:solidFill>
                <a:latin typeface="Calibri"/>
              </a:rPr>
              <a:t>Recursion</a:t>
            </a:r>
            <a:r>
              <a:rPr sz="1800">
                <a:solidFill>
                  <a:srgbClr val="222222"/>
                </a:solidFill>
                <a:latin typeface="Calibri"/>
              </a:rPr>
              <a:t> — A subroutine that calls itself, needing a base case to stop and a general/recursive case that moves closer to it.</a:t>
            </a:r>
          </a:p>
          <a:p>
            <a:r>
              <a:rPr b="1" sz="2000">
                <a:solidFill>
                  <a:srgbClr val="1A365D"/>
                </a:solidFill>
                <a:latin typeface="Calibri"/>
              </a:rPr>
              <a:t>Base case</a:t>
            </a:r>
            <a:r>
              <a:rPr sz="1800">
                <a:solidFill>
                  <a:srgbClr val="222222"/>
                </a:solidFill>
                <a:latin typeface="Calibri"/>
              </a:rPr>
              <a:t> — The condition that stops recursion with no further recursive call; if unreached it causes a stack overflow.</a:t>
            </a:r>
          </a:p>
          <a:p>
            <a:r>
              <a:rPr b="1" sz="2000">
                <a:solidFill>
                  <a:srgbClr val="1A365D"/>
                </a:solidFill>
                <a:latin typeface="Calibri"/>
              </a:rPr>
              <a:t>Call stack</a:t>
            </a:r>
            <a:r>
              <a:rPr sz="1800">
                <a:solidFill>
                  <a:srgbClr val="222222"/>
                </a:solidFill>
                <a:latin typeface="Calibri"/>
              </a:rPr>
              <a:t> — A stack of frames holding the parameters, local variables and return address for each active subroutine call.</a:t>
            </a:r>
          </a:p>
          <a:p>
            <a:r>
              <a:rPr b="1" sz="2000">
                <a:solidFill>
                  <a:srgbClr val="1A365D"/>
                </a:solidFill>
                <a:latin typeface="Calibri"/>
              </a:rPr>
              <a:t>Scope</a:t>
            </a:r>
            <a:r>
              <a:rPr sz="1800">
                <a:solidFill>
                  <a:srgbClr val="222222"/>
                </a:solidFill>
                <a:latin typeface="Calibri"/>
              </a:rPr>
              <a:t> — The region of a program in which a variable can be accessed (is visible).</a:t>
            </a:r>
          </a:p>
          <a:p>
            <a:r>
              <a:rPr b="1" sz="2000">
                <a:solidFill>
                  <a:srgbClr val="1A365D"/>
                </a:solidFill>
                <a:latin typeface="Calibri"/>
              </a:rPr>
              <a:t>Local variable</a:t>
            </a:r>
            <a:r>
              <a:rPr sz="1800">
                <a:solidFill>
                  <a:srgbClr val="222222"/>
                </a:solidFill>
                <a:latin typeface="Calibri"/>
              </a:rPr>
              <a:t> — A variable declared inside a subroutine, visible only within it and existing only while it runs.</a:t>
            </a:r>
          </a:p>
          <a:p>
            <a:r>
              <a:rPr b="1" sz="2000">
                <a:solidFill>
                  <a:srgbClr val="1A365D"/>
                </a:solidFill>
                <a:latin typeface="Calibri"/>
              </a:rPr>
              <a:t>Global variable</a:t>
            </a:r>
            <a:r>
              <a:rPr sz="1800">
                <a:solidFill>
                  <a:srgbClr val="222222"/>
                </a:solidFill>
                <a:latin typeface="Calibri"/>
              </a:rPr>
              <a:t> — A variable declared outside any subroutine, visible and usable anywhere in the program for its whole run.</a:t>
            </a:r>
          </a:p>
          <a:p>
            <a:r>
              <a:rPr b="1" sz="2000">
                <a:solidFill>
                  <a:srgbClr val="1A365D"/>
                </a:solidFill>
                <a:latin typeface="Calibri"/>
              </a:rPr>
              <a:t>By value vs by reference</a:t>
            </a:r>
            <a:r>
              <a:rPr sz="1800">
                <a:solidFill>
                  <a:srgbClr val="222222"/>
                </a:solidFill>
                <a:latin typeface="Calibri"/>
              </a:rPr>
              <a:t> — By value passes a copy so the original is unchanged; by reference passes the address so the original can be changed.</a:t>
            </a:r>
          </a:p>
          <a:p>
            <a:r>
              <a:rPr b="1" sz="2000">
                <a:solidFill>
                  <a:srgbClr val="1A365D"/>
                </a:solidFill>
                <a:latin typeface="Calibri"/>
              </a:rPr>
              <a:t>Encapsulation</a:t>
            </a:r>
            <a:r>
              <a:rPr sz="1800">
                <a:solidFill>
                  <a:srgbClr val="222222"/>
                </a:solidFill>
                <a:latin typeface="Calibri"/>
              </a:rPr>
              <a:t> — Bundling data and methods in a class with private attributes accessed only via public methods (data hiding).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Constructs and iteration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Sequence (order matters), selection (if/elseif/else, switch/case) and iteration are the building blocks of any program</a:t>
            </a:r>
          </a:p>
          <a:p>
            <a:pPr/>
            <a:r>
              <a:rPr sz="2200" b="0">
                <a:solidFill>
                  <a:srgbClr val="222222"/>
                </a:solidFill>
                <a:latin typeface="Calibri"/>
              </a:rPr>
              <a:t>Count-controlled iteration (for...next) repeats a fixed, known number of times; condition-controlled (while, do...until) repeats an unknown number of times</a:t>
            </a:r>
          </a:p>
          <a:p>
            <a:pPr/>
            <a:r>
              <a:rPr sz="2200" b="0">
                <a:solidFill>
                  <a:srgbClr val="222222"/>
                </a:solidFill>
                <a:latin typeface="Calibri"/>
              </a:rPr>
              <a:t>while is pre-conditioned (tests at the start, may run zero times); do...until is post-conditioned (tests at the end, runs at least once, good for input validation)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Recursion and the call stack</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A recursive subroutine calls itself and must have a base case (stops recursion) plus a general case (calls itself, moving toward the base case)</a:t>
            </a:r>
          </a:p>
          <a:p>
            <a:pPr/>
            <a:r>
              <a:rPr sz="2200" b="0">
                <a:solidFill>
                  <a:srgbClr val="222222"/>
                </a:solidFill>
                <a:latin typeface="Calibri"/>
              </a:rPr>
              <a:t>Each call pushes a stack frame storing parameters, local variables and the return address; frames are popped in reverse (LIFO) as calls return</a:t>
            </a:r>
          </a:p>
          <a:p>
            <a:pPr/>
            <a:r>
              <a:rPr sz="2200" b="0">
                <a:solidFill>
                  <a:srgbClr val="222222"/>
                </a:solidFill>
                <a:latin typeface="Calibri"/>
              </a:rPr>
              <a:t>A missing or unreached base case causes endless calls and a stack overflow; recursion uses more memory than iteration but suits self-similar problems like tree traversal and factorial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Scope: local vs global</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A local variable is declared inside a subroutine and is visible only there; a global is declared in the main program and is visible everywhere</a:t>
            </a:r>
          </a:p>
          <a:p>
            <a:pPr/>
            <a:r>
              <a:rPr sz="2200" b="0">
                <a:solidFill>
                  <a:srgbClr val="222222"/>
                </a:solidFill>
                <a:latin typeface="Calibri"/>
              </a:rPr>
              <a:t>Prefer local variables: fewer side effects, memory freed on exit, and code that is more modular, reusable and easier to debug</a:t>
            </a:r>
          </a:p>
          <a:p>
            <a:pPr/>
            <a:r>
              <a:rPr sz="2200" b="0">
                <a:solidFill>
                  <a:srgbClr val="222222"/>
                </a:solidFill>
                <a:latin typeface="Calibri"/>
              </a:rPr>
              <a:t>A local variable shadows a same-named global within its subroutine, so an assignment to it does not change the global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Modularity, functions and parameters</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Modularity splits a program into self-contained subroutines (modules), making it easier to write, test, debug, reuse and share between a team</a:t>
            </a:r>
          </a:p>
          <a:p>
            <a:pPr/>
            <a:r>
              <a:rPr sz="2200" b="0">
                <a:solidFill>
                  <a:srgbClr val="222222"/>
                </a:solidFill>
                <a:latin typeface="Calibri"/>
              </a:rPr>
              <a:t>A procedure performs a task and returns no value; a function performs a task and returns a single value usable in an expression</a:t>
            </a:r>
          </a:p>
          <a:p>
            <a:pPr/>
            <a:r>
              <a:rPr sz="2200" b="0">
                <a:solidFill>
                  <a:srgbClr val="222222"/>
                </a:solidFill>
                <a:latin typeface="Calibri"/>
              </a:rPr>
              <a:t>A parameter is the variable in the definition; an argument is the value supplied at the call; pass by reference is efficient for large data and can return changes, by value is safer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Object-oriented programming</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0">
                <a:solidFill>
                  <a:srgbClr val="222222"/>
                </a:solidFill>
                <a:latin typeface="Calibri"/>
              </a:rPr>
              <a:t>A class is a template defining attributes and methods; an object is a specific instance of a class created at run time</a:t>
            </a:r>
          </a:p>
          <a:p>
            <a:pPr/>
            <a:r>
              <a:rPr sz="2200" b="0">
                <a:solidFill>
                  <a:srgbClr val="222222"/>
                </a:solidFill>
                <a:latin typeface="Calibri"/>
              </a:rPr>
              <a:t>Encapsulation keeps attributes private and exposes public getters/setters (data hiding protects integrity); a constructor (OCR: new) initialises attributes</a:t>
            </a:r>
          </a:p>
          <a:p>
            <a:pPr/>
            <a:r>
              <a:rPr sz="2200" b="0">
                <a:solidFill>
                  <a:srgbClr val="222222"/>
                </a:solidFill>
                <a:latin typeface="Calibri"/>
              </a:rPr>
              <a:t>Inheritance lets a subclass acquire a superclass's attributes and methods (models is-a); polymorphism makes the same method call behave differently per object type, usually via overriding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Worked example</a:t>
            </a:r>
          </a:p>
        </p:txBody>
      </p:sp>
      <p:sp>
        <p:nvSpPr>
          <p:cNvPr id="3" name="TextBox 2"/>
          <p:cNvSpPr txBox="1"/>
          <p:nvPr/>
        </p:nvSpPr>
        <p:spPr>
          <a:xfrm>
            <a:off x="640080" y="1280160"/>
            <a:ext cx="10881360" cy="5120640"/>
          </a:xfrm>
          <a:prstGeom prst="rect">
            <a:avLst/>
          </a:prstGeom>
          <a:noFill/>
        </p:spPr>
        <p:txBody>
          <a:bodyPr wrap="square">
            <a:spAutoFit/>
          </a:bodyPr>
          <a:lstStyle/>
          <a:p>
            <a:pPr/>
            <a:r>
              <a:rPr sz="2200" b="1">
                <a:solidFill>
                  <a:srgbClr val="2B6CB0"/>
                </a:solidFill>
                <a:latin typeface="Calibri"/>
              </a:rPr>
              <a:t>Tracing factorial(4) on the call stack</a:t>
            </a:r>
          </a:p>
          <a:p>
            <a:pPr lvl="1"/>
            <a:r>
              <a:rPr sz="2000" b="0">
                <a:solidFill>
                  <a:srgbClr val="222222"/>
                </a:solidFill>
                <a:latin typeface="Calibri"/>
              </a:rPr>
              <a:t>1. function factorial(n): if n &lt;= 1 then return 1 else return n * factorial(n - 1)</a:t>
            </a:r>
          </a:p>
          <a:p>
            <a:pPr lvl="1"/>
            <a:r>
              <a:rPr sz="2000" b="0">
                <a:solidFill>
                  <a:srgbClr val="222222"/>
                </a:solidFill>
                <a:latin typeface="Calibri"/>
              </a:rPr>
              <a:t>2. Call factorial(4): not base case, so push a frame and call factorial(3)</a:t>
            </a:r>
          </a:p>
          <a:p>
            <a:pPr lvl="1"/>
            <a:r>
              <a:rPr sz="2000" b="0">
                <a:solidFill>
                  <a:srgbClr val="222222"/>
                </a:solidFill>
                <a:latin typeface="Calibri"/>
              </a:rPr>
              <a:t>3. Call factorial(3): push a frame and call factorial(2); call factorial(2): push a frame and call factorial(1)</a:t>
            </a:r>
          </a:p>
          <a:p>
            <a:pPr lvl="1"/>
            <a:r>
              <a:rPr sz="2000" b="0">
                <a:solidFill>
                  <a:srgbClr val="222222"/>
                </a:solidFill>
                <a:latin typeface="Calibri"/>
              </a:rPr>
              <a:t>4. factorial(1): n &lt;= 1 is true, so the base case returns 1 with no further call</a:t>
            </a:r>
          </a:p>
          <a:p>
            <a:pPr lvl="1"/>
            <a:r>
              <a:rPr sz="2000" b="0">
                <a:solidFill>
                  <a:srgbClr val="222222"/>
                </a:solidFill>
                <a:latin typeface="Calibri"/>
              </a:rPr>
              <a:t>5. Frames now pop in LIFO order: factorial(2) returns 2*1 = 2, factorial(3) returns 3*2 = 6, factorial(4) returns 4*6 = 24</a:t>
            </a:r>
          </a:p>
          <a:p>
            <a:pPr lvl="1"/>
            <a:r>
              <a:rPr sz="2000" b="0">
                <a:solidFill>
                  <a:srgbClr val="222222"/>
                </a:solidFill>
                <a:latin typeface="Calibri"/>
              </a:rPr>
              <a:t>6. The stack is now empty and the final result returned to the caller is 24</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Your turn</a:t>
            </a:r>
          </a:p>
        </p:txBody>
      </p:sp>
      <p:sp>
        <p:nvSpPr>
          <p:cNvPr id="3" name="TextBox 2"/>
          <p:cNvSpPr txBox="1"/>
          <p:nvPr/>
        </p:nvSpPr>
        <p:spPr>
          <a:xfrm>
            <a:off x="640080" y="1280160"/>
            <a:ext cx="10881360" cy="5120640"/>
          </a:xfrm>
          <a:prstGeom prst="rect">
            <a:avLst/>
          </a:prstGeom>
          <a:noFill/>
        </p:spPr>
        <p:txBody>
          <a:bodyPr wrap="square">
            <a:spAutoFit/>
          </a:bodyPr>
          <a:lstStyle/>
          <a:p>
            <a:pPr/>
            <a:r>
              <a:rPr sz="2400" b="1">
                <a:solidFill>
                  <a:srgbClr val="2B6CB0"/>
                </a:solidFill>
                <a:latin typeface="Calibri"/>
              </a:rPr>
              <a:t>Task</a:t>
            </a:r>
          </a:p>
          <a:p>
            <a:pPr lvl="1"/>
            <a:r>
              <a:rPr sz="2200" b="0">
                <a:solidFill>
                  <a:srgbClr val="222222"/>
                </a:solidFill>
                <a:latin typeface="Calibri"/>
              </a:rPr>
              <a:t>Trace the call factorial(4) using the routine above: draw the call stack showing each frame as it is pushed, mark where the base case is reached, then show each value returned as the frames pop, ending with the final answer 24.</a:t>
            </a:r>
          </a:p>
          <a:p>
            <a:r>
              <a:rPr sz="2400" b="1">
                <a:solidFill>
                  <a:srgbClr val="B76E00"/>
                </a:solidFill>
                <a:latin typeface="Calibri"/>
              </a:rPr>
              <a:t>Challenge / stretch</a:t>
            </a:r>
          </a:p>
          <a:p>
            <a:pPr lvl="1"/>
            <a:r>
              <a:rPr sz="2200" b="0">
                <a:solidFill>
                  <a:srgbClr val="222222"/>
                </a:solidFill>
                <a:latin typeface="Calibri"/>
              </a:rPr>
              <a:t>Given procedure addOne(byRef n) and procedure addOne(byVal n) each doing n = n + 1, and a variable x = 3, state the value of x after each call and explain the difference in terms of consequence (not just that a copy is made). Then rewrite factorial as an iterative for...next loop and state one advantage of each version.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Why does a recursive routine with no reachable base case crash, and what is the error called?</a:t>
            </a:r>
          </a:p>
          <a:p>
            <a:r>
              <a:rPr sz="2200" b="1">
                <a:solidFill>
                  <a:srgbClr val="222222"/>
                </a:solidFill>
                <a:latin typeface="Calibri"/>
              </a:rPr>
              <a:t>2. A global total = 10; inside a procedure an assignment total = 5 then print(total) runs, then print(total) runs in the main program. What two values print and why?</a:t>
            </a:r>
          </a:p>
          <a:p>
            <a:r>
              <a:rPr sz="2200" b="1">
                <a:solidFill>
                  <a:srgbClr val="222222"/>
                </a:solidFill>
                <a:latin typeface="Calibri"/>
              </a:rPr>
              <a:t>3. In OCR pseudocode, why must getBalance() be written as a function rather than a procedure?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74320"/>
            <a:ext cx="11064240" cy="822960"/>
          </a:xfrm>
          <a:prstGeom prst="rect">
            <a:avLst/>
          </a:prstGeom>
          <a:noFill/>
        </p:spPr>
        <p:txBody>
          <a:bodyPr wrap="square">
            <a:spAutoFit/>
          </a:bodyPr>
          <a:lstStyle/>
          <a:p>
            <a:r>
              <a:rPr sz="3000" b="1" i="0">
                <a:solidFill>
                  <a:srgbClr val="2B6CB0"/>
                </a:solidFill>
                <a:latin typeface="Calibri"/>
              </a:rPr>
              <a:t>Exit ticket — answers</a:t>
            </a:r>
          </a:p>
        </p:txBody>
      </p:sp>
      <p:sp>
        <p:nvSpPr>
          <p:cNvPr id="3" name="TextBox 2"/>
          <p:cNvSpPr txBox="1"/>
          <p:nvPr/>
        </p:nvSpPr>
        <p:spPr>
          <a:xfrm>
            <a:off x="640080" y="1280160"/>
            <a:ext cx="10881360" cy="5120640"/>
          </a:xfrm>
          <a:prstGeom prst="rect">
            <a:avLst/>
          </a:prstGeom>
          <a:noFill/>
        </p:spPr>
        <p:txBody>
          <a:bodyPr wrap="square">
            <a:spAutoFit/>
          </a:bodyPr>
          <a:lstStyle/>
          <a:p>
            <a:r>
              <a:rPr sz="2200" b="1">
                <a:solidFill>
                  <a:srgbClr val="222222"/>
                </a:solidFill>
                <a:latin typeface="Calibri"/>
              </a:rPr>
              <a:t>1. Why does a recursive routine with no reachable base case crash, and what is the error called?</a:t>
            </a:r>
          </a:p>
          <a:p>
            <a:pPr lvl="1"/>
            <a:r>
              <a:rPr sz="1800" i="1">
                <a:solidFill>
                  <a:srgbClr val="B76E00"/>
                </a:solidFill>
                <a:latin typeface="Calibri"/>
              </a:rPr>
              <a:t>Answer: Each call pushes another stack frame and they never stop, so memory is exhausted, causing a stack overflow.</a:t>
            </a:r>
          </a:p>
          <a:p>
            <a:r>
              <a:rPr sz="2200" b="1">
                <a:solidFill>
                  <a:srgbClr val="222222"/>
                </a:solidFill>
                <a:latin typeface="Calibri"/>
              </a:rPr>
              <a:t>2. A global total = 10; inside a procedure an assignment total = 5 then print(total) runs, then print(total) runs in the main program. What two values print and why?</a:t>
            </a:r>
          </a:p>
          <a:p>
            <a:pPr lvl="1"/>
            <a:r>
              <a:rPr sz="1800" i="1">
                <a:solidFill>
                  <a:srgbClr val="B76E00"/>
                </a:solidFill>
                <a:latin typeface="Calibri"/>
              </a:rPr>
              <a:t>Answer: 5 then 10: the assignment creates a local total (scope = the procedure) that shadows but does not change the global, which stays 10.</a:t>
            </a:r>
          </a:p>
          <a:p>
            <a:r>
              <a:rPr sz="2200" b="1">
                <a:solidFill>
                  <a:srgbClr val="222222"/>
                </a:solidFill>
                <a:latin typeface="Calibri"/>
              </a:rPr>
              <a:t>3. In OCR pseudocode, why must getBalance() be written as a function rather than a procedure?</a:t>
            </a:r>
          </a:p>
          <a:p>
            <a:pPr lvl="1"/>
            <a:r>
              <a:rPr sz="1800" i="1">
                <a:solidFill>
                  <a:srgbClr val="B76E00"/>
                </a:solidFill>
                <a:latin typeface="Calibri"/>
              </a:rPr>
              <a:t>Answer: It returns a single value (the balance), and only a function returns a value; a procedure would return nothing.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