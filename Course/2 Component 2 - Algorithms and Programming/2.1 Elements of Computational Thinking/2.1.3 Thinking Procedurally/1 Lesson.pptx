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365D"/>
        </a:solidFill>
        <a:effectLst/>
      </p:bgPr>
    </p:bg>
    <p:spTree>
      <p:nvGrpSpPr>
        <p:cNvPr id="1" name=""/>
        <p:cNvGrpSpPr/>
        <p:nvPr/>
      </p:nvGrpSpPr>
      <p:grpSpPr/>
      <p:sp>
        <p:nvSpPr>
          <p:cNvPr id="2" name="TextBox 1"/>
          <p:cNvSpPr txBox="1"/>
          <p:nvPr/>
        </p:nvSpPr>
        <p:spPr>
          <a:xfrm>
            <a:off x="731520" y="2194560"/>
            <a:ext cx="10698480" cy="1828800"/>
          </a:xfrm>
          <a:prstGeom prst="rect">
            <a:avLst/>
          </a:prstGeom>
          <a:noFill/>
        </p:spPr>
        <p:txBody>
          <a:bodyPr wrap="square">
            <a:spAutoFit/>
          </a:bodyPr>
          <a:lstStyle/>
          <a:p>
            <a:r>
              <a:rPr sz="4000" b="1" i="0">
                <a:solidFill>
                  <a:srgbClr val="FFFFFF"/>
                </a:solidFill>
                <a:latin typeface="Calibri"/>
              </a:rPr>
              <a:t>2.1.3 Thinking Procedurally</a:t>
            </a:r>
          </a:p>
          <a:p>
            <a:r>
              <a:rPr sz="2000" b="0" i="0">
                <a:solidFill>
                  <a:srgbClr val="BED3EC"/>
                </a:solidFill>
                <a:latin typeface="Calibri"/>
              </a:rPr>
              <a:t>OCR H446 — Component 02</a:t>
            </a:r>
          </a:p>
        </p:txBody>
      </p:sp>
      <p:sp>
        <p:nvSpPr>
          <p:cNvPr id="3" name="TextBox 2"/>
          <p:cNvSpPr txBox="1"/>
          <p:nvPr/>
        </p:nvSpPr>
        <p:spPr>
          <a:xfrm>
            <a:off x="731520" y="6035040"/>
            <a:ext cx="10698480" cy="548640"/>
          </a:xfrm>
          <a:prstGeom prst="rect">
            <a:avLst/>
          </a:prstGeom>
          <a:noFill/>
        </p:spPr>
        <p:txBody>
          <a:bodyPr wrap="square">
            <a:spAutoFit/>
          </a:bodyPr>
          <a:lstStyle/>
          <a:p>
            <a:r>
              <a:rPr sz="1400" b="0" i="1">
                <a:solidFill>
                  <a:srgbClr val="9AB4D6"/>
                </a:solidFill>
                <a:latin typeface="Calibri"/>
              </a:rPr>
              <a:t>Lesson deck — editable skeleton: adapt freely.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Learning objectives</a:t>
            </a:r>
          </a:p>
        </p:txBody>
      </p:sp>
      <p:sp>
        <p:nvSpPr>
          <p:cNvPr id="3" name="TextBox 2"/>
          <p:cNvSpPr txBox="1"/>
          <p:nvPr/>
        </p:nvSpPr>
        <p:spPr>
          <a:xfrm>
            <a:off x="640080" y="1280160"/>
            <a:ext cx="10881360" cy="5120640"/>
          </a:xfrm>
          <a:prstGeom prst="rect">
            <a:avLst/>
          </a:prstGeom>
          <a:noFill/>
        </p:spPr>
        <p:txBody>
          <a:bodyPr wrap="square">
            <a:spAutoFit/>
          </a:bodyPr>
          <a:lstStyle/>
          <a:p>
            <a:pPr/>
            <a:r>
              <a:rPr sz="2200" b="1">
                <a:solidFill>
                  <a:srgbClr val="2B6CB0"/>
                </a:solidFill>
                <a:latin typeface="Calibri"/>
              </a:rPr>
              <a:t>By the end of this lesson you can:</a:t>
            </a:r>
          </a:p>
          <a:p>
            <a:pPr lvl="1"/>
            <a:r>
              <a:rPr sz="2200" b="0">
                <a:solidFill>
                  <a:srgbClr val="222222"/>
                </a:solidFill>
                <a:latin typeface="Calibri"/>
              </a:rPr>
              <a:t>Decompose a problem into named sub-procedures, each performing one task.</a:t>
            </a:r>
          </a:p>
          <a:p>
            <a:pPr lvl="1"/>
            <a:r>
              <a:rPr sz="2200" b="0">
                <a:solidFill>
                  <a:srgbClr val="222222"/>
                </a:solidFill>
                <a:latin typeface="Calibri"/>
              </a:rPr>
              <a:t>Determine the fixed order of steps by identifying data dependencies between them.</a:t>
            </a:r>
          </a:p>
          <a:p>
            <a:pPr lvl="1"/>
            <a:r>
              <a:rPr sz="2200" b="0">
                <a:solidFill>
                  <a:srgbClr val="222222"/>
                </a:solidFill>
                <a:latin typeface="Calibri"/>
              </a:rPr>
              <a:t>Apply procedural thinking to sequence an unseen scenario and justify why the order is fixed.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Do Now — retrieval starter</a:t>
            </a:r>
          </a:p>
        </p:txBody>
      </p:sp>
      <p:sp>
        <p:nvSpPr>
          <p:cNvPr id="3" name="TextBox 2"/>
          <p:cNvSpPr txBox="1"/>
          <p:nvPr/>
        </p:nvSpPr>
        <p:spPr>
          <a:xfrm>
            <a:off x="640080" y="1280160"/>
            <a:ext cx="10881360" cy="5120640"/>
          </a:xfrm>
          <a:prstGeom prst="rect">
            <a:avLst/>
          </a:prstGeom>
          <a:noFill/>
        </p:spPr>
        <p:txBody>
          <a:bodyPr wrap="square">
            <a:spAutoFit/>
          </a:bodyPr>
          <a:lstStyle/>
          <a:p>
            <a:r>
              <a:rPr sz="2200" b="1">
                <a:solidFill>
                  <a:srgbClr val="222222"/>
                </a:solidFill>
                <a:latin typeface="Calibri"/>
              </a:rPr>
              <a:t>1. What is decomposition?</a:t>
            </a:r>
          </a:p>
          <a:p>
            <a:r>
              <a:rPr sz="2200" b="1">
                <a:solidFill>
                  <a:srgbClr val="222222"/>
                </a:solidFill>
                <a:latin typeface="Calibri"/>
              </a:rPr>
              <a:t>2. What is a sub-procedure?</a:t>
            </a:r>
          </a:p>
          <a:p>
            <a:r>
              <a:rPr sz="2200" b="1">
                <a:solidFill>
                  <a:srgbClr val="222222"/>
                </a:solidFill>
                <a:latin typeface="Calibri"/>
              </a:rPr>
              <a:t>3. Why must some steps run in a fixed order?</a:t>
            </a:r>
          </a:p>
          <a:p>
            <a:r>
              <a:rPr sz="2200" b="1">
                <a:solidFill>
                  <a:srgbClr val="222222"/>
                </a:solidFill>
                <a:latin typeface="Calibri"/>
              </a:rPr>
              <a:t>4. Give two advantages of dividing a program into sub-procedures.</a:t>
            </a:r>
          </a:p>
          <a:p>
            <a:r>
              <a:rPr sz="2200" b="1">
                <a:solidFill>
                  <a:srgbClr val="222222"/>
                </a:solidFill>
                <a:latin typeface="Calibri"/>
              </a:rPr>
              <a:t>5. Interleaving (2.1.1): how does decomposition differ from abstraction?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Do Now — answers</a:t>
            </a:r>
          </a:p>
        </p:txBody>
      </p:sp>
      <p:sp>
        <p:nvSpPr>
          <p:cNvPr id="3" name="TextBox 2"/>
          <p:cNvSpPr txBox="1"/>
          <p:nvPr/>
        </p:nvSpPr>
        <p:spPr>
          <a:xfrm>
            <a:off x="640080" y="1280160"/>
            <a:ext cx="10881360" cy="5120640"/>
          </a:xfrm>
          <a:prstGeom prst="rect">
            <a:avLst/>
          </a:prstGeom>
          <a:noFill/>
        </p:spPr>
        <p:txBody>
          <a:bodyPr wrap="square">
            <a:spAutoFit/>
          </a:bodyPr>
          <a:lstStyle/>
          <a:p>
            <a:r>
              <a:rPr sz="2200" b="1">
                <a:solidFill>
                  <a:srgbClr val="222222"/>
                </a:solidFill>
                <a:latin typeface="Calibri"/>
              </a:rPr>
              <a:t>1. What is decomposition?</a:t>
            </a:r>
          </a:p>
          <a:p>
            <a:pPr lvl="1"/>
            <a:r>
              <a:rPr sz="1800" i="1">
                <a:solidFill>
                  <a:srgbClr val="B76E00"/>
                </a:solidFill>
                <a:latin typeface="Calibri"/>
              </a:rPr>
              <a:t>Answer: Breaking one large problem into smaller sub-problems that can each be solved separately.</a:t>
            </a:r>
          </a:p>
          <a:p>
            <a:r>
              <a:rPr sz="2200" b="1">
                <a:solidFill>
                  <a:srgbClr val="222222"/>
                </a:solidFill>
                <a:latin typeface="Calibri"/>
              </a:rPr>
              <a:t>2. What is a sub-procedure?</a:t>
            </a:r>
          </a:p>
          <a:p>
            <a:pPr lvl="1"/>
            <a:r>
              <a:rPr sz="1800" i="1">
                <a:solidFill>
                  <a:srgbClr val="B76E00"/>
                </a:solidFill>
                <a:latin typeface="Calibri"/>
              </a:rPr>
              <a:t>Answer: A self-contained, named block of code performing one task that can be called from several places.</a:t>
            </a:r>
          </a:p>
          <a:p>
            <a:r>
              <a:rPr sz="2200" b="1">
                <a:solidFill>
                  <a:srgbClr val="222222"/>
                </a:solidFill>
                <a:latin typeface="Calibri"/>
              </a:rPr>
              <a:t>3. Why must some steps run in a fixed order?</a:t>
            </a:r>
          </a:p>
          <a:p>
            <a:pPr lvl="1"/>
            <a:r>
              <a:rPr sz="1800" i="1">
                <a:solidFill>
                  <a:srgbClr val="B76E00"/>
                </a:solidFill>
                <a:latin typeface="Calibri"/>
              </a:rPr>
              <a:t>Answer: Because a later step uses the output of an earlier step — a data dependency.</a:t>
            </a:r>
          </a:p>
          <a:p>
            <a:r>
              <a:rPr sz="2200" b="1">
                <a:solidFill>
                  <a:srgbClr val="222222"/>
                </a:solidFill>
                <a:latin typeface="Calibri"/>
              </a:rPr>
              <a:t>4. Give two advantages of dividing a program into sub-procedures.</a:t>
            </a:r>
          </a:p>
          <a:p>
            <a:pPr lvl="1"/>
            <a:r>
              <a:rPr sz="1800" i="1">
                <a:solidFill>
                  <a:srgbClr val="B76E00"/>
                </a:solidFill>
                <a:latin typeface="Calibri"/>
              </a:rPr>
              <a:t>Answer: Easier to write/test/debug in isolation, reusable, shareable among a team, easier to maintain.</a:t>
            </a:r>
          </a:p>
          <a:p>
            <a:r>
              <a:rPr sz="2200" b="1">
                <a:solidFill>
                  <a:srgbClr val="222222"/>
                </a:solidFill>
                <a:latin typeface="Calibri"/>
              </a:rPr>
              <a:t>5. Interleaving (2.1.1): how does decomposition differ from abstraction?</a:t>
            </a:r>
          </a:p>
          <a:p>
            <a:pPr lvl="1"/>
            <a:r>
              <a:rPr sz="1800" i="1">
                <a:solidFill>
                  <a:srgbClr val="B76E00"/>
                </a:solidFill>
                <a:latin typeface="Calibri"/>
              </a:rPr>
              <a:t>Answer: Decomposition breaks a problem into sub-problems; abstraction removes irrelevant detail.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Key terminology</a:t>
            </a:r>
          </a:p>
        </p:txBody>
      </p:sp>
      <p:sp>
        <p:nvSpPr>
          <p:cNvPr id="3" name="TextBox 2"/>
          <p:cNvSpPr txBox="1"/>
          <p:nvPr/>
        </p:nvSpPr>
        <p:spPr>
          <a:xfrm>
            <a:off x="640080" y="1280160"/>
            <a:ext cx="10881360" cy="5120640"/>
          </a:xfrm>
          <a:prstGeom prst="rect">
            <a:avLst/>
          </a:prstGeom>
          <a:noFill/>
        </p:spPr>
        <p:txBody>
          <a:bodyPr wrap="square">
            <a:spAutoFit/>
          </a:bodyPr>
          <a:lstStyle/>
          <a:p/>
          <a:p>
            <a:r>
              <a:rPr b="1" sz="2000">
                <a:solidFill>
                  <a:srgbClr val="1A365D"/>
                </a:solidFill>
                <a:latin typeface="Calibri"/>
              </a:rPr>
              <a:t>Thinking procedurally</a:t>
            </a:r>
            <a:r>
              <a:rPr sz="1800">
                <a:solidFill>
                  <a:srgbClr val="222222"/>
                </a:solidFill>
                <a:latin typeface="Calibri"/>
              </a:rPr>
              <a:t> — Breaking a problem into an ordered sequence of steps and sub-procedures.</a:t>
            </a:r>
          </a:p>
          <a:p>
            <a:r>
              <a:rPr b="1" sz="2000">
                <a:solidFill>
                  <a:srgbClr val="1A365D"/>
                </a:solidFill>
                <a:latin typeface="Calibri"/>
              </a:rPr>
              <a:t>Decomposition</a:t>
            </a:r>
            <a:r>
              <a:rPr sz="1800">
                <a:solidFill>
                  <a:srgbClr val="222222"/>
                </a:solidFill>
                <a:latin typeface="Calibri"/>
              </a:rPr>
              <a:t> — Breaking one large problem into smaller, more manageable sub-problems.</a:t>
            </a:r>
          </a:p>
          <a:p>
            <a:r>
              <a:rPr b="1" sz="2000">
                <a:solidFill>
                  <a:srgbClr val="1A365D"/>
                </a:solidFill>
                <a:latin typeface="Calibri"/>
              </a:rPr>
              <a:t>Sub-procedure</a:t>
            </a:r>
            <a:r>
              <a:rPr sz="1800">
                <a:solidFill>
                  <a:srgbClr val="222222"/>
                </a:solidFill>
                <a:latin typeface="Calibri"/>
              </a:rPr>
              <a:t> — A self-contained, named, callable block of code that performs one task.</a:t>
            </a:r>
          </a:p>
          <a:p>
            <a:r>
              <a:rPr b="1" sz="2000">
                <a:solidFill>
                  <a:srgbClr val="1A365D"/>
                </a:solidFill>
                <a:latin typeface="Calibri"/>
              </a:rPr>
              <a:t>Sequence</a:t>
            </a:r>
            <a:r>
              <a:rPr sz="1800">
                <a:solidFill>
                  <a:srgbClr val="222222"/>
                </a:solidFill>
                <a:latin typeface="Calibri"/>
              </a:rPr>
              <a:t> — The order in which steps execute, fixed where dependencies exist.</a:t>
            </a:r>
          </a:p>
          <a:p>
            <a:r>
              <a:rPr b="1" sz="2000">
                <a:solidFill>
                  <a:srgbClr val="1A365D"/>
                </a:solidFill>
                <a:latin typeface="Calibri"/>
              </a:rPr>
              <a:t>Data dependency</a:t>
            </a:r>
            <a:r>
              <a:rPr sz="1800">
                <a:solidFill>
                  <a:srgbClr val="222222"/>
                </a:solidFill>
                <a:latin typeface="Calibri"/>
              </a:rPr>
              <a:t> — When a step needs the output of an earlier step, forcing a fixed order.</a:t>
            </a:r>
          </a:p>
          <a:p>
            <a:r>
              <a:rPr b="1" sz="2000">
                <a:solidFill>
                  <a:srgbClr val="1A365D"/>
                </a:solidFill>
                <a:latin typeface="Calibri"/>
              </a:rPr>
              <a:t>Reuse</a:t>
            </a:r>
            <a:r>
              <a:rPr sz="1800">
                <a:solidFill>
                  <a:srgbClr val="222222"/>
                </a:solidFill>
                <a:latin typeface="Calibri"/>
              </a:rPr>
              <a:t> — Calling one sub-procedure from many places instead of duplicating its code.</a:t>
            </a:r>
          </a:p>
          <a:p>
            <a:r>
              <a:rPr b="1" sz="2000">
                <a:solidFill>
                  <a:srgbClr val="1A365D"/>
                </a:solidFill>
                <a:latin typeface="Calibri"/>
              </a:rPr>
              <a:t>Maintainability</a:t>
            </a:r>
            <a:r>
              <a:rPr sz="1800">
                <a:solidFill>
                  <a:srgbClr val="222222"/>
                </a:solidFill>
                <a:latin typeface="Calibri"/>
              </a:rPr>
              <a:t> — How easily code can be fixed or changed; improved by single-place sub-procedures.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Decomposition</a:t>
            </a:r>
          </a:p>
        </p:txBody>
      </p:sp>
      <p:sp>
        <p:nvSpPr>
          <p:cNvPr id="3" name="TextBox 2"/>
          <p:cNvSpPr txBox="1"/>
          <p:nvPr/>
        </p:nvSpPr>
        <p:spPr>
          <a:xfrm>
            <a:off x="640080" y="1280160"/>
            <a:ext cx="10881360" cy="5120640"/>
          </a:xfrm>
          <a:prstGeom prst="rect">
            <a:avLst/>
          </a:prstGeom>
          <a:noFill/>
        </p:spPr>
        <p:txBody>
          <a:bodyPr wrap="square">
            <a:spAutoFit/>
          </a:bodyPr>
          <a:lstStyle/>
          <a:p>
            <a:pPr/>
            <a:r>
              <a:rPr sz="2200" b="0">
                <a:solidFill>
                  <a:srgbClr val="222222"/>
                </a:solidFill>
                <a:latin typeface="Calibri"/>
              </a:rPr>
              <a:t>Split a big problem into smaller sub-problems, e.g. a shopping site into accounts, catalogue, basket, checkout.</a:t>
            </a:r>
          </a:p>
          <a:p>
            <a:pPr/>
            <a:r>
              <a:rPr sz="2200" b="0">
                <a:solidFill>
                  <a:srgbClr val="222222"/>
                </a:solidFill>
                <a:latin typeface="Calibri"/>
              </a:rPr>
              <a:t>Each sub-problem can be assigned to a different developer.</a:t>
            </a:r>
          </a:p>
          <a:p>
            <a:pPr/>
            <a:r>
              <a:rPr sz="2200" b="0">
                <a:solidFill>
                  <a:srgbClr val="222222"/>
                </a:solidFill>
                <a:latin typeface="Calibri"/>
              </a:rPr>
              <a:t>Smaller pieces are easier to understand, test and debug.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Sub-procedures</a:t>
            </a:r>
          </a:p>
        </p:txBody>
      </p:sp>
      <p:sp>
        <p:nvSpPr>
          <p:cNvPr id="3" name="TextBox 2"/>
          <p:cNvSpPr txBox="1"/>
          <p:nvPr/>
        </p:nvSpPr>
        <p:spPr>
          <a:xfrm>
            <a:off x="640080" y="1280160"/>
            <a:ext cx="10881360" cy="5120640"/>
          </a:xfrm>
          <a:prstGeom prst="rect">
            <a:avLst/>
          </a:prstGeom>
          <a:noFill/>
        </p:spPr>
        <p:txBody>
          <a:bodyPr wrap="square">
            <a:spAutoFit/>
          </a:bodyPr>
          <a:lstStyle/>
          <a:p>
            <a:pPr/>
            <a:r>
              <a:rPr sz="2200" b="0">
                <a:solidFill>
                  <a:srgbClr val="222222"/>
                </a:solidFill>
                <a:latin typeface="Calibri"/>
              </a:rPr>
              <a:t>A self-contained, named block of code performing one task, e.g. calculateVAT.</a:t>
            </a:r>
          </a:p>
          <a:p>
            <a:pPr/>
            <a:r>
              <a:rPr sz="2200" b="0">
                <a:solidFill>
                  <a:srgbClr val="222222"/>
                </a:solidFill>
                <a:latin typeface="Calibri"/>
              </a:rPr>
              <a:t>Can be called from several places rather than copied.</a:t>
            </a:r>
          </a:p>
          <a:p>
            <a:pPr/>
            <a:r>
              <a:rPr sz="2200" b="0">
                <a:solidFill>
                  <a:srgbClr val="222222"/>
                </a:solidFill>
                <a:latin typeface="Calibri"/>
              </a:rPr>
              <a:t>Defined once, so a fix or change applies everywhere it is used.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Ordering and dependencies</a:t>
            </a:r>
          </a:p>
        </p:txBody>
      </p:sp>
      <p:sp>
        <p:nvSpPr>
          <p:cNvPr id="3" name="TextBox 2"/>
          <p:cNvSpPr txBox="1"/>
          <p:nvPr/>
        </p:nvSpPr>
        <p:spPr>
          <a:xfrm>
            <a:off x="640080" y="1280160"/>
            <a:ext cx="10881360" cy="5120640"/>
          </a:xfrm>
          <a:prstGeom prst="rect">
            <a:avLst/>
          </a:prstGeom>
          <a:noFill/>
        </p:spPr>
        <p:txBody>
          <a:bodyPr wrap="square">
            <a:spAutoFit/>
          </a:bodyPr>
          <a:lstStyle/>
          <a:p>
            <a:pPr/>
            <a:r>
              <a:rPr sz="2200" b="0">
                <a:solidFill>
                  <a:srgbClr val="222222"/>
                </a:solidFill>
                <a:latin typeface="Calibri"/>
              </a:rPr>
              <a:t>Some steps must run in a fixed order because one depends on another's output.</a:t>
            </a:r>
          </a:p>
          <a:p>
            <a:pPr/>
            <a:r>
              <a:rPr sz="2200" b="0">
                <a:solidFill>
                  <a:srgbClr val="222222"/>
                </a:solidFill>
                <a:latin typeface="Calibri"/>
              </a:rPr>
              <a:t>Payroll: deduct tax must follow calculate gross pay, which it consumes.</a:t>
            </a:r>
          </a:p>
          <a:p>
            <a:pPr/>
            <a:r>
              <a:rPr sz="2200" b="0">
                <a:solidFill>
                  <a:srgbClr val="222222"/>
                </a:solidFill>
                <a:latin typeface="Calibri"/>
              </a:rPr>
              <a:t>Independent steps can be reordered; dependent ones cannot.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Why it helps teams and maintenance</a:t>
            </a:r>
          </a:p>
        </p:txBody>
      </p:sp>
      <p:sp>
        <p:nvSpPr>
          <p:cNvPr id="3" name="TextBox 2"/>
          <p:cNvSpPr txBox="1"/>
          <p:nvPr/>
        </p:nvSpPr>
        <p:spPr>
          <a:xfrm>
            <a:off x="640080" y="1280160"/>
            <a:ext cx="10881360" cy="5120640"/>
          </a:xfrm>
          <a:prstGeom prst="rect">
            <a:avLst/>
          </a:prstGeom>
          <a:noFill/>
        </p:spPr>
        <p:txBody>
          <a:bodyPr wrap="square">
            <a:spAutoFit/>
          </a:bodyPr>
          <a:lstStyle/>
          <a:p>
            <a:pPr/>
            <a:r>
              <a:rPr sz="2200" b="0">
                <a:solidFill>
                  <a:srgbClr val="222222"/>
                </a:solidFill>
                <a:latin typeface="Calibri"/>
              </a:rPr>
              <a:t>Reuse: call the same routine in many places instead of duplicating code.</a:t>
            </a:r>
          </a:p>
          <a:p>
            <a:pPr/>
            <a:r>
              <a:rPr sz="2200" b="0">
                <a:solidFill>
                  <a:srgbClr val="222222"/>
                </a:solidFill>
                <a:latin typeface="Calibri"/>
              </a:rPr>
              <a:t>Consistency: one definition avoids inconsistent copies.</a:t>
            </a:r>
          </a:p>
          <a:p>
            <a:pPr/>
            <a:r>
              <a:rPr sz="2200" b="0">
                <a:solidFill>
                  <a:srgbClr val="222222"/>
                </a:solidFill>
                <a:latin typeface="Calibri"/>
              </a:rPr>
              <a:t>Maintenance: fix once and all callers benefit.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Exam technique</a:t>
            </a:r>
          </a:p>
        </p:txBody>
      </p:sp>
      <p:sp>
        <p:nvSpPr>
          <p:cNvPr id="3" name="TextBox 2"/>
          <p:cNvSpPr txBox="1"/>
          <p:nvPr/>
        </p:nvSpPr>
        <p:spPr>
          <a:xfrm>
            <a:off x="640080" y="1280160"/>
            <a:ext cx="10881360" cy="5120640"/>
          </a:xfrm>
          <a:prstGeom prst="rect">
            <a:avLst/>
          </a:prstGeom>
          <a:noFill/>
        </p:spPr>
        <p:txBody>
          <a:bodyPr wrap="square">
            <a:spAutoFit/>
          </a:bodyPr>
          <a:lstStyle/>
          <a:p>
            <a:pPr/>
            <a:r>
              <a:rPr sz="2200" b="0">
                <a:solidFill>
                  <a:srgbClr val="222222"/>
                </a:solidFill>
                <a:latin typeface="Calibri"/>
              </a:rPr>
              <a:t>Name the scenario's actual sub-procedures, not generic ones.</a:t>
            </a:r>
          </a:p>
          <a:p>
            <a:pPr/>
            <a:r>
              <a:rPr sz="2200" b="0">
                <a:solidFill>
                  <a:srgbClr val="222222"/>
                </a:solidFill>
                <a:latin typeface="Calibri"/>
              </a:rPr>
              <a:t>State the fixed order and identify at least one dependency.</a:t>
            </a:r>
          </a:p>
          <a:p>
            <a:pPr/>
            <a:r>
              <a:rPr sz="2200" b="0">
                <a:solidFill>
                  <a:srgbClr val="222222"/>
                </a:solidFill>
                <a:latin typeface="Calibri"/>
              </a:rPr>
              <a:t>Explain the dependency in terms of one step using another's output.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Worked example</a:t>
            </a:r>
          </a:p>
        </p:txBody>
      </p:sp>
      <p:sp>
        <p:nvSpPr>
          <p:cNvPr id="3" name="TextBox 2"/>
          <p:cNvSpPr txBox="1"/>
          <p:nvPr/>
        </p:nvSpPr>
        <p:spPr>
          <a:xfrm>
            <a:off x="640080" y="1280160"/>
            <a:ext cx="10881360" cy="5120640"/>
          </a:xfrm>
          <a:prstGeom prst="rect">
            <a:avLst/>
          </a:prstGeom>
          <a:noFill/>
        </p:spPr>
        <p:txBody>
          <a:bodyPr wrap="square">
            <a:spAutoFit/>
          </a:bodyPr>
          <a:lstStyle/>
          <a:p>
            <a:pPr/>
            <a:r>
              <a:rPr sz="2200" b="1">
                <a:solidFill>
                  <a:srgbClr val="2B6CB0"/>
                </a:solidFill>
                <a:latin typeface="Calibri"/>
              </a:rPr>
              <a:t>Sequencing a school 'end-of-term reports' program</a:t>
            </a:r>
          </a:p>
          <a:p>
            <a:pPr lvl="1"/>
            <a:r>
              <a:rPr sz="2000" b="0">
                <a:solidFill>
                  <a:srgbClr val="222222"/>
                </a:solidFill>
                <a:latin typeface="Calibri"/>
              </a:rPr>
              <a:t>1. Decompose into named sub-procedures: readPupilData, calculateGrades, generateComments, assembleReport, printReport.</a:t>
            </a:r>
          </a:p>
          <a:p>
            <a:pPr lvl="1"/>
            <a:r>
              <a:rPr sz="2000" b="0">
                <a:solidFill>
                  <a:srgbClr val="222222"/>
                </a:solidFill>
                <a:latin typeface="Calibri"/>
              </a:rPr>
              <a:t>2. Order: readPupilData first, then calculateGrades, then generateComments, then assembleReport, then printReport.</a:t>
            </a:r>
          </a:p>
          <a:p>
            <a:pPr lvl="1"/>
            <a:r>
              <a:rPr sz="2000" b="0">
                <a:solidFill>
                  <a:srgbClr val="222222"/>
                </a:solidFill>
                <a:latin typeface="Calibri"/>
              </a:rPr>
              <a:t>3. Dependency 1: calculateGrades needs the marks produced by readPupilData, so reading must come first.</a:t>
            </a:r>
          </a:p>
          <a:p>
            <a:pPr lvl="1"/>
            <a:r>
              <a:rPr sz="2000" b="0">
                <a:solidFill>
                  <a:srgbClr val="222222"/>
                </a:solidFill>
                <a:latin typeface="Calibri"/>
              </a:rPr>
              <a:t>4. Dependency 2: assembleReport needs the grades produced by calculateGrades, so it must come after.</a:t>
            </a:r>
          </a:p>
          <a:p>
            <a:pPr lvl="1"/>
            <a:r>
              <a:rPr sz="2000" b="0">
                <a:solidFill>
                  <a:srgbClr val="222222"/>
                </a:solidFill>
                <a:latin typeface="Calibri"/>
              </a:rPr>
              <a:t>5. Note flexibility: generateComments and some formatting could be reordered, but the grade-dependent steps cannot.</a:t>
            </a:r>
          </a:p>
          <a:p>
            <a:pPr lvl="1"/>
            <a:r>
              <a:rPr sz="2000" b="0">
                <a:solidFill>
                  <a:srgbClr val="222222"/>
                </a:solidFill>
                <a:latin typeface="Calibri"/>
              </a:rPr>
              <a:t>6. Conclusion: the order is fixed wherever a step consumes an earlier step's output.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Your turn</a:t>
            </a:r>
          </a:p>
        </p:txBody>
      </p:sp>
      <p:sp>
        <p:nvSpPr>
          <p:cNvPr id="3" name="TextBox 2"/>
          <p:cNvSpPr txBox="1"/>
          <p:nvPr/>
        </p:nvSpPr>
        <p:spPr>
          <a:xfrm>
            <a:off x="640080" y="1280160"/>
            <a:ext cx="10881360" cy="5120640"/>
          </a:xfrm>
          <a:prstGeom prst="rect">
            <a:avLst/>
          </a:prstGeom>
          <a:noFill/>
        </p:spPr>
        <p:txBody>
          <a:bodyPr wrap="square">
            <a:spAutoFit/>
          </a:bodyPr>
          <a:lstStyle/>
          <a:p>
            <a:pPr/>
            <a:r>
              <a:rPr sz="2400" b="1">
                <a:solidFill>
                  <a:srgbClr val="2B6CB0"/>
                </a:solidFill>
                <a:latin typeface="Calibri"/>
              </a:rPr>
              <a:t>Task</a:t>
            </a:r>
          </a:p>
          <a:p>
            <a:pPr lvl="1"/>
            <a:r>
              <a:rPr sz="2200" b="0">
                <a:solidFill>
                  <a:srgbClr val="222222"/>
                </a:solidFill>
                <a:latin typeface="Calibri"/>
              </a:rPr>
              <a:t>A developer is building a vending-machine program. Decompose it into at least three named sub-procedures, put them in a sensible order, and explain one pair of steps whose order is fixed because one depends on the other's output.</a:t>
            </a:r>
          </a:p>
          <a:p>
            <a:r>
              <a:rPr sz="2400" b="1">
                <a:solidFill>
                  <a:srgbClr val="B76E00"/>
                </a:solidFill>
                <a:latin typeface="Calibri"/>
              </a:rPr>
              <a:t>Challenge / stretch</a:t>
            </a:r>
          </a:p>
          <a:p>
            <a:pPr lvl="1"/>
            <a:r>
              <a:rPr sz="2200" b="0">
                <a:solidFill>
                  <a:srgbClr val="222222"/>
                </a:solidFill>
                <a:latin typeface="Calibri"/>
              </a:rPr>
              <a:t>An ATM 'withdraw cash' task could in theory verify the PIN and read the requested amount at the same time. Identify which steps MUST stay sequential and which could be independent, justifying each with its data dependency (or lack of one).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Exit ticket</a:t>
            </a:r>
          </a:p>
        </p:txBody>
      </p:sp>
      <p:sp>
        <p:nvSpPr>
          <p:cNvPr id="3" name="TextBox 2"/>
          <p:cNvSpPr txBox="1"/>
          <p:nvPr/>
        </p:nvSpPr>
        <p:spPr>
          <a:xfrm>
            <a:off x="640080" y="1280160"/>
            <a:ext cx="10881360" cy="5120640"/>
          </a:xfrm>
          <a:prstGeom prst="rect">
            <a:avLst/>
          </a:prstGeom>
          <a:noFill/>
        </p:spPr>
        <p:txBody>
          <a:bodyPr wrap="square">
            <a:spAutoFit/>
          </a:bodyPr>
          <a:lstStyle/>
          <a:p>
            <a:r>
              <a:rPr sz="2200" b="1">
                <a:solidFill>
                  <a:srgbClr val="222222"/>
                </a:solidFill>
                <a:latin typeface="Calibri"/>
              </a:rPr>
              <a:t>1. Why must 'check balance is sufficient' come before 'dispense the cash' in an ATM?</a:t>
            </a:r>
          </a:p>
          <a:p>
            <a:r>
              <a:rPr sz="2200" b="1">
                <a:solidFill>
                  <a:srgbClr val="222222"/>
                </a:solidFill>
                <a:latin typeface="Calibri"/>
              </a:rPr>
              <a:t>2. A quiz game calls one shuffleQuestions sub-procedure each round. Why is that better than copying the code?</a:t>
            </a:r>
          </a:p>
          <a:p>
            <a:r>
              <a:rPr sz="2200" b="1">
                <a:solidFill>
                  <a:srgbClr val="222222"/>
                </a:solidFill>
                <a:latin typeface="Calibri"/>
              </a:rPr>
              <a:t>3. State two advantages of sub-procedures over one long block of code.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Exit ticket — answers</a:t>
            </a:r>
          </a:p>
        </p:txBody>
      </p:sp>
      <p:sp>
        <p:nvSpPr>
          <p:cNvPr id="3" name="TextBox 2"/>
          <p:cNvSpPr txBox="1"/>
          <p:nvPr/>
        </p:nvSpPr>
        <p:spPr>
          <a:xfrm>
            <a:off x="640080" y="1280160"/>
            <a:ext cx="10881360" cy="5120640"/>
          </a:xfrm>
          <a:prstGeom prst="rect">
            <a:avLst/>
          </a:prstGeom>
          <a:noFill/>
        </p:spPr>
        <p:txBody>
          <a:bodyPr wrap="square">
            <a:spAutoFit/>
          </a:bodyPr>
          <a:lstStyle/>
          <a:p>
            <a:r>
              <a:rPr sz="2200" b="1">
                <a:solidFill>
                  <a:srgbClr val="222222"/>
                </a:solidFill>
                <a:latin typeface="Calibri"/>
              </a:rPr>
              <a:t>1. Why must 'check balance is sufficient' come before 'dispense the cash' in an ATM?</a:t>
            </a:r>
          </a:p>
          <a:p>
            <a:pPr lvl="1"/>
            <a:r>
              <a:rPr sz="1800" i="1">
                <a:solidFill>
                  <a:srgbClr val="B76E00"/>
                </a:solidFill>
                <a:latin typeface="Calibri"/>
              </a:rPr>
              <a:t>Answer: Dispensing depends on the output of the balance check; you cannot safely dispense until funds are confirmed.</a:t>
            </a:r>
          </a:p>
          <a:p>
            <a:r>
              <a:rPr sz="2200" b="1">
                <a:solidFill>
                  <a:srgbClr val="222222"/>
                </a:solidFill>
                <a:latin typeface="Calibri"/>
              </a:rPr>
              <a:t>2. A quiz game calls one shuffleQuestions sub-procedure each round. Why is that better than copying the code?</a:t>
            </a:r>
          </a:p>
          <a:p>
            <a:pPr lvl="1"/>
            <a:r>
              <a:rPr sz="1800" i="1">
                <a:solidFill>
                  <a:srgbClr val="B76E00"/>
                </a:solidFill>
                <a:latin typeface="Calibri"/>
              </a:rPr>
              <a:t>Answer: It is defined once and reused, so any fix is made in one place and all rounds behave consistently.</a:t>
            </a:r>
          </a:p>
          <a:p>
            <a:r>
              <a:rPr sz="2200" b="1">
                <a:solidFill>
                  <a:srgbClr val="222222"/>
                </a:solidFill>
                <a:latin typeface="Calibri"/>
              </a:rPr>
              <a:t>3. State two advantages of sub-procedures over one long block of code.</a:t>
            </a:r>
          </a:p>
          <a:p>
            <a:pPr lvl="1"/>
            <a:r>
              <a:rPr sz="1800" i="1">
                <a:solidFill>
                  <a:srgbClr val="B76E00"/>
                </a:solidFill>
                <a:latin typeface="Calibri"/>
              </a:rPr>
              <a:t>Answer: Easier to test/debug in isolation and reusable from many places; also easier to share among a team and to maintain.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